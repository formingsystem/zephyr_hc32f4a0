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8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83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适合已有嵌入式开发经验、首次准备 Zephyr 下载环境的读者。讲课时建议结合终端实操。本课演示上游源码下载，不覆盖已有 HC32 工程。</a:t>
            </a:r>
          </a:p>
          <a:p>
            <a:r>
              <a:t>依据：learning/P01_zephyr_make_project/P01_准备UCRT64环境与下载Zephyr.md，2026-10-02。</a:t>
            </a:r>
          </a:p>
          <a:p>
            <a:r>
              <a:t>封面：内置 imagegen 生成的抽象芯片插画，不代表真实板卡。提示词和原图保存在课件制作目录及 slides/assets。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安装器文件名中的日期随发布变化。2026-09-27 发布包含 x86_64 与 arm64 两种 exe。32 位 Windows 不适用本教程。镜像可从 https://mirrors.ustc.edu.cn/msys2/ 的 distrib 目录查找相同文件名，不要自行拼不存在的 ARM64 下载链接。下载 exe 与配置 pacman 软件源是两步。</a:t>
            </a:r>
          </a:p>
          <a:p>
            <a:endParaRPr/>
          </a:p>
          <a:p>
            <a:r>
              <a:t>依据：P01_准备UCRT64环境与下载Zephyr.md，核对日期 2026-10-02。</a:t>
            </a:r>
          </a:p>
          <a:p>
            <a:r>
              <a:t>参考：https://www.msys2.org/</a:t>
            </a:r>
          </a:p>
          <a:p>
            <a:r>
              <a:t>参考：https://github.com/msys2/msys2-installer/releases/tag/2026-09-27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先完成环境准备，再下载源码。Git clone 成功后可以直接检查结果，ZIP 补回历史是选学部分。建议把 01 和 02 作为新电脑准备，03 作为下载操作，04 作为原理和排错。</a:t>
            </a:r>
          </a:p>
          <a:p>
            <a:endParaRPr/>
          </a:p>
          <a:p>
            <a:r>
              <a:t>依据：learning/P01_zephyr_make_project/P01_准备UCRT64环境与下载Zephyr.md，2026-10-02。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MSYS2 是 Windows 工具环境，Bash 是执行命令的 shell，UCRT64 是其中的一套 64 位原生工具环境。UCRT 的全称为 Universal C Runtime。进入某个目录不会切换环境。</a:t>
            </a:r>
          </a:p>
          <a:p>
            <a:endParaRPr/>
          </a:p>
          <a:p>
            <a:r>
              <a:t>依据：learning/P01_zephyr_make_project/P01_准备UCRT64环境与下载Zephyr.md，2026-10-02。</a:t>
            </a:r>
          </a:p>
          <a:p>
            <a:r>
              <a:t>参考：https://www.msys2.org/docs/environments/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安装器文件名中的日期随发布变化。2026-09-27 发布包含 x86_64 与 arm64 两种 exe。32 位 Windows 不适用本教程。镜像可从 https://mirrors.ustc.edu.cn/msys2/ 的 distrib 目录查找相同文件名，不要自行拼不存在的 ARM64 下载链接。下载 exe 与配置 pacman 软件源是两步。</a:t>
            </a:r>
          </a:p>
          <a:p>
            <a:endParaRPr/>
          </a:p>
          <a:p>
            <a:r>
              <a:t>依据：P01_准备UCRT64环境与下载Zephyr.md，核对日期 2026-10-02。</a:t>
            </a:r>
          </a:p>
          <a:p>
            <a:r>
              <a:t>参考：https://www.msys2.org/</a:t>
            </a:r>
          </a:p>
          <a:p>
            <a:r>
              <a:t>参考：https://github.com/msys2/msys2-installer/releases/tag/2026-09-27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安装路径由读者选择，可使用空间充足的磁盘，避免空格和中文。图中盘符只作示例。ARM64 读者从官网 ARM64 入口下载后打开 CLANGARM64。截图用于说明安装流程。</a:t>
            </a:r>
          </a:p>
          <a:p>
            <a:endParaRPr/>
          </a:p>
          <a:p>
            <a:r>
              <a:t>依据：P01_准备UCRT64环境与下载Zephyr.md，核对日期 2026-10-02。</a:t>
            </a:r>
          </a:p>
          <a:p>
            <a:r>
              <a:t>参考：https://www.msys2.org/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UCRT64 对应 /ucrt64，CLANGARM64 对应 /clangarm64。后续本课工具安装以 UCRT64 为主线，不把 ucrt-x86_64 包名直接用于 CLANGARM64。后者包名前缀为 mingw-w64-clang-aarch64-。当前 MSYS 通用层仍为 x64，因此不能仅凭 uname -m 判断物理 CPU。</a:t>
            </a:r>
          </a:p>
          <a:p>
            <a:endParaRPr/>
          </a:p>
          <a:p>
            <a:r>
              <a:t>依据：P01_准备UCRT64环境与下载Zephyr.md，核对日期 2026-10-02。</a:t>
            </a:r>
          </a:p>
          <a:p>
            <a:r>
              <a:t>参考：https://www.msys2.org/docs/environments/</a:t>
            </a:r>
          </a:p>
          <a:p>
            <a:r>
              <a:t>参考：https://www.msys2.org/docs/arm64/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pacman 是 MSYS2 的包管理器。镜像列表控制它从哪里下载软件包。GitHub、pip 和 SDK 分别有独立渠道。换源不会修复所有网络问题。</a:t>
            </a:r>
          </a:p>
          <a:p>
            <a:endParaRPr/>
          </a:p>
          <a:p>
            <a:r>
              <a:t>依据：learning/P01_zephyr_make_project/P01_准备UCRT64环境与下载Zephyr.md，2026-10-02。</a:t>
            </a:r>
          </a:p>
          <a:p>
            <a:r>
              <a:t>参考：https://www.msys2.org/docs/mirrors/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cfg 是本段自定义的 Bash 变量，保存配置目录。条件判断避免重复备份覆盖原文件。备份包含原有全部镜像，自定义源也应先保存。下一页会覆盖当前两份列表，清除旧错误行与重复行。</a:t>
            </a:r>
          </a:p>
          <a:p>
            <a:endParaRPr/>
          </a:p>
          <a:p>
            <a:r>
              <a:t>依据：P01_准备UCRT64环境与下载Zephyr.md，核对日期 2026-10-02。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先完成上一页备份。本页命令在 MSYS2 Bash 中逐组执行，不在 PowerShell/CMD 中直接执行。&gt; 覆盖文件，EOF 必须独占一行且不加缩进，带单引号的 EOF 阻止 Bash 提前展开占位符。两种主机共用模板，架构和仓库由 pacman 解析。中科大在第一行，清华是后备。若只想保留中科大，可删除清华对应行，保持剩余路径不变。</a:t>
            </a:r>
          </a:p>
          <a:p>
            <a:endParaRPr/>
          </a:p>
          <a:p>
            <a:r>
              <a:t>依据：P01_准备UCRT64环境与下载Zephyr.md，核对日期 2026-10-02。</a:t>
            </a:r>
          </a:p>
          <a:p>
            <a:r>
              <a:t>参考：https://mirrors.ustc.edu.cn/help/msys2.html</a:t>
            </a:r>
          </a:p>
          <a:p>
            <a:r>
              <a:t>参考：https://github.com/msys2/MSYS2-packages/blob/master/pacman-mirrors/mirrorlist.mingw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$arch 来自 pacman Architecture 配置，$repo 来自当前处理的仓库段名。多个仓库共用 mirrorlist.mingw，因此必须按 $repo 展开。UCRT64、CLANG64 虽然同为 x64，仓库仍不同。Windows ARM64 安装器并不意味着 Bash 通用层也已经变为 aarch64。不要为了开发板是 ARM 就选 CLANGARM64。</a:t>
            </a:r>
          </a:p>
          <a:p>
            <a:endParaRPr/>
          </a:p>
          <a:p>
            <a:r>
              <a:t>依据：P01_准备UCRT64环境与下载Zephyr.md，核对日期 2026-10-02。</a:t>
            </a:r>
          </a:p>
          <a:p>
            <a:r>
              <a:t>参考：https://github.com/msys2/MSYS2-packages/blob/master/pacman/pacman.conf</a:t>
            </a:r>
          </a:p>
          <a:p>
            <a:r>
              <a:t>参考：https://github.com/msys2/MSYS2-packages/blob/master/pacman-mirrors/mirrorlist.mingw</a:t>
            </a:r>
          </a:p>
          <a:p>
            <a:r>
              <a:t>参考：https://www.msys2.org/docs/arm64/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每条 Server 查询会列出中科大和清华两个地址，先检查第一条域名是否为 mirrors.ustc.edu.cn，再检查路径。没有启用的仓库不要执行相应查询，不要为避免查询报错而随意新增仓库。Architecture 可用 pacman-conf Architecture 查看。错误地址持续存在时，检查 /etc/pacman.conf 中是否有直接写入的 Server 或另一份 Include。</a:t>
            </a:r>
          </a:p>
          <a:p>
            <a:endParaRPr/>
          </a:p>
          <a:p>
            <a:r>
              <a:t>依据：P01_准备UCRT64环境与下载Zephyr.md，核对日期 2026-10-02。</a:t>
            </a:r>
          </a:p>
          <a:p>
            <a:r>
              <a:t>参考：https://github.com/msys2/MSYS2-packages/blob/master/pacman/pacman.conf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任意目录，MSYS2 UCRT64 或 CLANGARM64 的 Bash 中执行。pacman -Syyu 强制刷新索引并完整升级。核心更新可能关闭终端，按提示重开同一环境，继续 pacman -Syu。同步所有启用的仓库是正常行为，日志出现 clangarm64 不说明 x64 用户选错架构，也不意味着安装了 ARM64 包。日常更新用 -Syu。</a:t>
            </a:r>
          </a:p>
          <a:p>
            <a:endParaRPr/>
          </a:p>
          <a:p>
            <a:r>
              <a:t>依据：P01_准备UCRT64环境与下载Zephyr.md，核对日期 2026-10-02。</a:t>
            </a:r>
          </a:p>
          <a:p>
            <a:r>
              <a:t>参考：https://www.msys2.org/docs/updating/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此前已完成系统更新，在 UCRT64 任意目录安装。--needed 跳过已是最新版本的包。Git 管理源码历史，curl/wget 下载文件，unzip 解压 ZIP，tar/xz 处理其他归档。版本验证命令：git --version、curl --version、wget --version、unzip -v、tar --version、xz --version。</a:t>
            </a:r>
          </a:p>
          <a:p>
            <a:endParaRPr/>
          </a:p>
          <a:p>
            <a:r>
              <a:t>依据：learning/P01_zephyr_make_project/P01_准备UCRT64环境与下载Zephyr.md，2026-10-02。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在 UCRT64 中执行：</a:t>
            </a:r>
          </a:p>
          <a:p>
            <a:r>
              <a:t>pacman -S --needed mingw-w64-ucrt-x86_64-cmake mingw-w64-ucrt-x86_64-ninja mingw-w64-ucrt-x86_64-dtc mingw-w64-ucrt-x86_64-gperf</a:t>
            </a:r>
          </a:p>
          <a:p>
            <a:r>
              <a:t>安装后逐项运行表中的命令，再 type -a cmake ninja dtc gperf 核对路径，通常位于 /ucrt64/bin。只阅读源码时可稍后安装。</a:t>
            </a:r>
          </a:p>
          <a:p>
            <a:endParaRPr/>
          </a:p>
          <a:p>
            <a:r>
              <a:t>依据：learning/P01_zephyr_make_project/P01_准备UCRT64环境与下载Zephyr.md，2026-10-02。</a:t>
            </a:r>
          </a:p>
          <a:p>
            <a:r>
              <a:t>参考：https://packages.msys2.org/packages/mingw-w64-ucrt-x86_64-cmake</a:t>
            </a:r>
          </a:p>
          <a:p>
            <a:r>
              <a:t>参考：https://packages.msys2.org/packages/mingw-w64-ucrt-x86_64-ninja</a:t>
            </a:r>
          </a:p>
          <a:p>
            <a:r>
              <a:t>参考：https://packages.msys2.org/packages/mingw-w64-ucrt-x86_64-dtc</a:t>
            </a:r>
          </a:p>
          <a:p>
            <a:r>
              <a:t>参考：https://packages.msys2.org/packages/mingw-w64-ucrt-x86_64-gperf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官方上游仓库为 zephyrproject-rtos/zephyr。Code 菜单中可复制 HTTPS 地址。截图仅用于识别入口，当前分支、标签和数量会变化。文件来源：原笔记 image-20261002095521595.png。</a:t>
            </a:r>
          </a:p>
          <a:p>
            <a:endParaRPr/>
          </a:p>
          <a:p>
            <a:r>
              <a:t>依据：learning/P01_zephyr_make_project/P01_准备UCRT64环境与下载Zephyr.md，2026-10-02。</a:t>
            </a:r>
          </a:p>
          <a:p>
            <a:r>
              <a:t>参考：https://github.com/zephyrproject-rtos/zephyr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按用户提供的配置示例：v2rayN 混合监听端口为10808，第二监听端口未开启。实际使用先核对自己的端口。该示例不使用10809、PAC或API端口。HTTP代理地址中的http://描述Git到本地代理的连接协议。Git的http.proxy也用于HTTPS请求，无需https.proxy；若此前写入错误项，可用git config --global --unset-all https.proxy清除，键不存在时无需处理。curl测试应同时观察CONNECT成功与后续GitHub响应，仅CONNECT成功不代表整个请求完成。Git配置不会配置浏览器，ZIP下载另需浏览器或系统代理。</a:t>
            </a:r>
          </a:p>
          <a:p>
            <a:r>
              <a:t>来源：用户提供的配置说明；https://git-scm.com/docs/git-config#Documentation/git-config.txt-httpproxy；https://curl.se/docs/manpage.html#-x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37116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浏览器能访问 GitHub 时，可使用 Code 菜单中的 Download ZIP。ZIP 不含 .git，速度取决于实际网络，并不保证比 Git 更快。若之后计划补历史，记录该 ZIP 对应的提交号并保留原包。截图来源：原笔记 image-20261002100230750.png。</a:t>
            </a:r>
          </a:p>
          <a:p>
            <a:endParaRPr/>
          </a:p>
          <a:p>
            <a:r>
              <a:t>依据：learning/P01_zephyr_make_project/P01_准备UCRT64环境与下载Zephyr.md，2026-10-02。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此后是可选的恢复路线。ZIP 提供工作区文件，.git 提供历史与引用，索引记录待提交状态。先确认 zephyr-main/.git 和 git-meta 不存在。已经 clone 的目录跳过。</a:t>
            </a:r>
          </a:p>
          <a:p>
            <a:endParaRPr/>
          </a:p>
          <a:p>
            <a:r>
              <a:t>依据：learning/P01_zephyr_make_project/P01_准备UCRT64环境与下载Zephyr.md，2026-10-02。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在 zephyr-main 的上一级目录执行。临时 git-meta 目录应不存在。--filter=blob:none 减少初始文件内容下载，--no-checkout 不生成第二套源码，--depth=1 只取浅历史。后续 Git 比较操作仍可能联网。</a:t>
            </a:r>
          </a:p>
          <a:p>
            <a:endParaRPr/>
          </a:p>
          <a:p>
            <a:r>
              <a:t>依据：learning/P01_zephyr_make_project/P01_准备UCRT64环境与下载Zephyr.md，2026-10-02。</a:t>
            </a:r>
          </a:p>
          <a:p>
            <a:r>
              <a:t>参考：https://git-scm.com/docs/git-clone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所有命令从 zephyr-main 的上一级目录执行。先把 rev-parse HEAD 的完整提交号与 ZIP 下载时的提交号对照。不同则保留原文件，取得匹配版本后再继续。无法确定来源时另克隆固定版本更容易验证。</a:t>
            </a:r>
          </a:p>
          <a:p>
            <a:endParaRPr/>
          </a:p>
          <a:p>
            <a:r>
              <a:t>依据：learning/P01_zephyr_make_project/P01_准备UCRT64环境与下载Zephyr.md，2026-10-02。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当前位置是 zephyr-main 的上一级目录。先确认 git-meta/.git 存在，zephyr-main/.git 不存在，版本匹配且保存了源码备份。每条成功后再继续。rmdir 只删空目录。read-tree --reset HEAD 未使用 -u，因此不检出覆盖工作区。不要换成 git reset --hard。</a:t>
            </a:r>
          </a:p>
          <a:p>
            <a:endParaRPr/>
          </a:p>
          <a:p>
            <a:r>
              <a:t>依据：learning/P01_zephyr_make_project/P01_准备UCRT64环境与下载Zephyr.md，2026-10-02。</a:t>
            </a:r>
          </a:p>
          <a:p>
            <a:r>
              <a:t>参考：https://git-scm.com/docs/git-read-tree#_description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先执行 rev-parse --is-shallow-repository。只有返回 true 时才执行 --unshallow，已经为 false 则跳过。fetch 获取对象和更新引用，不自动切换当前工作区到最新 main。历史 commit/tree 仍可能占用较多空间，不应把较大下载量当作过滤失效。</a:t>
            </a:r>
          </a:p>
          <a:p>
            <a:endParaRPr/>
          </a:p>
          <a:p>
            <a:r>
              <a:t>依据：learning/P01_zephyr_make_project/P01_准备UCRT64环境与下载Zephyr.md，2026-10-02。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--depth 控制提交历史范围，--filter 控制对象过滤。解除浅历史限制后仍可保持部分克隆。main 完整历史不代表所有远程分支、标签及文件对象都在本地。</a:t>
            </a:r>
          </a:p>
          <a:p>
            <a:endParaRPr/>
          </a:p>
          <a:p>
            <a:r>
              <a:t>依据：learning/P01_zephyr_make_project/P01_准备UCRT64环境与下载Zephyr.md，2026-10-02。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最初 --depth=1 默认隐含 --single-branch，--branch main 选择目标分支。只有 --branch main 并不意味着只获取一条分支。按需扩大 remote.origin.fetch 的范围，取回其他分支。下面命令均在 zephyr-main 内执行。</a:t>
            </a:r>
          </a:p>
          <a:p>
            <a:endParaRPr/>
          </a:p>
          <a:p>
            <a:r>
              <a:t>依据：learning/P01_zephyr_make_project/P01_准备UCRT64环境与下载Zephyr.md，2026-10-02。</a:t>
            </a:r>
          </a:p>
          <a:p>
            <a:r>
              <a:t>参考：https://git-scm.com/docs/git-clone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只下载不需要姓名邮箱。准备提交自己的修改时，在已克隆的 zephyr 或已恢复 Git 的 zephyr-main 中设置。先核对 Git 根，示例姓名邮箱替换成自己的。--local 写当前仓库 .git/config。它不是 GitHub 登录凭据。</a:t>
            </a:r>
          </a:p>
          <a:p>
            <a:endParaRPr/>
          </a:p>
          <a:p>
            <a:r>
              <a:t>依据：learning/P01_zephyr_make_project/P01_准备UCRT64环境与下载Zephyr.md，2026-10-02。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出现 Connection reset by peer 或 Failed to connect 时先排查连接。以下命令不会删除数据。Git HTTPS 通常使用 http.proxy 或按 URL 限定的代理。环境代理常见 HTTP_PROXY、HTTPS_PROXY、ALL_PROXY 和小写形式。取消变量只影响当前 shell，也不会清除 Git 配置。网络必须经过代理时，移除代理反而可能无法访问。完整恢复及临时测试见原文 1.7。</a:t>
            </a:r>
          </a:p>
          <a:p>
            <a:endParaRPr/>
          </a:p>
          <a:p>
            <a:r>
              <a:t>依据：learning/P01_zephyr_make_project/P01_准备UCRT64环境与下载Zephyr.md，2026-10-02。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课堂检查：1. 输出 UCRT64 是否证明工具全部安装？不能，只证明环境标识，需要各工具版本检查。2. Git status 干净是否证明历史完整？不能，还需检查浅历史状态。3. 主仓库下载成功是否可以直接构建所有目标？不能，仍需配套模块、Python 依赖和目标工具链。下一步可读原文链接的 Python venv 和 west 教程。当前 HC32 工程使用 project-docs/environment.md 的项目流程。</a:t>
            </a:r>
          </a:p>
          <a:p>
            <a:endParaRPr/>
          </a:p>
          <a:p>
            <a:r>
              <a:t>依据：learning/P01_zephyr_make_project/P01_准备UCRT64环境与下载Zephyr.md，2026-10-02。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phyrproject-rtos/zephyr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09600" y="1952625"/>
            <a:ext cx="752475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4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Zephyr 下载与</a:t>
            </a:r>
          </a:p>
          <a:p>
            <a:pPr>
              <a:buNone/>
              <a:defRPr sz="4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UCRT64 环境准备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4057650"/>
            <a:ext cx="685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250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250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Windows x64 实操教程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914400"/>
            <a:ext cx="190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800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>
            <a:spLocks noGrp="1"/>
          </p:cNvSpPr>
          <p:nvPr/>
        </p:nvSpPr>
        <p:spPr>
          <a:xfrm>
            <a:off x="609600" y="1360805"/>
            <a:ext cx="10972800" cy="48107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lang="en-US" altLang="zh-CN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1. </a:t>
            </a:r>
            <a:r>
              <a:rPr lang="zh-CN" altLang="en-US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和</a:t>
            </a:r>
            <a:r>
              <a:rPr lang="en-US" altLang="zh-CN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linux kernel </a:t>
            </a:r>
            <a:r>
              <a:rPr lang="zh-CN" altLang="en-US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的工程组件相似</a:t>
            </a:r>
          </a:p>
          <a:p>
            <a:pPr>
              <a:buNone/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endParaRPr lang="zh-CN" altLang="en-US" sz="2325" b="1">
              <a:solidFill>
                <a:schemeClr val="accent5">
                  <a:lumMod val="7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>
              <a:buNone/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lang="en-US" altLang="zh-CN">
                <a:solidFill>
                  <a:schemeClr val="accent5">
                    <a:lumMod val="75000"/>
                  </a:schemeClr>
                </a:solidFill>
                <a:sym typeface="+mn-ea"/>
              </a:rPr>
              <a:t>2. </a:t>
            </a:r>
            <a:r>
              <a:rPr lang="zh-CN">
                <a:solidFill>
                  <a:schemeClr val="accent5">
                    <a:lumMod val="75000"/>
                  </a:schemeClr>
                </a:solidFill>
                <a:sym typeface="+mn-ea"/>
              </a:rPr>
              <a:t>统一的驱动模型</a:t>
            </a:r>
          </a:p>
          <a:p>
            <a:pPr>
              <a:buNone/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br>
              <a:rPr lang="zh-CN" altLang="en-US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</a:br>
            <a:r>
              <a:rPr lang="en-US" altLang="zh-CN">
                <a:solidFill>
                  <a:schemeClr val="accent5">
                    <a:lumMod val="75000"/>
                  </a:schemeClr>
                </a:solidFill>
                <a:sym typeface="+mn-ea"/>
              </a:rPr>
              <a:t>3. </a:t>
            </a:r>
            <a:r>
              <a:rPr lang="zh-CN">
                <a:solidFill>
                  <a:schemeClr val="accent5">
                    <a:lumMod val="75000"/>
                  </a:schemeClr>
                </a:solidFill>
                <a:sym typeface="+mn-ea"/>
              </a:rPr>
              <a:t>规范的芯片内核移植管理</a:t>
            </a:r>
          </a:p>
          <a:p>
            <a:pPr>
              <a:buNone/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endParaRPr lang="zh-CN" b="1">
              <a:solidFill>
                <a:schemeClr val="accent5">
                  <a:lumMod val="7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+mn-ea"/>
            </a:endParaRPr>
          </a:p>
          <a:p>
            <a:pPr>
              <a:buNone/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lang="en-US" altLang="zh-CN">
                <a:solidFill>
                  <a:schemeClr val="accent5">
                    <a:lumMod val="75000"/>
                  </a:schemeClr>
                </a:solidFill>
                <a:sym typeface="+mn-ea"/>
              </a:rPr>
              <a:t>4. </a:t>
            </a:r>
            <a:r>
              <a:rPr lang="zh-CN">
                <a:solidFill>
                  <a:schemeClr val="accent5">
                    <a:lumMod val="75000"/>
                  </a:schemeClr>
                </a:solidFill>
                <a:sym typeface="+mn-ea"/>
              </a:rPr>
              <a:t>规范的芯片开发板的移植管理</a:t>
            </a:r>
            <a:endParaRPr lang="zh-CN" b="1">
              <a:solidFill>
                <a:schemeClr val="accent5">
                  <a:lumMod val="7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>
              <a:buNone/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br>
              <a:rPr lang="zh-CN" altLang="en-US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</a:br>
            <a:r>
              <a:rPr lang="en-US" altLang="zh-CN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5. </a:t>
            </a:r>
            <a:r>
              <a:rPr lang="zh-CN" altLang="en-US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自带</a:t>
            </a:r>
            <a:r>
              <a:rPr lang="en-US" altLang="zh-CN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Shell、Logging、</a:t>
            </a:r>
            <a:r>
              <a:rPr lang="zh-CN" altLang="en-US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测试体系等开发常用工具</a:t>
            </a:r>
          </a:p>
          <a:p>
            <a:pPr>
              <a:buNone/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endParaRPr lang="zh-CN" altLang="en-US" sz="2325" b="1">
              <a:solidFill>
                <a:schemeClr val="accent5">
                  <a:lumMod val="7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>
              <a:buNone/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lang="en-US" altLang="zh-CN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6. </a:t>
            </a:r>
            <a:r>
              <a:rPr lang="zh-CN" altLang="en-US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自带</a:t>
            </a:r>
            <a:r>
              <a:rPr lang="en-US" altLang="zh-CN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MCU bootloader</a:t>
            </a:r>
          </a:p>
          <a:p>
            <a:pPr>
              <a:buNone/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endParaRPr lang="en-US" altLang="zh-CN" sz="2325" b="1">
              <a:solidFill>
                <a:schemeClr val="accent5">
                  <a:lumMod val="7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>
              <a:buNone/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lang="en-US" altLang="zh-CN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7. </a:t>
            </a:r>
            <a:r>
              <a:rPr lang="zh-CN" altLang="en-US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最最重要的是沟通成本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lang="zh-CN"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为什么选择</a:t>
            </a:r>
            <a:r>
              <a:rPr lang="en-US" altLang="zh-CN"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zephyr </a:t>
            </a:r>
            <a:r>
              <a:rPr lang="zh-CN" altLang="en-US"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？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1FD7F3A2-6A54-4060-8E6B-627990637652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本课的操作顺序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5190D23D-76FA-4AC7-BA7B-A71F0150006D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562100"/>
            <a:ext cx="904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714500" y="1562100"/>
            <a:ext cx="3524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4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4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终端与国内源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0" y="1600200"/>
            <a:ext cx="6096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95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确认 UCRT64，备份配置，完成更新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2609850"/>
            <a:ext cx="904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714500" y="2609850"/>
            <a:ext cx="3524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4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4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工具准备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334000" y="2647950"/>
            <a:ext cx="6096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95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安装 Git、解压工具与后续构建工具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3657600"/>
            <a:ext cx="904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714500" y="3657600"/>
            <a:ext cx="3524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4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4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源码下载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334000" y="3695700"/>
            <a:ext cx="6096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95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选择 Git 克隆或 ZIP 快照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4705350"/>
            <a:ext cx="904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714500" y="4705350"/>
            <a:ext cx="3524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4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4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Git 恢复与验收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334000" y="4743450"/>
            <a:ext cx="6096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95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核对提交，恢复索引，按需补历史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终端环境中的三个名称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B048EDE3-2484-451A-83CF-2D8D22010DB4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4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619250"/>
          <a:ext cx="10972800" cy="3333752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3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名称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它是什么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本课用途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MSYS2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Windows 上的工具环境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提供软件包与命令行工具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Bash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解释并执行命令的 shell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执行本课命令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UCRT64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使用 UCRT 的 64 位环境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选择匹配的工具与搜索路径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54292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95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本课命令在 MSYS2 UCRT64 中执行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按 Windows 电脑架构选择安装包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14859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查看“设置 → 系统 → 系统信息 → 系统类型”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2764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Intel / AMD x64 电脑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8098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msys2-x86_64-日期.exe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6576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Windows 11 ARM64 电脑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41910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msys2-arm64-日期.exe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51054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875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从 msys2.org 对应入口下载；国内镜像缺包时返回官网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56769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87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安装器按电脑选择，HC32 开发板的 ARM 架构不决定安装包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1FD7F3A2-6A54-4060-8E6B-627990637652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5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MSYS2 安装流程（以 x64 为例）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82A059F7-14DB-41B5-B250-1D7FD8022E64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6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775" y="1363980"/>
            <a:ext cx="3105150" cy="199072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7607935" y="5877560"/>
            <a:ext cx="4417942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02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x64 安装完成后打开 UCRT64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" y="1211580"/>
            <a:ext cx="2606040" cy="22948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1363980"/>
            <a:ext cx="3114675" cy="199136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144010"/>
            <a:ext cx="3114675" cy="19913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5775" y="4149090"/>
            <a:ext cx="3114675" cy="19907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1815" y="4149090"/>
            <a:ext cx="3087370" cy="1541780"/>
          </a:xfrm>
          <a:prstGeom prst="rect">
            <a:avLst/>
          </a:prstGeom>
        </p:spPr>
      </p:pic>
      <p:cxnSp>
        <p:nvCxnSpPr>
          <p:cNvPr id="15" name="直接箭头连接符 14"/>
          <p:cNvCxnSpPr>
            <a:stCxn id="9" idx="3"/>
            <a:endCxn id="4" idx="1"/>
          </p:cNvCxnSpPr>
          <p:nvPr/>
        </p:nvCxnSpPr>
        <p:spPr>
          <a:xfrm>
            <a:off x="3228975" y="2359025"/>
            <a:ext cx="1066800" cy="635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4" idx="3"/>
            <a:endCxn id="10" idx="1"/>
          </p:cNvCxnSpPr>
          <p:nvPr/>
        </p:nvCxnSpPr>
        <p:spPr>
          <a:xfrm>
            <a:off x="7400925" y="2359660"/>
            <a:ext cx="782955" cy="0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连接符: 肘形 6"/>
          <p:cNvCxnSpPr>
            <a:stCxn id="10" idx="2"/>
            <a:endCxn id="11" idx="0"/>
          </p:cNvCxnSpPr>
          <p:nvPr/>
        </p:nvCxnSpPr>
        <p:spPr>
          <a:xfrm rot="5400000">
            <a:off x="5559743" y="-37465"/>
            <a:ext cx="788670" cy="757428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11" idx="3"/>
            <a:endCxn id="12" idx="1"/>
          </p:cNvCxnSpPr>
          <p:nvPr/>
        </p:nvCxnSpPr>
        <p:spPr>
          <a:xfrm>
            <a:off x="3724275" y="5139690"/>
            <a:ext cx="571500" cy="47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连接符: 肘形 17"/>
          <p:cNvCxnSpPr>
            <a:stCxn id="12" idx="3"/>
            <a:endCxn id="14" idx="1"/>
          </p:cNvCxnSpPr>
          <p:nvPr/>
        </p:nvCxnSpPr>
        <p:spPr>
          <a:xfrm flipV="1">
            <a:off x="7410450" y="4919980"/>
            <a:ext cx="761365" cy="224473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安装后的终端与工具架构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15621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x64 主线：ucrt64.exe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06692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7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UCRT64 · 原生工具为 x86_64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9337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ARM64 分支：clangarm64.exe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43852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7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CLANGARM64 · 原生工具为 aarch64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43053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0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在所选终端执行：echo </a:t>
            </a:r>
            <a:r>
              <a:rPr sz="210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</a:t>
            </a:r>
            <a:r>
              <a:rPr sz="2100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$MSYSTEM</a:t>
            </a:r>
            <a:r>
              <a:rPr sz="210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9815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875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通用 Bash 等 MSYS 工具当前仍为 x64，ARM64 主机通过模拟运行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55626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8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后续安装包名前缀随环境变化；编译 HC32 还需要 ARM 交叉编译器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653CE8B1-CE99-4A74-9686-20C11F352E2E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7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国内源影响哪些下载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A2598447-D1C2-4F4A-939C-F0B55F404B5C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8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619250"/>
          <a:ext cx="10972800" cy="3619500"/>
        </p:xfrm>
        <a:graphic>
          <a:graphicData uri="http://schemas.openxmlformats.org/drawingml/2006/table">
            <a:tbl>
              <a:tblPr/>
              <a:tblGrid>
                <a:gridCol w="476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下载对象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下载渠道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本次换源是否影响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Git、解压工具、UCRT64 工具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MSYS2 软件仓库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影响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Zephyr Git 仓库或 ZIP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GitHub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不影响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Python 包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pip 的软件包索引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不影响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Zephyr SDK 安装包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SDK 发布渠道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不影响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57340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95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本课采用中科大优先、清华后备；顺序可按网络情况调整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换源前先备份原始配置</a:t>
            </a: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609600" y="1552575"/>
            <a:ext cx="10972800" cy="246888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6372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任意目录；MSYS2 的 Bash 终端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cfg</a:t>
            </a:r>
            <a:r>
              <a:rPr sz="19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1950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/etc/pacman.d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[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!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-e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</a:t>
            </a:r>
            <a:r>
              <a:rPr sz="1950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$cfg</a:t>
            </a:r>
            <a:r>
              <a:rPr sz="19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/mirrorlist.msys.before-cn"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];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then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19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cp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</a:t>
            </a:r>
            <a:r>
              <a:rPr sz="1950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$cfg</a:t>
            </a:r>
            <a:r>
              <a:rPr sz="19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/mirrorlist.msys"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</a:t>
            </a:r>
            <a:r>
              <a:rPr sz="1950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$cfg</a:t>
            </a:r>
            <a:r>
              <a:rPr sz="19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/mirrorlist.msys.before-cn"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fi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[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!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-e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</a:t>
            </a:r>
            <a:r>
              <a:rPr sz="1950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$cfg</a:t>
            </a:r>
            <a:r>
              <a:rPr sz="19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/mirrorlist.mingw.before-cn"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];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then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19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cp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</a:t>
            </a:r>
            <a:r>
              <a:rPr sz="1950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$cfg</a:t>
            </a:r>
            <a:r>
              <a:rPr sz="19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/mirrorlist.mingw"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</a:t>
            </a:r>
            <a:r>
              <a:rPr sz="1950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$cfg</a:t>
            </a:r>
            <a:r>
              <a:rPr sz="19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/mirrorlist.mingw.before-cn"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fi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55530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02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首次备份保留原始列表。复制报错时先处理，再继续换源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1E434D39-F206-49D2-9659-9CFBE2D6D562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9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国内镜像配置：中科大优先</a:t>
            </a: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609600" y="1495425"/>
            <a:ext cx="10972800" cy="302895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sz="1875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6372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任意目录；MSYS2 的 Bash 终端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cat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&gt;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/etc/pacman.d/mirrorlist.msys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&lt;&lt;</a:t>
            </a:r>
            <a:r>
              <a:rPr sz="1875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'EOF'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Server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https://mirrors.ustc.edu.cn/msys2/msys/</a:t>
            </a:r>
            <a:r>
              <a:rPr sz="1875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$arch</a:t>
            </a:r>
            <a:r>
              <a:rPr sz="1875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Server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https://mirrors.tuna.tsinghua.edu.cn/msys2/msys/</a:t>
            </a:r>
            <a:r>
              <a:rPr sz="1875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$arch</a:t>
            </a:r>
            <a:r>
              <a:rPr sz="1875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EOF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875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sz="1875" b="0">
              <a:solidFill>
                <a:srgbClr val="005CC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cat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&gt;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/etc/pacman.d/mirrorlist.mingw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&lt;&lt;</a:t>
            </a:r>
            <a:r>
              <a:rPr sz="1875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'EOF'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Server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https://mirrors.ustc.edu.cn/msys2/mingw/</a:t>
            </a:r>
            <a:r>
              <a:rPr sz="1875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$repo</a:t>
            </a:r>
            <a:r>
              <a:rPr sz="1875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Server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https://mirrors.tuna.tsinghua.edu.cn/msys2/mingw/</a:t>
            </a:r>
            <a:r>
              <a:rPr sz="1875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$repo</a:t>
            </a:r>
            <a:r>
              <a:rPr sz="1875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EOF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55911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950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'EOF' 保留 $arch / $repo 原文；覆盖写入不会累积重复行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E143381B-D7A7-4E5A-8AED-3B26D208955F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10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$arch 与 $repo 如何决定目录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EE9ED794-381A-4B06-8A2B-269CD5E8477E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11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65735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00" b="1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MSYS</a:t>
            </a:r>
            <a:r>
              <a:rPr sz="2100" b="1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通用工具：msys</a:t>
            </a:r>
            <a:r>
              <a:rPr sz="2100" b="1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</a:t>
            </a:r>
            <a:r>
              <a:rPr sz="2100" b="1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$arch</a:t>
            </a:r>
            <a:r>
              <a:rPr sz="2100" b="1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333625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当前 Architecture </a:t>
            </a:r>
            <a:r>
              <a:rPr sz="19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x86_64，因此使用 msys</a:t>
            </a:r>
            <a:r>
              <a:rPr sz="1950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/x86_64/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43499" y="3524251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00" b="1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原生工具仓库：mingw</a:t>
            </a:r>
            <a:r>
              <a:rPr sz="2100" b="1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</a:t>
            </a:r>
            <a:r>
              <a:rPr sz="2100" b="1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$repo</a:t>
            </a:r>
            <a:r>
              <a:rPr sz="2100" b="1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4095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[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ucrt64</a:t>
            </a:r>
            <a:r>
              <a:rPr sz="19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]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使用 mingw</a:t>
            </a:r>
            <a:r>
              <a:rPr sz="1950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/ucrt64/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[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clangarm64</a:t>
            </a:r>
            <a:r>
              <a:rPr sz="19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]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使用 mingw</a:t>
            </a:r>
            <a:r>
              <a:rPr sz="1950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/clangarm64/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544830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025" b="1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修改镜像域名时保留占位符，不把所有目录都改成 x86_64 或 arm64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更新前检查实际展开的仓库地址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14478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6C657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6C657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6372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任意目录；MSYS2 Bash。先查看已启用的仓库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8288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0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pacman-conf</a:t>
            </a:r>
            <a:r>
              <a:rPr sz="210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0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--repo-list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4669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0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pacman-conf</a:t>
            </a:r>
            <a:r>
              <a:rPr sz="210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0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--repo</a:t>
            </a:r>
            <a:r>
              <a:rPr sz="210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msys </a:t>
            </a:r>
            <a:r>
              <a:rPr sz="210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Server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28765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8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中科大首选地址应以 /msys/x86_64/ 结尾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355282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0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pacman-conf</a:t>
            </a:r>
            <a:r>
              <a:rPr sz="210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0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--repo</a:t>
            </a:r>
            <a:r>
              <a:rPr sz="210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ucrt64 </a:t>
            </a:r>
            <a:r>
              <a:rPr sz="210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Server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39624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8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UCRT64 应以 /mingw/ucrt64/ 结尾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46386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0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pacman-conf</a:t>
            </a:r>
            <a:r>
              <a:rPr sz="210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0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--repo</a:t>
            </a:r>
            <a:r>
              <a:rPr sz="210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clangarm64 </a:t>
            </a:r>
            <a:r>
              <a:rPr sz="210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Server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50482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8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CLANGARM64 应以 /mingw/clangarm64/ 结尾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57912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87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只查询已启用的仓库；看到 mingw/x86_64/ 时先修正配置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D01CFFCA-336D-4830-AAF4-0A4845B44D4E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12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换源后的完整更新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2A14C607-96B2-424A-AB76-A23054E9E13B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13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762125"/>
            <a:ext cx="4191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0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确认地址正确后，首次换源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476500"/>
            <a:ext cx="1095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322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322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pacman</a:t>
            </a:r>
            <a:r>
              <a:rPr sz="322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3225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-Syyu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857625"/>
            <a:ext cx="8096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0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按提示重开原环境终端后继续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4572000"/>
            <a:ext cx="1095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322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322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pacman</a:t>
            </a:r>
            <a:r>
              <a:rPr sz="322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3225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-Syu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56578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8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MSYS2 使用完整升级。仅刷新索引后就安装新包，可能造成版本不配套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下载与解压工具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A149F048-50F4-4EE6-8F0C-286E4EFEB8AB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14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695450"/>
            <a:ext cx="1095375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62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pacman</a:t>
            </a:r>
            <a:r>
              <a:rPr sz="262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625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-S</a:t>
            </a:r>
            <a:r>
              <a:rPr sz="262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625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--needed</a:t>
            </a:r>
            <a:r>
              <a:rPr sz="262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625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\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62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</a:t>
            </a:r>
            <a:r>
              <a:rPr sz="262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62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62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curl</a:t>
            </a:r>
            <a:r>
              <a:rPr sz="262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62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wget</a:t>
            </a:r>
            <a:r>
              <a:rPr sz="262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62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unzip</a:t>
            </a:r>
            <a:r>
              <a:rPr sz="262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62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tar</a:t>
            </a:r>
            <a:r>
              <a:rPr sz="262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62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xz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3457575"/>
            <a:ext cx="10477500" cy="1762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25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25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Git 用于克隆与版本操作</a:t>
            </a:r>
          </a:p>
          <a:p>
            <a:pPr>
              <a:buNone/>
              <a:defRPr sz="225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25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curl、wget 用于网址下载</a:t>
            </a:r>
          </a:p>
          <a:p>
            <a:pPr>
              <a:buNone/>
              <a:defRPr sz="225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25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unzip、tar、xz 用于解压与归档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560070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025" b="1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安装后执行 git --version 和 command -v git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后续构建所需的辅助工具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6454649B-7931-4920-B587-9849AB21C26F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15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619250"/>
          <a:ext cx="10972800" cy="3476625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工具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职责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验证命令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CMake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生成工程构建配置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cmake --version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Ninja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执行编译和链接规则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ninja --version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dtc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处理设备树数据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dtc --version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gperf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根据关键字生成查找代码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gperf --version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5524500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包名前缀：mingw-w64-ucrt-x86_64-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Zephyr 官方源码入口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254826F4-8C67-43CB-BA34-DF69CFBFE68C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16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619250"/>
            <a:ext cx="4476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7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仓库地址</a:t>
            </a:r>
          </a:p>
          <a:p>
            <a:pPr>
              <a:buNone/>
              <a:defRPr sz="217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hlinkClick r:id="rId3"/>
              </a:rPr>
              <a:t>zephyrproject-rtos/zephyr</a:t>
            </a:r>
            <a:endParaRPr sz="2175" b="0">
              <a:solidFill>
                <a:srgbClr val="25203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809875"/>
            <a:ext cx="44767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main 会持续变化。</a:t>
            </a:r>
          </a:p>
          <a:p>
            <a:pPr>
              <a:buNone/>
              <a:def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正式工程固定标签或提交号。</a:t>
            </a:r>
          </a:p>
          <a:p>
            <a:pPr>
              <a:buNone/>
              <a:def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endParaRPr sz="2100">
              <a:solidFill>
                <a:srgbClr val="25203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>
              <a:buNone/>
              <a:def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endParaRPr sz="2100" b="0">
              <a:solidFill>
                <a:srgbClr val="25203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0" y="1581150"/>
            <a:ext cx="6019800" cy="3254502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09600" y="589597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87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上游下载练习使用独立目录，已有 HC32 工程保留原有源码</a:t>
            </a: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609600" y="4629150"/>
            <a:ext cx="10972800" cy="1018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sz="2025"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Aft>
                <a:spcPts val="5"/>
              </a:spcAft>
              <a:defRPr sz="2025"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克隆指令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025"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025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clone </a:t>
            </a:r>
            <a:r>
              <a:rPr sz="2025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\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025"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2025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https://github.com/zephyrproject-rtos/zephyr.git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22D80A6-EA82-49F4-8228-BAA292FF5C0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3300" b="1">
                <a:solidFill>
                  <a:srgbClr val="2520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252035"/>
                </a:solidFill>
                <a:latin typeface="Noto Sans SC"/>
                <a:ea typeface="Noto Sans SC"/>
                <a:cs typeface="Noto Sans SC"/>
              </a:rPr>
              <a:t>下载前的本地代理配置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BEF2D85-E084-423F-A809-6C7CA8195C71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252035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100" b="0">
                <a:solidFill>
                  <a:srgbClr val="252035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252035"/>
                </a:solidFill>
                <a:latin typeface="Noto Sans SC"/>
                <a:ea typeface="Noto Sans SC"/>
                <a:cs typeface="Noto Sans SC"/>
              </a:rPr>
              <a:t>v2rayN 示例：混合监听端口 10808，第二监听端口未开启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ABDF01-E22F-44A4-8FA0-13FDC0F999B4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6545A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400" b="1">
                <a:solidFill>
                  <a:srgbClr val="6545AF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6545AF"/>
                </a:solidFill>
                <a:latin typeface="Noto Sans SC"/>
                <a:ea typeface="Noto Sans SC"/>
                <a:cs typeface="Noto Sans SC"/>
              </a:rPr>
              <a:t>代理入口：http://127.0.0.1:10808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77CC8D-F2D6-4B3B-A3DF-F98EAA3F8E80}"/>
              </a:ext>
            </a:extLst>
          </p:cNvPr>
          <p:cNvSpPr>
            <a:spLocks noGrp="1"/>
          </p:cNvSpPr>
          <p:nvPr/>
        </p:nvSpPr>
        <p:spPr>
          <a:xfrm>
            <a:off x="609600" y="2781300"/>
            <a:ext cx="109728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6545AF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1950" b="0">
                <a:solidFill>
                  <a:srgbClr val="6545AF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6545AF"/>
                </a:solidFill>
                <a:latin typeface="Consolas"/>
                <a:ea typeface="Consolas"/>
                <a:cs typeface="Consolas"/>
              </a:rPr>
              <a:t>git config --global --replace-all http.proxy \</a:t>
            </a:r>
          </a:p>
          <a:p>
            <a:pPr>
              <a:defRPr sz="1950" b="0">
                <a:solidFill>
                  <a:srgbClr val="6545AF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6545AF"/>
                </a:solidFill>
                <a:latin typeface="Consolas"/>
                <a:ea typeface="Consolas"/>
                <a:cs typeface="Consolas"/>
              </a:rPr>
              <a:t>  http://127.0.0.1:10808</a:t>
            </a:r>
          </a:p>
          <a:p>
            <a:pPr>
              <a:defRPr sz="1950" b="0">
                <a:solidFill>
                  <a:srgbClr val="6545AF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6545AF"/>
                </a:solidFill>
                <a:latin typeface="Consolas"/>
                <a:ea typeface="Consolas"/>
                <a:cs typeface="Consolas"/>
              </a:rPr>
              <a:t>git config --show-origin --get-all http.proxy</a:t>
            </a:r>
          </a:p>
          <a:p>
            <a:pPr>
              <a:defRPr sz="1950" b="0">
                <a:solidFill>
                  <a:srgbClr val="6545AF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6545AF"/>
                </a:solidFill>
                <a:latin typeface="Consolas"/>
                <a:ea typeface="Consolas"/>
                <a:cs typeface="Consolas"/>
              </a:rPr>
              <a:t>curl -I -x http://127.0.0.1:10808 https://github.com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1A03EA-DBF2-4F58-92DD-BC902B3C8873}"/>
              </a:ext>
            </a:extLst>
          </p:cNvPr>
          <p:cNvSpPr>
            <a:spLocks noGrp="1"/>
          </p:cNvSpPr>
          <p:nvPr/>
        </p:nvSpPr>
        <p:spPr>
          <a:xfrm>
            <a:off x="609600" y="48196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52035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950" b="0">
                <a:solidFill>
                  <a:srgbClr val="252035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252035"/>
                </a:solidFill>
                <a:latin typeface="Noto Sans SC"/>
                <a:ea typeface="Noto Sans SC"/>
                <a:cs typeface="Noto Sans SC"/>
              </a:rPr>
              <a:t>http:// 是连接本地代理的协议；访问 GitHub 仍使用 HTTPS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A5DBF19-C8C5-49C1-8D21-D01427FD5ED9}"/>
              </a:ext>
            </a:extLst>
          </p:cNvPr>
          <p:cNvSpPr>
            <a:spLocks noGrp="1"/>
          </p:cNvSpPr>
          <p:nvPr/>
        </p:nvSpPr>
        <p:spPr>
          <a:xfrm>
            <a:off x="609600" y="5419725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52035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800" b="0">
                <a:solidFill>
                  <a:srgbClr val="252035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252035"/>
                </a:solidFill>
                <a:latin typeface="Noto Sans SC"/>
                <a:ea typeface="Noto Sans SC"/>
                <a:cs typeface="Noto Sans SC"/>
              </a:rPr>
              <a:t>Git 的 http.proxy 同时用于 HTTP / HTTPS 请求，无需另设 https.proxy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C0A02E-EA54-44CA-A74A-8FF258A91D0F}"/>
              </a:ext>
            </a:extLst>
          </p:cNvPr>
          <p:cNvSpPr>
            <a:spLocks noGrp="1"/>
          </p:cNvSpPr>
          <p:nvPr/>
        </p:nvSpPr>
        <p:spPr>
          <a:xfrm>
            <a:off x="609600" y="5972175"/>
            <a:ext cx="10572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1">
                <a:solidFill>
                  <a:srgbClr val="6545A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650" b="1">
                <a:solidFill>
                  <a:srgbClr val="6545A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6545AF"/>
                </a:solidFill>
                <a:latin typeface="Noto Sans SC"/>
                <a:ea typeface="Noto Sans SC"/>
                <a:cs typeface="Noto Sans SC"/>
              </a:rPr>
              <a:t>ZIP 由浏览器下载，需在 v2rayN 开启系统代理或配置浏览器代理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9B2615-B23C-9078-EBCB-C83235711581}"/>
              </a:ext>
            </a:extLst>
          </p:cNvPr>
          <p:cNvSpPr txBox="1"/>
          <p:nvPr/>
        </p:nvSpPr>
        <p:spPr>
          <a:xfrm>
            <a:off x="11144250" y="6400800"/>
            <a:ext cx="476250" cy="1962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fld id="{642D8B5A-75F7-4906-9278-BD591711C965}" type="slidenum">
              <a:rPr lang="zh-CN" altLang="en-US" sz="1275" smtClean="0">
                <a:solidFill>
                  <a:srgbClr val="6C657C"/>
                </a:solidFill>
                <a:latin typeface="Noto Sans SC" panose="020B0200000000000000" pitchFamily="34" charset="-122"/>
              </a:rPr>
              <a:t>17</a:t>
            </a:fld>
            <a:endParaRPr lang="zh-CN" altLang="en-US" sz="1275">
              <a:solidFill>
                <a:srgbClr val="6C657C"/>
              </a:solidFill>
              <a:latin typeface="Noto Sans SC" panose="020B02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2922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ZIP 下载得到源码快照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16F88B4F-2083-45AE-8D9E-9E2ECF8383DA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18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695450"/>
            <a:ext cx="438150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25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25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如果github克隆链接不稳定，那么用zip下载是个不错的选择，后续会讲解怎么补充git历史。快速开始和git完整性两不误。</a:t>
            </a:r>
            <a:endParaRPr sz="2400" b="0">
              <a:solidFill>
                <a:srgbClr val="25203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4143375"/>
            <a:ext cx="4381500" cy="1295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解压通常得到 zephyr-main</a:t>
            </a:r>
          </a:p>
          <a:p>
            <a:pPr>
              <a:buNone/>
              <a:def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可以直接阅读源码</a:t>
            </a:r>
          </a:p>
          <a:p>
            <a:pPr>
              <a:buNone/>
              <a:def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版本历史需要另外获取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1714500"/>
            <a:ext cx="6172200" cy="3336798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09600" y="578167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87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浏览器能下载 ZIP，不代表 Git 网络故障已经解决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ZIP 源码与 Git 仓库信息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EACE27EB-EA2D-4E8B-9A06-2B2E3D7E6C6B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19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619250"/>
          <a:ext cx="10972800" cy="2952752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81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对象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保存的内容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zephyr-main/ 中的源码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当前版本的工作区文件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.git/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提交对象、分支、配置等元数据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Git 索引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Git 用于比较与准备提交的文件状态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5191125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操作前保留原 ZIP，确认目标目录没有已有的 .git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5762625"/>
            <a:ext cx="10668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95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同名 main 分支在不同时间可能指向不同提交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最小 Git 元数据克隆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7033FB0C-F656-4ED2-9122-38039082A3A5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20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476375"/>
            <a:ext cx="10953750" cy="3133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clone </a:t>
            </a:r>
            <a:r>
              <a:rPr sz="22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\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--filter=blob:none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\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--no-checkout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\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--depth=1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\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--branch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main </a:t>
            </a:r>
            <a:r>
              <a:rPr sz="22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\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2250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https://github.com/zephyrproject-rtos/zephyr.git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\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git-meta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381625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250" b="1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25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先取得最小仓库，再连接 ZIP 工作区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元数据与 ZIP 版本核对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A783159A-FBD3-41C8-B1E1-A0C3F39974DB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21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647825"/>
            <a:ext cx="10953750" cy="1952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-C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git-meta rev-parse </a:t>
            </a:r>
            <a:r>
              <a:rPr sz="1950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HEAD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-C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git-meta remote </a:t>
            </a:r>
            <a:r>
              <a:rPr sz="19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-v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-C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git-meta config </a:t>
            </a:r>
            <a:r>
              <a:rPr sz="19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--get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remote.origin.partialclonefilter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-C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git-meta rev-parse </a:t>
            </a:r>
            <a:r>
              <a:rPr sz="19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--is-shallow-repository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417195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需要观察的结果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4848225"/>
            <a:ext cx="106680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提交号与 ZIP 匹配，远程为 Zephyr 官方仓库</a:t>
            </a:r>
          </a:p>
          <a:p>
            <a:pPr>
              <a:buNone/>
              <a:def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过滤器为 blob:none，浅仓库状态为 true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接入元数据并建立索引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2DF68BC8-E312-4F99-BCAC-74102CED1707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22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829050"/>
            <a:ext cx="10972800" cy="1752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>
                <a:solidFill>
                  <a:srgbClr val="005CC5"/>
                </a:solidFill>
              </a:rPr>
              <a:t>mv</a:t>
            </a:r>
            <a:r>
              <a:rPr>
                <a:solidFill>
                  <a:srgbClr val="24292F"/>
                </a:solidFill>
              </a:rPr>
              <a:t> git-meta</a:t>
            </a:r>
            <a:r>
              <a:rPr>
                <a:solidFill>
                  <a:srgbClr val="006C78"/>
                </a:solidFill>
              </a:rPr>
              <a:t>/.git</a:t>
            </a:r>
            <a:r>
              <a:rPr>
                <a:solidFill>
                  <a:srgbClr val="24292F"/>
                </a:solidFill>
              </a:rPr>
              <a:t> zephyr-main</a:t>
            </a:r>
            <a:r>
              <a:rPr>
                <a:solidFill>
                  <a:srgbClr val="006C78"/>
                </a:solidFill>
              </a:rPr>
              <a:t>/.git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>
                <a:solidFill>
                  <a:srgbClr val="005CC5"/>
                </a:solidFill>
              </a:rPr>
              <a:t>rmdir</a:t>
            </a:r>
            <a:r>
              <a:rPr>
                <a:solidFill>
                  <a:srgbClr val="24292F"/>
                </a:solidFill>
              </a:rPr>
              <a:t> git-meta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>
                <a:solidFill>
                  <a:srgbClr val="005CC5"/>
                </a:solidFill>
              </a:rPr>
              <a:t>cd</a:t>
            </a:r>
            <a:r>
              <a:rPr>
                <a:solidFill>
                  <a:srgbClr val="24292F"/>
                </a:solidFill>
              </a:rPr>
              <a:t> zephyr-main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>
                <a:solidFill>
                  <a:srgbClr val="005CC5"/>
                </a:solidFill>
              </a:rPr>
              <a:t>git</a:t>
            </a:r>
            <a:r>
              <a:rPr>
                <a:solidFill>
                  <a:srgbClr val="24292F"/>
                </a:solidFill>
              </a:rPr>
              <a:t> read-tree </a:t>
            </a:r>
            <a:r>
              <a:rPr>
                <a:solidFill>
                  <a:srgbClr val="7A3E9D"/>
                </a:solidFill>
              </a:rPr>
              <a:t>--reset</a:t>
            </a:r>
            <a:r>
              <a:rPr>
                <a:solidFill>
                  <a:srgbClr val="24292F"/>
                </a:solidFill>
              </a:rPr>
              <a:t> </a:t>
            </a:r>
            <a:r>
              <a:rPr>
                <a:solidFill>
                  <a:srgbClr val="A54800"/>
                </a:solidFill>
              </a:rPr>
              <a:t>HEAD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>
                <a:solidFill>
                  <a:srgbClr val="005CC5"/>
                </a:solidFill>
              </a:rPr>
              <a:t>git</a:t>
            </a:r>
            <a:r>
              <a:rPr>
                <a:solidFill>
                  <a:srgbClr val="24292F"/>
                </a:solidFill>
              </a:rPr>
              <a:t> status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79120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95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这一步重建索引，源码文件继续保留</a:t>
            </a:r>
            <a:endParaRPr sz="2250" b="1">
              <a:solidFill>
                <a:srgbClr val="25203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571625"/>
            <a:ext cx="10972800" cy="2009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0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defRPr sz="210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我们现在要把补充git记录，先建立进git记录的仓库。</a:t>
            </a:r>
          </a:p>
          <a:p>
            <a:pPr>
              <a:defRPr sz="210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然后把记录移动到zephyr-main文件夹，</a:t>
            </a:r>
          </a:p>
          <a:p>
            <a:pPr>
              <a:defRPr sz="210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然后再刷新或者补充索引就可以得到git clone一样效果。</a:t>
            </a:r>
          </a:p>
          <a:p>
            <a:pPr>
              <a:defRPr sz="210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zip下载既能够满足快速开始，可以满足完美主义者，和工程管理。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main 历史的补全与验证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9DA69C8A-240F-49DA-9E45-F2DE4B816C06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23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695450"/>
            <a:ext cx="10953750" cy="2619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rev-parse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--is-shallow-repository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fetch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--unshallow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--filter=blob:none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origin main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rev-parse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--is-shallow-repository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rev-list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--count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50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HEAD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log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--oneline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--decorate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-20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362575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00" b="1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浅仓库状态从 true 变为 false，表示浅历史边界解除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历史深度与文件内容是两个维度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08CE7188-8D0E-45F4-B3A9-6B01BDB50D0B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24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619250"/>
          <a:ext cx="10972800" cy="3143252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维度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控制选项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解除浅历史之后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历史深度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--depth / --unshallow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可追溯 main 提交历史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文件内容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--filter=blob:none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缺失 blob 仍按需获取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远程分支与标签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fetch 范围 / --tags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按需求额外获取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537210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需要历史文件时，后续 Git 操作仍可能访问远端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可选的分支与标签获取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3A301DCF-DA6F-4407-A216-CE46CA14183C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25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5811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0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其他远程分支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190750"/>
            <a:ext cx="10953750" cy="1847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config remote.origin.fetch </a:t>
            </a:r>
            <a:r>
              <a:rPr sz="2175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\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2175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"+refs/heads/*:refs/remotes/origin/*"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fetch </a:t>
            </a:r>
            <a:r>
              <a:rPr sz="2175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--filter=blob:none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origin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branch </a:t>
            </a:r>
            <a:r>
              <a:rPr sz="2175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-r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43624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0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发布标签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4962525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fetch </a:t>
            </a:r>
            <a:r>
              <a:rPr sz="2175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--tags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75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--filter=blob:none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origin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tag </a:t>
            </a:r>
            <a:r>
              <a:rPr sz="2175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仓库内的 Git 提交身份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32826EB8-4F28-4CE4-8137-BED7636F1677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26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752600"/>
            <a:ext cx="10953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rev-parse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--show-toplevel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config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--local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user.email </a:t>
            </a:r>
            <a:r>
              <a:rPr sz="22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"xxx@yy.com"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config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--local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user.name </a:t>
            </a:r>
            <a:r>
              <a:rPr sz="22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"xxx"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config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--local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--get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user.email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config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--local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--get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user.name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381625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75" b="1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局部配置需要已存在的 Git 仓库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GitHub 连接故障的定位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BF8120B4-A8AE-419D-A1A1-5A428CBB9DE8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27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685925"/>
            <a:ext cx="10953750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config </a:t>
            </a:r>
            <a:r>
              <a:rPr sz="2175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--show-origin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75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--get-regexp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75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\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2175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'^(http|https)\..*proxy$'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env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75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|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grep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75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-i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proxy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ls-remote </a:t>
            </a:r>
            <a:r>
              <a:rPr sz="2175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\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2175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https://github.com/zephyrproject-rtos/zephyr.git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75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HEAD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33400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小请求成功后，再重试体积较大的 clone 或 fetch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585787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87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MSYS2 换源与 GitHub 连接属于不同下载链路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完成标志与下一步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2E27846B-56B0-431D-9CFE-CC19EEC7324E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28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562100"/>
            <a:ext cx="2857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32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32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环境正确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524250" y="1628775"/>
            <a:ext cx="7905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02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MSYSTEM 为 UCRT64，工具版本命令可执行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2638425"/>
            <a:ext cx="2857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32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32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源码可用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524250" y="2705100"/>
            <a:ext cx="7905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02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路径与提交明确，下载结果可以检查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3714750"/>
            <a:ext cx="2857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32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32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Git 状态明确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524250" y="3781425"/>
            <a:ext cx="7905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02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区分 ZIP、浅仓库和已补全的 main 历史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5286375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25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25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下一步：Python 虚拟环境、west 配套模块与 Zephyr SDK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3135</Words>
  <Application>Microsoft Office PowerPoint</Application>
  <PresentationFormat>宽屏</PresentationFormat>
  <Paragraphs>400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2" baseType="lpstr">
      <vt:lpstr>Noto Sans SC</vt:lpstr>
      <vt:lpstr>Aptos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兆军 李</cp:lastModifiedBy>
  <cp:revision>14</cp:revision>
  <dcterms:created xsi:type="dcterms:W3CDTF">2026-10-02T10:41:00Z</dcterms:created>
  <dcterms:modified xsi:type="dcterms:W3CDTF">2026-10-03T01:26:48Z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953B3E15F5E841E2B82632FF505B06D3_12</vt:lpwstr>
  </property>
</Properties>
</file>