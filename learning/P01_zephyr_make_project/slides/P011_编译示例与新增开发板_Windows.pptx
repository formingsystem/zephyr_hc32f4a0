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restored_cover/notesSlides/notesSlide1.xml" ContentType="application/vnd.openxmlformats-officedocument.presentationml.notesSlide+xml"/>
  <Override PartName="/ppt/restored_cover/slideLayouts/slideLayout6.xml" ContentType="application/vnd.openxmlformats-officedocument.presentationml.slideLayout+xml"/>
  <Override PartName="/ppt/restored_cover/slideMasters/slideMaster1.xml" ContentType="application/vnd.openxmlformats-officedocument.presentationml.slideMaster+xml"/>
  <Override PartName="/ppt/restored_cover/slideLayouts/slideLayout3.xml" ContentType="application/vnd.openxmlformats-officedocument.presentationml.slideLayout+xml"/>
  <Override PartName="/ppt/restored_cover/theme/theme1.xml" ContentType="application/vnd.openxmlformats-officedocument.theme+xml"/>
  <Override PartName="/ppt/restored_cover/slideLayouts/slideLayout2.xml" ContentType="application/vnd.openxmlformats-officedocument.presentationml.slideLayout+xml"/>
  <Override PartName="/ppt/restored_cover/slideLayouts/slideLayout1.xml" ContentType="application/vnd.openxmlformats-officedocument.presentationml.slideLayout+xml"/>
  <Override PartName="/ppt/restored_cover/slideLayouts/slideLayout5.xml" ContentType="application/vnd.openxmlformats-officedocument.presentationml.slideLayout+xml"/>
  <Override PartName="/ppt/restored_cover/slideLayouts/slideLayout4.xml" ContentType="application/vnd.openxmlformats-officedocument.presentationml.slideLayout+xml"/>
  <Override PartName="/ppt/slides/beginner_slide1.xml" ContentType="application/vnd.openxmlformats-officedocument.presentationml.slide+xml"/>
  <Override PartName="/ppt/beginner/slideLayouts/slideLayout6.xml" ContentType="application/vnd.openxmlformats-officedocument.presentationml.slideLayout+xml"/>
  <Override PartName="/ppt/beginner/slideMasters/slideMaster1.xml" ContentType="application/vnd.openxmlformats-officedocument.presentationml.slideMaster+xml"/>
  <Override PartName="/ppt/beginner/slideMasters/theme/theme2.xml" ContentType="application/vnd.openxmlformats-officedocument.theme+xml"/>
  <Override PartName="/ppt/beginner/slideLayouts/slideLayout1.xml" ContentType="application/vnd.openxmlformats-officedocument.presentationml.slideLayout+xml"/>
  <Override PartName="/ppt/beginner/slideLayouts/slideLayout2.xml" ContentType="application/vnd.openxmlformats-officedocument.presentationml.slideLayout+xml"/>
  <Override PartName="/ppt/beginner/slideLayouts/slideLayout3.xml" ContentType="application/vnd.openxmlformats-officedocument.presentationml.slideLayout+xml"/>
  <Override PartName="/ppt/beginner/slideLayouts/slideLayout4.xml" ContentType="application/vnd.openxmlformats-officedocument.presentationml.slideLayout+xml"/>
  <Override PartName="/ppt/beginner/slideLayouts/slideLayout5.xml" ContentType="application/vnd.openxmlformats-officedocument.presentationml.slideLayout+xml"/>
  <Override PartName="/ppt/beginner/notesSlides/notesSlide1.xml" ContentType="application/vnd.openxmlformats-officedocument.presentationml.notesSlide+xml"/>
  <Override PartName="/ppt/slides/beginner_slide2.xml" ContentType="application/vnd.openxmlformats-officedocument.presentationml.slide+xml"/>
  <Override PartName="/ppt/beginner/notesSlides/notesSlide2.xml" ContentType="application/vnd.openxmlformats-officedocument.presentationml.notesSlide+xml"/>
  <Override PartName="/ppt/slides/beginner_slide3.xml" ContentType="application/vnd.openxmlformats-officedocument.presentationml.slide+xml"/>
  <Override PartName="/ppt/beginner/notesSlides/notesSlide3.xml" ContentType="application/vnd.openxmlformats-officedocument.presentationml.notesSlide+xml"/>
  <Override PartName="/ppt/slides/beginner_slide4.xml" ContentType="application/vnd.openxmlformats-officedocument.presentationml.slide+xml"/>
  <Override PartName="/ppt/beginner/notesSlides/notesSlide4.xml" ContentType="application/vnd.openxmlformats-officedocument.presentationml.notesSlide+xml"/>
  <Override PartName="/ppt/slides/beginner_slide5.xml" ContentType="application/vnd.openxmlformats-officedocument.presentationml.slide+xml"/>
  <Override PartName="/ppt/beginner/notesSlides/notesSlide5.xml" ContentType="application/vnd.openxmlformats-officedocument.presentationml.notesSlide+xml"/>
  <Override PartName="/ppt/slides/beginner_slide6.xml" ContentType="application/vnd.openxmlformats-officedocument.presentationml.slide+xml"/>
  <Override PartName="/ppt/beginner/notesSlides/notesSlide6.xml" ContentType="application/vnd.openxmlformats-officedocument.presentationml.notesSlide+xml"/>
  <Override PartName="/ppt/slides/beginner_slide7.xml" ContentType="application/vnd.openxmlformats-officedocument.presentationml.slide+xml"/>
  <Override PartName="/ppt/beginner/notesSlides/notesSlide7.xml" ContentType="application/vnd.openxmlformats-officedocument.presentationml.notesSlide+xml"/>
  <Override PartName="/ppt/slides/beginner_slide8.xml" ContentType="application/vnd.openxmlformats-officedocument.presentationml.slide+xml"/>
  <Override PartName="/ppt/beginner/notesSlides/notesSlide8.xml" ContentType="application/vnd.openxmlformats-officedocument.presentationml.notesSlide+xml"/>
  <Override PartName="/ppt/slides/beginner_slide9.xml" ContentType="application/vnd.openxmlformats-officedocument.presentationml.slide+xml"/>
  <Override PartName="/ppt/beginner/notesSlides/notesSlide9.xml" ContentType="application/vnd.openxmlformats-officedocument.presentationml.notesSlide+xml"/>
  <Override PartName="/ppt/slides/beginner_slide10.xml" ContentType="application/vnd.openxmlformats-officedocument.presentationml.slide+xml"/>
  <Override PartName="/ppt/beginner/notesSlides/notesSlide10.xml" ContentType="application/vnd.openxmlformats-officedocument.presentationml.notesSlide+xml"/>
  <Override PartName="/ppt/slides/beginner_slide11.xml" ContentType="application/vnd.openxmlformats-officedocument.presentationml.slide+xml"/>
  <Override PartName="/ppt/beginner/notesSlides/notesSlide11.xml" ContentType="application/vnd.openxmlformats-officedocument.presentationml.notesSlide+xml"/>
  <Override PartName="/ppt/slides/beginner_slide12.xml" ContentType="application/vnd.openxmlformats-officedocument.presentationml.slide+xml"/>
  <Override PartName="/ppt/beginner/notesSlides/notesSlide12.xml" ContentType="application/vnd.openxmlformats-officedocument.presentationml.notesSlide+xml"/>
  <Override PartName="/ppt/slides/beginner_slide13.xml" ContentType="application/vnd.openxmlformats-officedocument.presentationml.slide+xml"/>
  <Override PartName="/ppt/beginner/notesSlides/notesSlide13.xml" ContentType="application/vnd.openxmlformats-officedocument.presentationml.notesSlide+xml"/>
  <Override PartName="/ppt/slides/beginner_slide14.xml" ContentType="application/vnd.openxmlformats-officedocument.presentationml.slide+xml"/>
  <Override PartName="/ppt/beginner/notesSlides/notesSlide14.xml" ContentType="application/vnd.openxmlformats-officedocument.presentationml.notesSlide+xml"/>
  <Override PartName="/ppt/slides/beginner_slide15.xml" ContentType="application/vnd.openxmlformats-officedocument.presentationml.slide+xml"/>
  <Override PartName="/ppt/beginner/notesSlides/notesSlide15.xml" ContentType="application/vnd.openxmlformats-officedocument.presentationml.notesSlide+xml"/>
  <Override PartName="/ppt/slides/beginner_slide16.xml" ContentType="application/vnd.openxmlformats-officedocument.presentationml.slide+xml"/>
  <Override PartName="/ppt/beginner/notesSlides/notesSlide16.xml" ContentType="application/vnd.openxmlformats-officedocument.presentationml.notesSlide+xml"/>
  <Override PartName="/ppt/slides/beginner_slide17.xml" ContentType="application/vnd.openxmlformats-officedocument.presentationml.slide+xml"/>
  <Override PartName="/ppt/beginner/notesSlides/notesSlide17.xml" ContentType="application/vnd.openxmlformats-officedocument.presentationml.notesSlide+xml"/>
  <Override PartName="/ppt/slides/beginner_slide18.xml" ContentType="application/vnd.openxmlformats-officedocument.presentationml.slide+xml"/>
  <Override PartName="/ppt/beginner/notesSlides/notesSlide18.xml" ContentType="application/vnd.openxmlformats-officedocument.presentationml.notesSlide+xml"/>
  <Override PartName="/ppt/slides/beginner_slide19.xml" ContentType="application/vnd.openxmlformats-officedocument.presentationml.slide+xml"/>
  <Override PartName="/ppt/beginner/notesSlides/notesSlide19.xml" ContentType="application/vnd.openxmlformats-officedocument.presentationml.notesSlide+xml"/>
  <Override PartName="/ppt/slides/beginner_slide20.xml" ContentType="application/vnd.openxmlformats-officedocument.presentationml.slide+xml"/>
  <Override PartName="/ppt/beginner/notesSlides/notesSlide20.xml" ContentType="application/vnd.openxmlformats-officedocument.presentationml.notesSlide+xml"/>
  <Override PartName="/ppt/slides/beginner_slide21.xml" ContentType="application/vnd.openxmlformats-officedocument.presentationml.slide+xml"/>
  <Override PartName="/ppt/beginner/notesSlides/notesSlide21.xml" ContentType="application/vnd.openxmlformats-officedocument.presentationml.notesSlide+xml"/>
  <Override PartName="/ppt/slides/beginner_slide22.xml" ContentType="application/vnd.openxmlformats-officedocument.presentationml.slide+xml"/>
  <Override PartName="/ppt/beginner/notesSlides/notesSlide22.xml" ContentType="application/vnd.openxmlformats-officedocument.presentationml.notesSlide+xml"/>
  <Override PartName="/ppt/slides/beginner_slide23.xml" ContentType="application/vnd.openxmlformats-officedocument.presentationml.slide+xml"/>
  <Override PartName="/ppt/beginner/notesSlides/notesSlide23.xml" ContentType="application/vnd.openxmlformats-officedocument.presentationml.notesSlide+xml"/>
  <Override PartName="/ppt/slides/beginner_slide24.xml" ContentType="application/vnd.openxmlformats-officedocument.presentationml.slide+xml"/>
  <Override PartName="/ppt/beginner/notesSlides/notesSlide24.xml" ContentType="application/vnd.openxmlformats-officedocument.presentationml.notesSlide+xml"/>
  <Override PartName="/ppt/slides/beginner_slide25.xml" ContentType="application/vnd.openxmlformats-officedocument.presentationml.slide+xml"/>
  <Override PartName="/ppt/beginner/notesSlides/notesSlide25.xml" ContentType="application/vnd.openxmlformats-officedocument.presentationml.notesSlide+xml"/>
  <Override PartName="/ppt/slides/beginner_slide26.xml" ContentType="application/vnd.openxmlformats-officedocument.presentationml.slide+xml"/>
  <Override PartName="/ppt/beginner/notesSlides/notesSlide26.xml" ContentType="application/vnd.openxmlformats-officedocument.presentationml.notesSlide+xml"/>
  <Override PartName="/ppt/slides/sdkscope_slide1.xml" ContentType="application/vnd.openxmlformats-officedocument.presentationml.slide+xml"/>
  <Override PartName="/ppt/sdkscope/slideLayouts/slideLayout6.xml" ContentType="application/vnd.openxmlformats-officedocument.presentationml.slideLayout+xml"/>
  <Override PartName="/ppt/sdkscope/slideMasters/slideMaster1.xml" ContentType="application/vnd.openxmlformats-officedocument.presentationml.slideMaster+xml"/>
  <Override PartName="/ppt/sdkscope/slideMasters/theme/theme2.xml" ContentType="application/vnd.openxmlformats-officedocument.theme+xml"/>
  <Override PartName="/ppt/sdkscope/slideLayouts/slideLayout1.xml" ContentType="application/vnd.openxmlformats-officedocument.presentationml.slideLayout+xml"/>
  <Override PartName="/ppt/sdkscope/slideLayouts/slideLayout2.xml" ContentType="application/vnd.openxmlformats-officedocument.presentationml.slideLayout+xml"/>
  <Override PartName="/ppt/sdkscope/slideLayouts/slideLayout3.xml" ContentType="application/vnd.openxmlformats-officedocument.presentationml.slideLayout+xml"/>
  <Override PartName="/ppt/sdkscope/slideLayouts/slideLayout4.xml" ContentType="application/vnd.openxmlformats-officedocument.presentationml.slideLayout+xml"/>
  <Override PartName="/ppt/sdkscope/slideLayouts/slideLayout5.xml" ContentType="application/vnd.openxmlformats-officedocument.presentationml.slideLayout+xml"/>
  <Override PartName="/ppt/sdkscope/notesSlides/notesSlide1.xml" ContentType="application/vnd.openxmlformats-officedocument.presentationml.notesSlide+xml"/>
  <Override PartName="/ppt/slides/sdkscope_slide2.xml" ContentType="application/vnd.openxmlformats-officedocument.presentationml.slide+xml"/>
  <Override PartName="/ppt/sdkscope/notesSlides/notesSlide2.xml" ContentType="application/vnd.openxmlformats-officedocument.presentationml.notesSlide+xml"/>
  <Override PartName="/ppt/slides/sdkscope_slide3.xml" ContentType="application/vnd.openxmlformats-officedocument.presentationml.slide+xml"/>
  <Override PartName="/ppt/sdkscope/notesSlides/notesSlide3.xml" ContentType="application/vnd.openxmlformats-officedocument.presentationml.notesSlide+xml"/>
  <Override PartName="/ppt/slides/sdkscope_slide4.xml" ContentType="application/vnd.openxmlformats-officedocument.presentationml.slide+xml"/>
  <Override PartName="/ppt/sdkscope/notesSlides/notesSlide4.xml" ContentType="application/vnd.openxmlformats-officedocument.presentationml.notesSlide+xml"/>
  <Override PartName="/ppt/slides/cmsiswest_slide1.xml" ContentType="application/vnd.openxmlformats-officedocument.presentationml.slide+xml"/>
  <Override PartName="/ppt/cmsiswest/slideLayouts/slideLayout6.xml" ContentType="application/vnd.openxmlformats-officedocument.presentationml.slideLayout+xml"/>
  <Override PartName="/ppt/cmsiswest/slideMasters/slideMaster1.xml" ContentType="application/vnd.openxmlformats-officedocument.presentationml.slideMaster+xml"/>
  <Override PartName="/ppt/cmsiswest/slideMasters/theme/theme2.xml" ContentType="application/vnd.openxmlformats-officedocument.theme+xml"/>
  <Override PartName="/ppt/cmsiswest/slideLayouts/slideLayout1.xml" ContentType="application/vnd.openxmlformats-officedocument.presentationml.slideLayout+xml"/>
  <Override PartName="/ppt/cmsiswest/slideLayouts/slideLayout2.xml" ContentType="application/vnd.openxmlformats-officedocument.presentationml.slideLayout+xml"/>
  <Override PartName="/ppt/cmsiswest/slideLayouts/slideLayout3.xml" ContentType="application/vnd.openxmlformats-officedocument.presentationml.slideLayout+xml"/>
  <Override PartName="/ppt/cmsiswest/slideLayouts/slideLayout4.xml" ContentType="application/vnd.openxmlformats-officedocument.presentationml.slideLayout+xml"/>
  <Override PartName="/ppt/cmsiswest/slideLayouts/slideLayout5.xml" ContentType="application/vnd.openxmlformats-officedocument.presentationml.slideLayout+xml"/>
  <Override PartName="/ppt/cmsiswest/notesSlides/notesSlide1.xml" ContentType="application/vnd.openxmlformats-officedocument.presentationml.notesSlide+xml"/>
  <Override PartName="/ppt/slides/cmsiswest_slide2.xml" ContentType="application/vnd.openxmlformats-officedocument.presentationml.slide+xml"/>
  <Override PartName="/ppt/cmsiswest/notesSlides/notesSlide2.xml" ContentType="application/vnd.openxmlformats-officedocument.presentationml.notesSlide+xml"/>
  <Override PartName="/ppt/slides/cmsiswest_slide3.xml" ContentType="application/vnd.openxmlformats-officedocument.presentationml.slide+xml"/>
  <Override PartName="/ppt/cmsiswest/notesSlides/notesSlide3.xml" ContentType="application/vnd.openxmlformats-officedocument.presentationml.notesSlide+xml"/>
  <Override PartName="/ppt/slides/cmsiswest_slide4.xml" ContentType="application/vnd.openxmlformats-officedocument.presentationml.slide+xml"/>
  <Override PartName="/ppt/cmsiswest/notesSlides/notesSlide4.xml" ContentType="application/vnd.openxmlformats-officedocument.presentationml.notesSlide+xml"/>
  <Override PartName="/ppt/slides/cmsiswest_slide5.xml" ContentType="application/vnd.openxmlformats-officedocument.presentationml.slide+xml"/>
  <Override PartName="/ppt/cmsiswest/notesSlides/notesSlide5.xml" ContentType="application/vnd.openxmlformats-officedocument.presentationml.notesSlide+xml"/>
  <Override PartName="/ppt/slides/cmsiswest_slide6.xml" ContentType="application/vnd.openxmlformats-officedocument.presentationml.slide+xml"/>
  <Override PartName="/ppt/cmsiswest/notesSlides/notesSlide6.xml" ContentType="application/vnd.openxmlformats-officedocument.presentationml.notesSlide+xml"/>
  <Override PartName="/ppt/slides/cmsiswest_slide7.xml" ContentType="application/vnd.openxmlformats-officedocument.presentationml.slide+xml"/>
  <Override PartName="/ppt/cmsiswest/notesSlides/notesSlide7.xml" ContentType="application/vnd.openxmlformats-officedocument.presentationml.notesSlide+xml"/>
  <Override PartName="/ppt/slides/cmsiswest_slide13.xml" ContentType="application/vnd.openxmlformats-officedocument.presentationml.slide+xml"/>
  <Override PartName="/ppt/cmsiswest/notesSlides/notesSlide13.xml" ContentType="application/vnd.openxmlformats-officedocument.presentationml.notesSlide+xml"/>
  <Override PartName="/ppt/slides/cmsiswest_slide8.xml" ContentType="application/vnd.openxmlformats-officedocument.presentationml.slide+xml"/>
  <Override PartName="/ppt/cmsiswest/notesSlides/notesSlide8.xml" ContentType="application/vnd.openxmlformats-officedocument.presentationml.notesSlide+xml"/>
  <Override PartName="/ppt/slides/cmsiswest_slide9.xml" ContentType="application/vnd.openxmlformats-officedocument.presentationml.slide+xml"/>
  <Override PartName="/ppt/cmsiswest/notesSlides/notesSlide9.xml" ContentType="application/vnd.openxmlformats-officedocument.presentationml.notesSlide+xml"/>
  <Override PartName="/ppt/slides/cmsiswest_slide10.xml" ContentType="application/vnd.openxmlformats-officedocument.presentationml.slide+xml"/>
  <Override PartName="/ppt/cmsiswest/notesSlides/notesSlide10.xml" ContentType="application/vnd.openxmlformats-officedocument.presentationml.notesSlide+xml"/>
  <Override PartName="/ppt/slides/cmsiswest_slide11.xml" ContentType="application/vnd.openxmlformats-officedocument.presentationml.slide+xml"/>
  <Override PartName="/ppt/cmsiswest/notesSlides/notesSlide11.xml" ContentType="application/vnd.openxmlformats-officedocument.presentationml.notesSlide+xml"/>
  <Override PartName="/ppt/slides/cmsiswest_slide12.xml" ContentType="application/vnd.openxmlformats-officedocument.presentationml.slide+xml"/>
  <Override PartName="/ppt/cmsiswest/notesSlides/notesSlide12.xml" ContentType="application/vnd.openxmlformats-officedocument.presentationml.notesSlide+xml"/>
  <Override PartName="/ppt/theme/lizhaojunCoverTheme.xml" ContentType="application/vnd.openxmlformats-officedocument.theme+xml"/>
  <Override PartName="/ppt/slideMasters/lizhaojunCoverMaster.xml" ContentType="application/vnd.openxmlformats-officedocument.presentationml.slideMaster+xml"/>
  <Override PartName="/ppt/slideLayouts/lizhaojunCoverLayout.xml" ContentType="application/vnd.openxmlformats-officedocument.presentationml.slideLayout+xml"/>
  <Override PartName="/ppt/slides/standalone_toolchain_7.xml" ContentType="application/vnd.openxmlformats-officedocument.presentationml.slide+xml"/>
  <Override PartName="/ppt/notesSlides/standalone_toolchain_7.xml" ContentType="application/vnd.openxmlformats-officedocument.presentationml.notesSlide+xml"/>
  <Override PartName="/ppt/slides/standalone_toolchain_8.xml" ContentType="application/vnd.openxmlformats-officedocument.presentationml.slide+xml"/>
  <Override PartName="/ppt/notesSlides/standalone_toolchain_8.xml" ContentType="application/vnd.openxmlformats-officedocument.presentationml.notesSlide+xml"/>
  <Override PartName="/ppt/slides/standalone_toolchain_9.xml" ContentType="application/vnd.openxmlformats-officedocument.presentationml.slide+xml"/>
  <Override PartName="/ppt/notesSlides/standalone_toolchain_9.xml" ContentType="application/vnd.openxmlformats-officedocument.presentationml.notesSlide+xml"/>
  <Override PartName="/ppt/slides/firmware_formats.xml" ContentType="application/vnd.openxmlformats-officedocument.presentationml.slide+xml"/>
  <Override PartName="/ppt/notesSlides/firmware_formats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Type="http://schemas.openxmlformats.org/package/2006/relationships/metadata/core-properties" Target="/docProps/core.xml" Id="R1d2ed2195fa34a81"/><Relationship Type="http://schemas.openxmlformats.org/officeDocument/2006/relationships/extended-properties" Target="/docProps/app.xml" Id="Rdcc32e8e34cb41c6"/><Relationship Type="http://schemas.openxmlformats.org/officeDocument/2006/relationships/officeDocument" Target="/ppt/presentation.xml" Id="Re25740bbb5184386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1688aa1980f4697"/>
    <p:sldMasterId xmlns:ns0="http://schemas.openxmlformats.org/officeDocument/2006/relationships" id="2147483655" ns0:id="rIdRestoredCoverMaster2147483655"/>
    <p:sldMasterId xmlns:ns0="http://schemas.openxmlformats.org/officeDocument/2006/relationships" id="2147483662" ns0:id="rIdBeginnerMaster2147483662"/>
    <p:sldMasterId xmlns:ns0="http://schemas.openxmlformats.org/officeDocument/2006/relationships" id="2147483669" ns0:id="rIdSdkScopeMaster2147483669"/>
    <p:sldMasterId xmlns:ns0="http://schemas.openxmlformats.org/officeDocument/2006/relationships" id="2147483676" ns0:id="rIdCmsisWestMaster2147483676"/>
    <p:sldMasterId xmlns:ns0="http://schemas.openxmlformats.org/officeDocument/2006/relationships" id="2147483684" ns0:id="rIdLizhaojunCover"/>
  </p:sldMasterIdLst>
  <p:notesMasterIdLst>
    <p:notesMasterId xmlns:r="http://schemas.openxmlformats.org/officeDocument/2006/relationships" r:id="R77df47e2dd254d93"/>
  </p:notesMasterIdLst>
  <p:sldIdLst>
    <p:sldId xmlns:ns0="http://schemas.openxmlformats.org/officeDocument/2006/relationships" id="256" ns0:id="rIdStandalonePage1"/>
    <p:sldId xmlns:ns1="http://schemas.openxmlformats.org/officeDocument/2006/relationships" id="257" ns1:id="rIdStandalonePage2"/>
    <p:sldId xmlns:ns2="http://schemas.openxmlformats.org/officeDocument/2006/relationships" id="258" ns2:id="rIdStandalonePage3"/>
    <p:sldId xmlns:ns3="http://schemas.openxmlformats.org/officeDocument/2006/relationships" id="259" ns3:id="rIdStandalonePage4"/>
    <p:sldId xmlns:ns4="http://schemas.openxmlformats.org/officeDocument/2006/relationships" id="260" ns4:id="rIdStandalonePage5"/>
    <p:sldId xmlns:ns5="http://schemas.openxmlformats.org/officeDocument/2006/relationships" id="261" ns5:id="rIdStandalonePage6"/>
    <p:sldId xmlns:ns6="http://schemas.openxmlformats.org/officeDocument/2006/relationships" id="262" ns6:id="rIdStandalonePage7"/>
    <p:sldId xmlns:ns7="http://schemas.openxmlformats.org/officeDocument/2006/relationships" id="263" ns7:id="rIdStandalonePage8"/>
    <p:sldId xmlns:ns8="http://schemas.openxmlformats.org/officeDocument/2006/relationships" id="264" ns8:id="rIdStandalonePage9"/>
    <p:sldId xmlns:ns9="http://schemas.openxmlformats.org/officeDocument/2006/relationships" id="265" ns9:id="rIdStandalonePage10"/>
    <p:sldId xmlns:ns10="http://schemas.openxmlformats.org/officeDocument/2006/relationships" id="266" ns10:id="rIdStandalonePage11"/>
    <p:sldId xmlns:ns11="http://schemas.openxmlformats.org/officeDocument/2006/relationships" id="267" ns11:id="rIdStandalonePage12"/>
    <p:sldId xmlns:ns12="http://schemas.openxmlformats.org/officeDocument/2006/relationships" id="268" ns12:id="rIdStandalonePage13"/>
    <p:sldId xmlns:ns13="http://schemas.openxmlformats.org/officeDocument/2006/relationships" id="269" ns13:id="rIdStandalonePage14"/>
    <p:sldId xmlns:ns14="http://schemas.openxmlformats.org/officeDocument/2006/relationships" id="270" ns14:id="rIdStandalonePage15"/>
    <p:sldId xmlns:ns15="http://schemas.openxmlformats.org/officeDocument/2006/relationships" id="271" ns15:id="rIdStandalonePage16"/>
    <p:sldId xmlns:ns16="http://schemas.openxmlformats.org/officeDocument/2006/relationships" id="272" ns16:id="rIdStandalonePage17"/>
    <p:sldId xmlns:ns17="http://schemas.openxmlformats.org/officeDocument/2006/relationships" id="273" ns17:id="rIdStandalonePage18"/>
    <p:sldId xmlns:ns18="http://schemas.openxmlformats.org/officeDocument/2006/relationships" id="274" ns18:id="rIdStandalonePage19"/>
    <p:sldId xmlns:ns19="http://schemas.openxmlformats.org/officeDocument/2006/relationships" id="275" ns19:id="rIdStandalonePage20"/>
    <p:sldId xmlns:ns20="http://schemas.openxmlformats.org/officeDocument/2006/relationships" id="276" ns20:id="rIdStandalonePage21"/>
    <p:sldId xmlns:ns21="http://schemas.openxmlformats.org/officeDocument/2006/relationships" id="277" ns21:id="rIdStandalonePage22"/>
    <p:sldId xmlns:ns22="http://schemas.openxmlformats.org/officeDocument/2006/relationships" id="278" ns22:id="rIdStandalonePage23"/>
    <p:sldId xmlns:ns23="http://schemas.openxmlformats.org/officeDocument/2006/relationships" id="279" ns23:id="rIdStandalonePage24"/>
    <p:sldId xmlns:ns24="http://schemas.openxmlformats.org/officeDocument/2006/relationships" id="280" ns24:id="rIdStandalonePage25"/>
    <p:sldId xmlns:ns25="http://schemas.openxmlformats.org/officeDocument/2006/relationships" id="281" ns25:id="rIdStandalonePage26"/>
    <p:sldId xmlns:ns26="http://schemas.openxmlformats.org/officeDocument/2006/relationships" id="282" ns26:id="rIdStandalonePage27"/>
    <p:sldId xmlns:ns27="http://schemas.openxmlformats.org/officeDocument/2006/relationships" id="283" ns27:id="rIdStandalonePage28"/>
    <p:sldId xmlns:ns28="http://schemas.openxmlformats.org/officeDocument/2006/relationships" id="284" ns28:id="rIdStandalonePage29"/>
    <p:sldId xmlns:ns29="http://schemas.openxmlformats.org/officeDocument/2006/relationships" id="285" ns29:id="rIdStandalonePage30"/>
    <p:sldId xmlns:ns30="http://schemas.openxmlformats.org/officeDocument/2006/relationships" id="286" ns30:id="rIdStandalonePage31"/>
    <p:sldId xmlns:ns31="http://schemas.openxmlformats.org/officeDocument/2006/relationships" id="287" ns31:id="rIdStandalonePage32"/>
    <p:sldId xmlns:ns32="http://schemas.openxmlformats.org/officeDocument/2006/relationships" id="288" ns32:id="rIdStandalonePage33"/>
    <p:sldId xmlns:ns33="http://schemas.openxmlformats.org/officeDocument/2006/relationships" id="289" ns33:id="rIdStandalonePage34"/>
    <p:sldId xmlns:ns34="http://schemas.openxmlformats.org/officeDocument/2006/relationships" id="290" ns34:id="rIdStandalonePage35"/>
    <p:sldId xmlns:ns35="http://schemas.openxmlformats.org/officeDocument/2006/relationships" id="291" ns35:id="rIdStandalonePage36"/>
    <p:sldId xmlns:ns36="http://schemas.openxmlformats.org/officeDocument/2006/relationships" id="292" ns36:id="rIdStandalonePage37"/>
    <p:sldId xmlns:ns37="http://schemas.openxmlformats.org/officeDocument/2006/relationships" id="293" ns37:id="rIdStandalonePage38"/>
    <p:sldId xmlns:ns38="http://schemas.openxmlformats.org/officeDocument/2006/relationships" id="294" ns38:id="rIdStandalonePage39"/>
    <p:sldId xmlns:ns39="http://schemas.openxmlformats.org/officeDocument/2006/relationships" id="295" ns39:id="rIdStandalonePage40"/>
    <p:sldId xmlns:ns40="http://schemas.openxmlformats.org/officeDocument/2006/relationships" id="296" ns40:id="rIdStandalonePage41"/>
    <p:sldId xmlns:ns41="http://schemas.openxmlformats.org/officeDocument/2006/relationships" id="297" ns41:id="rIdStandalonePage42"/>
    <p:sldId xmlns:ns42="http://schemas.openxmlformats.org/officeDocument/2006/relationships" id="298" ns42:id="rIdStandalonePage43"/>
    <p:sldId xmlns:ns1="http://schemas.openxmlformats.org/officeDocument/2006/relationships" id="307" ns1:id="rIdFirmwareFormats"/>
    <p:sldId xmlns:ns43="http://schemas.openxmlformats.org/officeDocument/2006/relationships" id="299" ns43:id="rIdStandalonePage44"/>
    <p:sldId xmlns:ns44="http://schemas.openxmlformats.org/officeDocument/2006/relationships" id="300" ns44:id="rIdStandalonePage45"/>
    <p:sldId xmlns:ns45="http://schemas.openxmlformats.org/officeDocument/2006/relationships" id="301" ns45:id="rIdStandalonePage46"/>
    <p:sldId xmlns:ns46="http://schemas.openxmlformats.org/officeDocument/2006/relationships" id="302" ns46:id="rIdStandalonePage47"/>
    <p:sldId xmlns:ns47="http://schemas.openxmlformats.org/officeDocument/2006/relationships" id="303" ns47:id="rIdStandalonePage48"/>
    <p:sldId xmlns:ns48="http://schemas.openxmlformats.org/officeDocument/2006/relationships" id="304" ns48:id="rIdStandalonePage49"/>
    <p:sldId xmlns:ns49="http://schemas.openxmlformats.org/officeDocument/2006/relationships" id="305" ns49:id="rIdStandalonePage50"/>
    <p:sldId xmlns:ns50="http://schemas.openxmlformats.org/officeDocument/2006/relationships" id="306" ns50:id="rIdStandalonePage5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bdaff7a7f50d45bc"/><Relationship Type="http://schemas.openxmlformats.org/officeDocument/2006/relationships/slideMaster" Target="/ppt/slideMasters/slideMaster1.xml" Id="Rd1688aa1980f4697"/><Relationship Type="http://schemas.openxmlformats.org/officeDocument/2006/relationships/notesMaster" Target="/ppt/notesMasters/notesMaster1.xml" Id="R77df47e2dd254d93"/><Relationship Type="http://schemas.openxmlformats.org/officeDocument/2006/relationships/presProps" Target="/ppt/presProps.xml" Id="Rfad610f874bf4e1b"/><Relationship Type="http://schemas.openxmlformats.org/officeDocument/2006/relationships/tableStyles" Target="/ppt/tableStyles.xml" Id="Rc1889adad4434e9f"/><Relationship Id="rIdRestoredCoverMaster2147483655" Type="http://schemas.openxmlformats.org/officeDocument/2006/relationships/slideMaster" Target="restored_cover/slideMasters/slideMaster1.xml"/><Relationship Id="rIdBeginnerMaster2147483662" Type="http://schemas.openxmlformats.org/officeDocument/2006/relationships/slideMaster" Target="beginner/slideMasters/slideMaster1.xml"/><Relationship Id="rIdSdkScopeMaster2147483669" Type="http://schemas.openxmlformats.org/officeDocument/2006/relationships/slideMaster" Target="sdkscope/slideMasters/slideMaster1.xml"/><Relationship Id="rIdCmsisWestMaster2147483676" Type="http://schemas.openxmlformats.org/officeDocument/2006/relationships/slideMaster" Target="cmsiswest/slideMasters/slideMaster1.xml"/><Relationship Id="rIdLizhaojunCover" Type="http://schemas.openxmlformats.org/officeDocument/2006/relationships/slideMaster" Target="/ppt/slideMasters/lizhaojunCoverMaster.xml"/><Relationship Id="rIdStandalonePage1" Type="http://schemas.openxmlformats.org/officeDocument/2006/relationships/slide" Target="slides/slide1.xml"/><Relationship Id="rIdStandalonePage2" Type="http://schemas.openxmlformats.org/officeDocument/2006/relationships/slide" Target="slides/slide2.xml"/><Relationship Id="rIdStandalonePage3" Type="http://schemas.openxmlformats.org/officeDocument/2006/relationships/slide" Target="slides/beginner_slide1.xml"/><Relationship Id="rIdStandalonePage4" Type="http://schemas.openxmlformats.org/officeDocument/2006/relationships/slide" Target="slides/slide3.xml"/><Relationship Id="rIdStandalonePage5" Type="http://schemas.openxmlformats.org/officeDocument/2006/relationships/slide" Target="slides/slide4.xml"/><Relationship Id="rIdStandalonePage6" Type="http://schemas.openxmlformats.org/officeDocument/2006/relationships/slide" Target="slides/slide5.xml"/><Relationship Id="rIdStandalonePage7" Type="http://schemas.openxmlformats.org/officeDocument/2006/relationships/slide" Target="slides/beginner_slide2.xml"/><Relationship Id="rIdStandalonePage8" Type="http://schemas.openxmlformats.org/officeDocument/2006/relationships/slide" Target="slides/cmsiswest_slide1.xml"/><Relationship Id="rIdStandalonePage9" Type="http://schemas.openxmlformats.org/officeDocument/2006/relationships/slide" Target="slides/cmsiswest_slide2.xml"/><Relationship Id="rIdStandalonePage10" Type="http://schemas.openxmlformats.org/officeDocument/2006/relationships/slide" Target="slides/cmsiswest_slide3.xml"/><Relationship Id="rIdStandalonePage11" Type="http://schemas.openxmlformats.org/officeDocument/2006/relationships/slide" Target="slides/cmsiswest_slide4.xml"/><Relationship Id="rIdStandalonePage12" Type="http://schemas.openxmlformats.org/officeDocument/2006/relationships/slide" Target="slides/cmsiswest_slide5.xml"/><Relationship Id="rIdStandalonePage13" Type="http://schemas.openxmlformats.org/officeDocument/2006/relationships/slide" Target="slides/cmsiswest_slide6.xml"/><Relationship Id="rIdStandalonePage14" Type="http://schemas.openxmlformats.org/officeDocument/2006/relationships/slide" Target="slides/standalone_toolchain_7.xml"/><Relationship Id="rIdStandalonePage15" Type="http://schemas.openxmlformats.org/officeDocument/2006/relationships/slide" Target="slides/standalone_toolchain_8.xml"/><Relationship Id="rIdStandalonePage16" Type="http://schemas.openxmlformats.org/officeDocument/2006/relationships/slide" Target="slides/standalone_toolchain_9.xml"/><Relationship Id="rIdStandalonePage17" Type="http://schemas.openxmlformats.org/officeDocument/2006/relationships/slide" Target="slides/beginner_slide8.xml"/><Relationship Id="rIdStandalonePage18" Type="http://schemas.openxmlformats.org/officeDocument/2006/relationships/slide" Target="slides/slide12.xml"/><Relationship Id="rIdStandalonePage19" Type="http://schemas.openxmlformats.org/officeDocument/2006/relationships/slide" Target="slides/slide13.xml"/><Relationship Id="rIdStandalonePage20" Type="http://schemas.openxmlformats.org/officeDocument/2006/relationships/slide" Target="slides/beginner_slide9.xml"/><Relationship Id="rIdStandalonePage21" Type="http://schemas.openxmlformats.org/officeDocument/2006/relationships/slide" Target="slides/beginner_slide10.xml"/><Relationship Id="rIdStandalonePage22" Type="http://schemas.openxmlformats.org/officeDocument/2006/relationships/slide" Target="slides/beginner_slide11.xml"/><Relationship Id="rIdStandalonePage23" Type="http://schemas.openxmlformats.org/officeDocument/2006/relationships/slide" Target="slides/beginner_slide12.xml"/><Relationship Id="rIdStandalonePage24" Type="http://schemas.openxmlformats.org/officeDocument/2006/relationships/slide" Target="slides/beginner_slide13.xml"/><Relationship Id="rIdStandalonePage25" Type="http://schemas.openxmlformats.org/officeDocument/2006/relationships/slide" Target="slides/beginner_slide14.xml"/><Relationship Id="rIdStandalonePage26" Type="http://schemas.openxmlformats.org/officeDocument/2006/relationships/slide" Target="slides/cmsiswest_slide7.xml"/><Relationship Id="rIdStandalonePage27" Type="http://schemas.openxmlformats.org/officeDocument/2006/relationships/slide" Target="slides/beginner_slide16.xml"/><Relationship Id="rIdStandalonePage28" Type="http://schemas.openxmlformats.org/officeDocument/2006/relationships/slide" Target="slides/slide20.xml"/><Relationship Id="rIdStandalonePage29" Type="http://schemas.openxmlformats.org/officeDocument/2006/relationships/slide" Target="slides/slide21.xml"/><Relationship Id="rIdStandalonePage30" Type="http://schemas.openxmlformats.org/officeDocument/2006/relationships/slide" Target="slides/beginner_slide17.xml"/><Relationship Id="rIdStandalonePage31" Type="http://schemas.openxmlformats.org/officeDocument/2006/relationships/slide" Target="slides/beginner_slide18.xml"/><Relationship Id="rIdStandalonePage32" Type="http://schemas.openxmlformats.org/officeDocument/2006/relationships/slide" Target="slides/slide23.xml"/><Relationship Id="rIdStandalonePage33" Type="http://schemas.openxmlformats.org/officeDocument/2006/relationships/slide" Target="slides/beginner_slide19.xml"/><Relationship Id="rIdStandalonePage34" Type="http://schemas.openxmlformats.org/officeDocument/2006/relationships/slide" Target="slides/slide24.xml"/><Relationship Id="rIdStandalonePage35" Type="http://schemas.openxmlformats.org/officeDocument/2006/relationships/slide" Target="slides/beginner_slide20.xml"/><Relationship Id="rIdStandalonePage36" Type="http://schemas.openxmlformats.org/officeDocument/2006/relationships/slide" Target="slides/beginner_slide21.xml"/><Relationship Id="rIdStandalonePage37" Type="http://schemas.openxmlformats.org/officeDocument/2006/relationships/slide" Target="slides/slide26.xml"/><Relationship Id="rIdStandalonePage38" Type="http://schemas.openxmlformats.org/officeDocument/2006/relationships/slide" Target="slides/beginner_slide22.xml"/><Relationship Id="rIdStandalonePage39" Type="http://schemas.openxmlformats.org/officeDocument/2006/relationships/slide" Target="slides/slide27.xml"/><Relationship Id="rIdStandalonePage40" Type="http://schemas.openxmlformats.org/officeDocument/2006/relationships/slide" Target="slides/beginner_slide23.xml"/><Relationship Id="rIdStandalonePage41" Type="http://schemas.openxmlformats.org/officeDocument/2006/relationships/slide" Target="slides/cmsiswest_slide13.xml"/><Relationship Id="rIdStandalonePage42" Type="http://schemas.openxmlformats.org/officeDocument/2006/relationships/slide" Target="slides/cmsiswest_slide8.xml"/><Relationship Id="rIdStandalonePage43" Type="http://schemas.openxmlformats.org/officeDocument/2006/relationships/slide" Target="slides/cmsiswest_slide9.xml"/><Relationship Id="rIdStandalonePage44" Type="http://schemas.openxmlformats.org/officeDocument/2006/relationships/slide" Target="slides/cmsiswest_slide10.xml"/><Relationship Id="rIdStandalonePage45" Type="http://schemas.openxmlformats.org/officeDocument/2006/relationships/slide" Target="slides/slide31.xml"/><Relationship Id="rIdStandalonePage46" Type="http://schemas.openxmlformats.org/officeDocument/2006/relationships/slide" Target="slides/slide32.xml"/><Relationship Id="rIdStandalonePage47" Type="http://schemas.openxmlformats.org/officeDocument/2006/relationships/slide" Target="slides/slide33.xml"/><Relationship Id="rIdStandalonePage48" Type="http://schemas.openxmlformats.org/officeDocument/2006/relationships/slide" Target="slides/slide34.xml"/><Relationship Id="rIdStandalonePage49" Type="http://schemas.openxmlformats.org/officeDocument/2006/relationships/slide" Target="slides/sdkscope_slide2.xml"/><Relationship Id="rIdStandalonePage50" Type="http://schemas.openxmlformats.org/officeDocument/2006/relationships/slide" Target="slides/cmsiswest_slide11.xml"/><Relationship Id="rIdStandalonePage51" Type="http://schemas.openxmlformats.org/officeDocument/2006/relationships/slide" Target="slides/cmsiswest_slide12.xml"/><Relationship Id="rIdFirmwareFormats" Type="http://schemas.openxmlformats.org/officeDocument/2006/relationships/slide" Target="slides/firmware_formats.xml"/></Relationships>
</file>

<file path=ppt/beginner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.xml" Id="R023f7440265e4120"/><Relationship Type="http://schemas.openxmlformats.org/officeDocument/2006/relationships/notesMaster" Target="../../notesMasters/notesMaster1.xml" Id="R35f8a558b0c14f49"/></Relationships>
</file>

<file path=ppt/beginner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.xml" Id="Rbc9a03e75097403a"/><Relationship Type="http://schemas.openxmlformats.org/officeDocument/2006/relationships/notesMaster" Target="../../notesMasters/notesMaster1.xml" Id="R5114737c3084497a"/></Relationships>
</file>

<file path=ppt/beginner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3.xml" Id="R5145da0c294846b4"/><Relationship Type="http://schemas.openxmlformats.org/officeDocument/2006/relationships/notesMaster" Target="../../notesMasters/notesMaster1.xml" Id="Rd9647d86fdf543bf"/></Relationships>
</file>

<file path=ppt/beginner/notesSlides/_rels/notesSlide4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4.xml" Id="R346290f9c05c496f"/><Relationship Type="http://schemas.openxmlformats.org/officeDocument/2006/relationships/notesMaster" Target="../../notesMasters/notesMaster1.xml" Id="Raf8364f2c5db48af"/></Relationships>
</file>

<file path=ppt/beginner/notesSlides/_rels/notesSlide5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5.xml" Id="R0b2542b9928242a7"/><Relationship Type="http://schemas.openxmlformats.org/officeDocument/2006/relationships/notesMaster" Target="../../notesMasters/notesMaster1.xml" Id="R2c320d59ea8b4d57"/></Relationships>
</file>

<file path=ppt/beginner/notesSlides/_rels/notesSlide6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6.xml" Id="R1a4a3a2f02a049ed"/><Relationship Type="http://schemas.openxmlformats.org/officeDocument/2006/relationships/notesMaster" Target="../../notesMasters/notesMaster1.xml" Id="R043b20cebaf14e35"/></Relationships>
</file>

<file path=ppt/beginner/notesSlides/_rels/notesSlide7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7.xml" Id="Rb98864eeae7e4147"/><Relationship Type="http://schemas.openxmlformats.org/officeDocument/2006/relationships/notesMaster" Target="../../notesMasters/notesMaster1.xml" Id="Racc851e73b2e4e4e"/></Relationships>
</file>

<file path=ppt/beginner/notesSlides/_rels/notesSlide8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8.xml" Id="R91af726a8ea24a08"/><Relationship Type="http://schemas.openxmlformats.org/officeDocument/2006/relationships/notesMaster" Target="../../notesMasters/notesMaster1.xml" Id="R192b5b6947d24aaa"/></Relationships>
</file>

<file path=ppt/beginner/notesSlides/_rels/notesSlide9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9.xml" Id="R8365a9d02a814971"/><Relationship Type="http://schemas.openxmlformats.org/officeDocument/2006/relationships/notesMaster" Target="../../notesMasters/notesMaster1.xml" Id="Re5b4cda5364a4d1b"/></Relationships>
</file>

<file path=ppt/beginner/notesSlides/_rels/notesSlide10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0.xml" Id="R1494ab1295d44adb"/><Relationship Type="http://schemas.openxmlformats.org/officeDocument/2006/relationships/notesMaster" Target="../../notesMasters/notesMaster1.xml" Id="R5d5c4625dcb048b3"/></Relationships>
</file>

<file path=ppt/beginner/notesSlides/_rels/notesSlide11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1.xml" Id="R9d3640e7170e4abc"/><Relationship Type="http://schemas.openxmlformats.org/officeDocument/2006/relationships/notesMaster" Target="../../notesMasters/notesMaster1.xml" Id="R099ec8c554dd4a0f"/></Relationships>
</file>

<file path=ppt/beginner/notesSlides/_rels/notesSlide12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2.xml" Id="R4eebb5881da04f13"/><Relationship Type="http://schemas.openxmlformats.org/officeDocument/2006/relationships/notesMaster" Target="../../notesMasters/notesMaster1.xml" Id="R8884eff77f9c4878"/></Relationships>
</file>

<file path=ppt/beginner/notesSlides/_rels/notesSlide13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3.xml" Id="Rb1816cf871674335"/><Relationship Type="http://schemas.openxmlformats.org/officeDocument/2006/relationships/notesMaster" Target="../../notesMasters/notesMaster1.xml" Id="Rebb54fb432ef441b"/></Relationships>
</file>

<file path=ppt/beginner/notesSlides/_rels/notesSlide14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4.xml" Id="R46dae368cc4d4770"/><Relationship Type="http://schemas.openxmlformats.org/officeDocument/2006/relationships/notesMaster" Target="../../notesMasters/notesMaster1.xml" Id="R91c3eb9a165b436d"/></Relationships>
</file>

<file path=ppt/beginner/notesSlides/_rels/notesSlide15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5.xml" Id="R927f6843e4d74b59"/><Relationship Type="http://schemas.openxmlformats.org/officeDocument/2006/relationships/notesMaster" Target="../../notesMasters/notesMaster1.xml" Id="Re3e8612d895740f9"/></Relationships>
</file>

<file path=ppt/beginner/notesSlides/_rels/notesSlide16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6.xml" Id="R1f4dd8c07b8c4d5f"/><Relationship Type="http://schemas.openxmlformats.org/officeDocument/2006/relationships/notesMaster" Target="../../notesMasters/notesMaster1.xml" Id="R1117340317fe42c1"/></Relationships>
</file>

<file path=ppt/beginner/notesSlides/_rels/notesSlide17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7.xml" Id="Rbc56a54b8d1c4c28"/><Relationship Type="http://schemas.openxmlformats.org/officeDocument/2006/relationships/notesMaster" Target="../../notesMasters/notesMaster1.xml" Id="R4bb796ee4a7a4c49"/></Relationships>
</file>

<file path=ppt/beginner/notesSlides/_rels/notesSlide18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8.xml" Id="Rbd0d5a70a5a84826"/><Relationship Type="http://schemas.openxmlformats.org/officeDocument/2006/relationships/notesMaster" Target="../../notesMasters/notesMaster1.xml" Id="R8e2d97c3c68d4ef6"/></Relationships>
</file>

<file path=ppt/beginner/notesSlides/_rels/notesSlide19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9.xml" Id="Rd981855d91304824"/><Relationship Type="http://schemas.openxmlformats.org/officeDocument/2006/relationships/notesMaster" Target="../../notesMasters/notesMaster1.xml" Id="Rccdad64475644940"/></Relationships>
</file>

<file path=ppt/beginner/notesSlides/_rels/notesSlide20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0.xml" Id="R5e4ce65ebba64a8e"/><Relationship Type="http://schemas.openxmlformats.org/officeDocument/2006/relationships/notesMaster" Target="../../notesMasters/notesMaster1.xml" Id="Re2816a8c9b374682"/></Relationships>
</file>

<file path=ppt/beginner/notesSlides/_rels/notesSlide21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1.xml" Id="Rfe21ebe900614925"/><Relationship Type="http://schemas.openxmlformats.org/officeDocument/2006/relationships/notesMaster" Target="../../notesMasters/notesMaster1.xml" Id="R82ac9812eaf4463d"/></Relationships>
</file>

<file path=ppt/beginner/notesSlides/_rels/notesSlide22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2.xml" Id="Ra004892120334405"/><Relationship Type="http://schemas.openxmlformats.org/officeDocument/2006/relationships/notesMaster" Target="../../notesMasters/notesMaster1.xml" Id="R506683245f7e45b8"/></Relationships>
</file>

<file path=ppt/beginner/notesSlides/_rels/notesSlide23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3.xml" Id="R4a1d36f50ac64930"/><Relationship Type="http://schemas.openxmlformats.org/officeDocument/2006/relationships/notesMaster" Target="../../notesMasters/notesMaster1.xml" Id="R8a563774a6cb422d"/></Relationships>
</file>

<file path=ppt/beginner/notesSlides/_rels/notesSlide24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4.xml" Id="Rea39341fdc2a4b15"/><Relationship Type="http://schemas.openxmlformats.org/officeDocument/2006/relationships/notesMaster" Target="../../notesMasters/notesMaster1.xml" Id="R1c94830c341044c9"/></Relationships>
</file>

<file path=ppt/beginner/notesSlides/_rels/notesSlide25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5.xml" Id="R78bf41c8331e4eea"/><Relationship Type="http://schemas.openxmlformats.org/officeDocument/2006/relationships/notesMaster" Target="../../notesMasters/notesMaster1.xml" Id="R17c9d104fb2642d0"/></Relationships>
</file>

<file path=ppt/beginner/notesSlides/_rels/notesSlide26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6.xml" Id="Rb95ad8c82342408f"/><Relationship Type="http://schemas.openxmlformats.org/officeDocument/2006/relationships/notesMaster" Target="../../notesMasters/notesMaster1.xml" Id="Red3d88e31cd14e14"/></Relationships>
</file>

<file path=ppt/beginner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对应正文：P004_Windows，4.0.1 · 不在原生工程里寻找尚未创建的材料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对应正文：P004_Windows，11.1_先认识已有的 MPS2 与 AN386</a:t>
            </a:r>
          </a:p>
          <a:p xmlns:a="http://schemas.openxmlformats.org/drawingml/2006/main">
            <a:r>
              <a:t># UCRT64；源码根；尚未配置构建。</a:t>
            </a:r>
          </a:p>
          <a:p xmlns:a="http://schemas.openxmlformats.org/drawingml/2006/main">
            <a:r>
              <a:t>cd /g/zephyr_practice/zephyr-main</a:t>
            </a:r>
          </a:p>
          <a:p xmlns:a="http://schemas.openxmlformats.org/drawingml/2006/main">
            <a:r>
              <a:t>cat boards/arm/mps2/board.yml</a:t>
            </a:r>
          </a:p>
          <a:p xmlns:a="http://schemas.openxmlformats.org/drawingml/2006/main">
            <a:r>
              <a:t>cat boards/arm/mps2/mps2_an386.dts</a:t>
            </a:r>
          </a:p>
          <a:p xmlns:a="http://schemas.openxmlformats.org/drawingml/2006/main">
            <a:r>
              <a:t>cat boards/arm/mps2/mps2_an386_defconfig</a:t>
            </a:r>
          </a:p>
          <a:p xmlns:a="http://schemas.openxmlformats.org/drawingml/2006/main">
            <a:r>
              <a:t>cat samples/hello_world/src/main.c</a:t>
            </a:r>
          </a:p>
          <a:p xmlns:a="http://schemas.openxmlformats.org/drawingml/2006/main">
            <a:r>
              <a:t>完整操作单元：../commands/P011_Windows/11.1-01.txt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对应正文：P004_Windows，11.2 · 源码包、工具与模块各有入口</a:t>
            </a:r>
          </a:p>
          <a:p xmlns:a="http://schemas.openxmlformats.org/drawingml/2006/main">
            <a:r>
              <a:t>Zephyr_DIR：应用从哪棵主源码取得构建规则。</a:t>
            </a:r>
          </a:p>
          <a:p xmlns:a="http://schemas.openxmlformats.org/drawingml/2006/main">
            <a:r>
              <a:t>ZEPHYR_SDK_INSTALL_DIR：找到已安装的工具，不复制到工程。</a:t>
            </a:r>
          </a:p>
          <a:p xmlns:a="http://schemas.openxmlformats.org/drawingml/2006/main">
            <a:r>
              <a:t>ZEPHYR_MODULES：列出外部模块根，不执行下载。</a:t>
            </a:r>
          </a:p>
          <a:p xmlns:a="http://schemas.openxmlformats.org/drawingml/2006/main">
            <a:r>
              <a:t>BOARD 再选择硬件；配置生成规则，构建才运行编译器。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对应正文：P004_Windows，11.2.1_恢复环境并检查输入</a:t>
            </a:r>
          </a:p>
          <a:p xmlns:a="http://schemas.openxmlformats.org/drawingml/2006/main">
            <a:r>
              <a:t># UCRT64；源码根；重开终端时重新执行本块。</a:t>
            </a:r>
          </a:p>
          <a:p xmlns:a="http://schemas.openxmlformats.org/drawingml/2006/main">
            <a:r>
              <a:t>cd /g/zephyr_practice/zephyr-main</a:t>
            </a:r>
          </a:p>
          <a:p xmlns:a="http://schemas.openxmlformats.org/drawingml/2006/main">
            <a:r>
              <a:t>source .venv/Scripts/activate</a:t>
            </a:r>
          </a:p>
          <a:p xmlns:a="http://schemas.openxmlformats.org/drawingml/2006/main">
            <a:r>
              <a:t>export ZEPHYR_BASE="$(cygpath -m "$PWD")"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unset EXTRA_ZEPHYR_MODULES ZEPHYR_EXTRA_MODULES</a:t>
            </a:r>
          </a:p>
          <a:p xmlns:a="http://schemas.openxmlformats.org/drawingml/2006/main">
            <a:r>
              <a:t>python -m pip check</a:t>
            </a:r>
          </a:p>
          <a:p xmlns:a="http://schemas.openxmlformats.org/drawingml/2006/main">
            <a:r>
              <a:t>完整操作单元：../commands/P011_Windows/11.2.1-01.txt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对应正文：P004_Windows，11.2.1_恢复环境并检查输入</a:t>
            </a:r>
          </a:p>
          <a:p xmlns:a="http://schemas.openxmlformats.org/drawingml/2006/main">
            <a:r>
              <a:t># UCRT64；源码根；ZEPHYR_SDK_INSTALL_DIR 来自本节，指实际 SDK 根。</a:t>
            </a:r>
          </a:p>
          <a:p xmlns:a="http://schemas.openxmlformats.org/drawingml/2006/main">
            <a:r>
              <a:t>cat "$ZEPHYR_SDK_INSTALL_DIR/sdk_version"</a:t>
            </a:r>
          </a:p>
          <a:p xmlns:a="http://schemas.openxmlformats.org/drawingml/2006/main">
            <a:r>
              <a:t>test -f build/learning-tools/deps/cmsis_6/CMSIS/Core/Include/core_cm4.h</a:t>
            </a:r>
          </a:p>
          <a:p xmlns:a="http://schemas.openxmlformats.org/drawingml/2006/main">
            <a:r>
              <a:t>test -f build/learning-tools/deps/cmsis_6/zephyr/module.yml</a:t>
            </a:r>
          </a:p>
          <a:p xmlns:a="http://schemas.openxmlformats.org/drawingml/2006/main">
            <a:r>
              <a:t>python -c 'import sys; print(sys.executable)'</a:t>
            </a:r>
          </a:p>
          <a:p xmlns:a="http://schemas.openxmlformats.org/drawingml/2006/main">
            <a:r>
              <a:t>完整操作单元：../commands/P011_Windows/11.2.1-03.txt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对应正文：P004_Windows，11.2.2_配置，再执行构建</a:t>
            </a:r>
          </a:p>
          <a:p xmlns:a="http://schemas.openxmlformats.org/drawingml/2006/main">
            <a:r>
              <a:t># Windows UCRT64；源码根；11.2.1 的 SDK 已注册，源码入口按本命令选择，.venv 已激活。</a:t>
            </a:r>
          </a:p>
          <a:p xmlns:a="http://schemas.openxmlformats.org/drawingml/2006/main">
            <a:r>
              <a:t>cmake -S samples/hello_world -B build/learning-tools/p003/build-mps2 -G Ninja \</a:t>
            </a:r>
          </a:p>
          <a:p xmlns:a="http://schemas.openxmlformats.org/drawingml/2006/main">
            <a:r>
              <a:t>  -DBOARD=mps2/an386 \</a:t>
            </a:r>
          </a:p>
          <a:p xmlns:a="http://schemas.openxmlformats.org/drawingml/2006/main">
            <a:r>
              <a:t>  "-DZephyr_DIR=$ZEPHYR_BASE/share/zephyr-package/cmake" \</a:t>
            </a:r>
          </a:p>
          <a:p xmlns:a="http://schemas.openxmlformats.org/drawingml/2006/main">
            <a:r>
              <a:t>  "-DZEPHYR_BASE=$ZEPHYR_BASE" \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  "-DZEPHYR_MODULES=$(cygpath -m "$PWD/build/learning-tools/deps/cmsis_6")" \</a:t>
            </a:r>
          </a:p>
          <a:p xmlns:a="http://schemas.openxmlformats.org/drawingml/2006/main">
            <a:r>
              <a:t>  -DEXTRA_ZEPHYR_MODULES= -DZEPHYR_EXTRA_MODULES= \</a:t>
            </a:r>
          </a:p>
          <a:p xmlns:a="http://schemas.openxmlformats.org/drawingml/2006/main">
            <a:r>
              <a:t>  "-DPython3_EXECUTABLE=$(cygpath -m "$(command -v python)")" \</a:t>
            </a:r>
          </a:p>
          <a:p xmlns:a="http://schemas.openxmlformats.org/drawingml/2006/main">
            <a:r>
              <a:t>  -DCMAKE_EXPORT_COMPILE_COMMANDS=ON</a:t>
            </a:r>
          </a:p>
          <a:p xmlns:a="http://schemas.openxmlformats.org/drawingml/2006/main">
            <a:r>
              <a:t>完整操作单元：../commands/P011_Windows/11.2.2-01.txt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对应正文：P004_Windows，11.2.2_配置，再执行构建</a:t>
            </a:r>
          </a:p>
          <a:p xmlns:a="http://schemas.openxmlformats.org/drawingml/2006/main">
            <a:r>
              <a:t># UCRT64；源码根；上一条配置已成功。</a:t>
            </a:r>
          </a:p>
          <a:p xmlns:a="http://schemas.openxmlformats.org/drawingml/2006/main">
            <a:r>
              <a:t>cmake --build build/learning-tools/p003/build-mps2</a:t>
            </a:r>
          </a:p>
          <a:p xmlns:a="http://schemas.openxmlformats.org/drawingml/2006/main">
            <a:r>
              <a:t>ls -l build/learning-tools/p003/build-mps2/zephyr/zephyr.elf</a:t>
            </a:r>
          </a:p>
          <a:p xmlns:a="http://schemas.openxmlformats.org/drawingml/2006/main">
            <a:r>
              <a:t>完整操作单元：../commands/P011_Windows/11.2.2-02.txt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对应正文：P004_Windows，11.3_确认不是编错了板或模块</a:t>
            </a:r>
          </a:p>
          <a:p xmlns:a="http://schemas.openxmlformats.org/drawingml/2006/main">
            <a:r>
              <a:t># UCRT64；源码根；build-mps2 已成功。</a:t>
            </a:r>
          </a:p>
          <a:p xmlns:a="http://schemas.openxmlformats.org/drawingml/2006/main">
            <a:r>
              <a:t>grep -E '^CONFIG_(BOARD|SOC|CPU_CORTEX_M4|HAS_CMSIS)' \</a:t>
            </a:r>
          </a:p>
          <a:p xmlns:a="http://schemas.openxmlformats.org/drawingml/2006/main">
            <a:r>
              <a:t>  build/learning-tools/p003/build-mps2/zephyr/.config</a:t>
            </a:r>
          </a:p>
          <a:p xmlns:a="http://schemas.openxmlformats.org/drawingml/2006/main">
            <a:r>
              <a:t>grep -E 'BOARD:|ZEPHYR_BASE:|ZEPHYR_SDK_INSTALL_DIR:|Python3_EXECUTABLE:' \</a:t>
            </a:r>
          </a:p>
          <a:p xmlns:a="http://schemas.openxmlformats.org/drawingml/2006/main">
            <a:r>
              <a:t>  build/learning-tools/p003/build-mps2/CMakeCache.txt</a:t>
            </a:r>
          </a:p>
          <a:p xmlns:a="http://schemas.openxmlformats.org/drawingml/2006/main">
            <a:r>
              <a:t>python - &lt;&lt;'PY'</a:t>
            </a:r>
          </a:p>
          <a:p xmlns:a="http://schemas.openxmlformats.org/drawingml/2006/main">
            <a:r>
              <a:t>import json</a:t>
            </a:r>
          </a:p>
          <a:p xmlns:a="http://schemas.openxmlformats.org/drawingml/2006/main">
            <a:r>
              <a:t>from pathlib import Path</a:t>
            </a:r>
          </a:p>
          <a:p xmlns:a="http://schemas.openxmlformats.org/drawingml/2006/main">
            <a:r>
              <a:t>cmds = json.loads(Path('build/learning-tools/p003/build-mps2/compile_commands.json').read_text())</a:t>
            </a:r>
          </a:p>
          <a:p xmlns:a="http://schemas.openxmlformats.org/drawingml/2006/main">
            <a:r>
              <a:t>cmd = next(x['command'] for x in cmds if x['file'].replace('\\', '/').endswith('/hello_world/src/main.c'))</a:t>
            </a:r>
          </a:p>
          <a:p xmlns:a="http://schemas.openxmlformats.org/drawingml/2006/main">
            <a:r>
              <a:t>print(cmd)</a:t>
            </a:r>
          </a:p>
          <a:p xmlns:a="http://schemas.openxmlformats.org/drawingml/2006/main">
            <a:r>
              <a:t>assert 'cortex-m4' in cmd</a:t>
            </a:r>
          </a:p>
          <a:p xmlns:a="http://schemas.openxmlformats.org/drawingml/2006/main">
            <a:r>
              <a:t>assert 'cmsis_6' in cmd.lower()</a:t>
            </a:r>
          </a:p>
          <a:p xmlns:a="http://schemas.openxmlformats.org/drawingml/2006/main">
            <a:r>
              <a:t>PY</a:t>
            </a:r>
          </a:p>
          <a:p xmlns:a="http://schemas.openxmlformats.org/drawingml/2006/main">
            <a:r>
              <a:t>完整操作单元：../commands/P011_Windows/11.3-01.txt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对应正文：P004_Windows，11.4.1 · 先创建目录，再创建配置文件</a:t>
            </a:r>
          </a:p>
          <a:p xmlns:a="http://schemas.openxmlformats.org/drawingml/2006/main">
            <a:r>
              <a:t>读者新建 new-board/boards/others/practice_mps2。</a:t>
            </a:r>
          </a:p>
          <a:p xmlns:a="http://schemas.openxmlformats.org/drawingml/2006/main">
            <a:r>
              <a:t>cat &gt; 文件 &lt;&lt;'EOF' 将中间内容写成文件，EOF 单独成行。</a:t>
            </a:r>
          </a:p>
          <a:p xmlns:a="http://schemas.openxmlformats.org/drawingml/2006/main">
            <a:r>
              <a:t>board.yml 登记新板和已有 an386；Kconfig 把选板接到 SOC_AN386。</a:t>
            </a:r>
          </a:p>
          <a:p xmlns:a="http://schemas.openxmlformats.org/drawingml/2006/main">
            <a:r>
              <a:t>官方 boards/arm/mps2 保留作为对照，不能覆盖它。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对应正文：P004_Windows，11.4.1_先登记新板身份</a:t>
            </a:r>
          </a:p>
          <a:p xmlns:a="http://schemas.openxmlformats.org/drawingml/2006/main">
            <a:r>
              <a:t># UCRT64；源码根。首次创建；已存在则先检查，勿覆盖已有练习。</a:t>
            </a:r>
          </a:p>
          <a:p xmlns:a="http://schemas.openxmlformats.org/drawingml/2006/main">
            <a:r>
              <a:t>mkdir -p build/learning-tools/p003/new-board/boards/others</a:t>
            </a:r>
          </a:p>
          <a:p xmlns:a="http://schemas.openxmlformats.org/drawingml/2006/main">
            <a:r>
              <a:t>mkdir build/learning-tools/p003/new-board/boards/others/practice_mps2</a:t>
            </a:r>
          </a:p>
          <a:p xmlns:a="http://schemas.openxmlformats.org/drawingml/2006/main">
            <a:r>
              <a:t>cat &gt; build/learning-tools/p003/new-board/boards/others/practice_mps2/board.yml &lt;&lt;'EOF'</a:t>
            </a:r>
          </a:p>
          <a:p xmlns:a="http://schemas.openxmlformats.org/drawingml/2006/main">
            <a:r>
              <a:t># SPDX-License-Identifier: Apache-2.0</a:t>
            </a:r>
          </a:p>
          <a:p xmlns:a="http://schemas.openxmlformats.org/drawingml/2006/main">
            <a:r>
              <a:t>board:</a:t>
            </a:r>
          </a:p>
          <a:p xmlns:a="http://schemas.openxmlformats.org/drawingml/2006/main">
            <a:r>
              <a:t>  name: practice_mps2</a:t>
            </a:r>
          </a:p>
          <a:p xmlns:a="http://schemas.openxmlformats.org/drawingml/2006/main">
            <a:r>
              <a:t>  full_name: AN386 board registration exercise</a:t>
            </a:r>
          </a:p>
          <a:p xmlns:a="http://schemas.openxmlformats.org/drawingml/2006/main">
            <a:r>
              <a:t>  vendor: others</a:t>
            </a:r>
          </a:p>
          <a:p xmlns:a="http://schemas.openxmlformats.org/drawingml/2006/main">
            <a:r>
              <a:t>  socs:</a:t>
            </a:r>
          </a:p>
          <a:p xmlns:a="http://schemas.openxmlformats.org/drawingml/2006/main">
            <a:r>
              <a:t>    - name: an386</a:t>
            </a:r>
          </a:p>
          <a:p xmlns:a="http://schemas.openxmlformats.org/drawingml/2006/main">
            <a:r>
              <a:t>EOF</a:t>
            </a:r>
          </a:p>
          <a:p xmlns:a="http://schemas.openxmlformats.org/drawingml/2006/main">
            <a:r>
              <a:t>cat &gt; build/learning-tools/p003/new-board/boards/others/practice_mps2/Kconfig.practice_mps2 &lt;&lt;'EOF'</a:t>
            </a:r>
          </a:p>
          <a:p xmlns:a="http://schemas.openxmlformats.org/drawingml/2006/main">
            <a:r>
              <a:t># SPDX-License-Identifier: Apache-2.0</a:t>
            </a:r>
          </a:p>
          <a:p xmlns:a="http://schemas.openxmlformats.org/drawingml/2006/main">
            <a:r>
              <a:t>config BOARD_PRACTICE_MPS2</a:t>
            </a:r>
          </a:p>
          <a:p xmlns:a="http://schemas.openxmlformats.org/drawingml/2006/main">
            <a:r>
              <a:t>    select SOC_AN386</a:t>
            </a:r>
          </a:p>
          <a:p xmlns:a="http://schemas.openxmlformats.org/drawingml/2006/main">
            <a:r>
              <a:t>EOF</a:t>
            </a:r>
          </a:p>
          <a:p xmlns:a="http://schemas.openxmlformats.org/drawingml/2006/main">
            <a:r>
              <a:t>完整操作单元：../commands/P011_Windows/11.4.1-01.txt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对应正文：P004_Windows，11.4.1 · 文件内容，不是 Bash 命令</a:t>
            </a:r>
          </a:p>
          <a:p xmlns:a="http://schemas.openxmlformats.org/drawingml/2006/main">
            <a:r>
              <a:t>位置：new-board/boards/others/practice_mps2/board.yml（上页创建）。</a:t>
            </a:r>
          </a:p>
          <a:p xmlns:a="http://schemas.openxmlformats.org/drawingml/2006/main">
            <a:r>
              <a:t>name 是新板名；socs 复用官方 an386；others 是练习板的厂商归类。</a:t>
            </a:r>
          </a:p>
          <a:p xmlns:a="http://schemas.openxmlformats.org/drawingml/2006/main">
            <a:r>
              <a:t>完整操作单元：../commands/P011_Windows/11.4.1-01.txt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对应正文：P004_Windows，11.4.1 · 文件内容，不是 Bash 命令</a:t>
            </a:r>
          </a:p>
          <a:p xmlns:a="http://schemas.openxmlformats.org/drawingml/2006/main">
            <a:r>
              <a:t>位置：同目录 Kconfig.practice_mps2（前两页命令创建）。</a:t>
            </a:r>
          </a:p>
          <a:p xmlns:a="http://schemas.openxmlformats.org/drawingml/2006/main">
            <a:r>
              <a:t>文件名跟随 board.yml 的 name；选中新板时选择已有 SoC。</a:t>
            </a:r>
          </a:p>
          <a:p xmlns:a="http://schemas.openxmlformats.org/drawingml/2006/main">
            <a:r>
              <a:t>这两份登记还没有提供 DTS、内存布局与默认配置，下一步继续补齐。</a:t>
            </a:r>
          </a:p>
          <a:p xmlns:a="http://schemas.openxmlformats.org/drawingml/2006/main">
            <a:r>
              <a:t>完整操作单元：../commands/P011_Windows/11.4.1-01.txt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对应正文：P004_Windows，11.4.1_先登记新板身份</a:t>
            </a:r>
          </a:p>
          <a:p xmlns:a="http://schemas.openxmlformats.org/drawingml/2006/main">
            <a:r>
              <a:t># UCRT64；源码根。BOARD_ROOT 指包含 boards 的父目录。</a:t>
            </a:r>
          </a:p>
          <a:p xmlns:a="http://schemas.openxmlformats.org/drawingml/2006/main">
            <a:r>
              <a:t>python scripts/list_boards.py --board-root build/learning-tools/p003/new-board \</a:t>
            </a:r>
          </a:p>
          <a:p xmlns:a="http://schemas.openxmlformats.org/drawingml/2006/main">
            <a:r>
              <a:t>  --soc-root . --board practice_mps2 --cmakeformat '{NAME};{DIR};{QUALIFIERS}'</a:t>
            </a:r>
          </a:p>
          <a:p xmlns:a="http://schemas.openxmlformats.org/drawingml/2006/main">
            <a:r>
              <a:t>完整操作单元：../commands/P011_Windows/11.4.1-02.txt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对应正文：P004_Windows，11.4.2_加入硬件描述和默认配置</a:t>
            </a:r>
          </a:p>
          <a:p xmlns:a="http://schemas.openxmlformats.org/drawingml/2006/main">
            <a:r>
              <a:t># UCRT64；源码根。复制当前同一修订的官方文件，保留 SPDX 和版权。</a:t>
            </a:r>
          </a:p>
          <a:p xmlns:a="http://schemas.openxmlformats.org/drawingml/2006/main">
            <a:r>
              <a:t>cp boards/arm/mps2/mps2_an386.dts \</a:t>
            </a:r>
          </a:p>
          <a:p xmlns:a="http://schemas.openxmlformats.org/drawingml/2006/main">
            <a:r>
              <a:t>  build/learning-tools/p003/new-board/boards/others/practice_mps2/practice_mps2_an386.dts</a:t>
            </a:r>
          </a:p>
          <a:p xmlns:a="http://schemas.openxmlformats.org/drawingml/2006/main">
            <a:r>
              <a:t>cp boards/arm/mps2/mps2_base.dtsi boards/arm/mps2/mps2-pinctrl.dtsi \</a:t>
            </a:r>
          </a:p>
          <a:p xmlns:a="http://schemas.openxmlformats.org/drawingml/2006/main">
            <a:r>
              <a:t>  build/learning-tools/p003/new-board/boards/others/practice_mps2/</a:t>
            </a:r>
          </a:p>
          <a:p xmlns:a="http://schemas.openxmlformats.org/drawingml/2006/main">
            <a:r>
              <a:t>cat &gt; build/learning-tools/p003/new-board/boards/others/practice_mps2/practice_mps2_an386_defconfig &lt;&lt;'EOF'</a:t>
            </a:r>
          </a:p>
          <a:p xmlns:a="http://schemas.openxmlformats.org/drawingml/2006/main">
            <a:r>
              <a:t># SPDX-License-Identifier: Apache-2.0</a:t>
            </a:r>
          </a:p>
          <a:p xmlns:a="http://schemas.openxmlformats.org/drawingml/2006/main">
            <a:r>
              <a:t>CONFIG_GPIO=y</a:t>
            </a:r>
          </a:p>
          <a:p xmlns:a="http://schemas.openxmlformats.org/drawingml/2006/main">
            <a:r>
              <a:t>CONFIG_SERIAL=y</a:t>
            </a:r>
          </a:p>
          <a:p xmlns:a="http://schemas.openxmlformats.org/drawingml/2006/main">
            <a:r>
              <a:t>CONFIG_CONSOLE=y</a:t>
            </a:r>
          </a:p>
          <a:p xmlns:a="http://schemas.openxmlformats.org/drawingml/2006/main">
            <a:r>
              <a:t>CONFIG_UART_CONSOLE=y</a:t>
            </a:r>
          </a:p>
          <a:p xmlns:a="http://schemas.openxmlformats.org/drawingml/2006/main">
            <a:r>
              <a:t>EOF</a:t>
            </a:r>
          </a:p>
          <a:p xmlns:a="http://schemas.openxmlformats.org/drawingml/2006/main">
            <a:r>
              <a:t>完整操作单元：../commands/P011_Windows/11.4.2-01.txt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对应正文：P004_Windows，11.4.3_用同一应用验证最小增量</a:t>
            </a:r>
          </a:p>
          <a:p xmlns:a="http://schemas.openxmlformats.org/drawingml/2006/main">
            <a:r>
              <a:t># Windows UCRT64；源码根；11.2.1 的 SDK 已注册，源码入口按本命令选择，.venv 已激活。</a:t>
            </a:r>
          </a:p>
          <a:p xmlns:a="http://schemas.openxmlformats.org/drawingml/2006/main">
            <a:r>
              <a:t>cmake -S samples/hello_world -B build/learning-tools/p003/build-practice -G Ninja \</a:t>
            </a:r>
          </a:p>
          <a:p xmlns:a="http://schemas.openxmlformats.org/drawingml/2006/main">
            <a:r>
              <a:t>  -DBOARD=practice_mps2/an386 \</a:t>
            </a:r>
          </a:p>
          <a:p xmlns:a="http://schemas.openxmlformats.org/drawingml/2006/main">
            <a:r>
              <a:t>  "-DBOARD_ROOT=$(cygpath -m "$PWD/build/learning-tools/p003/new-board")" \</a:t>
            </a:r>
          </a:p>
          <a:p xmlns:a="http://schemas.openxmlformats.org/drawingml/2006/main">
            <a:r>
              <a:t>  "-DZephyr_DIR=$ZEPHYR_BASE/share/zephyr-package/cmake" \</a:t>
            </a:r>
          </a:p>
          <a:p xmlns:a="http://schemas.openxmlformats.org/drawingml/2006/main">
            <a:r>
              <a:t>  "-DZEPHYR_BASE=$ZEPHYR_BASE" \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  "-DZEPHYR_MODULES=$(cygpath -m "$PWD/build/learning-tools/deps/cmsis_6")" \</a:t>
            </a:r>
          </a:p>
          <a:p xmlns:a="http://schemas.openxmlformats.org/drawingml/2006/main">
            <a:r>
              <a:t>  -DEXTRA_ZEPHYR_MODULES= -DZEPHYR_EXTRA_MODULES= \</a:t>
            </a:r>
          </a:p>
          <a:p xmlns:a="http://schemas.openxmlformats.org/drawingml/2006/main">
            <a:r>
              <a:t>  "-DPython3_EXECUTABLE=$(cygpath -m "$(command -v python)")" \</a:t>
            </a:r>
          </a:p>
          <a:p xmlns:a="http://schemas.openxmlformats.org/drawingml/2006/main">
            <a:r>
              <a:t>  -DCMAKE_EXPORT_COMPILE_COMMANDS=ON</a:t>
            </a:r>
          </a:p>
          <a:p xmlns:a="http://schemas.openxmlformats.org/drawingml/2006/main">
            <a:r>
              <a:t>完整操作单元：../commands/P011_Windows/11.4.3-01.txt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对应正文：P004_Windows，11.4.3_用同一应用验证最小增量</a:t>
            </a:r>
          </a:p>
          <a:p xmlns:a="http://schemas.openxmlformats.org/drawingml/2006/main">
            <a:r>
              <a:t># Windows UCRT64；源码根 /g/zephyr_practice/zephyr-main；根 .venv 已激活。</a:t>
            </a:r>
          </a:p>
          <a:p xmlns:a="http://schemas.openxmlformats.org/drawingml/2006/main">
            <a:r>
              <a:t>cmake --build build/learning-tools/p003/build-practice</a:t>
            </a:r>
          </a:p>
          <a:p xmlns:a="http://schemas.openxmlformats.org/drawingml/2006/main">
            <a:r>
              <a:t>grep -E '^CONFIG_(BOARD|SOC|CPU_CORTEX_M4)' \</a:t>
            </a:r>
          </a:p>
          <a:p xmlns:a="http://schemas.openxmlformats.org/drawingml/2006/main">
            <a:r>
              <a:t>  build/learning-tools/p003/build-practice/zephyr/.config</a:t>
            </a:r>
          </a:p>
          <a:p xmlns:a="http://schemas.openxmlformats.org/drawingml/2006/main">
            <a:r>
              <a:t>ls -l build/learning-tools/p003/build-practice/zephyr/zephyr.elf</a:t>
            </a:r>
          </a:p>
          <a:p xmlns:a="http://schemas.openxmlformats.org/drawingml/2006/main">
            <a:r>
              <a:t>完整操作单元：../commands/P011_Windows/11.4.3-02.txt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对应正文：P004_Windows，11.5—11.6 · 官方样式不等于上游已收录</a:t>
            </a:r>
          </a:p>
          <a:p xmlns:a="http://schemas.openxmlformats.org/drawingml/2006/main">
            <a:r>
              <a:t>将随课程取得的 learning 放入实验源码根。</a:t>
            </a:r>
          </a:p>
          <a:p xmlns:a="http://schemas.openxmlformats.org/drawingml/2006/main">
            <a:r>
              <a:t>先确认 learning/board/labs/hc32_port/zephyr/module.yml 已存在。</a:t>
            </a:r>
          </a:p>
          <a:p xmlns:a="http://schemas.openxmlformats.org/drawingml/2006/main">
            <a:r>
              <a:t>这是教程材料，不在 Zephyr 官方 ZIP 中；缺失时先补材料。</a:t>
            </a:r>
          </a:p>
          <a:p xmlns:a="http://schemas.openxmlformats.org/drawingml/2006/main">
            <a:r>
              <a:t>逐层加入 build/learning-tools/p003/hc32_port，只编译这个工作副本。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对应正文：P004_Windows，11.6.1_登记模块和 SoC 身份</a:t>
            </a:r>
          </a:p>
          <a:p xmlns:a="http://schemas.openxmlformats.org/drawingml/2006/main">
            <a:r>
              <a:t># Windows UCRT64；源码根；随附 learning 已放入源码根。</a:t>
            </a:r>
          </a:p>
          <a:p xmlns:a="http://schemas.openxmlformats.org/drawingml/2006/main">
            <a:r>
              <a:t>test -f learning/board/labs/hc32_port/zephyr/module.yml</a:t>
            </a:r>
          </a:p>
          <a:p xmlns:a="http://schemas.openxmlformats.org/drawingml/2006/main">
            <a:r>
              <a:t>mkdir build/learning-tools/p003/hc32_port</a:t>
            </a:r>
          </a:p>
          <a:p xmlns:a="http://schemas.openxmlformats.org/drawingml/2006/main">
            <a:r>
              <a:t>mkdir -p build/learning-tools/p003/hc32_port/soc/xhsc/hc32f4a0</a:t>
            </a:r>
          </a:p>
          <a:p xmlns:a="http://schemas.openxmlformats.org/drawingml/2006/main">
            <a:r>
              <a:t>cp -R learning/board/labs/hc32_port/zephyr build/learning-tools/p003/hc32_port/</a:t>
            </a:r>
          </a:p>
          <a:p xmlns:a="http://schemas.openxmlformats.org/drawingml/2006/main">
            <a:r>
              <a:t>cp learning/board/labs/hc32_port/Kconfig learning/board/labs/hc32_port/CMakeLists.txt \</a:t>
            </a:r>
          </a:p>
          <a:p xmlns:a="http://schemas.openxmlformats.org/drawingml/2006/main">
            <a:r>
              <a:t>  build/learning-tools/p003/hc32_port/</a:t>
            </a:r>
          </a:p>
          <a:p xmlns:a="http://schemas.openxmlformats.org/drawingml/2006/main">
            <a:r>
              <a:t>cp learning/board/labs/hc32_port/soc/xhsc/hc32f4a0/{soc.yml,Kconfig.soc,Kconfig,Kconfig.defconfig} \</a:t>
            </a:r>
          </a:p>
          <a:p xmlns:a="http://schemas.openxmlformats.org/drawingml/2006/main">
            <a:r>
              <a:t>  build/learning-tools/p003/hc32_port/soc/xhsc/hc32f4a0/</a:t>
            </a:r>
          </a:p>
          <a:p xmlns:a="http://schemas.openxmlformats.org/drawingml/2006/main">
            <a:r>
              <a:t>完整操作单元：../commands/P011_Windows/11.6.1-01.txt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对应正文：P004_Windows，11.6.2_描述芯片资源，再描述 PCB 连接</a:t>
            </a:r>
          </a:p>
          <a:p xmlns:a="http://schemas.openxmlformats.org/drawingml/2006/main">
            <a:r>
              <a:t># UCRT64；源码根；工作模块已由 11.6.1 创建。</a:t>
            </a:r>
          </a:p>
          <a:p xmlns:a="http://schemas.openxmlformats.org/drawingml/2006/main">
            <a:r>
              <a:t>cp -R learning/board/labs/hc32_port/dts build/learning-tools/p003/hc32_port/</a:t>
            </a:r>
          </a:p>
          <a:p xmlns:a="http://schemas.openxmlformats.org/drawingml/2006/main">
            <a:r>
              <a:t>cp -R learning/board/labs/hc32_port/boards build/learning-tools/p003/hc32_port/</a:t>
            </a:r>
          </a:p>
          <a:p xmlns:a="http://schemas.openxmlformats.org/drawingml/2006/main">
            <a:r>
              <a:t>cat build/learning-tools/p003/hc32_port/dts/bindings/vendor-prefixes.txt</a:t>
            </a:r>
          </a:p>
          <a:p xmlns:a="http://schemas.openxmlformats.org/drawingml/2006/main">
            <a:r>
              <a:t>cat build/learning-tools/p003/hc32_port/boards/uyup/uyup_rpi_a/board.yml</a:t>
            </a:r>
          </a:p>
          <a:p xmlns:a="http://schemas.openxmlformats.org/drawingml/2006/main">
            <a:r>
              <a:t>完整操作单元：../commands/P011_Windows/11.6.2-01.txt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对应正文：P004_Windows，11.6.2_描述芯片资源，再描述 PCB 连接</a:t>
            </a:r>
          </a:p>
          <a:p xmlns:a="http://schemas.openxmlformats.org/drawingml/2006/main">
            <a:r>
              <a:t># UCRT64；源码根；查询只检查发现关系，不编译驱动。</a:t>
            </a:r>
          </a:p>
          <a:p xmlns:a="http://schemas.openxmlformats.org/drawingml/2006/main">
            <a:r>
              <a:t>python scripts/list_boards.py --board-root build/learning-tools/p003/hc32_port \</a:t>
            </a:r>
          </a:p>
          <a:p xmlns:a="http://schemas.openxmlformats.org/drawingml/2006/main">
            <a:r>
              <a:t>  --soc-root build/learning-tools/p003/hc32_port \</a:t>
            </a:r>
          </a:p>
          <a:p xmlns:a="http://schemas.openxmlformats.org/drawingml/2006/main">
            <a:r>
              <a:t>  --board uyup_rpi_a --cmakeformat '{NAME};{DIR};{QUALIFIERS}'</a:t>
            </a:r>
          </a:p>
          <a:p xmlns:a="http://schemas.openxmlformats.org/drawingml/2006/main">
            <a:r>
              <a:t>完整操作单元：../commands/P011_Windows/11.6.2-02.txt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对应正文：P004_Windows，11.6.3_接入复位、时钟和链接布局</a:t>
            </a:r>
          </a:p>
          <a:p xmlns:a="http://schemas.openxmlformats.org/drawingml/2006/main">
            <a:r>
              <a:t># UCRT64；源码根；保留原 SPDX 和版权。</a:t>
            </a:r>
          </a:p>
          <a:p xmlns:a="http://schemas.openxmlformats.org/drawingml/2006/main">
            <a:r>
              <a:t>cp learning/board/labs/hc32_port/soc/xhsc/hc32f4a0/{CMakeLists.txt,soc.c,soc.h,reset_hook.S,icg.ld,hc32_ll_conf.h,hc32f4xx_conf.h} \</a:t>
            </a:r>
          </a:p>
          <a:p xmlns:a="http://schemas.openxmlformats.org/drawingml/2006/main">
            <a:r>
              <a:t>  build/learning-tools/p003/hc32_port/soc/xhsc/hc32f4a0/</a:t>
            </a:r>
          </a:p>
          <a:p xmlns:a="http://schemas.openxmlformats.org/drawingml/2006/main">
            <a:r>
              <a:t>完整操作单元：../commands/P011_Windows/11.6.3-01.txt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对应正文：P004_Windows，11.6.4_把 HAL 能力接成 Zephyr 驱动</a:t>
            </a:r>
          </a:p>
          <a:p xmlns:a="http://schemas.openxmlformats.org/drawingml/2006/main">
            <a:r>
              <a:t># UCRT64；源码根。</a:t>
            </a:r>
          </a:p>
          <a:p xmlns:a="http://schemas.openxmlformats.org/drawingml/2006/main">
            <a:r>
              <a:t>cp -R learning/board/labs/hc32_port/drivers build/learning-tools/p003/hc32_port/</a:t>
            </a:r>
          </a:p>
          <a:p xmlns:a="http://schemas.openxmlformats.org/drawingml/2006/main">
            <a:r>
              <a:t>cat build/learning-tools/p003/hc32_port/Kconfig</a:t>
            </a:r>
          </a:p>
          <a:p xmlns:a="http://schemas.openxmlformats.org/drawingml/2006/main">
            <a:r>
              <a:t>cat build/learning-tools/p003/hc32_port/CMakeLists.txt</a:t>
            </a:r>
          </a:p>
          <a:p xmlns:a="http://schemas.openxmlformats.org/drawingml/2006/main">
            <a:r>
              <a:t>cat build/learning-tools/p003/hc32_port/drivers/serial/Kconfig.hc32</a:t>
            </a:r>
          </a:p>
          <a:p xmlns:a="http://schemas.openxmlformats.org/drawingml/2006/main">
            <a:r>
              <a:t>完整操作单元：../commands/P011_Windows/11.6.4-01.txt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对应正文：P004_Windows，11.6.5_检查工作模块与配套材料是否一致</a:t>
            </a:r>
          </a:p>
          <a:p xmlns:a="http://schemas.openxmlformats.org/drawingml/2006/main">
            <a:r>
              <a:t># UCRT64；源码根；完成前四步后运行，只读比较，不修改文件。</a:t>
            </a:r>
          </a:p>
          <a:p xmlns:a="http://schemas.openxmlformats.org/drawingml/2006/main">
            <a:r>
              <a:t>python - &lt;&lt;'PY'</a:t>
            </a:r>
          </a:p>
          <a:p xmlns:a="http://schemas.openxmlformats.org/drawingml/2006/main">
            <a:r>
              <a:t>from pathlib import Path</a:t>
            </a:r>
          </a:p>
          <a:p xmlns:a="http://schemas.openxmlformats.org/drawingml/2006/main">
            <a:r>
              <a:t>a = Path('learning/board/labs/hc32_port')</a:t>
            </a:r>
          </a:p>
          <a:p xmlns:a="http://schemas.openxmlformats.org/drawingml/2006/main">
            <a:r>
              <a:t>b = Path('build/learning-tools/p003/hc32_port')</a:t>
            </a:r>
          </a:p>
          <a:p xmlns:a="http://schemas.openxmlformats.org/drawingml/2006/main">
            <a:r>
              <a:t>expected = {p.relative_to(a) for p in a.rglob('*') if p.is_file() and p.name != 'README.md'}</a:t>
            </a:r>
          </a:p>
          <a:p xmlns:a="http://schemas.openxmlformats.org/drawingml/2006/main">
            <a:r>
              <a:t>missing = [str(p) for p in sorted(expected) if not (b/p).is_file()]</a:t>
            </a:r>
          </a:p>
          <a:p xmlns:a="http://schemas.openxmlformats.org/drawingml/2006/main">
            <a:r>
              <a:t>changed = [str(p) for p in sorted(expected) if (b/p).is_file() and (a/p).read_bytes() != (b/p).read_bytes()]</a:t>
            </a:r>
          </a:p>
          <a:p xmlns:a="http://schemas.openxmlformats.org/drawingml/2006/main">
            <a:r>
              <a:t>print('missing:', missing, 'changed:', changed)</a:t>
            </a:r>
          </a:p>
          <a:p xmlns:a="http://schemas.openxmlformats.org/drawingml/2006/main">
            <a:r>
              <a:t>assert not missing and not changed</a:t>
            </a:r>
          </a:p>
          <a:p xmlns:a="http://schemas.openxmlformats.org/drawingml/2006/main">
            <a:r>
              <a:t>PY</a:t>
            </a:r>
          </a:p>
          <a:p xmlns:a="http://schemas.openxmlformats.org/drawingml/2006/main">
            <a:r>
              <a:t>完整操作单元：../commands/P011_Windows/11.6.5-01.txt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对应正文：P004_Windows，11.7_编译所选 HC32 板的同一个应用</a:t>
            </a:r>
          </a:p>
          <a:p xmlns:a="http://schemas.openxmlformats.org/drawingml/2006/main">
            <a:r>
              <a:t># Windows UCRT64；源码根；11.2.1 的 SDK 已注册，源码入口按本命令选择，.venv 已激活。</a:t>
            </a:r>
          </a:p>
          <a:p xmlns:a="http://schemas.openxmlformats.org/drawingml/2006/main">
            <a:r>
              <a:t>cmake -S samples/hello_world -B build/learning-tools/p003/build-hc32 -G Ninja \</a:t>
            </a:r>
          </a:p>
          <a:p xmlns:a="http://schemas.openxmlformats.org/drawingml/2006/main">
            <a:r>
              <a:t>  -DBOARD=uyup_rpi_a/hc32f4a0pitb \</a:t>
            </a:r>
          </a:p>
          <a:p xmlns:a="http://schemas.openxmlformats.org/drawingml/2006/main">
            <a:r>
              <a:t>  "-DZephyr_DIR=$ZEPHYR_BASE/share/zephyr-package/cmake" \</a:t>
            </a:r>
          </a:p>
          <a:p xmlns:a="http://schemas.openxmlformats.org/drawingml/2006/main">
            <a:r>
              <a:t>  "-DZEPHYR_BASE=$ZEPHYR_BASE" \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  "-DZEPHYR_MODULES=$(cygpath -m "$PWD/build/learning-tools/deps/cmsis_6");$(cygpath -m "$PWD/build/learning-tools/deps/hal_xhsc");$(cygpath -m "$PWD/build/learning-tools/p003/hc32_port")" \</a:t>
            </a:r>
          </a:p>
          <a:p xmlns:a="http://schemas.openxmlformats.org/drawingml/2006/main">
            <a:r>
              <a:t>  -DEXTRA_ZEPHYR_MODULES= -DZEPHYR_EXTRA_MODULES= \</a:t>
            </a:r>
          </a:p>
          <a:p xmlns:a="http://schemas.openxmlformats.org/drawingml/2006/main">
            <a:r>
              <a:t>  "-DPython3_EXECUTABLE=$(cygpath -m "$(command -v python)")" \</a:t>
            </a:r>
          </a:p>
          <a:p xmlns:a="http://schemas.openxmlformats.org/drawingml/2006/main">
            <a:r>
              <a:t>  -DCMAKE_EXPORT_COMPILE_COMMANDS=ON</a:t>
            </a:r>
          </a:p>
          <a:p xmlns:a="http://schemas.openxmlformats.org/drawingml/2006/main">
            <a:r>
              <a:t>完整操作单元：../commands/P011_Windows/11.7-01.txt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对应正文：P004_Windows，11.7_编译所选 HC32 板的同一个应用</a:t>
            </a:r>
          </a:p>
          <a:p xmlns:a="http://schemas.openxmlformats.org/drawingml/2006/main">
            <a:r>
              <a:t># UCRT64；源码根；配置成功后。</a:t>
            </a:r>
          </a:p>
          <a:p xmlns:a="http://schemas.openxmlformats.org/drawingml/2006/main">
            <a:r>
              <a:t>cmake --build build/learning-tools/p003/build-hc32</a:t>
            </a:r>
          </a:p>
          <a:p xmlns:a="http://schemas.openxmlformats.org/drawingml/2006/main">
            <a:r>
              <a:t>ls -l build/learning-tools/p003/build-hc32/zephyr/zephyr.elf</a:t>
            </a:r>
          </a:p>
          <a:p xmlns:a="http://schemas.openxmlformats.org/drawingml/2006/main">
            <a:r>
              <a:t>完整操作单元：../commands/P011_Windows/11.7-02.txt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对应正文：P004_Windows，11.8_按阶段验收，留下可以解释的结果</a:t>
            </a:r>
          </a:p>
          <a:p xmlns:a="http://schemas.openxmlformats.org/drawingml/2006/main">
            <a:r>
              <a:t># UCRT64；源码根；HC32 构建已成功。</a:t>
            </a:r>
          </a:p>
          <a:p xmlns:a="http://schemas.openxmlformats.org/drawingml/2006/main">
            <a:r>
              <a:t>grep -E '^CONFIG_(BOARD|SOC|CPU_CORTEX_M4|CPU_HAS_FPU|HAS_CMSIS|SYS_CLOCK_HW_CYCLES_PER_SEC)' \</a:t>
            </a:r>
          </a:p>
          <a:p xmlns:a="http://schemas.openxmlformats.org/drawingml/2006/main">
            <a:r>
              <a:t>  build/learning-tools/p003/build-hc32/zephyr/.config</a:t>
            </a:r>
          </a:p>
          <a:p xmlns:a="http://schemas.openxmlformats.org/drawingml/2006/main">
            <a:r>
              <a:t>cat build/learning-tools/p003/build-hc32/zephyr_modules.txt</a:t>
            </a:r>
          </a:p>
          <a:p xmlns:a="http://schemas.openxmlformats.org/drawingml/2006/main">
            <a:r>
              <a:t>grep -F 'hc32f4a0' build/learning-tools/p003/build-hc32/compile_commands.json</a:t>
            </a:r>
          </a:p>
          <a:p xmlns:a="http://schemas.openxmlformats.org/drawingml/2006/main">
            <a:r>
              <a:t>完整操作单元：../commands/P011_Windows/11.8-01.txt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cb1f30941cbc4000"/></Relationships>
</file>

<file path=ppt/beginner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44e2eac155a34315"/></Relationships>
</file>

<file path=ppt/beginner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82fe85b75d56404c"/></Relationships>
</file>

<file path=ppt/beginner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648267a170034167"/></Relationships>
</file>

<file path=ppt/beginner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686b73c65eb94189"/></Relationships>
</file>

<file path=ppt/beginner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e1a2eadb06e54023"/></Relationships>
</file>

<file path=ppt/beginner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39E2889-91D0-4074-B918-686CCA189A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B260A3C-FF0E-4B30-B557-F937A5897AC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beginner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D483B32-E62B-47FC-94AB-3D52715146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beginner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7A5DF38-FA5E-4DEC-8977-E7BA4C38AE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A124A40-74EE-4CD5-BFCA-5F3A390701F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beginner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CEB9FDD-3C6F-4AD3-A56D-A235E9CCA8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DCCE483-045D-41AA-97A3-8C8E43AC28D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D2DDEB1-4B86-4A3F-AF04-FD8F918A5F0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beginner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18A3C8B-FF57-41E4-A2C8-48BED07F74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5C7D9BA-2834-47AB-82AD-EFE500C90FB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beginner/slideLayouts/slideLayout6.xml><?xml version="1.0" encoding="utf-8"?>
<p:sldLayout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beginner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theme/theme2.xml" Id="Rf5687be560cc4194"/><Relationship Type="http://schemas.openxmlformats.org/officeDocument/2006/relationships/slideLayout" Target="../slideLayouts/slideLayout1.xml" Id="Rbb7d0d32f0c846b2"/><Relationship Type="http://schemas.openxmlformats.org/officeDocument/2006/relationships/slideLayout" Target="../slideLayouts/slideLayout2.xml" Id="R6b5da265417049fb"/><Relationship Type="http://schemas.openxmlformats.org/officeDocument/2006/relationships/slideLayout" Target="../slideLayouts/slideLayout3.xml" Id="Rbc6d2f1b3b1f4148"/><Relationship Type="http://schemas.openxmlformats.org/officeDocument/2006/relationships/slideLayout" Target="../slideLayouts/slideLayout4.xml" Id="Ra3a931cd4e3b450a"/><Relationship Type="http://schemas.openxmlformats.org/officeDocument/2006/relationships/slideLayout" Target="../slideLayouts/slideLayout5.xml" Id="R64f4e2513d694ad3"/><Relationship Type="http://schemas.openxmlformats.org/officeDocument/2006/relationships/slideLayout" Target="../slideLayouts/slideLayout6.xml" Id="R6bfa6d06b67b42fc"/></Relationships>
</file>

<file path=ppt/beginner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ooter signature lizhaoju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438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 wrap="none">
            <a:noAutofit/>
          </a:bodyPr>
          <a:lstStyle xmlns:a="http://schemas.openxmlformats.org/drawingml/2006/main"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3" r:id="Rbb7d0d32f0c846b2"/>
    <p:sldLayoutId xmlns:r="http://schemas.openxmlformats.org/officeDocument/2006/relationships" id="2147483664" r:id="R6b5da265417049fb"/>
    <p:sldLayoutId xmlns:r="http://schemas.openxmlformats.org/officeDocument/2006/relationships" id="2147483665" r:id="Rbc6d2f1b3b1f4148"/>
    <p:sldLayoutId xmlns:r="http://schemas.openxmlformats.org/officeDocument/2006/relationships" id="2147483666" r:id="Ra3a931cd4e3b450a"/>
    <p:sldLayoutId xmlns:r="http://schemas.openxmlformats.org/officeDocument/2006/relationships" id="2147483667" r:id="R64f4e2513d694ad3"/>
    <p:sldLayoutId xmlns:r="http://schemas.openxmlformats.org/officeDocument/2006/relationships" id="2147483668" r:id="R6bfa6d06b67b42f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beginner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cmsiswest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../../slides/cmsiswest_slide1.xml" Id="R135ec1e5a2274b65"/><Relationship Type="http://schemas.openxmlformats.org/officeDocument/2006/relationships/notesMaster" Target="../../notesMasters/notesMaster1.xml" Id="Rf9efdfb1dc9b4be6"/></Relationships>
</file>

<file path=ppt/cmsiswest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../../slides/cmsiswest_slide2.xml" Id="Re6507492ed83414b"/><Relationship Type="http://schemas.openxmlformats.org/officeDocument/2006/relationships/notesMaster" Target="../../notesMasters/notesMaster1.xml" Id="Raa943c2c1ea84b59"/></Relationships>
</file>

<file path=ppt/cmsiswest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../../slides/cmsiswest_slide3.xml" Id="Rf223b67e40794967"/><Relationship Type="http://schemas.openxmlformats.org/officeDocument/2006/relationships/notesMaster" Target="../../notesMasters/notesMaster1.xml" Id="Rcb862e264ed245e1"/></Relationships>
</file>

<file path=ppt/cmsiswest/notesSlides/_rels/notesSlide4.xml.rels><?xml version='1.0' encoding='utf-8' standalone='yes'?>
<Relationships xmlns="http://schemas.openxmlformats.org/package/2006/relationships"><Relationship Type="http://schemas.openxmlformats.org/officeDocument/2006/relationships/slide" Target="../../slides/cmsiswest_slide4.xml" Id="Rd4f18a5bd4914626"/><Relationship Type="http://schemas.openxmlformats.org/officeDocument/2006/relationships/notesMaster" Target="../../notesMasters/notesMaster1.xml" Id="R1a63b9b0a0c8455a"/></Relationships>
</file>

<file path=ppt/cmsiswest/notesSlides/_rels/notesSlide5.xml.rels><?xml version='1.0' encoding='utf-8' standalone='yes'?>
<Relationships xmlns="http://schemas.openxmlformats.org/package/2006/relationships"><Relationship Type="http://schemas.openxmlformats.org/officeDocument/2006/relationships/slide" Target="../../slides/cmsiswest_slide5.xml" Id="Rf52c58489acc42c8"/><Relationship Type="http://schemas.openxmlformats.org/officeDocument/2006/relationships/notesMaster" Target="../../notesMasters/notesMaster1.xml" Id="R7ef8535ec6b0469d"/></Relationships>
</file>

<file path=ppt/cmsiswest/notesSlides/_rels/notesSlide6.xml.rels><?xml version='1.0' encoding='utf-8' standalone='yes'?>
<Relationships xmlns="http://schemas.openxmlformats.org/package/2006/relationships"><Relationship Type="http://schemas.openxmlformats.org/officeDocument/2006/relationships/slide" Target="../../slides/cmsiswest_slide6.xml" Id="R80b2257bd5f349b8"/><Relationship Type="http://schemas.openxmlformats.org/officeDocument/2006/relationships/notesMaster" Target="../../notesMasters/notesMaster1.xml" Id="Rb4dcad5db2ea496b"/></Relationships>
</file>

<file path=ppt/cmsiswest/notesSlides/_rels/notesSlide7.xml.rels><?xml version='1.0' encoding='utf-8' standalone='yes'?>
<Relationships xmlns="http://schemas.openxmlformats.org/package/2006/relationships"><Relationship Type="http://schemas.openxmlformats.org/officeDocument/2006/relationships/slide" Target="../../slides/cmsiswest_slide7.xml" Id="R9f9af50545424198"/><Relationship Type="http://schemas.openxmlformats.org/officeDocument/2006/relationships/notesMaster" Target="../../notesMasters/notesMaster1.xml" Id="R52f134d0694943c7"/></Relationships>
</file>

<file path=ppt/cmsiswest/notesSlides/_rels/notesSlide8.xml.rels><?xml version='1.0' encoding='utf-8' standalone='yes'?>
<Relationships xmlns="http://schemas.openxmlformats.org/package/2006/relationships"><Relationship Type="http://schemas.openxmlformats.org/officeDocument/2006/relationships/slide" Target="../../slides/cmsiswest_slide8.xml" Id="Re28d130c0dcf44e9"/><Relationship Type="http://schemas.openxmlformats.org/officeDocument/2006/relationships/notesMaster" Target="../../notesMasters/notesMaster1.xml" Id="R3e10067996634f7f"/></Relationships>
</file>

<file path=ppt/cmsiswest/notesSlides/_rels/notesSlide9.xml.rels><?xml version='1.0' encoding='utf-8' standalone='yes'?>
<Relationships xmlns="http://schemas.openxmlformats.org/package/2006/relationships"><Relationship Type="http://schemas.openxmlformats.org/officeDocument/2006/relationships/slide" Target="../../slides/cmsiswest_slide9.xml" Id="R375e65ef41e7424c"/><Relationship Type="http://schemas.openxmlformats.org/officeDocument/2006/relationships/notesMaster" Target="../../notesMasters/notesMaster1.xml" Id="R1c1416c52177499d"/></Relationships>
</file>

<file path=ppt/cmsiswest/notesSlides/_rels/notesSlide10.xml.rels><?xml version='1.0' encoding='utf-8' standalone='yes'?>
<Relationships xmlns="http://schemas.openxmlformats.org/package/2006/relationships"><Relationship Type="http://schemas.openxmlformats.org/officeDocument/2006/relationships/slide" Target="../../slides/cmsiswest_slide10.xml" Id="Rf3bae55454a84f48"/><Relationship Type="http://schemas.openxmlformats.org/officeDocument/2006/relationships/notesMaster" Target="../../notesMasters/notesMaster1.xml" Id="R8ab3021610494937"/></Relationships>
</file>

<file path=ppt/cmsiswest/notesSlides/_rels/notesSlide11.xml.rels><?xml version='1.0' encoding='utf-8' standalone='yes'?>
<Relationships xmlns="http://schemas.openxmlformats.org/package/2006/relationships"><Relationship Type="http://schemas.openxmlformats.org/officeDocument/2006/relationships/slide" Target="../../slides/cmsiswest_slide11.xml" Id="Rbf36a53baa4744c8"/><Relationship Type="http://schemas.openxmlformats.org/officeDocument/2006/relationships/notesMaster" Target="../../notesMasters/notesMaster1.xml" Id="R8e5bb42c46b0466a"/></Relationships>
</file>

<file path=ppt/cmsiswest/notesSlides/_rels/notesSlide12.xml.rels><?xml version='1.0' encoding='utf-8' standalone='yes'?>
<Relationships xmlns="http://schemas.openxmlformats.org/package/2006/relationships"><Relationship Type="http://schemas.openxmlformats.org/officeDocument/2006/relationships/slide" Target="../../slides/cmsiswest_slide12.xml" Id="Rcb0b2a2071cb417e"/><Relationship Type="http://schemas.openxmlformats.org/officeDocument/2006/relationships/notesMaster" Target="../../notesMasters/notesMaster1.xml" Id="R540b477f4f80431f"/></Relationships>
</file>

<file path=ppt/cmsiswest/notesSlides/_rels/notesSlide13.xml.rels><?xml version='1.0' encoding='utf-8' standalone='yes'?>
<Relationships xmlns="http://schemas.openxmlformats.org/package/2006/relationships"><Relationship Type="http://schemas.openxmlformats.org/officeDocument/2006/relationships/slide" Target="../../slides/cmsiswest_slide13.xml" Id="Rc02ed87192054411"/><Relationship Type="http://schemas.openxmlformats.org/officeDocument/2006/relationships/notesMaster" Target="../../notesMasters/notesMaster1.xml" Id="R15e8b15ab4ab455e"/></Relationships>
</file>

<file path=ppt/cmsiswes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对应正文：P004_Windows，11.2.1 · UCRT64 位于实验源码根</a:t>
            </a:r>
          </a:p>
          <a:p xmlns:a="http://schemas.openxmlformats.org/drawingml/2006/main">
            <a:r>
              <a:t>对应正文：11.2.1 · UCRT64 位于实验源码根。命令默认 UCRT64；先核对当前目录、工作区与 Git for Windows。CMSIS 使用官方 west 清单管理，HC32 额外模块单独追加。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cmsiswes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对应正文：P004_Windows，11.2.2 · CMake 与 west 分工</a:t>
            </a:r>
          </a:p>
          <a:p xmlns:a="http://schemas.openxmlformats.org/drawingml/2006/main">
            <a:r>
              <a:t>对应正文：11.2.2 · CMake 与 west 分工。命令默认 UCRT64；先核对当前目录、工作区与 Git for Windows。CMSIS 使用官方 west 清单管理，HC32 额外模块单独追加。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cmsiswes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对应正文：P004_Windows，11.2.1</a:t>
            </a:r>
          </a:p>
          <a:p xmlns:a="http://schemas.openxmlformats.org/drawingml/2006/main">
            <a:r>
              <a:t>对应正文：11.2.1。命令默认 UCRT64；先核对当前目录、工作区与 Git for Windows。CMSIS 使用官方 west 清单管理，HC32 额外模块单独追加。</a:t>
            </a:r>
          </a:p>
          <a:p xmlns:a="http://schemas.openxmlformats.org/drawingml/2006/main">
            <a:r>
              <a:t>完整操作单元：../commands/P011_Windows/11.2.1-01.txt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cmsiswes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对应正文：P004_Windows，11.2.1</a:t>
            </a:r>
          </a:p>
          <a:p xmlns:a="http://schemas.openxmlformats.org/drawingml/2006/main">
            <a:r>
              <a:t>对应正文：11.2.1。命令默认 UCRT64；先核对当前目录、工作区与 Git for Windows。CMSIS 使用官方 west 清单管理，HC32 额外模块单独追加。</a:t>
            </a:r>
          </a:p>
          <a:p xmlns:a="http://schemas.openxmlformats.org/drawingml/2006/main">
            <a:r>
              <a:t>完整操作单元：../commands/P011_Windows/11.2.1-03.txt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cmsiswes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对应正文：P004_Windows，11.2.2</a:t>
            </a:r>
          </a:p>
          <a:p xmlns:a="http://schemas.openxmlformats.org/drawingml/2006/main">
            <a:r>
              <a:t>对应正文：11.2.2。命令默认 UCRT64；先核对当前目录、工作区与 Git for Windows。CMSIS 使用官方 west 清单管理，HC32 额外模块单独追加。</a:t>
            </a:r>
          </a:p>
          <a:p xmlns:a="http://schemas.openxmlformats.org/drawingml/2006/main">
            <a:r>
              <a:t>完整操作单元：../commands/P011_Windows/11.2.2-01.txt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cmsiswes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对应正文：P004_Windows，11.2.2</a:t>
            </a:r>
          </a:p>
          <a:p xmlns:a="http://schemas.openxmlformats.org/drawingml/2006/main">
            <a:r>
              <a:t>对应正文：11.2.2。命令默认 UCRT64；先核对当前目录、工作区与 Git for Windows。CMSIS 使用官方 west 清单管理，HC32 额外模块单独追加。</a:t>
            </a:r>
          </a:p>
          <a:p xmlns:a="http://schemas.openxmlformats.org/drawingml/2006/main">
            <a:r>
              <a:t>完整操作单元：../commands/P011_Windows/11.2.2-02.txt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cmsiswes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对应正文：P004_Windows，11.4.3</a:t>
            </a:r>
          </a:p>
          <a:p xmlns:a="http://schemas.openxmlformats.org/drawingml/2006/main">
            <a:r>
              <a:t>对应正文：11.4.3。命令默认 UCRT64；先核对当前目录、工作区与 Git for Windows。CMSIS 使用官方 west 清单管理，HC32 额外模块单独追加。</a:t>
            </a:r>
          </a:p>
          <a:p xmlns:a="http://schemas.openxmlformats.org/drawingml/2006/main">
            <a:r>
              <a:t>完整操作单元：../commands/P011_Windows/11.4.3-01.txt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cmsiswes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对应正文：P004_Windows，11.7</a:t>
            </a:r>
          </a:p>
          <a:p xmlns:a="http://schemas.openxmlformats.org/drawingml/2006/main">
            <a:r>
              <a:t>对应正文：11.7。命令默认 UCRT64；先核对当前目录、工作区与 Git for Windows。CMSIS 使用官方 west 清单管理，HC32 额外模块单独追加。</a:t>
            </a:r>
          </a:p>
          <a:p xmlns:a="http://schemas.openxmlformats.org/drawingml/2006/main">
            <a:r>
              <a:t>完整操作单元：../commands/P011_Windows/11.7-01.txt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cmsiswes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对应正文：P004_Windows，11.7</a:t>
            </a:r>
          </a:p>
          <a:p xmlns:a="http://schemas.openxmlformats.org/drawingml/2006/main">
            <a:r>
              <a:t>对应正文：11.7。命令默认 UCRT64；先核对当前目录、工作区与 Git for Windows。CMSIS 使用官方 west 清单管理，HC32 额外模块单独追加。</a:t>
            </a:r>
          </a:p>
          <a:p xmlns:a="http://schemas.openxmlformats.org/drawingml/2006/main">
            <a:r>
              <a:t>完整操作单元：../commands/P011_Windows/11.7-02.txt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cmsiswes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对应正文：P004_Windows，11.8</a:t>
            </a:r>
          </a:p>
          <a:p xmlns:a="http://schemas.openxmlformats.org/drawingml/2006/main">
            <a:r>
              <a:t>对应正文：11.8。命令默认 UCRT64；先核对当前目录、工作区与 Git for Windows。CMSIS 使用官方 west 清单管理，HC32 额外模块单独追加。</a:t>
            </a:r>
          </a:p>
          <a:p xmlns:a="http://schemas.openxmlformats.org/drawingml/2006/main">
            <a:r>
              <a:t>完整操作单元：../commands/P011_Windows/11.8-01.txt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cmsiswes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对应正文：P004_Windows，11.9.5</a:t>
            </a:r>
          </a:p>
          <a:p xmlns:a="http://schemas.openxmlformats.org/drawingml/2006/main">
            <a:r>
              <a:t>对应正文：11.9.5。命令默认 UCRT64；先核对当前目录、工作区与 Git for Windows。CMSIS 使用官方 west 清单管理，HC32 额外模块单独追加。</a:t>
            </a:r>
          </a:p>
          <a:p xmlns:a="http://schemas.openxmlformats.org/drawingml/2006/main">
            <a:r>
              <a:t>完整操作单元：../commands/P011_Windows/11.9.5-01.txt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cmsiswes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对应正文：P004_Windows，11.9.5</a:t>
            </a:r>
          </a:p>
          <a:p xmlns:a="http://schemas.openxmlformats.org/drawingml/2006/main">
            <a:r>
              <a:t>对应正文：11.9.5。命令默认 UCRT64；先核对当前目录、工作区与 Git for Windows。CMSIS 使用官方 west 清单管理，HC32 额外模块单独追加。</a:t>
            </a:r>
          </a:p>
          <a:p xmlns:a="http://schemas.openxmlformats.org/drawingml/2006/main">
            <a:r>
              <a:t>完整操作单元：../commands/P011_Windows/11.9.5-02.txt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cmsiswes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对应正文：P004_Windows，11.7 · 保留基础模块，只追加移植输入</a:t>
            </a:r>
          </a:p>
          <a:p xmlns:a="http://schemas.openxmlformats.org/drawingml/2006/main">
            <a:r>
              <a:t>对应正文：11.7 · 保留基础模块，只追加移植输入。命令默认 UCRT64；先核对当前目录、工作区与 Git for Windows。CMSIS 使用官方 west 清单管理，HC32 额外模块单独追加。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cmsiswest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ff30696e94e24517"/></Relationships>
</file>

<file path=ppt/cmsiswest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08bf590ed47c4a60"/></Relationships>
</file>

<file path=ppt/cmsiswest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3bff1236f9de46a7"/></Relationships>
</file>

<file path=ppt/cmsiswest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5dd04deb561940ea"/></Relationships>
</file>

<file path=ppt/cmsiswest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1051bb55f0364772"/></Relationships>
</file>

<file path=ppt/cmsiswest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4aee6ab482dc4745"/></Relationships>
</file>

<file path=ppt/cmsiswes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FCE3B84-107B-4AC1-81FB-4F0CF3B0062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3130149-B53E-4C93-925E-54800305AB1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cmsiswes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66B63A1-9D8D-4CE0-8D0E-D2ECB56E77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cmsiswes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F8993CE-9B9D-425D-8970-C86EB83899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0D3F9BB-2FD2-42DE-A344-9843DBB750D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cmsiswes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A6A7747-1AE3-4E2B-B859-300A514CB0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86A409E-362F-4A55-A7FF-BFBB4BECC47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883380A-70F3-4231-B344-C062B2B5F23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cmsiswes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D100D95-7A42-4A4F-ABEC-FDFE6AD8F5B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A8752EE-53A5-4A9B-A76C-503CBFF0060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cmsiswest/slideLayouts/slideLayout6.xml><?xml version="1.0" encoding="utf-8"?>
<p:sldLayout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cmsiswest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theme/theme2.xml" Id="R6265ad08fe024fd7"/><Relationship Type="http://schemas.openxmlformats.org/officeDocument/2006/relationships/slideLayout" Target="../slideLayouts/slideLayout1.xml" Id="R1e9dbd3939d64e43"/><Relationship Type="http://schemas.openxmlformats.org/officeDocument/2006/relationships/slideLayout" Target="../slideLayouts/slideLayout2.xml" Id="R7d4be076a7a4411e"/><Relationship Type="http://schemas.openxmlformats.org/officeDocument/2006/relationships/slideLayout" Target="../slideLayouts/slideLayout3.xml" Id="Rcacc2bdce5e24c44"/><Relationship Type="http://schemas.openxmlformats.org/officeDocument/2006/relationships/slideLayout" Target="../slideLayouts/slideLayout4.xml" Id="R65f2d7c6ede047b5"/><Relationship Type="http://schemas.openxmlformats.org/officeDocument/2006/relationships/slideLayout" Target="../slideLayouts/slideLayout5.xml" Id="Ra008ff6815b74ea6"/><Relationship Type="http://schemas.openxmlformats.org/officeDocument/2006/relationships/slideLayout" Target="../slideLayouts/slideLayout6.xml" Id="Rebf49d367dad49cb"/></Relationships>
</file>

<file path=ppt/cmsiswes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ooter signature lizhaoju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438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 wrap="none">
            <a:noAutofit/>
          </a:bodyPr>
          <a:lstStyle xmlns:a="http://schemas.openxmlformats.org/drawingml/2006/main"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77" r:id="R1e9dbd3939d64e43"/>
    <p:sldLayoutId xmlns:r="http://schemas.openxmlformats.org/officeDocument/2006/relationships" id="2147483678" r:id="R7d4be076a7a4411e"/>
    <p:sldLayoutId xmlns:r="http://schemas.openxmlformats.org/officeDocument/2006/relationships" id="2147483679" r:id="Rcacc2bdce5e24c44"/>
    <p:sldLayoutId xmlns:r="http://schemas.openxmlformats.org/officeDocument/2006/relationships" id="2147483680" r:id="R65f2d7c6ede047b5"/>
    <p:sldLayoutId xmlns:r="http://schemas.openxmlformats.org/officeDocument/2006/relationships" id="2147483681" r:id="Ra008ff6815b74ea6"/>
    <p:sldLayoutId xmlns:r="http://schemas.openxmlformats.org/officeDocument/2006/relationships" id="2147483682" r:id="Rebf49d367dad49c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cmsiswes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Masters/_rels/notesMaster1.xml.rels><?xml version='1.0' encoding='utf-8' standalone='yes'?>
<Relationships xmlns="http://schemas.openxmlformats.org/package/2006/relationships"><Relationship Type="http://schemas.openxmlformats.org/officeDocument/2006/relationships/theme" Target="/ppt/notesMasters/theme/theme3.xml" Id="R414da56711a240d6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firmware_formats.xml.rels><?xml version='1.0' encoding='UTF-8' standalone='yes'?>
<Relationships xmlns="http://schemas.openxmlformats.org/package/2006/relationships"><Relationship Type="http://schemas.openxmlformats.org/officeDocument/2006/relationships/slide" Target="../slides/firmware_formats.xml" Id="R375e65ef41e7424c"/><Relationship Type="http://schemas.openxmlformats.org/officeDocument/2006/relationships/notesMaster" Target="../notesMasters/notesMaster1.xml" Id="R1c1416c52177499d"/></Relationships>
</file>

<file path=ppt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/ppt/slides/slide1.xml" Id="Rf0d3e5a297494460"/><Relationship Type="http://schemas.openxmlformats.org/officeDocument/2006/relationships/notesMaster" Target="/ppt/notesMasters/notesMaster1.xml" Id="R6045587a05f344a0"/></Relationships>
</file>

<file path=ppt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/ppt/slides/slide2.xml" Id="R606afd9b5a624755"/><Relationship Type="http://schemas.openxmlformats.org/officeDocument/2006/relationships/notesMaster" Target="/ppt/notesMasters/notesMaster1.xml" Id="R110ca8aa8b5a4b15"/></Relationships>
</file>

<file path=ppt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/ppt/slides/slide3.xml" Id="R9cc7e33cd77b4c73"/><Relationship Type="http://schemas.openxmlformats.org/officeDocument/2006/relationships/notesMaster" Target="/ppt/notesMasters/notesMaster1.xml" Id="R2066689850f2416c"/></Relationships>
</file>

<file path=ppt/notesSlides/_rels/notesSlide4.xml.rels><?xml version='1.0' encoding='utf-8' standalone='yes'?>
<Relationships xmlns="http://schemas.openxmlformats.org/package/2006/relationships"><Relationship Type="http://schemas.openxmlformats.org/officeDocument/2006/relationships/slide" Target="/ppt/slides/slide4.xml" Id="R19e77f3940b246e9"/><Relationship Type="http://schemas.openxmlformats.org/officeDocument/2006/relationships/notesMaster" Target="/ppt/notesMasters/notesMaster1.xml" Id="R2daa5fea129647c7"/></Relationships>
</file>

<file path=ppt/notesSlides/_rels/notesSlide5.xml.rels><?xml version='1.0' encoding='utf-8' standalone='yes'?>
<Relationships xmlns="http://schemas.openxmlformats.org/package/2006/relationships"><Relationship Type="http://schemas.openxmlformats.org/officeDocument/2006/relationships/slide" Target="/ppt/slides/slide5.xml" Id="Rff741b48f6a04890"/><Relationship Type="http://schemas.openxmlformats.org/officeDocument/2006/relationships/notesMaster" Target="/ppt/notesMasters/notesMaster1.xml" Id="R6682550715c4417f"/></Relationships>
</file>

<file path=ppt/notesSlides/_rels/notesSlide6.xml.rels><?xml version='1.0' encoding='utf-8' standalone='yes'?>
<Relationships xmlns="http://schemas.openxmlformats.org/package/2006/relationships"><Relationship Type="http://schemas.openxmlformats.org/officeDocument/2006/relationships/slide" Target="/ppt/slides/slide6.xml" Id="Ra95ec7c0e5974637"/><Relationship Type="http://schemas.openxmlformats.org/officeDocument/2006/relationships/notesMaster" Target="/ppt/notesMasters/notesMaster1.xml" Id="R155844696ea74eb4"/></Relationships>
</file>

<file path=ppt/notesSlides/_rels/notesSlide7.xml.rels><?xml version='1.0' encoding='utf-8' standalone='yes'?>
<Relationships xmlns="http://schemas.openxmlformats.org/package/2006/relationships"><Relationship Type="http://schemas.openxmlformats.org/officeDocument/2006/relationships/slide" Target="/ppt/slides/slide7.xml" Id="Ra103d40325094ffb"/><Relationship Type="http://schemas.openxmlformats.org/officeDocument/2006/relationships/notesMaster" Target="/ppt/notesMasters/notesMaster1.xml" Id="Rbe308da4927040a6"/></Relationships>
</file>

<file path=ppt/notesSlides/_rels/notesSlide8.xml.rels><?xml version='1.0' encoding='utf-8' standalone='yes'?>
<Relationships xmlns="http://schemas.openxmlformats.org/package/2006/relationships"><Relationship Type="http://schemas.openxmlformats.org/officeDocument/2006/relationships/slide" Target="/ppt/slides/slide8.xml" Id="R4fba4c9181d448a0"/><Relationship Type="http://schemas.openxmlformats.org/officeDocument/2006/relationships/notesMaster" Target="/ppt/notesMasters/notesMaster1.xml" Id="R05b527963b0c49bc"/></Relationships>
</file>

<file path=ppt/notesSlides/_rels/notesSlide9.xml.rels><?xml version='1.0' encoding='utf-8' standalone='yes'?>
<Relationships xmlns="http://schemas.openxmlformats.org/package/2006/relationships"><Relationship Type="http://schemas.openxmlformats.org/officeDocument/2006/relationships/slide" Target="/ppt/slides/slide9.xml" Id="Rf73a5b6d492346a3"/><Relationship Type="http://schemas.openxmlformats.org/officeDocument/2006/relationships/notesMaster" Target="/ppt/notesMasters/notesMaster1.xml" Id="R43a8aadd5351400e"/></Relationships>
</file>

<file path=ppt/notesSlides/_rels/notesSlide10.xml.rels><?xml version='1.0' encoding='utf-8' standalone='yes'?>
<Relationships xmlns="http://schemas.openxmlformats.org/package/2006/relationships"><Relationship Type="http://schemas.openxmlformats.org/officeDocument/2006/relationships/slide" Target="/ppt/slides/slide10.xml" Id="R1bd5d93682fc41b2"/><Relationship Type="http://schemas.openxmlformats.org/officeDocument/2006/relationships/notesMaster" Target="/ppt/notesMasters/notesMaster1.xml" Id="R215398b351f64a4a"/></Relationships>
</file>

<file path=ppt/notesSlides/_rels/notesSlide11.xml.rels><?xml version='1.0' encoding='utf-8' standalone='yes'?>
<Relationships xmlns="http://schemas.openxmlformats.org/package/2006/relationships"><Relationship Type="http://schemas.openxmlformats.org/officeDocument/2006/relationships/slide" Target="/ppt/slides/slide11.xml" Id="R14f6dda5a58b4845"/><Relationship Type="http://schemas.openxmlformats.org/officeDocument/2006/relationships/notesMaster" Target="/ppt/notesMasters/notesMaster1.xml" Id="Rb35e197a5e624da6"/></Relationships>
</file>

<file path=ppt/notesSlides/_rels/notesSlide12.xml.rels><?xml version='1.0' encoding='utf-8' standalone='yes'?>
<Relationships xmlns="http://schemas.openxmlformats.org/package/2006/relationships"><Relationship Type="http://schemas.openxmlformats.org/officeDocument/2006/relationships/slide" Target="/ppt/slides/slide12.xml" Id="Rfc6cf39431a04c39"/><Relationship Type="http://schemas.openxmlformats.org/officeDocument/2006/relationships/notesMaster" Target="/ppt/notesMasters/notesMaster1.xml" Id="Rfd0c6ed1a0bb4703"/></Relationships>
</file>

<file path=ppt/notesSlides/_rels/notesSlide13.xml.rels><?xml version='1.0' encoding='utf-8' standalone='yes'?>
<Relationships xmlns="http://schemas.openxmlformats.org/package/2006/relationships"><Relationship Type="http://schemas.openxmlformats.org/officeDocument/2006/relationships/slide" Target="/ppt/slides/slide13.xml" Id="R064b2bc2cdd14db4"/><Relationship Type="http://schemas.openxmlformats.org/officeDocument/2006/relationships/notesMaster" Target="/ppt/notesMasters/notesMaster1.xml" Id="R35eb7654bbc94e3a"/></Relationships>
</file>

<file path=ppt/notesSlides/_rels/notesSlide14.xml.rels><?xml version='1.0' encoding='utf-8' standalone='yes'?>
<Relationships xmlns="http://schemas.openxmlformats.org/package/2006/relationships"><Relationship Type="http://schemas.openxmlformats.org/officeDocument/2006/relationships/slide" Target="/ppt/slides/slide14.xml" Id="R71d8350e3bf14f2d"/><Relationship Type="http://schemas.openxmlformats.org/officeDocument/2006/relationships/notesMaster" Target="/ppt/notesMasters/notesMaster1.xml" Id="R9b3bd442145641e2"/></Relationships>
</file>

<file path=ppt/notesSlides/_rels/notesSlide15.xml.rels><?xml version='1.0' encoding='utf-8' standalone='yes'?>
<Relationships xmlns="http://schemas.openxmlformats.org/package/2006/relationships"><Relationship Type="http://schemas.openxmlformats.org/officeDocument/2006/relationships/slide" Target="/ppt/slides/slide15.xml" Id="R140d10abe9d14b4f"/><Relationship Type="http://schemas.openxmlformats.org/officeDocument/2006/relationships/notesMaster" Target="/ppt/notesMasters/notesMaster1.xml" Id="R7816e5ceba374640"/></Relationships>
</file>

<file path=ppt/notesSlides/_rels/notesSlide16.xml.rels><?xml version='1.0' encoding='utf-8' standalone='yes'?>
<Relationships xmlns="http://schemas.openxmlformats.org/package/2006/relationships"><Relationship Type="http://schemas.openxmlformats.org/officeDocument/2006/relationships/slide" Target="/ppt/slides/slide16.xml" Id="Rcda7c57b205d4597"/><Relationship Type="http://schemas.openxmlformats.org/officeDocument/2006/relationships/notesMaster" Target="/ppt/notesMasters/notesMaster1.xml" Id="R8b4d7f6b31af4261"/></Relationships>
</file>

<file path=ppt/notesSlides/_rels/notesSlide17.xml.rels><?xml version='1.0' encoding='utf-8' standalone='yes'?>
<Relationships xmlns="http://schemas.openxmlformats.org/package/2006/relationships"><Relationship Type="http://schemas.openxmlformats.org/officeDocument/2006/relationships/slide" Target="/ppt/slides/slide17.xml" Id="Rb13e69aa00584382"/><Relationship Type="http://schemas.openxmlformats.org/officeDocument/2006/relationships/notesMaster" Target="/ppt/notesMasters/notesMaster1.xml" Id="R392d268153964b7c"/></Relationships>
</file>

<file path=ppt/notesSlides/_rels/notesSlide18.xml.rels><?xml version='1.0' encoding='utf-8' standalone='yes'?>
<Relationships xmlns="http://schemas.openxmlformats.org/package/2006/relationships"><Relationship Type="http://schemas.openxmlformats.org/officeDocument/2006/relationships/slide" Target="/ppt/slides/slide18.xml" Id="Rdc691aaa5c654fce"/><Relationship Type="http://schemas.openxmlformats.org/officeDocument/2006/relationships/notesMaster" Target="/ppt/notesMasters/notesMaster1.xml" Id="Rdc5fcd1059ce47d8"/></Relationships>
</file>

<file path=ppt/notesSlides/_rels/notesSlide19.xml.rels><?xml version='1.0' encoding='utf-8' standalone='yes'?>
<Relationships xmlns="http://schemas.openxmlformats.org/package/2006/relationships"><Relationship Type="http://schemas.openxmlformats.org/officeDocument/2006/relationships/slide" Target="/ppt/slides/slide19.xml" Id="Ra0f1245f255041ac"/><Relationship Type="http://schemas.openxmlformats.org/officeDocument/2006/relationships/notesMaster" Target="/ppt/notesMasters/notesMaster1.xml" Id="R7d5435fc5b02465a"/></Relationships>
</file>

<file path=ppt/notesSlides/_rels/notesSlide20.xml.rels><?xml version='1.0' encoding='utf-8' standalone='yes'?>
<Relationships xmlns="http://schemas.openxmlformats.org/package/2006/relationships"><Relationship Type="http://schemas.openxmlformats.org/officeDocument/2006/relationships/slide" Target="/ppt/slides/slide20.xml" Id="Rebe884fad1724a89"/><Relationship Type="http://schemas.openxmlformats.org/officeDocument/2006/relationships/notesMaster" Target="/ppt/notesMasters/notesMaster1.xml" Id="R842d1c3ffa844b1e"/></Relationships>
</file>

<file path=ppt/notesSlides/_rels/notesSlide21.xml.rels><?xml version='1.0' encoding='utf-8' standalone='yes'?>
<Relationships xmlns="http://schemas.openxmlformats.org/package/2006/relationships"><Relationship Type="http://schemas.openxmlformats.org/officeDocument/2006/relationships/slide" Target="/ppt/slides/slide21.xml" Id="R23c3533176e944d5"/><Relationship Type="http://schemas.openxmlformats.org/officeDocument/2006/relationships/notesMaster" Target="/ppt/notesMasters/notesMaster1.xml" Id="R410841fa10824ea2"/></Relationships>
</file>

<file path=ppt/notesSlides/_rels/notesSlide22.xml.rels><?xml version='1.0' encoding='utf-8' standalone='yes'?>
<Relationships xmlns="http://schemas.openxmlformats.org/package/2006/relationships"><Relationship Type="http://schemas.openxmlformats.org/officeDocument/2006/relationships/slide" Target="/ppt/slides/slide22.xml" Id="Reaf6d0c4f78a4462"/><Relationship Type="http://schemas.openxmlformats.org/officeDocument/2006/relationships/notesMaster" Target="/ppt/notesMasters/notesMaster1.xml" Id="R77b68186f1574faf"/></Relationships>
</file>

<file path=ppt/notesSlides/_rels/notesSlide23.xml.rels><?xml version='1.0' encoding='utf-8' standalone='yes'?>
<Relationships xmlns="http://schemas.openxmlformats.org/package/2006/relationships"><Relationship Type="http://schemas.openxmlformats.org/officeDocument/2006/relationships/slide" Target="/ppt/slides/slide23.xml" Id="R78cd6d87511f4dfc"/><Relationship Type="http://schemas.openxmlformats.org/officeDocument/2006/relationships/notesMaster" Target="/ppt/notesMasters/notesMaster1.xml" Id="Ree1ef37d42e4412e"/></Relationships>
</file>

<file path=ppt/notesSlides/_rels/notesSlide24.xml.rels><?xml version='1.0' encoding='utf-8' standalone='yes'?>
<Relationships xmlns="http://schemas.openxmlformats.org/package/2006/relationships"><Relationship Type="http://schemas.openxmlformats.org/officeDocument/2006/relationships/slide" Target="/ppt/slides/slide24.xml" Id="R636c023ed2ab4cba"/><Relationship Type="http://schemas.openxmlformats.org/officeDocument/2006/relationships/notesMaster" Target="/ppt/notesMasters/notesMaster1.xml" Id="Rbd6f66c40f3f42bc"/></Relationships>
</file>

<file path=ppt/notesSlides/_rels/notesSlide25.xml.rels><?xml version='1.0' encoding='utf-8' standalone='yes'?>
<Relationships xmlns="http://schemas.openxmlformats.org/package/2006/relationships"><Relationship Type="http://schemas.openxmlformats.org/officeDocument/2006/relationships/slide" Target="/ppt/slides/slide25.xml" Id="R0a6a7936328c470d"/><Relationship Type="http://schemas.openxmlformats.org/officeDocument/2006/relationships/notesMaster" Target="/ppt/notesMasters/notesMaster1.xml" Id="R86b9c396ae624b20"/></Relationships>
</file>

<file path=ppt/notesSlides/_rels/notesSlide26.xml.rels><?xml version='1.0' encoding='utf-8' standalone='yes'?>
<Relationships xmlns="http://schemas.openxmlformats.org/package/2006/relationships"><Relationship Type="http://schemas.openxmlformats.org/officeDocument/2006/relationships/slide" Target="/ppt/slides/slide26.xml" Id="Rac3580688d3c4392"/><Relationship Type="http://schemas.openxmlformats.org/officeDocument/2006/relationships/notesMaster" Target="/ppt/notesMasters/notesMaster1.xml" Id="R2d3ea832614e40bc"/></Relationships>
</file>

<file path=ppt/notesSlides/_rels/notesSlide27.xml.rels><?xml version='1.0' encoding='utf-8' standalone='yes'?>
<Relationships xmlns="http://schemas.openxmlformats.org/package/2006/relationships"><Relationship Type="http://schemas.openxmlformats.org/officeDocument/2006/relationships/slide" Target="/ppt/slides/slide27.xml" Id="R7ed9c7b0abfa4e20"/><Relationship Type="http://schemas.openxmlformats.org/officeDocument/2006/relationships/notesMaster" Target="/ppt/notesMasters/notesMaster1.xml" Id="Raad893cd1b544536"/></Relationships>
</file>

<file path=ppt/notesSlides/_rels/notesSlide28.xml.rels><?xml version='1.0' encoding='utf-8' standalone='yes'?>
<Relationships xmlns="http://schemas.openxmlformats.org/package/2006/relationships"><Relationship Type="http://schemas.openxmlformats.org/officeDocument/2006/relationships/slide" Target="/ppt/slides/slide28.xml" Id="R1fe2f99772e04406"/><Relationship Type="http://schemas.openxmlformats.org/officeDocument/2006/relationships/notesMaster" Target="/ppt/notesMasters/notesMaster1.xml" Id="Rd8ff808e240b4f99"/></Relationships>
</file>

<file path=ppt/notesSlides/_rels/notesSlide29.xml.rels><?xml version='1.0' encoding='utf-8' standalone='yes'?>
<Relationships xmlns="http://schemas.openxmlformats.org/package/2006/relationships"><Relationship Type="http://schemas.openxmlformats.org/officeDocument/2006/relationships/slide" Target="/ppt/slides/slide29.xml" Id="R93d331b6d6bf4f78"/><Relationship Type="http://schemas.openxmlformats.org/officeDocument/2006/relationships/notesMaster" Target="/ppt/notesMasters/notesMaster1.xml" Id="Rf798d3366fac4e9a"/></Relationships>
</file>

<file path=ppt/notesSlides/_rels/notesSlide30.xml.rels><?xml version='1.0' encoding='utf-8' standalone='yes'?>
<Relationships xmlns="http://schemas.openxmlformats.org/package/2006/relationships"><Relationship Type="http://schemas.openxmlformats.org/officeDocument/2006/relationships/slide" Target="/ppt/slides/slide30.xml" Id="Rda7ae5e6b5484092"/><Relationship Type="http://schemas.openxmlformats.org/officeDocument/2006/relationships/notesMaster" Target="/ppt/notesMasters/notesMaster1.xml" Id="Rf55af753cce1498d"/></Relationships>
</file>

<file path=ppt/notesSlides/_rels/notesSlide31.xml.rels><?xml version='1.0' encoding='utf-8' standalone='yes'?>
<Relationships xmlns="http://schemas.openxmlformats.org/package/2006/relationships"><Relationship Type="http://schemas.openxmlformats.org/officeDocument/2006/relationships/slide" Target="/ppt/slides/slide31.xml" Id="R2b9132b9e48e4bfc"/><Relationship Type="http://schemas.openxmlformats.org/officeDocument/2006/relationships/notesMaster" Target="/ppt/notesMasters/notesMaster1.xml" Id="Ra717e033e2b24c4f"/></Relationships>
</file>

<file path=ppt/notesSlides/_rels/notesSlide32.xml.rels><?xml version='1.0' encoding='utf-8' standalone='yes'?>
<Relationships xmlns="http://schemas.openxmlformats.org/package/2006/relationships"><Relationship Type="http://schemas.openxmlformats.org/officeDocument/2006/relationships/slide" Target="/ppt/slides/slide32.xml" Id="Rde66ce62a3ca406b"/><Relationship Type="http://schemas.openxmlformats.org/officeDocument/2006/relationships/notesMaster" Target="/ppt/notesMasters/notesMaster1.xml" Id="Rd3175cf0f6ac46a2"/></Relationships>
</file>

<file path=ppt/notesSlides/_rels/notesSlide33.xml.rels><?xml version='1.0' encoding='utf-8' standalone='yes'?>
<Relationships xmlns="http://schemas.openxmlformats.org/package/2006/relationships"><Relationship Type="http://schemas.openxmlformats.org/officeDocument/2006/relationships/slide" Target="/ppt/slides/slide33.xml" Id="Rb962d3338f234466"/><Relationship Type="http://schemas.openxmlformats.org/officeDocument/2006/relationships/notesMaster" Target="/ppt/notesMasters/notesMaster1.xml" Id="Rad690a6fdfa241d3"/></Relationships>
</file>

<file path=ppt/notesSlides/_rels/notesSlide34.xml.rels><?xml version='1.0' encoding='utf-8' standalone='yes'?>
<Relationships xmlns="http://schemas.openxmlformats.org/package/2006/relationships"><Relationship Type="http://schemas.openxmlformats.org/officeDocument/2006/relationships/slide" Target="/ppt/slides/slide34.xml" Id="R49876d4ab71c4191"/><Relationship Type="http://schemas.openxmlformats.org/officeDocument/2006/relationships/notesMaster" Target="/ppt/notesMasters/notesMaster1.xml" Id="R2ec4a3e2f38e4431"/></Relationships>
</file>

<file path=ppt/notesSlides/_rels/standalone_toolchain_7.xml.rels><?xml version='1.0' encoding='utf-8' standalone='yes'?>
<Relationships xmlns="http://schemas.openxmlformats.org/package/2006/relationships"><Relationship Type="http://schemas.openxmlformats.org/officeDocument/2006/relationships/slide" Target="../slides/standalone_toolchain_7.xml" Id="Rf52c58489acc42c8"/><Relationship Type="http://schemas.openxmlformats.org/officeDocument/2006/relationships/notesMaster" Target="../notesMasters/notesMaster1.xml" Id="R7ef8535ec6b0469d"/></Relationships>
</file>

<file path=ppt/notesSlides/_rels/standalone_toolchain_8.xml.rels><?xml version='1.0' encoding='utf-8' standalone='yes'?>
<Relationships xmlns="http://schemas.openxmlformats.org/package/2006/relationships"><Relationship Type="http://schemas.openxmlformats.org/officeDocument/2006/relationships/slide" Target="../slides/standalone_toolchain_8.xml" Id="Rf52c58489acc42c8"/><Relationship Type="http://schemas.openxmlformats.org/officeDocument/2006/relationships/notesMaster" Target="../notesMasters/notesMaster1.xml" Id="R7ef8535ec6b0469d"/></Relationships>
</file>

<file path=ppt/notesSlides/_rels/standalone_toolchain_9.xml.rels><?xml version='1.0' encoding='utf-8' standalone='yes'?>
<Relationships xmlns="http://schemas.openxmlformats.org/package/2006/relationships"><Relationship Type="http://schemas.openxmlformats.org/officeDocument/2006/relationships/slide" Target="../slides/standalone_toolchain_9.xml" Id="Rf52c58489acc42c8"/><Relationship Type="http://schemas.openxmlformats.org/officeDocument/2006/relationships/notesMaster" Target="../notesMasters/notesMaster1.xml" Id="R7ef8535ec6b0469d"/></Relationships>
</file>

<file path=ppt/notesSlides/firmware_formats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对应正文：P011_编译示例与新增开发板_Windows.md#hc32-firmware-formats。教程原件 learning/board/labs/hc32_port/boards/uyup/uyup_rpi_a/uyup_rpi_a_hc32f4a0pitb_defconfig 设置 HEX；最终结果以本次 .config 为准。本章模块快照没有 board.cmake 的 runner 接入，不要求执行 west flash。正式完成 pyOCD runner 接入后，flash() 按 HEX、BIN、ELF 顺序选择；GDB 使用 ELF。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构建与移植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本期路线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11.1 · 先认识目标</a:t>
            </a:r>
          </a:p>
          <a:p xmlns:a="http://schemas.openxmlformats.org/drawingml/2006/main">
            <a:r>
              <a:t>AN386不是HC32型号。https://docs.zephyrproject.org/latest/boards/arm/mps2/doc/mps2_armv7m.html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11.1 · 源码根 boards/arm/mps2</a:t>
            </a:r>
          </a:p>
          <a:p xmlns:a="http://schemas.openxmlformats.org/drawingml/2006/main">
            <a:r>
              <a:t>SRAM从0x20000000开始，flash节点从0开始。是目标映射，不是HC32片内Flash规格；hello_world不测试所有外设。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11.1 · BOARD 不是目录路径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11.1 · 应用与硬件的分工</a:t>
            </a:r>
          </a:p>
          <a:p xmlns:a="http://schemas.openxmlformats.org/drawingml/2006/main">
            <a:r>
              <a:t>MPS2固件不可烧入HC32。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11.2.1 · UCRT64 始终位于源码根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11.2.1 · UCRT64；源码根</a:t>
            </a:r>
          </a:p>
          <a:p xmlns:a="http://schemas.openxmlformats.org/drawingml/2006/main">
            <a:r>
              <a:t>三个Zephyr原生变量分别指源码、工具链类型和SDK根。SDK多一层时按正文改实际路径，后续复用本页定义。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11.2.2 · UCRT64；源码根；路径变量来自上一页</a:t>
            </a:r>
          </a:p>
          <a:p xmlns:a="http://schemas.openxmlformats.org/drawingml/2006/main">
            <a:r>
              <a:t>完整配置命令。ZEPHYR_BASE和ZEPHYR_SDK_INSTALL_DIR在3.2.1定义。ZEPHYR_MODULES只指定已经下载的源码。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11.2.2 · 第一次完成已有板编译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11.3 · 得到可比较的成功基线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11.4 · 先新增板，再新增芯片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11.4 · 板文件的一对一对应</a:t>
            </a:r>
          </a:p>
          <a:p xmlns:a="http://schemas.openxmlformats.org/drawingml/2006/main">
            <a:r>
              <a:t>新defconfig完整文件名practice_mps2_an386_defconfig，见正文。SoC不复制。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11.4.1 · 目录创建及完整命令见正文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11.4.1 · 对照官方 Kconfig.mps2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11.4.1 · 第一处可观察结果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11.4.2 · 按正文复制同一修订文件</a:t>
            </a:r>
          </a:p>
          <a:p xmlns:a="http://schemas.openxmlformats.org/drawingml/2006/main">
            <a:r>
              <a:t>不能漏掉本地include；chosen选UART，defconfig打开控制台功能。 MPS2 pinctrl依赖GPIO，实际链接验证需CONFIG_GPIO=y。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11.4.3 · UCRT64；源码根；原生路径变量见 11.2.1</a:t>
            </a:r>
          </a:p>
          <a:p xmlns:a="http://schemas.openxmlformats.org/drawingml/2006/main">
            <a:r>
              <a:t>BOARD_ROOT是含boards的父目录。新输出build-practice，不复用缓存。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11.4.3 · 完成新增板、复用芯片的实验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11.5 · 对照职责，重新取硬件数值</a:t>
            </a:r>
          </a:p>
          <a:p xmlns:a="http://schemas.openxmlformats.org/drawingml/2006/main">
            <a:r>
              <a:t>HC32主晶振12MHz；主SRAM0x1FFE0000起，还有4KiB备份SRAM。同内核不等于同寄存器。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11.5 · 官方硬件模型 v2</a:t>
            </a:r>
          </a:p>
          <a:p xmlns:a="http://schemas.openxmlformats.org/drawingml/2006/main">
            <a:r>
              <a:t>boards/arm/mps2的arm是板厂Arm。多SoC/异构板难以归入唯一架构树。https://docs.zephyrproject.org/latest/hardware/porting/board_porting.html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11.6 · 接入顺序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11.6.1 · 驱动源文件未齐，此时不完整配置</a:t>
            </a:r>
          </a:p>
          <a:p xmlns:a="http://schemas.openxmlformats.org/drawingml/2006/main">
            <a:r>
              <a:t>完整mkdir/cp步骤在正文。module.yml登记board_root、soc_root、dts_root。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11.6.2 · 根据 HC32 资料填写</a:t>
            </a:r>
          </a:p>
          <a:p xmlns:a="http://schemas.openxmlformats.org/drawingml/2006/main">
            <a:r>
              <a:t>Twister平台.yaml不替代board.yml。增量厂商前缀表通过dts_root接入，不覆盖上游完整表。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11.6.2 · 第二处可观察结果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对应正文：P011，11.6.3 · 文件来源与构建连接</a:t>
            </a:r>
          </a:p>
          <a:p xmlns:a="http://schemas.openxmlformats.org/drawingml/2006/main">
            <a:r>
              <a:t>详见P011 11.6.3.1的Mermaid及具体文件。仅有厂商包时module.yml/CMake是移植者新增，不是覆盖官方west.yml。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本期不删除、不替换官方 west.yml；仅使用既有清单下载依赖。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对应正文：P011，11.6.4 · 有 DDL 与仅有设备头的区别</a:t>
            </a:r>
          </a:p>
          <a:p xmlns:a="http://schemas.openxmlformats.org/drawingml/2006/main">
            <a:r>
              <a:t>此备选分支解释移植工作边界，不是已经验证的新芯片示例。本系列现有HC32构建仍依赖指定DDL，不能直接删掉HAL后套用。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本期不删除、不替换官方 west.yml；仅使用既有清单下载依赖。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11.6.5 · 完整性检查</a:t>
            </a:r>
          </a:p>
          <a:p xmlns:a="http://schemas.openxmlformats.org/drawingml/2006/main">
            <a:r>
              <a:t>比较是只读操作；README不参与源码一致性检查。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11.7 · 完整配置命令见正文；不复用缓存</a:t>
            </a:r>
          </a:p>
          <a:p xmlns:a="http://schemas.openxmlformats.org/drawingml/2006/main">
            <a:r>
              <a:t>完整配置命令：</a:t>
            </a:r>
          </a:p>
          <a:p xmlns:a="http://schemas.openxmlformats.org/drawingml/2006/main">
            <a:r>
              <a:t>cmake -S samples/hello_world -B build/learning-tools/p003/build-hc32 -G Ninja \</a:t>
            </a:r>
          </a:p>
          <a:p xmlns:a="http://schemas.openxmlformats.org/drawingml/2006/main">
            <a:r>
              <a:t>  -DBOARD=uyup_rpi_a/hc32f4a0pitb \</a:t>
            </a:r>
          </a:p>
          <a:p xmlns:a="http://schemas.openxmlformats.org/drawingml/2006/main">
            <a:r>
              <a:t>  "-DZephyr_DIR=$ZEPHYR_BASE/share/zephyr-package/cmake" \</a:t>
            </a:r>
          </a:p>
          <a:p xmlns:a="http://schemas.openxmlformats.org/drawingml/2006/main">
            <a:r>
              <a:t>  "-DZEPHYR_BASE=$ZEPHYR_BASE" \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  "-DZEPHYR_MODULES=$(cygpath -m "$PWD/build/learning-tools/deps/cmsis_6");$(cygpath -m "$PWD/build/learning-tools/deps/hal_xhsc");$(cygpath -m "$PWD/build/learning-tools/p003/hc32_port")" \</a:t>
            </a:r>
          </a:p>
          <a:p xmlns:a="http://schemas.openxmlformats.org/drawingml/2006/main">
            <a:r>
              <a:t>  -DEXTRA_ZEPHYR_MODULES= -DZEPHYR_EXTRA_MODULES= \</a:t>
            </a:r>
          </a:p>
          <a:p xmlns:a="http://schemas.openxmlformats.org/drawingml/2006/main">
            <a:r>
              <a:t>  "-DPython3_EXECUTABLE=$(cygpath -m "$(command -v python)")" \</a:t>
            </a:r>
          </a:p>
          <a:p xmlns:a="http://schemas.openxmlformats.org/drawingml/2006/main">
            <a:r>
              <a:t>  -DCMAKE_EXPORT_COMPILE_COMMANDS=ON</a:t>
            </a:r>
          </a:p>
          <a:p xmlns:a="http://schemas.openxmlformats.org/drawingml/2006/main">
            <a:r>
              <a:t>三个模块路径组成ZEPHYR_MODULES，原生路径变量来自3.2.1。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11.7 · 所有接入文件齐全后才编译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11.8 · 源码路径与硬件配置同时核验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11.8 · 构建和实板验收分开记录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11.8 · 先定位层次，再修改文件</a:t>
            </a:r>
          </a:p>
          <a:p xmlns:a="http://schemas.openxmlformats.org/drawingml/2006/main">
            <a:r>
              <a:t>缓存优先级与编译器派生细节放正文3.9，完成首个编译后查阅。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对应正文：learning/P01_zephyr_make_project/P011_编译示例与新增开发板_Windows.md</a:t>
            </a:r>
          </a:p>
          <a:p xmlns:a="http://schemas.openxmlformats.org/drawingml/2006/main">
            <a:r>
              <a:t>11.8—11.9 · 本期结束</a:t>
            </a:r>
          </a:p>
          <a:p xmlns:a="http://schemas.openxmlformats.org/drawingml/2006/main">
            <a:r>
              <a:t>遵循官方格式不等于已被上游收录。Git同步规则待另定；当前教学快照为12MHz GPIO/轮询UART阶段。</a:t>
            </a:r>
          </a:p>
          <a:p xmlns:a="http://schemas.openxmlformats.org/drawingml/2006/main"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standalone_toolchain_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对应正文：P011 11.2.3 · 与 SDK 主线二选一。</a:t>
            </a:r>
          </a:p>
          <a:p xmlns:a="http://schemas.openxmlformats.org/drawingml/2006/main">
            <a:r>
              <a:t>仍编译官方 hello_world，仍选 mps2/an386（Cortex-M4）。</a:t>
            </a:r>
          </a:p>
          <a:p xmlns:a="http://schemas.openxmlformats.org/drawingml/2006/main">
            <a:r>
              <a:t>只更换工具链接口，CMSIS 仍由 west 工作区发现。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工具目录：G:/zephyr_practice/</a:t>
            </a:r>
          </a:p>
          <a:p xmlns:a="http://schemas.openxmlformats.org/drawingml/2006/main">
            <a:r>
              <a:t>arm-zephyr-eabi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在 UCRT64 源码根激活 .venv，使用独立的新构建目录。</a:t>
            </a:r>
          </a:p>
          <a:p xmlns:a="http://schemas.openxmlformats.org/drawingml/2006/main">
            <a:r>
              <a:t>主机 CMake、Ninja、Python、DTC 与 CMSIS 必须已经准备好。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依据：</a:t>
            </a:r>
          </a:p>
          <a:p xmlns:a="http://schemas.openxmlformats.org/drawingml/2006/main">
            <a:r>
              <a:t>../P003_SDK准备与编译器选型_Windows.md#section-3-2</a:t>
            </a:r>
          </a:p>
          <a:p xmlns:a="http://schemas.openxmlformats.org/drawingml/2006/main">
            <a:r>
              <a:t>2026-10-06 核对 G 盘独立 ARM 目录与 Zephyr 25c8f4a23988dd3b2cfb463613622738298c2d6c。工具链无 SDK cmake，不表示缺少主机 cmake.exe。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standalone_toolchain_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对应正文：P011 11.2.3 · 打开配套 TXT，复制整个操作块。</a:t>
            </a:r>
          </a:p>
          <a:p xmlns:a="http://schemas.openxmlformats.org/drawingml/2006/main">
            <a:r>
              <a:t>下方 TXT 包含进入源码根、激活 venv、前提检查与完整 cmake 命令。</a:t>
            </a:r>
          </a:p>
          <a:p xmlns:a="http://schemas.openxmlformats.org/drawingml/2006/main">
            <a:r>
              <a:t>取消当前 UCRT64 的旧 SDK 输入，返回 SDK 主线时按 11.2.1 恢复。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variant 选 cross-compile，程序前缀与工具链根指向实际 ARM 目录。</a:t>
            </a:r>
          </a:p>
          <a:p xmlns:a="http://schemas.openxmlformats.org/drawingml/2006/main">
            <a:r>
              <a:t>Zephyr_DIR 指向源码的包入口，BOARD 仍为 mps2/an386。</a:t>
            </a:r>
          </a:p>
          <a:p xmlns:a="http://schemas.openxmlformats.org/drawingml/2006/main">
            <a:r>
              <a:t>全部 -D 参数只保存在本次新构建目录的 CMakeCache.txt。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看到 Found toolchain: cross-compile，且配置、生成成功后再编译。</a:t>
            </a:r>
          </a:p>
          <a:p xmlns:a="http://schemas.openxmlformats.org/drawingml/2006/main">
            <a:r>
              <a:t># Windows UCRT64；源码根；已完成 P002 主机工具/Python 与 P004 CMSIS 下载。</a:t>
            </a:r>
          </a:p>
          <a:p xmlns:a="http://schemas.openxmlformats.org/drawingml/2006/main">
            <a:r>
              <a:t>cd /g/zephyr_practice/zephyr-main &amp;&amp;</a:t>
            </a:r>
          </a:p>
          <a:p xmlns:a="http://schemas.openxmlformats.org/drawingml/2006/main">
            <a:r>
              <a:t>source .venv/Scripts/activate &amp;&amp;</a:t>
            </a:r>
          </a:p>
          <a:p xmlns:a="http://schemas.openxmlformats.org/drawingml/2006/main">
            <a:r>
              <a:t># 清理当前 UCRT64 的旧 SDK/模块输入；回到 SDK 主线时重新执行 11.2.1。</a:t>
            </a:r>
          </a:p>
          <a:p xmlns:a="http://schemas.openxmlformats.org/drawingml/2006/main">
            <a:r>
              <a:t>unset ZEPHYR_SDK_INSTALL_DIR ZEPHYR_TOOLCHAIN_VARIANT</a:t>
            </a:r>
          </a:p>
          <a:p xmlns:a="http://schemas.openxmlformats.org/drawingml/2006/main">
            <a:r>
              <a:t>unset CROSS_COMPILE CROSS_COMPILE_TOOLCHAIN_PATH</a:t>
            </a:r>
          </a:p>
          <a:p xmlns:a="http://schemas.openxmlformats.org/drawingml/2006/main">
            <a:r>
              <a:t>unset ZEPHYR_MODULES EXTRA_ZEPHYR_MODULES ZEPHYR_EXTRA_MODULES</a:t>
            </a:r>
          </a:p>
          <a:p xmlns:a="http://schemas.openxmlformats.org/drawingml/2006/main">
            <a:r>
              <a:t>test -f ../modules/hal/cmsis_6/zephyr/module.yml &amp;&amp;</a:t>
            </a:r>
          </a:p>
          <a:p xmlns:a="http://schemas.openxmlformats.org/drawingml/2006/main">
            <a:r>
              <a:t>test -f ../modules/hal/cmsis_6/CMSIS/Core/Include/core_cm4.h &amp;&amp;</a:t>
            </a:r>
          </a:p>
          <a:p xmlns:a="http://schemas.openxmlformats.org/drawingml/2006/main">
            <a:r>
              <a:t>../arm-zephyr-eabi/bin/arm-zephyr-eabi-gcc.exe --version &amp;&amp;</a:t>
            </a:r>
          </a:p>
          <a:p xmlns:a="http://schemas.openxmlformats.org/drawingml/2006/main">
            <a:r>
              <a:t># 新构建目录不得混用之前 SDK 路线的 CMakeCache。</a:t>
            </a:r>
          </a:p>
          <a:p xmlns:a="http://schemas.openxmlformats.org/drawingml/2006/main">
            <a:r>
              <a:t>cmake -S samples/hello_world -B build/learning-tools/p003/build-mps2-cross-compile-layout2 -G Ninja \</a:t>
            </a:r>
          </a:p>
          <a:p xmlns:a="http://schemas.openxmlformats.org/drawingml/2006/main">
            <a:r>
              <a:t>  -DBOARD=mps2/an386 \</a:t>
            </a:r>
          </a:p>
          <a:p xmlns:a="http://schemas.openxmlformats.org/drawingml/2006/main">
            <a:r>
              <a:t>  "-DZephyr_DIR=$(cygpath -m "$PWD/share/zephyr-package/cmake")" \</a:t>
            </a:r>
          </a:p>
          <a:p xmlns:a="http://schemas.openxmlformats.org/drawingml/2006/main">
            <a:r>
              <a:t>  "-DZEPHYR_BASE=$(cygpath -m "$PWD")" \</a:t>
            </a:r>
          </a:p>
          <a:p xmlns:a="http://schemas.openxmlformats.org/drawingml/2006/main">
            <a:r>
              <a:t>  -DZEPHYR_TOOLCHAIN_VARIANT=cross-compile \</a:t>
            </a:r>
          </a:p>
          <a:p xmlns:a="http://schemas.openxmlformats.org/drawingml/2006/main">
            <a:r>
              <a:t>  -DCROSS_COMPILE=G:/zephyr_practice/arm-zephyr-eabi/bin/arm-zephyr-eabi- \</a:t>
            </a:r>
          </a:p>
          <a:p xmlns:a="http://schemas.openxmlformats.org/drawingml/2006/main">
            <a:r>
              <a:t>  -DCROSS_COMPILE_TOOLCHAIN_PATH=G:/zephyr_practice/arm-zephyr-eabi \</a:t>
            </a:r>
          </a:p>
          <a:p xmlns:a="http://schemas.openxmlformats.org/drawingml/2006/main">
            <a:r>
              <a:t>  "-DPython3_EXECUTABLE=$(cygpath -m "$(command -v python)")" \</a:t>
            </a:r>
          </a:p>
          <a:p xmlns:a="http://schemas.openxmlformats.org/drawingml/2006/main">
            <a:r>
              <a:t>  -DCMAKE_EXPORT_COMPILE_COMMANDS=ON</a:t>
            </a:r>
          </a:p>
          <a:p xmlns:a="http://schemas.openxmlformats.org/drawingml/2006/main">
            <a:r>
              <a:t>依据：</a:t>
            </a:r>
          </a:p>
          <a:p xmlns:a="http://schemas.openxmlformats.org/drawingml/2006/main">
            <a:r>
              <a:t>../commands/P011_Windows/11.2.3-01.txt</a:t>
            </a:r>
          </a:p>
          <a:p xmlns:a="http://schemas.openxmlformats.org/drawingml/2006/main">
            <a:r>
              <a:t>2026-10-06 核对 G 盘独立 ARM 目录与 Zephyr 25c8f4a23988dd3b2cfb463613622738298c2d6c。工具链无 SDK cmake，不表示缺少主机 cmake.exe。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standalone_toolchain_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对应正文：P011 11.2.3 · 构建与接入核验。</a:t>
            </a:r>
          </a:p>
          <a:p xmlns:a="http://schemas.openxmlformats.org/drawingml/2006/main">
            <a:r>
              <a:t>检查缓存中的 variant、CMAKE_C_COMPILER 与 SYSROOT_DIR。</a:t>
            </a:r>
          </a:p>
          <a:p xmlns:a="http://schemas.openxmlformats.org/drawingml/2006/main">
            <a:r>
              <a:t>编译器与库应来自独立目录，没有 ZEPHYR_SDK_INSTALL_DIR。</a:t>
            </a:r>
          </a:p>
          <a:p xmlns:a="http://schemas.openxmlformats.org/drawingml/2006/main">
            <a:r>
              <a:t>compile_commands.json 应显示 Cortex-M4 的实际编译参数。</a:t>
            </a:r>
          </a:p>
          <a:p xmlns:a="http://schemas.openxmlformats.org/drawingml/2006/main">
            <a:r>
              <a:t>本例已生成 ELF；这不是 HC32 下载或运行验证。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依据：</a:t>
            </a:r>
          </a:p>
          <a:p xmlns:a="http://schemas.openxmlformats.org/drawingml/2006/main">
            <a:r>
              <a:t>../commands/P011_Windows/11.2.3-02.txt</a:t>
            </a:r>
          </a:p>
          <a:p xmlns:a="http://schemas.openxmlformats.org/drawingml/2006/main">
            <a:r>
              <a:t>../commands/P011_Windows/11.2.3-03.txt</a:t>
            </a:r>
          </a:p>
          <a:p xmlns:a="http://schemas.openxmlformats.org/drawingml/2006/main">
            <a:r>
              <a:t>2026-10-06 核对 G 盘独立 ARM 目录与 Zephyr 25c8f4a23988dd3b2cfb463613622738298c2d6c。工具链无 SDK cmake，不表示缺少主机 cmake.exe。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restored_cover/notesSlides/_rels/notesSlide1.xml.rels><?xml version='1.0' encoding='utf-8' standalone='yes'?>
<Relationships xmlns="http://schemas.openxmlformats.org/package/2006/relationships"><Relationship Id="rId2" Type="http://schemas.openxmlformats.org/officeDocument/2006/relationships/slide" Target="../../slides/slide1.xml"/><Relationship Id="rId1" Type="http://schemas.openxmlformats.org/officeDocument/2006/relationships/notesMaster" Target="../../notesMasters/notesMaster1.xml"/></Relationships>
</file>

<file path=ppt/restored_cover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承接 P002—P005 已准备的 UCRT64、SDK、Windows Python 3.12.10、west 1.5.0 和源码根 .venv。本期先解释 CMake 输入与缓存，再编译官方 hello_world / mps2/an386 并核对结果；随后新增 practice_mps2 与接入所选 UYUP HC32。实验仍在 G:/zephyr_practice/zephyr-main。编译与硬件验证分别记录。</a:t>
            </a:r>
          </a:p>
          <a:p>
            <a:r>
              <a:rPr/>
              <a:t>配套正文：learning/P01_zephyr_make_project/P011_编译示例与新增开发板_Windows.md</a:t>
            </a:r>
          </a:p>
          <a:p>
            <a:r>
              <a:rPr/>
              <a:t>资料分工：本PPT配合视频讲解关键关系和复习步骤；完整前提、安装分支、可复制命令、预期结果与恢复说明以同名Markdown为主。正文提供本章导航和视频与复习对照。正文：learning/P01_zephyr_make_project/P011_编译示例与新增开发板_Windows.md。实验仍在G:/zephyr_practice/zephyr-main进行，Windows命令按UCRT64或PowerShell标识分别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restored_cover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restored_cover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restored_cover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restored_cover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restored_cover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restored_cover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restored_cover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restored_cover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restored_cover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restored_cover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restored_cover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restored_cover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restored_cover/slideMasters/_rels/slideMaster1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restored_cover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restored_cover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sdkscope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../../slides/sdkscope_slide1.xml" Id="R00101874e068401d"/><Relationship Type="http://schemas.openxmlformats.org/officeDocument/2006/relationships/notesMaster" Target="../../notesMasters/notesMaster1.xml" Id="Rf6f6dbc4f75a4edf"/></Relationships>
</file>

<file path=ppt/sdkscope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../../slides/sdkscope_slide2.xml" Id="Rad06da2a1ca44616"/><Relationship Type="http://schemas.openxmlformats.org/officeDocument/2006/relationships/notesMaster" Target="../../notesMasters/notesMaster1.xml" Id="R94341d4c48484552"/></Relationships>
</file>

<file path=ppt/sdkscope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../../slides/sdkscope_slide3.xml" Id="R82b9cc97913b49e6"/><Relationship Type="http://schemas.openxmlformats.org/officeDocument/2006/relationships/notesMaster" Target="../../notesMasters/notesMaster1.xml" Id="R4af839b86b3448b3"/></Relationships>
</file>

<file path=ppt/sdkscope/notesSlides/_rels/notesSlide4.xml.rels><?xml version='1.0' encoding='utf-8' standalone='yes'?>
<Relationships xmlns="http://schemas.openxmlformats.org/package/2006/relationships"><Relationship Type="http://schemas.openxmlformats.org/officeDocument/2006/relationships/slide" Target="../../slides/sdkscope_slide4.xml" Id="R723d95f10c28482c"/><Relationship Type="http://schemas.openxmlformats.org/officeDocument/2006/relationships/notesMaster" Target="../../notesMasters/notesMaster1.xml" Id="R0a9c411924184d1a"/></Relationships>
</file>

<file path=ppt/sdkscope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对应正文：P004_Windows，6.2.1 · 环境输入；后续 -D 写入指定构建缓存</a:t>
            </a:r>
          </a:p>
          <a:p xmlns:a="http://schemas.openxmlformats.org/drawingml/2006/main">
            <a:r>
              <a:t>依据：SDK 1.0.1 cmake/zephyr_sdk_export.cmake；Zephyr FindZephyr-sdk.cmake 与 extensions.cmake zephyr_get。</a:t>
            </a:r>
          </a:p>
          <a:p xmlns:a="http://schemas.openxmlformats.org/drawingml/2006/main">
            <a:r>
              <a:t>https://cmake.org/cmake/help/latest/manual/cmake-packages.7.html#user-package-registry</a:t>
            </a:r>
          </a:p>
          <a:p xmlns:a="http://schemas.openxmlformats.org/drawingml/2006/main">
            <a:r>
              <a:t>https://cmake.org/cmake/help/latest/manual/cmake-presets.7.html</a:t>
            </a:r>
          </a:p>
          <a:p xmlns:a="http://schemas.openxmlformats.org/drawingml/2006/main">
            <a:r>
              <a:t>完整操作单元：../commands/P011_Windows/11.2.1-01.txt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dkscope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对应正文：P004_Windows，11.9.5 · 已完成 AN386 的首次实验</a:t>
            </a:r>
          </a:p>
          <a:p xmlns:a="http://schemas.openxmlformats.org/drawingml/2006/main">
            <a:r>
              <a:t>依据：SDK 1.0.1 cmake/zephyr_sdk_export.cmake；Zephyr FindZephyr-sdk.cmake 与 extensions.cmake zephyr_get。</a:t>
            </a:r>
          </a:p>
          <a:p xmlns:a="http://schemas.openxmlformats.org/drawingml/2006/main">
            <a:r>
              <a:t>https://cmake.org/cmake/help/latest/manual/cmake-packages.7.html#user-package-registry</a:t>
            </a:r>
          </a:p>
          <a:p xmlns:a="http://schemas.openxmlformats.org/drawingml/2006/main">
            <a:r>
              <a:t>https://cmake.org/cmake/help/latest/manual/cmake-presets.7.html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dkscope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对应正文：P004_Windows，11.9.5 · 完整 JSON 与创建命令见下方文件</a:t>
            </a:r>
          </a:p>
          <a:p xmlns:a="http://schemas.openxmlformats.org/drawingml/2006/main">
            <a:r>
              <a:t>依据：SDK 1.0.1 cmake/zephyr_sdk_export.cmake；Zephyr FindZephyr-sdk.cmake 与 extensions.cmake zephyr_get。</a:t>
            </a:r>
          </a:p>
          <a:p xmlns:a="http://schemas.openxmlformats.org/drawingml/2006/main">
            <a:r>
              <a:t>https://cmake.org/cmake/help/latest/manual/cmake-packages.7.html#user-package-registry</a:t>
            </a:r>
          </a:p>
          <a:p xmlns:a="http://schemas.openxmlformats.org/drawingml/2006/main">
            <a:r>
              <a:t>https://cmake.org/cmake/help/latest/manual/cmake-presets.7.html</a:t>
            </a:r>
          </a:p>
          <a:p xmlns:a="http://schemas.openxmlformats.org/drawingml/2006/main">
            <a:r>
              <a:t>完整操作单元：../commands/P011_Windows/11.9.5-01.txt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dkscope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对应正文：P004_Windows，6.9.5 · 不需要再次 export SDK</a:t>
            </a:r>
          </a:p>
          <a:p xmlns:a="http://schemas.openxmlformats.org/drawingml/2006/main">
            <a:r>
              <a:t>依据：SDK 1.0.1 cmake/zephyr_sdk_export.cmake；Zephyr FindZephyr-sdk.cmake 与 extensions.cmake zephyr_get。</a:t>
            </a:r>
          </a:p>
          <a:p xmlns:a="http://schemas.openxmlformats.org/drawingml/2006/main">
            <a:r>
              <a:t>https://cmake.org/cmake/help/latest/manual/cmake-packages.7.html#user-package-registry</a:t>
            </a:r>
          </a:p>
          <a:p xmlns:a="http://schemas.openxmlformats.org/drawingml/2006/main">
            <a:r>
              <a:t>https://cmake.org/cmake/help/latest/manual/cmake-presets.7.html</a:t>
            </a:r>
          </a:p>
          <a:p xmlns:a="http://schemas.openxmlformats.org/drawingml/2006/main">
            <a:r>
              <a:t>完整操作单元：../commands/P011_Windows/11.9.5-02.txt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dkscope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a29680e8c22d4d51"/></Relationships>
</file>

<file path=ppt/sdkscope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3b6e41c83c05472b"/></Relationships>
</file>

<file path=ppt/sdkscope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272c276072ce4e40"/></Relationships>
</file>

<file path=ppt/sdkscope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c03765e4dacf4b16"/></Relationships>
</file>

<file path=ppt/sdkscope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af8b50affc5c467a"/></Relationships>
</file>

<file path=ppt/sdkscope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ef59d630295b4158"/></Relationships>
</file>

<file path=ppt/sdkscope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9BF58F5-F8F0-4E68-96D2-0FFCE9C887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2AD87FF-57F6-41E1-8463-3B35DECB28C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dkscope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C2FFA63-BFD4-4259-B6EA-F365C53482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dkscope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38DB4E6-A130-4FF7-B960-73E40162AA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996CEEC-3A3C-469B-8E31-1D3FD21089A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dkscope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64390F1-0699-40BC-8487-F37CF25589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FBF8788-ECDA-48EC-9632-6CD96472ABF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8DA3F38-DD98-483B-8323-3EB5693C829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dkscope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51B3C10-361E-44AD-90D9-CC8E323860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905DA0B-7AE4-47D9-B1BE-CD3B8990DEF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dkscope/slideLayouts/slideLayout6.xml><?xml version="1.0" encoding="utf-8"?>
<p:sldLayout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dkscope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theme/theme2.xml" Id="R51bb3c526adc4aea"/><Relationship Type="http://schemas.openxmlformats.org/officeDocument/2006/relationships/slideLayout" Target="../slideLayouts/slideLayout1.xml" Id="R05dd2c41df694586"/><Relationship Type="http://schemas.openxmlformats.org/officeDocument/2006/relationships/slideLayout" Target="../slideLayouts/slideLayout2.xml" Id="R279896be503e407b"/><Relationship Type="http://schemas.openxmlformats.org/officeDocument/2006/relationships/slideLayout" Target="../slideLayouts/slideLayout3.xml" Id="R71e323a18b664ce0"/><Relationship Type="http://schemas.openxmlformats.org/officeDocument/2006/relationships/slideLayout" Target="../slideLayouts/slideLayout4.xml" Id="Rfb39d9b3a708490b"/><Relationship Type="http://schemas.openxmlformats.org/officeDocument/2006/relationships/slideLayout" Target="../slideLayouts/slideLayout5.xml" Id="Rf23eb93d8923492a"/><Relationship Type="http://schemas.openxmlformats.org/officeDocument/2006/relationships/slideLayout" Target="../slideLayouts/slideLayout6.xml" Id="R014faa83a267465b"/></Relationships>
</file>

<file path=ppt/sdkscope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ooter signature lizhaoju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438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 wrap="none">
            <a:noAutofit/>
          </a:bodyPr>
          <a:lstStyle xmlns:a="http://schemas.openxmlformats.org/drawingml/2006/main"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70" r:id="R05dd2c41df694586"/>
    <p:sldLayoutId xmlns:r="http://schemas.openxmlformats.org/officeDocument/2006/relationships" id="2147483671" r:id="R279896be503e407b"/>
    <p:sldLayoutId xmlns:r="http://schemas.openxmlformats.org/officeDocument/2006/relationships" id="2147483672" r:id="R71e323a18b664ce0"/>
    <p:sldLayoutId xmlns:r="http://schemas.openxmlformats.org/officeDocument/2006/relationships" id="2147483673" r:id="Rfb39d9b3a708490b"/>
    <p:sldLayoutId xmlns:r="http://schemas.openxmlformats.org/officeDocument/2006/relationships" id="2147483674" r:id="Rf23eb93d8923492a"/>
    <p:sldLayoutId xmlns:r="http://schemas.openxmlformats.org/officeDocument/2006/relationships" id="2147483675" r:id="R014faa83a267465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dkscope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Layouts/_rels/lizhaojunCoverLayout.xml.rels><?xml version='1.0' encoding='utf-8' standalone='yes'?>
<Relationships xmlns="http://schemas.openxmlformats.org/package/2006/relationships"><Relationship Id="rId1" Type="http://schemas.openxmlformats.org/officeDocument/2006/relationships/slideMaster" Target="/ppt/slideMasters/lizhaojunCoverMaster.xml"/></Relationships>
</file>

<file path=ppt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3e1d259405c3452b"/></Relationships>
</file>

<file path=ppt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af0393e97b02403d"/></Relationships>
</file>

<file path=ppt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858a6275da4045cc"/></Relationships>
</file>

<file path=ppt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5061c8d0ae684890"/></Relationships>
</file>

<file path=ppt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ddadecbe81084ac7"/></Relationships>
</file>

<file path=ppt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d628d57ec2af436d"/></Relationships>
</file>

<file path=ppt/slideLayouts/lizhaojunCoverLayout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6F4F08A-CDFA-4C19-8637-E6EB7649DD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7E5E4520-A217-45C9-BEB4-3D4BDF61C5B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804F66D-5E2D-4DE2-8DB0-9C8CFF33B7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AE3435C-6D1D-4453-9CE7-52A36F17427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FF0156D-B18C-4D5A-A611-01FDF3B17BC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4E5A24C-D5DB-4541-AC18-F10F581453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51809A1-2B23-4EAB-A9D4-90DF69F8D0D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9133349-23BA-4BF6-BAC0-F2A627A9EC5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DCA194A-7AD6-47A1-AD36-6A34EFCACB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2C305B5-B517-4CD8-B4EC-56C3E950802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lizhaojunCoverMaster.xml.rels><?xml version='1.0' encoding='utf-8' standalone='yes'?>
<Relationships xmlns="http://schemas.openxmlformats.org/package/2006/relationships"><Relationship Id="rId7" Type="http://schemas.openxmlformats.org/officeDocument/2006/relationships/theme" Target="/ppt/theme/lizhaojunCoverTheme.xml"/><Relationship Id="rIdCoverLayout" Type="http://schemas.openxmlformats.org/officeDocument/2006/relationships/slideLayout" Target="/ppt/slideLayouts/lizhaojunCoverLayout.xml"/><Relationship Id="rIdCoverBackground" Type="http://schemas.openxmlformats.org/officeDocument/2006/relationships/image" Target="/ppt/restored_cover/media/image1.png"/></Relationships>
</file>

<file path=ppt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/ppt/slideMasters/theme/theme2.xml" Id="R988b02570ccb4937"/><Relationship Type="http://schemas.openxmlformats.org/officeDocument/2006/relationships/slideLayout" Target="/ppt/slideLayouts/slideLayout1.xml" Id="R7aa60bcb565e4f1d"/><Relationship Type="http://schemas.openxmlformats.org/officeDocument/2006/relationships/slideLayout" Target="/ppt/slideLayouts/slideLayout2.xml" Id="R7b062da892e240e0"/><Relationship Type="http://schemas.openxmlformats.org/officeDocument/2006/relationships/slideLayout" Target="/ppt/slideLayouts/slideLayout3.xml" Id="Ra6f42d20db5f41c5"/><Relationship Type="http://schemas.openxmlformats.org/officeDocument/2006/relationships/slideLayout" Target="/ppt/slideLayouts/slideLayout4.xml" Id="Re3140bbf928e4d7b"/><Relationship Type="http://schemas.openxmlformats.org/officeDocument/2006/relationships/slideLayout" Target="/ppt/slideLayouts/slideLayout5.xml" Id="Rb06347ee364d4765"/><Relationship Type="http://schemas.openxmlformats.org/officeDocument/2006/relationships/slideLayout" Target="/ppt/slideLayouts/slideLayout6.xml" Id="R78371386f17343c8"/></Relationships>
</file>

<file path=ppt/slideMasters/lizhaojunCoverMaster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4">
            <a:extLst>
              <a:ext uri="{FF2B5EF4-FFF2-40B4-BE49-F238E27FC236}">
                <a16:creationId xmlns:a16="http://schemas.microsoft.com/office/drawing/2014/main" id="{F2514CA8-5324-427A-8F58-A1771CD4ADDF}"/>
              </a:ext>
            </a:extLst>
          </p:cNvPr>
          <p:cNvPicPr>
            <a:picLocks noChangeAspect="1"/>
          </p:cNvPicPr>
          <p:nvPr/>
        </p:nvPicPr>
        <p:blipFill>
          <a:blip r:embed="rIdCoverBackground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3" r:id="rIdCoverLayout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ooter signature lizhaoju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438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 wrap="none">
            <a:noAutofit/>
          </a:bodyPr>
          <a:lstStyle xmlns:a="http://schemas.openxmlformats.org/drawingml/2006/main"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aa60bcb565e4f1d"/>
    <p:sldLayoutId xmlns:r="http://schemas.openxmlformats.org/officeDocument/2006/relationships" id="2147483650" r:id="R7b062da892e240e0"/>
    <p:sldLayoutId xmlns:r="http://schemas.openxmlformats.org/officeDocument/2006/relationships" id="2147483651" r:id="Ra6f42d20db5f41c5"/>
    <p:sldLayoutId xmlns:r="http://schemas.openxmlformats.org/officeDocument/2006/relationships" id="2147483652" r:id="Re3140bbf928e4d7b"/>
    <p:sldLayoutId xmlns:r="http://schemas.openxmlformats.org/officeDocument/2006/relationships" id="2147483653" r:id="Rb06347ee364d4765"/>
    <p:sldLayoutId xmlns:r="http://schemas.openxmlformats.org/officeDocument/2006/relationships" id="2147483654" r:id="R78371386f17343c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beginner_slide1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4312e4c3b6654cdc"/><Relationship Type="http://schemas.openxmlformats.org/officeDocument/2006/relationships/notesSlide" Target="../beginner/notesSlides/notesSlide1.xml" Id="Ra61567f05047479e"/></Relationships>
</file>

<file path=ppt/slides/_rels/beginner_slide2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4a075257e6804ea8"/><Relationship Type="http://schemas.openxmlformats.org/officeDocument/2006/relationships/notesSlide" Target="../beginner/notesSlides/notesSlide2.xml" Id="R18409e123201440f"/><Relationship Id="rIdCommandText" Type="http://schemas.openxmlformats.org/officeDocument/2006/relationships/hyperlink" Target="../commands/P011_Windows/11.1-01.txt" TargetMode="External"/></Relationships>
</file>

<file path=ppt/slides/_rels/beginner_slide3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e3a3517259444b73"/><Relationship Type="http://schemas.openxmlformats.org/officeDocument/2006/relationships/image" Target="../beginner/media/image.png" Id="R6b4b567b4b98403b"/><Relationship Type="http://schemas.openxmlformats.org/officeDocument/2006/relationships/notesSlide" Target="../beginner/notesSlides/notesSlide3.xml" Id="Rafa43c9eabd7446e"/></Relationships>
</file>

<file path=ppt/slides/_rels/beginner_slide4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056b8ed788814cbb"/><Relationship Type="http://schemas.openxmlformats.org/officeDocument/2006/relationships/notesSlide" Target="../beginner/notesSlides/notesSlide4.xml" Id="R5151fbae19eb4685"/><Relationship Id="rIdCommandText" Type="http://schemas.openxmlformats.org/officeDocument/2006/relationships/hyperlink" Target="../commands/P011_Windows/11.2.1-01.txt" TargetMode="External"/></Relationships>
</file>

<file path=ppt/slides/_rels/beginner_slide5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e9a3bf4c686145bb"/><Relationship Type="http://schemas.openxmlformats.org/officeDocument/2006/relationships/notesSlide" Target="../beginner/notesSlides/notesSlide5.xml" Id="R36e1127aca494c95"/><Relationship Id="rIdCommandText" Type="http://schemas.openxmlformats.org/officeDocument/2006/relationships/hyperlink" Target="../commands/P011_Windows/11.2.1-03.txt" TargetMode="External"/></Relationships>
</file>

<file path=ppt/slides/_rels/beginner_slide6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a98460a189154d6b"/><Relationship Type="http://schemas.openxmlformats.org/officeDocument/2006/relationships/notesSlide" Target="../beginner/notesSlides/notesSlide6.xml" Id="R2d1115768300480b"/><Relationship Id="rIdCommandText" Type="http://schemas.openxmlformats.org/officeDocument/2006/relationships/hyperlink" Target="../commands/P011_Windows/11.2.2-01.txt" TargetMode="External"/></Relationships>
</file>

<file path=ppt/slides/_rels/beginner_slide7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4531483b13c148ff"/><Relationship Type="http://schemas.openxmlformats.org/officeDocument/2006/relationships/notesSlide" Target="../beginner/notesSlides/notesSlide7.xml" Id="R797eed077b4243aa"/><Relationship Id="rIdCommandText" Type="http://schemas.openxmlformats.org/officeDocument/2006/relationships/hyperlink" Target="../commands/P011_Windows/11.2.2-02.txt" TargetMode="External"/></Relationships>
</file>

<file path=ppt/slides/_rels/beginner_slide8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83b1bda5947e4236"/><Relationship Type="http://schemas.openxmlformats.org/officeDocument/2006/relationships/notesSlide" Target="../beginner/notesSlides/notesSlide8.xml" Id="Rc107010af42d40c9"/><Relationship Id="rIdCommandText" Type="http://schemas.openxmlformats.org/officeDocument/2006/relationships/hyperlink" Target="../commands/P011_Windows/11.3-01.txt" TargetMode="External"/></Relationships>
</file>

<file path=ppt/slides/_rels/beginner_slide9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fe15be7ad9304aa6"/><Relationship Type="http://schemas.openxmlformats.org/officeDocument/2006/relationships/notesSlide" Target="../beginner/notesSlides/notesSlide9.xml" Id="R0d51c4db918e435c"/></Relationships>
</file>

<file path=ppt/slides/_rels/beginner_slide10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ec3b77583b7e43e8"/><Relationship Type="http://schemas.openxmlformats.org/officeDocument/2006/relationships/notesSlide" Target="../beginner/notesSlides/notesSlide10.xml" Id="R55b32fd85d994977"/><Relationship Id="rIdCommandText" Type="http://schemas.openxmlformats.org/officeDocument/2006/relationships/hyperlink" Target="../commands/P011_Windows/11.4.1-01.txt" TargetMode="External"/></Relationships>
</file>

<file path=ppt/slides/_rels/beginner_slide11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a5490979f3e94c4c"/><Relationship Type="http://schemas.openxmlformats.org/officeDocument/2006/relationships/notesSlide" Target="../beginner/notesSlides/notesSlide11.xml" Id="R0b28f7931e584dc5"/><Relationship Id="rIdCommandText" Type="http://schemas.openxmlformats.org/officeDocument/2006/relationships/hyperlink" Target="../commands/P011_Windows/11.4.1-01.txt" TargetMode="External"/></Relationships>
</file>

<file path=ppt/slides/_rels/beginner_slide12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2722ad73b9a443ca"/><Relationship Type="http://schemas.openxmlformats.org/officeDocument/2006/relationships/notesSlide" Target="../beginner/notesSlides/notesSlide12.xml" Id="R4c51c18ed76843c0"/><Relationship Id="rIdCommandText" Type="http://schemas.openxmlformats.org/officeDocument/2006/relationships/hyperlink" Target="../commands/P011_Windows/11.4.1-01.txt" TargetMode="External"/></Relationships>
</file>

<file path=ppt/slides/_rels/beginner_slide13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5d4e025ab76649f7"/><Relationship Type="http://schemas.openxmlformats.org/officeDocument/2006/relationships/notesSlide" Target="../beginner/notesSlides/notesSlide13.xml" Id="R6a74cf65daf14c91"/><Relationship Id="rIdCommandText" Type="http://schemas.openxmlformats.org/officeDocument/2006/relationships/hyperlink" Target="../commands/P011_Windows/11.4.1-02.txt" TargetMode="External"/></Relationships>
</file>

<file path=ppt/slides/_rels/beginner_slide14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ad6f2ccd818b427b"/><Relationship Type="http://schemas.openxmlformats.org/officeDocument/2006/relationships/notesSlide" Target="../beginner/notesSlides/notesSlide14.xml" Id="R1a6e24f99b6e4b64"/><Relationship Id="rIdCommandText" Type="http://schemas.openxmlformats.org/officeDocument/2006/relationships/hyperlink" Target="../commands/P011_Windows/11.4.2-01.txt" TargetMode="External"/></Relationships>
</file>

<file path=ppt/slides/_rels/beginner_slide15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7dc845c591c94e3b"/><Relationship Type="http://schemas.openxmlformats.org/officeDocument/2006/relationships/notesSlide" Target="../beginner/notesSlides/notesSlide15.xml" Id="Raeb8d97089fa4370"/><Relationship Id="rIdCommandText" Type="http://schemas.openxmlformats.org/officeDocument/2006/relationships/hyperlink" Target="../commands/P011_Windows/11.4.3-01.txt" TargetMode="External"/></Relationships>
</file>

<file path=ppt/slides/_rels/beginner_slide16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91a1eb5efa6444b2"/><Relationship Type="http://schemas.openxmlformats.org/officeDocument/2006/relationships/notesSlide" Target="../beginner/notesSlides/notesSlide16.xml" Id="Rdba4d14d3372456e"/><Relationship Id="rIdCommandText" Type="http://schemas.openxmlformats.org/officeDocument/2006/relationships/hyperlink" Target="../commands/P011_Windows/11.4.3-02.txt" TargetMode="External"/></Relationships>
</file>

<file path=ppt/slides/_rels/beginner_slide17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e591fb36cf584ed8"/><Relationship Type="http://schemas.openxmlformats.org/officeDocument/2006/relationships/notesSlide" Target="../beginner/notesSlides/notesSlide17.xml" Id="R44d14839369f420d"/></Relationships>
</file>

<file path=ppt/slides/_rels/beginner_slide18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e4e9d7a26ba94e1b"/><Relationship Type="http://schemas.openxmlformats.org/officeDocument/2006/relationships/notesSlide" Target="../beginner/notesSlides/notesSlide18.xml" Id="R7d8d2cdd1a664c9a"/><Relationship Id="rIdCommandText" Type="http://schemas.openxmlformats.org/officeDocument/2006/relationships/hyperlink" Target="../commands/P011_Windows/11.6.1-01.txt" TargetMode="External"/></Relationships>
</file>

<file path=ppt/slides/_rels/beginner_slide19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21e6ad6e8da54ad1"/><Relationship Type="http://schemas.openxmlformats.org/officeDocument/2006/relationships/notesSlide" Target="../beginner/notesSlides/notesSlide19.xml" Id="Rb1f9effdf7964b64"/><Relationship Id="rIdCommandText" Type="http://schemas.openxmlformats.org/officeDocument/2006/relationships/hyperlink" Target="../commands/P011_Windows/11.6.2-01.txt" TargetMode="External"/></Relationships>
</file>

<file path=ppt/slides/_rels/beginner_slide20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801f72309d554244"/><Relationship Type="http://schemas.openxmlformats.org/officeDocument/2006/relationships/notesSlide" Target="../beginner/notesSlides/notesSlide20.xml" Id="R0d683f116b0a4df3"/><Relationship Id="rIdCommandText" Type="http://schemas.openxmlformats.org/officeDocument/2006/relationships/hyperlink" Target="../commands/P011_Windows/11.6.2-02.txt" TargetMode="External"/></Relationships>
</file>

<file path=ppt/slides/_rels/beginner_slide21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4633fc08b16d4024"/><Relationship Type="http://schemas.openxmlformats.org/officeDocument/2006/relationships/notesSlide" Target="../beginner/notesSlides/notesSlide21.xml" Id="R326fd0ba34df4d5e"/><Relationship Id="rIdCommandText" Type="http://schemas.openxmlformats.org/officeDocument/2006/relationships/hyperlink" Target="../commands/P011_Windows/11.6.3-01.txt" TargetMode="External"/></Relationships>
</file>

<file path=ppt/slides/_rels/beginner_slide22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173d9cc230dc41d4"/><Relationship Type="http://schemas.openxmlformats.org/officeDocument/2006/relationships/notesSlide" Target="../beginner/notesSlides/notesSlide22.xml" Id="R0da398c068104986"/><Relationship Id="rIdCommandText" Type="http://schemas.openxmlformats.org/officeDocument/2006/relationships/hyperlink" Target="../commands/P011_Windows/11.6.4-01.txt" TargetMode="External"/></Relationships>
</file>

<file path=ppt/slides/_rels/beginner_slide23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05becfd600d042c8"/><Relationship Type="http://schemas.openxmlformats.org/officeDocument/2006/relationships/notesSlide" Target="../beginner/notesSlides/notesSlide23.xml" Id="Rb29211c38b0f46ee"/><Relationship Id="rIdCommandText" Type="http://schemas.openxmlformats.org/officeDocument/2006/relationships/hyperlink" Target="../commands/P011_Windows/11.6.5-01.txt" TargetMode="External"/></Relationships>
</file>

<file path=ppt/slides/_rels/beginner_slide24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715a9fed52494547"/><Relationship Type="http://schemas.openxmlformats.org/officeDocument/2006/relationships/notesSlide" Target="../beginner/notesSlides/notesSlide24.xml" Id="R06732942f8264a21"/><Relationship Id="rIdCommandText" Type="http://schemas.openxmlformats.org/officeDocument/2006/relationships/hyperlink" Target="../commands/P011_Windows/11.7-01.txt" TargetMode="External"/></Relationships>
</file>

<file path=ppt/slides/_rels/beginner_slide25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3f064596a3244678"/><Relationship Type="http://schemas.openxmlformats.org/officeDocument/2006/relationships/notesSlide" Target="../beginner/notesSlides/notesSlide25.xml" Id="R20b3f45429814e14"/><Relationship Id="rIdCommandText" Type="http://schemas.openxmlformats.org/officeDocument/2006/relationships/hyperlink" Target="../commands/P011_Windows/11.7-02.txt" TargetMode="External"/></Relationships>
</file>

<file path=ppt/slides/_rels/beginner_slide26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424f46f3eb3e4c66"/><Relationship Type="http://schemas.openxmlformats.org/officeDocument/2006/relationships/notesSlide" Target="../beginner/notesSlides/notesSlide26.xml" Id="R774317c227e447fc"/><Relationship Id="rIdCommandText" Type="http://schemas.openxmlformats.org/officeDocument/2006/relationships/hyperlink" Target="../commands/P011_Windows/11.8-01.txt" TargetMode="External"/></Relationships>
</file>

<file path=ppt/slides/_rels/cmsiswest_slide1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d85df33820fd49b4"/><Relationship Type="http://schemas.openxmlformats.org/officeDocument/2006/relationships/notesSlide" Target="../cmsiswest/notesSlides/notesSlide1.xml" Id="Rf7f7beb5eb384def"/></Relationships>
</file>

<file path=ppt/slides/_rels/cmsiswest_slide2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fd69e771b19b4dfd"/><Relationship Type="http://schemas.openxmlformats.org/officeDocument/2006/relationships/notesSlide" Target="../cmsiswest/notesSlides/notesSlide2.xml" Id="Rc6a33cabe0034ae1"/></Relationships>
</file>

<file path=ppt/slides/_rels/cmsiswest_slide3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e0042482778e4479"/><Relationship Type="http://schemas.openxmlformats.org/officeDocument/2006/relationships/notesSlide" Target="../cmsiswest/notesSlides/notesSlide3.xml" Id="R272ffeb625744c89"/><Relationship Id="rIdCommandText" Type="http://schemas.openxmlformats.org/officeDocument/2006/relationships/hyperlink" Target="../commands/P011_Windows/11.2.1-01.txt" TargetMode="External"/></Relationships>
</file>

<file path=ppt/slides/_rels/cmsiswest_slide4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464ede9e6cdf49fc"/><Relationship Type="http://schemas.openxmlformats.org/officeDocument/2006/relationships/notesSlide" Target="../cmsiswest/notesSlides/notesSlide4.xml" Id="R76af99113ba8468e"/><Relationship Id="rIdCommandText" Type="http://schemas.openxmlformats.org/officeDocument/2006/relationships/hyperlink" Target="../commands/P011_Windows/11.2.1-03.txt" TargetMode="External"/></Relationships>
</file>

<file path=ppt/slides/_rels/cmsiswest_slide5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0e443bdef2fc4700"/><Relationship Type="http://schemas.openxmlformats.org/officeDocument/2006/relationships/notesSlide" Target="../cmsiswest/notesSlides/notesSlide5.xml" Id="Rdf5a61b497ea49b2"/><Relationship Id="rIdCommandText" Type="http://schemas.openxmlformats.org/officeDocument/2006/relationships/hyperlink" Target="../commands/P011_Windows/11.2.2-01.txt" TargetMode="External"/></Relationships>
</file>

<file path=ppt/slides/_rels/cmsiswest_slide6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484d72929309434a"/><Relationship Type="http://schemas.openxmlformats.org/officeDocument/2006/relationships/notesSlide" Target="../cmsiswest/notesSlides/notesSlide6.xml" Id="R861c82f9f91b40db"/><Relationship Id="rIdCommandText" Type="http://schemas.openxmlformats.org/officeDocument/2006/relationships/hyperlink" Target="../commands/P011_Windows/11.2.2-02.txt" TargetMode="External"/></Relationships>
</file>

<file path=ppt/slides/_rels/cmsiswest_slide7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9ec58662af5a4f6d"/><Relationship Type="http://schemas.openxmlformats.org/officeDocument/2006/relationships/notesSlide" Target="../cmsiswest/notesSlides/notesSlide7.xml" Id="R1add951a46a4497e"/><Relationship Id="rIdCommandText" Type="http://schemas.openxmlformats.org/officeDocument/2006/relationships/hyperlink" Target="../commands/P011_Windows/11.4.3-01.txt" TargetMode="External"/></Relationships>
</file>

<file path=ppt/slides/_rels/cmsiswest_slide8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de8516e9061648b3"/><Relationship Type="http://schemas.openxmlformats.org/officeDocument/2006/relationships/notesSlide" Target="../cmsiswest/notesSlides/notesSlide8.xml" Id="R76b5605f05e542de"/><Relationship Id="rIdCommandText" Type="http://schemas.openxmlformats.org/officeDocument/2006/relationships/hyperlink" Target="../commands/P011_Windows/11.7-01.txt" TargetMode="External"/></Relationships>
</file>

<file path=ppt/slides/_rels/cmsiswest_slide9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3b1bb1e63b034989"/><Relationship Type="http://schemas.openxmlformats.org/officeDocument/2006/relationships/notesSlide" Target="../cmsiswest/notesSlides/notesSlide9.xml" Id="R7a30f0f85ed94c28"/><Relationship Id="rIdCommandText" Type="http://schemas.openxmlformats.org/officeDocument/2006/relationships/hyperlink" Target="../commands/P011_Windows/11.7-02.txt" TargetMode="External"/></Relationships>
</file>

<file path=ppt/slides/_rels/cmsiswest_slide10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513b4339fa2a47df"/><Relationship Type="http://schemas.openxmlformats.org/officeDocument/2006/relationships/notesSlide" Target="../cmsiswest/notesSlides/notesSlide10.xml" Id="R2723144057b749d6"/><Relationship Id="rIdCommandText" Type="http://schemas.openxmlformats.org/officeDocument/2006/relationships/hyperlink" Target="../commands/P011_Windows/11.8-01.txt" TargetMode="External"/></Relationships>
</file>

<file path=ppt/slides/_rels/cmsiswest_slide11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0ab00d0c8ad247f4"/><Relationship Type="http://schemas.openxmlformats.org/officeDocument/2006/relationships/notesSlide" Target="../cmsiswest/notesSlides/notesSlide11.xml" Id="R716b03b623934cf9"/><Relationship Id="rIdCommandText" Type="http://schemas.openxmlformats.org/officeDocument/2006/relationships/hyperlink" Target="../commands/P011_Windows/11.9.5-01.txt" TargetMode="External"/></Relationships>
</file>

<file path=ppt/slides/_rels/cmsiswest_slide12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b308e3eebf254ef3"/><Relationship Type="http://schemas.openxmlformats.org/officeDocument/2006/relationships/notesSlide" Target="../cmsiswest/notesSlides/notesSlide12.xml" Id="Rcf1debd7ce63444b"/><Relationship Id="rIdCommandText" Type="http://schemas.openxmlformats.org/officeDocument/2006/relationships/hyperlink" Target="../commands/P011_Windows/11.9.5-02.txt" TargetMode="External"/></Relationships>
</file>

<file path=ppt/slides/_rels/cmsiswest_slide13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3d6e62b8a78e4e41"/><Relationship Type="http://schemas.openxmlformats.org/officeDocument/2006/relationships/notesSlide" Target="../cmsiswest/notesSlides/notesSlide13.xml" Id="Rdaefc412892c465d"/></Relationships>
</file>

<file path=ppt/slides/_rels/firmware_formats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74300ac2830e4cf7"/><Relationship Type="http://schemas.openxmlformats.org/officeDocument/2006/relationships/hyperlink" Target="https://github.com/zephyrproject-rtos/zephyr/blob/3777ab91262f93c2c2da7e1ab8cff4e8ea5f4ce4/scripts/west_commands/runners/pyocd.py" TargetMode="External" Id="R70fd65e9c4634740"/><Relationship Type="http://schemas.openxmlformats.org/officeDocument/2006/relationships/hyperlink" Target="../P011_&#32534;&#35793;&#31034;&#20363;&#19982;&#26032;&#22686;&#24320;&#21457;&#26495;_Windows.md#hc32-firmware-formats" TargetMode="External" Id="R5283398eb4484a46"/><Relationship Type="http://schemas.openxmlformats.org/officeDocument/2006/relationships/notesSlide" Target="../notesSlides/firmware_formats.xml" Id="Rfaff117dd3824369"/></Relationships>
</file>

<file path=ppt/slides/_rels/sdkscope_slide1.xml.rels><?xml version='1.0' encoding='utf-8' standalone='yes'?>
<Relationships xmlns="http://schemas.openxmlformats.org/package/2006/relationships"><Relationship Type="http://schemas.openxmlformats.org/officeDocument/2006/relationships/slideLayout" Target="../sdkscope/slideLayouts/slideLayout6.xml" Id="R1b1d08da0be44798"/><Relationship Type="http://schemas.openxmlformats.org/officeDocument/2006/relationships/notesSlide" Target="../sdkscope/notesSlides/notesSlide1.xml" Id="R714704ed764747da"/><Relationship Id="rIdCommandText" Type="http://schemas.openxmlformats.org/officeDocument/2006/relationships/hyperlink" Target="../commands/P011_Windows/11.2.1-01.txt" TargetMode="External"/></Relationships>
</file>

<file path=ppt/slides/_rels/sdkscope_slide2.xml.rels><?xml version='1.0' encoding='utf-8' standalone='yes'?>
<Relationships xmlns="http://schemas.openxmlformats.org/package/2006/relationships"><Relationship Type="http://schemas.openxmlformats.org/officeDocument/2006/relationships/slideLayout" Target="../sdkscope/slideLayouts/slideLayout6.xml" Id="R95585f8d8fc34885"/><Relationship Type="http://schemas.openxmlformats.org/officeDocument/2006/relationships/notesSlide" Target="../sdkscope/notesSlides/notesSlide2.xml" Id="R8712480f1484496f"/></Relationships>
</file>

<file path=ppt/slides/_rels/sdkscope_slide3.xml.rels><?xml version='1.0' encoding='utf-8' standalone='yes'?>
<Relationships xmlns="http://schemas.openxmlformats.org/package/2006/relationships"><Relationship Type="http://schemas.openxmlformats.org/officeDocument/2006/relationships/slideLayout" Target="../sdkscope/slideLayouts/slideLayout6.xml" Id="R90b20e3c52e648b9"/><Relationship Type="http://schemas.openxmlformats.org/officeDocument/2006/relationships/notesSlide" Target="../sdkscope/notesSlides/notesSlide3.xml" Id="R270551ad8cb84991"/><Relationship Id="rIdCommandText" Type="http://schemas.openxmlformats.org/officeDocument/2006/relationships/hyperlink" Target="../commands/P011_Windows/11.9.5-01.txt" TargetMode="External"/></Relationships>
</file>

<file path=ppt/slides/_rels/sdkscope_slide4.xml.rels><?xml version='1.0' encoding='utf-8' standalone='yes'?>
<Relationships xmlns="http://schemas.openxmlformats.org/package/2006/relationships"><Relationship Type="http://schemas.openxmlformats.org/officeDocument/2006/relationships/slideLayout" Target="../sdkscope/slideLayouts/slideLayout6.xml" Id="Rd5742c4bd7524f62"/><Relationship Type="http://schemas.openxmlformats.org/officeDocument/2006/relationships/notesSlide" Target="../sdkscope/notesSlides/notesSlide4.xml" Id="R2a0488a336844fb2"/><Relationship Id="rIdCommandText" Type="http://schemas.openxmlformats.org/officeDocument/2006/relationships/hyperlink" Target="../commands/P011_Windows/11.9.5-02.txt" TargetMode="External"/></Relationships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restored_cover/media/image1.png"/><Relationship Id="rId2" Type="http://schemas.openxmlformats.org/officeDocument/2006/relationships/notesSlide" Target="../restored_cover/notesSlides/notesSlide1.xml"/><Relationship Id="rId1" Type="http://schemas.openxmlformats.org/officeDocument/2006/relationships/slideLayout" Target="/ppt/slideLayouts/lizhaojunCoverLayout.xml"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07a2d7c98d084379"/><Relationship Type="http://schemas.openxmlformats.org/officeDocument/2006/relationships/image" Target="/ppt/media/image.png" Id="Rbcff32942d3f461a"/><Relationship Type="http://schemas.openxmlformats.org/officeDocument/2006/relationships/notesSlide" Target="/ppt/notesSlides/notesSlide2.xml" Id="Rf3e9e9bf67f44ba5"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a13dd045fff74266"/><Relationship Type="http://schemas.openxmlformats.org/officeDocument/2006/relationships/notesSlide" Target="/ppt/notesSlides/notesSlide3.xml" Id="R16af1803b8b244a8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c77891494e154624"/><Relationship Type="http://schemas.openxmlformats.org/officeDocument/2006/relationships/notesSlide" Target="/ppt/notesSlides/notesSlide4.xml" Id="Rfa30651fb09d47a5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47fbed8edfa14e8f"/><Relationship Type="http://schemas.openxmlformats.org/officeDocument/2006/relationships/notesSlide" Target="/ppt/notesSlides/notesSlide5.xml" Id="R7c46a9af01094906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721c8d4f858545b1"/><Relationship Type="http://schemas.openxmlformats.org/officeDocument/2006/relationships/notesSlide" Target="/ppt/notesSlides/notesSlide6.xml" Id="R835ed04ad81e449d"/></Relationships>
</file>

<file path=ppt/slides/_rels/slide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2be4667970b94059"/><Relationship Type="http://schemas.openxmlformats.org/officeDocument/2006/relationships/notesSlide" Target="/ppt/notesSlides/notesSlide7.xml" Id="R72889849f9b84d1b"/></Relationships>
</file>

<file path=ppt/slides/_rels/slide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1034f68ae7d14d80"/><Relationship Type="http://schemas.openxmlformats.org/officeDocument/2006/relationships/notesSlide" Target="/ppt/notesSlides/notesSlide8.xml" Id="Rf24a43e951cb4922"/></Relationships>
</file>

<file path=ppt/slides/_rels/slide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b778bb78898a4031"/><Relationship Type="http://schemas.openxmlformats.org/officeDocument/2006/relationships/notesSlide" Target="/ppt/notesSlides/notesSlide9.xml" Id="Rce92f7845081487a"/></Relationships>
</file>

<file path=ppt/slides/_rels/slide1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e7ee52286dde407e"/><Relationship Type="http://schemas.openxmlformats.org/officeDocument/2006/relationships/notesSlide" Target="/ppt/notesSlides/notesSlide10.xml" Id="R2c94249b5eb24d36"/></Relationships>
</file>

<file path=ppt/slides/_rels/slide1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56d6854fb51046a0"/><Relationship Type="http://schemas.openxmlformats.org/officeDocument/2006/relationships/notesSlide" Target="/ppt/notesSlides/notesSlide11.xml" Id="R07bc193b20e24bd0"/></Relationships>
</file>

<file path=ppt/slides/_rels/slide1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d3621640ef0e4db8"/><Relationship Type="http://schemas.openxmlformats.org/officeDocument/2006/relationships/notesSlide" Target="/ppt/notesSlides/notesSlide12.xml" Id="Rdb66d24fc3f743d8"/></Relationships>
</file>

<file path=ppt/slides/_rels/slide1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3f2974cbdd7c4295"/><Relationship Type="http://schemas.openxmlformats.org/officeDocument/2006/relationships/notesSlide" Target="/ppt/notesSlides/notesSlide13.xml" Id="R25bfac9f04b84197"/></Relationships>
</file>

<file path=ppt/slides/_rels/slide1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765fe853363249bb"/><Relationship Type="http://schemas.openxmlformats.org/officeDocument/2006/relationships/notesSlide" Target="/ppt/notesSlides/notesSlide14.xml" Id="Re089c1dd475b4f34"/></Relationships>
</file>

<file path=ppt/slides/_rels/slide1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78db6ab9c6d448a3"/><Relationship Type="http://schemas.openxmlformats.org/officeDocument/2006/relationships/notesSlide" Target="/ppt/notesSlides/notesSlide15.xml" Id="Rae2174f687594220"/></Relationships>
</file>

<file path=ppt/slides/_rels/slide1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054957c68f4646df"/><Relationship Type="http://schemas.openxmlformats.org/officeDocument/2006/relationships/notesSlide" Target="/ppt/notesSlides/notesSlide16.xml" Id="Rffa6564f87f849ea"/></Relationships>
</file>

<file path=ppt/slides/_rels/slide1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b4fbdeb725d14596"/><Relationship Type="http://schemas.openxmlformats.org/officeDocument/2006/relationships/notesSlide" Target="/ppt/notesSlides/notesSlide17.xml" Id="R77870ace197b4325"/></Relationships>
</file>

<file path=ppt/slides/_rels/slide1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3dfb0b792d144aa8"/><Relationship Type="http://schemas.openxmlformats.org/officeDocument/2006/relationships/notesSlide" Target="/ppt/notesSlides/notesSlide18.xml" Id="R8715bdeff689429e"/></Relationships>
</file>

<file path=ppt/slides/_rels/slide1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4c1b4bbfe6334b8b"/><Relationship Type="http://schemas.openxmlformats.org/officeDocument/2006/relationships/notesSlide" Target="/ppt/notesSlides/notesSlide19.xml" Id="Rac67f25788264861"/></Relationships>
</file>

<file path=ppt/slides/_rels/slide2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c481f48b07f04c2d"/><Relationship Type="http://schemas.openxmlformats.org/officeDocument/2006/relationships/notesSlide" Target="/ppt/notesSlides/notesSlide20.xml" Id="Rbf5338e2d3354050"/></Relationships>
</file>

<file path=ppt/slides/_rels/slide2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43b1b1cdec994e7b"/><Relationship Type="http://schemas.openxmlformats.org/officeDocument/2006/relationships/notesSlide" Target="/ppt/notesSlides/notesSlide21.xml" Id="R1276a90ddd074f17"/></Relationships>
</file>

<file path=ppt/slides/_rels/slide2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d7aeb8e7d1d94537"/><Relationship Type="http://schemas.openxmlformats.org/officeDocument/2006/relationships/image" Target="/ppt/media/image2.png" Id="Rc59d5d6955dc4661"/><Relationship Type="http://schemas.openxmlformats.org/officeDocument/2006/relationships/notesSlide" Target="/ppt/notesSlides/notesSlide22.xml" Id="R1b3a02b17e5a456b"/></Relationships>
</file>

<file path=ppt/slides/_rels/slide2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2d1f4970d0514034"/><Relationship Type="http://schemas.openxmlformats.org/officeDocument/2006/relationships/notesSlide" Target="/ppt/notesSlides/notesSlide23.xml" Id="R311e79c5d75d452a"/></Relationships>
</file>

<file path=ppt/slides/_rels/slide2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91f294b5ff134152"/><Relationship Type="http://schemas.openxmlformats.org/officeDocument/2006/relationships/notesSlide" Target="/ppt/notesSlides/notesSlide24.xml" Id="R9ccda7ab595f45fa"/></Relationships>
</file>

<file path=ppt/slides/_rels/slide2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20804d1b8a6c4250"/><Relationship Type="http://schemas.openxmlformats.org/officeDocument/2006/relationships/notesSlide" Target="/ppt/notesSlides/notesSlide25.xml" Id="R23e2669dc8614acd"/></Relationships>
</file>

<file path=ppt/slides/_rels/slide2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9b43aa2cd2b640fa"/><Relationship Type="http://schemas.openxmlformats.org/officeDocument/2006/relationships/notesSlide" Target="/ppt/notesSlides/notesSlide26.xml" Id="R68bc09f1278e470c"/></Relationships>
</file>

<file path=ppt/slides/_rels/slide2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dcf61eb0bd4f48e4"/><Relationship Type="http://schemas.openxmlformats.org/officeDocument/2006/relationships/notesSlide" Target="/ppt/notesSlides/notesSlide27.xml" Id="R2cf1dd260edf4878"/></Relationships>
</file>

<file path=ppt/slides/_rels/slide2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02d08a1b0e1f4e1c"/><Relationship Type="http://schemas.openxmlformats.org/officeDocument/2006/relationships/notesSlide" Target="/ppt/notesSlides/notesSlide28.xml" Id="R858fd78c5f274373"/></Relationships>
</file>

<file path=ppt/slides/_rels/slide2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a01bc6be17ac436f"/><Relationship Type="http://schemas.openxmlformats.org/officeDocument/2006/relationships/notesSlide" Target="/ppt/notesSlides/notesSlide29.xml" Id="R231afa5af3ab4862"/></Relationships>
</file>

<file path=ppt/slides/_rels/slide3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cd18b83cff984f3b"/><Relationship Type="http://schemas.openxmlformats.org/officeDocument/2006/relationships/notesSlide" Target="/ppt/notesSlides/notesSlide30.xml" Id="R6204339638c14dc8"/></Relationships>
</file>

<file path=ppt/slides/_rels/slide3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f1df02f9d51d42db"/><Relationship Type="http://schemas.openxmlformats.org/officeDocument/2006/relationships/notesSlide" Target="/ppt/notesSlides/notesSlide31.xml" Id="R76d833cac826415f"/></Relationships>
</file>

<file path=ppt/slides/_rels/slide3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4e625139ed664338"/><Relationship Type="http://schemas.openxmlformats.org/officeDocument/2006/relationships/notesSlide" Target="/ppt/notesSlides/notesSlide32.xml" Id="R64f66118d65d41e1"/></Relationships>
</file>

<file path=ppt/slides/_rels/slide3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d699b23c6858425f"/><Relationship Type="http://schemas.openxmlformats.org/officeDocument/2006/relationships/notesSlide" Target="/ppt/notesSlides/notesSlide33.xml" Id="R59d2e52b1a12490e"/></Relationships>
</file>

<file path=ppt/slides/_rels/slide3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d67c1608ace344d7"/><Relationship Type="http://schemas.openxmlformats.org/officeDocument/2006/relationships/notesSlide" Target="/ppt/notesSlides/notesSlide34.xml" Id="Rc1d5f7fb62cf4eb6"/></Relationships>
</file>

<file path=ppt/slides/_rels/standalone_toolchain_7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0e443bdef2fc4700"/><Relationship Type="http://schemas.openxmlformats.org/officeDocument/2006/relationships/notesSlide" Target="../notesSlides/standalone_toolchain_7.xml" Id="Rdf5a61b497ea49b2"/><Relationship Id="rIdInputLink0" Type="http://schemas.openxmlformats.org/officeDocument/2006/relationships/hyperlink" Target="../P003_SDK&#20934;&#22791;&#19982;&#32534;&#35793;&#22120;&#36873;&#22411;_Windows.md#section-3-2" TargetMode="External"/></Relationships>
</file>

<file path=ppt/slides/_rels/standalone_toolchain_8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0e443bdef2fc4700"/><Relationship Type="http://schemas.openxmlformats.org/officeDocument/2006/relationships/notesSlide" Target="../notesSlides/standalone_toolchain_8.xml" Id="Rdf5a61b497ea49b2"/><Relationship Id="rIdInputLink0" Type="http://schemas.openxmlformats.org/officeDocument/2006/relationships/hyperlink" Target="../commands/P011_Windows/11.2.3-01.txt" TargetMode="External"/></Relationships>
</file>

<file path=ppt/slides/_rels/standalone_toolchain_9.xml.rels><?xml version='1.0' encoding='utf-8' standalone='yes'?>
<Relationships xmlns="http://schemas.openxmlformats.org/package/2006/relationships"><Relationship Type="http://schemas.openxmlformats.org/officeDocument/2006/relationships/slideLayout" Target="../cmsiswest/slideLayouts/slideLayout6.xml" Id="R0e443bdef2fc4700"/><Relationship Type="http://schemas.openxmlformats.org/officeDocument/2006/relationships/notesSlide" Target="../notesSlides/standalone_toolchain_9.xml" Id="Rdf5a61b497ea49b2"/><Relationship Id="rIdInputLink0" Type="http://schemas.openxmlformats.org/officeDocument/2006/relationships/hyperlink" Target="../commands/P011_Windows/11.2.3-02.txt" TargetMode="External"/><Relationship Id="rIdInputLink1" Type="http://schemas.openxmlformats.org/officeDocument/2006/relationships/hyperlink" Target="../commands/P011_Windows/11.2.3-03.txt" TargetMode="External"/></Relationships>
</file>

<file path=ppt/slides/beginner_slide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32C1F0FD-4C31-4088-91E1-A6F19474A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先标明实验输入和待生成文件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FF4EBCA2-15C4-469E-88D9-5FF58CB1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11.0.1 · 不在原生工程里寻找尚未创建的材料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69D42E-FB42-439D-A3F2-577971B28260}"/>
              </a:ext>
            </a:extLst>
          </p:cNvPr>
          <p:cNvGraphicFramePr/>
          <p:nvPr/>
        </p:nvGraphicFramePr>
        <p:xfrm>
          <a:off xmlns:a="http://schemas.openxmlformats.org/drawingml/2006/main" x="609600" y="19240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715000"/>
                <a:gridCol w="525780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材料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来源与时机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 / AN386 / hello_world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 官方原有，实验 A 直接使用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CMSIS / HAL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P002—P005 下载的官方外部模块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learning/board/labs/hc32_port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教程随附参考原件，官方 ZIP 不包含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new-board / hc32_port 工作目录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实验 B/C 由读者新建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CMakeCache / .config / ELF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配置或构建生成，操作前不存在正常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ABE3DEB-B8E0-4117-A5FC-97AB96B1E5C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483999894"/>
      </p:ext>
    </p:extLst>
  </p:cSld>
</p:sld>
</file>

<file path=ppt/slides/beginner_slide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702A3387-9804-434F-AC57-5523D0155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先打开官方应用和板文件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0F4EFFD5-8B3D-4A35-A4C3-93A6D10C8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11.1_先认识已有的 MPS2 与 AN386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40CC3A31-8BAB-4020-B8B9-1F3738F02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UCRT64；源码根；尚未配置构建。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cd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/g/zephyr_practice/zephyr-main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cat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boards/arm/mps2/board.yml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cat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boards/arm/mps2/mps2_an386.dts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cat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boards/arm/mps2/mps2_an386_defconfig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cat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samples/hello_world/src/main.c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6BD22D21-EB18-4403-8843-0F8CD7A92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应用负责打印；板/SoC 描述硬件和控制台。</a:t>
            </a:r>
            <a:r>
              <a:rPr sz="1875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BOARD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名称不是文件系统路径。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872AECE1-DBD9-46F4-91EC-AA0E5DF4F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完整命令：P011_Windows/11.1-01.txt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C0046D8-3AA0-4300-83A2-DD203DDF519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7</a:t>
            </a:fld>
          </a:p>
        </p:txBody>
      </p:sp>
    </p:spTree>
    <p:extLst>
      <p:ext uri="{BB962C8B-B14F-4D97-AF65-F5344CB8AC3E}">
        <p14:creationId xmlns:p14="http://schemas.microsoft.com/office/powerpoint/2010/main" val="1223650731"/>
      </p:ext>
    </p:extLst>
  </p:cSld>
</p:sld>
</file>

<file path=ppt/slides/beginner_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BCCA7579-063A-44A5-AD2F-E2D197A2E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工程要连接三种不同输入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7A5A227A-0C7B-419D-A886-D3D3AA29B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11.2 · 源码包、工具与模块各有入口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154D944B-AEC4-409C-B84C-50E1E6B98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2505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Zephyr_DIR：应用从哪棵主源码取得构建规则。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ZEPHYR_SDK_INSTALL_DIR：找到已安装的工具，不复制到工程。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ZEPHYR_MODULES：列出外部模块根，不执行下载。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BOARD 再选择硬件；配置生成规则，构建才运行编译器。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C2AC8F-E44E-43A4-90D7-EFE9AD2D5C5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4b567b4b98403b"/>
          <a:stretch xmlns:a="http://schemas.openxmlformats.org/drawingml/2006/main"/>
        </p:blipFill>
        <p:spPr>
          <a:xfrm xmlns:a="http://schemas.openxmlformats.org/drawingml/2006/main">
            <a:off x="2516188" y="4810125"/>
            <a:ext cx="7159625" cy="1047750"/>
          </a:xfrm>
          <a:prstGeom xmlns:a="http://schemas.openxmlformats.org/drawingml/2006/main" prst="rect">
            <a:avLst/>
          </a:prstGeom>
        </p:spPr>
      </p:pic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0B71593-866E-403C-9A9F-C80A1855FD0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1298307378"/>
      </p:ext>
    </p:extLst>
  </p:cSld>
</p:sld>
</file>

<file path=ppt/slides/beginner_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4A02279C-E4D2-472E-BF96-4E7119B98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恢复原生路径与 Python 环境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530FBA0-0BAF-4168-8C21-61A8FC6DB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11.2.1_恢复环境并检查输入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C42AB340-B28D-4861-BF00-4F18806EC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UCRT64；源码根；重开终端时重新执行本块。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/g/zephyr_practice/zephyr-main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source .venv/Scripts/activate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export ZEPHYR_BASE="$(cygpath -m "$PWD")"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unset EXTRA_ZEPHYR_MODULES ZEPHYR_EXTRA_MODULES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-m pip check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C68F16B2-1859-4AC1-81D8-1F73EBD32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三项 Zephyr 变量在本块定义；SDK 指含 sdk_version 的实际内层，不是 bin。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29924557-200D-40BE-B131-EF1929514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完整命令：P007_Windows/7.2.1-01.txt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519533FF-D3A5-4D84-A0A2-791F602CA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E9CB251-F506-4343-AB77-439840F506A6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</a:p>
        </p:txBody>
      </p:sp>
    </p:spTree>
    <p:extLst>
      <p:ext uri="{BB962C8B-B14F-4D97-AF65-F5344CB8AC3E}">
        <p14:creationId xmlns:p14="http://schemas.microsoft.com/office/powerpoint/2010/main" val="1439823008"/>
      </p:ext>
    </p:extLst>
  </p:cSld>
</p:sld>
</file>

<file path=ppt/slides/beginner_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BE54175B-17F2-4CA3-AADD-FF613C0B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配置前检查文件确实存在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F2EA140-63E7-4AC8-B42C-64900268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11.2.1_恢复环境并检查输入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C119FBD4-3298-45FC-B3DD-35F154BE3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UCRT64；源码根；ZEPHYR_SDK_INSTALL_DIR 来自本节，指实际 SDK 根。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cat "$ZEPHYR_SDK_INSTALL_DIR/sdk_version"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test -f build/learning-tools/deps/cmsis_6/CMSIS/Core/Include/core_cm4.h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test -f build/learning-tools/deps/cmsis_6/zephyr/module.yml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-c 'import sys; print(sys.executable)'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1723A653-22A6-4419-B27B-6FC5D09C8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CMSIS 是 P002—P005 下载产物；此处不新建。缺失就返回相应安装步骤。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2B2E290F-5B59-4CEB-86CF-C8841A840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完整命令：P007_Windows/7.2.1-03.txt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6EF92BB-AFB2-4FFC-AD96-F9575160F9A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</a:p>
        </p:txBody>
      </p:sp>
    </p:spTree>
    <p:extLst>
      <p:ext uri="{BB962C8B-B14F-4D97-AF65-F5344CB8AC3E}">
        <p14:creationId xmlns:p14="http://schemas.microsoft.com/office/powerpoint/2010/main" val="306287637"/>
      </p:ext>
    </p:extLst>
  </p:cSld>
</p:sld>
</file>

<file path=ppt/slides/beginner_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ABAFE494-DC5E-420A-AF77-24771B066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配置已有板：完整输入一次提交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7553DA35-D718-4BF4-942E-21921801F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11.2.2_配置，再执行构建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86CA6CE9-3209-47E7-A21F-CBB1A3B0F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3257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Windows UCRT64；源码根；11.2.1 的 SDK 已注册，源码入口按本命令选择，.venv 已激活。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cmake -S samples/hello_world -B build/learning-tools/p003/build-mps2 -G Ninja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-DBOARD=mps2/an386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"-DZephyr_DIR=$ZEPHYR_BASE/share/zephyr-package/cmake"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"-DZEPHYR_BASE=$ZEPHYR_BASE"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"-DZEPHYR_MODULES=$(cygpath -m "$PWD/build/learning-tools/deps/cmsis_6")"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-DEXTRA_ZEPHYR_MODULES= -DZEPHYR_EXTRA_MODULES=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"-DPython3_EXECUTABLE=$(cygpath -m "$(command -v python)")"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-DCMAKE_EXPORT_COMPILE_COMMANDS=ON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9E9F1E1B-8A8A-4D9C-83DF-65E99E10D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使用下方完整命令文件。-S 指官方应用，-B 是将由 CMake 创建的输出目录。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1A5506D5-9865-4911-AC69-1A70D810E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完整命令：P007_Windows/7.2.2-01.txt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9B16B1E-7B57-4735-A081-5E9E29DDDB6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</a:p>
        </p:txBody>
      </p:sp>
    </p:spTree>
    <p:extLst>
      <p:ext uri="{BB962C8B-B14F-4D97-AF65-F5344CB8AC3E}">
        <p14:creationId xmlns:p14="http://schemas.microsoft.com/office/powerpoint/2010/main" val="337385638"/>
      </p:ext>
    </p:extLst>
  </p:cSld>
</p:sld>
</file>

<file path=ppt/slides/beginner_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FF29D682-FA42-4EDB-BB8D-B6C77A204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配置结束后，再执行编译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B591E4F1-502C-40BF-911A-6283E033A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11.2.2_配置，再执行构建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40F2EFE9-01F7-4D6E-83EB-653B248D0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UCRT64；源码根；上一条配置已成功。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cmake --build build/learning-tools/p003/build-mps2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ls -l build/learning-tools/p003/build-mps2/zephyr/zephyr.elf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24987DCC-8A40-4305-B7CD-D578F9DE7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 配置成功不等于已有 ELF；生成的固件也不能烧进 HC32。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696FCCD5-6D96-4892-A536-D88EE4386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完整命令：P007_Windows/7.2.2-02.txt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B3731145-4882-47BA-88E6-32D36ED2338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13</a:t>
            </a:fld>
          </a:p>
        </p:txBody>
      </p:sp>
    </p:spTree>
    <p:extLst>
      <p:ext uri="{BB962C8B-B14F-4D97-AF65-F5344CB8AC3E}">
        <p14:creationId xmlns:p14="http://schemas.microsoft.com/office/powerpoint/2010/main" val="1843553494"/>
      </p:ext>
    </p:extLst>
  </p:cSld>
</p:sld>
</file>

<file path=ppt/slides/beginner_slide8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46789F65-E39B-4B58-8363-C991D25F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从真实产物确认用了哪一份依赖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E2182E09-BE5E-4C0E-AD8C-12D2022A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11.3_确认不是编错了板或模块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8C4A8F8B-E433-47CC-BD54-9C08BABEE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配置确定 </a:t>
            </a:r>
            <a:r>
              <a:rPr sz="2175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BOARD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/SOC，编译命令给出 GCC 与 CMSIS include 的实际路径。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打开下方“完整命令”，复制本操作单元。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文件已含目录/终端注释；按正文先检查前提，再粘贴执行。</a:t>
            </a:r>
          </a:p>
        </p:txBody>
      </p:sp>
      <p:sp>
        <p:nvSpPr>
          <p:cNvPr id="4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0D1480B4-8C3E-4CFB-B026-8701752FE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完整命令：P011_Windows/11.3-01.txt</a:t>
            </a:r>
          </a:p>
        </p:txBody>
      </p:sp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EF294B7-AFF1-483C-A238-504DC23F308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17</a:t>
            </a:fld>
          </a:p>
        </p:txBody>
      </p:sp>
    </p:spTree>
    <p:extLst>
      <p:ext uri="{BB962C8B-B14F-4D97-AF65-F5344CB8AC3E}">
        <p14:creationId xmlns:p14="http://schemas.microsoft.com/office/powerpoint/2010/main" val="825973137"/>
      </p:ext>
    </p:extLst>
  </p:cSld>
</p:sld>
</file>

<file path=ppt/slides/beginner_slide9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D5420EB2-44CB-45DF-8D27-837774AAE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新文件必须写进新板目录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8E93A43-32A7-41A7-82E5-00BD49AC0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11.4.1 · 先创建目录，再创建配置文件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B22F5FAF-A7B9-4C3F-A021-252481BD1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读者新建 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new-board/boards/others/practice_mps2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cat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&gt; 文件 &lt;&lt;'EOF' 将中间内容写成文件，EOF 单独成行。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board.yml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登记新板和已有 an386；Kconfig 把选板接到 </a:t>
            </a:r>
            <a:r>
              <a:rPr sz="2175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SOC_AN386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官方 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boards/arm/mps2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保留作为对照，不能覆盖它。</a:t>
            </a:r>
          </a:p>
        </p:txBody>
      </p:sp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68C93A5-4E98-4E67-9037-F510FBE72F0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20</a:t>
            </a:fld>
          </a:p>
        </p:txBody>
      </p:sp>
    </p:spTree>
    <p:extLst>
      <p:ext uri="{BB962C8B-B14F-4D97-AF65-F5344CB8AC3E}">
        <p14:creationId xmlns:p14="http://schemas.microsoft.com/office/powerpoint/2010/main" val="897000402"/>
      </p:ext>
    </p:extLst>
  </p:cSld>
</p:sld>
</file>

<file path=ppt/slides/beginner_slide10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0BB6238B-7DA8-4AEC-99FB-872AF7624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创建 board.yml 与板级 Kconfig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0839887-F45E-4CD3-813B-DD97A6D9C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11.4.1_先登记新板身份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5FAD7E88-EAE1-485F-BD41-9FCB53AFD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完整操作单元创建两个文件并保留 SPDX；已有目标先核对，不覆盖自己的修改。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打开下方“完整命令”，复制本操作单元。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文件已含目录/终端注释；按正文先检查前提，再粘贴执行。</a:t>
            </a:r>
          </a:p>
        </p:txBody>
      </p:sp>
      <p:sp>
        <p:nvSpPr>
          <p:cNvPr id="4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AD3D4B0F-9B39-4338-98C6-58C69AD89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完整命令：P011_Windows/11.4.1-01.txt</a:t>
            </a:r>
          </a:p>
        </p:txBody>
      </p:sp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59352A0-371B-459F-86B2-DA1C07A1104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21</a:t>
            </a:fld>
          </a:p>
        </p:txBody>
      </p:sp>
    </p:spTree>
    <p:extLst>
      <p:ext uri="{BB962C8B-B14F-4D97-AF65-F5344CB8AC3E}">
        <p14:creationId xmlns:p14="http://schemas.microsoft.com/office/powerpoint/2010/main" val="1127886734"/>
      </p:ext>
    </p:extLst>
  </p:cSld>
</p:sld>
</file>

<file path=ppt/slides/beginner_slide1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8BCC3AC0-858A-4027-ACDB-5872A222A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新建的 board.yml 如何登记身份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96CEAA67-FC1C-4B1D-9045-AD5D6A57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11.4.1 · 文件内容，不是 Bash 命令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33C4DC96-BE2F-48FF-BE31-4752A0738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SPDX-License-Identifier: Apache-2.0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board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: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name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: practice_mps2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full_name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: AN386 board registration exercise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vendor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: others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socs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: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  -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name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: an386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441161A3-D8CD-47FC-8C87-0CFB3D5E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位置：</a:t>
            </a: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new-board/boards/others/practice_mps2/board.yml（上页创建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）。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name 是新板名；socs 复用官方 an386；others 是练习板的厂商归类。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3D3CB61C-75BC-4052-A8D2-DC1EF226D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完整命令：P011_Windows/11.4.1-01.txt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8FF2464-72E4-4C06-9136-FD04B7A1A720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22</a:t>
            </a:fld>
          </a:p>
        </p:txBody>
      </p:sp>
    </p:spTree>
    <p:extLst>
      <p:ext uri="{BB962C8B-B14F-4D97-AF65-F5344CB8AC3E}">
        <p14:creationId xmlns:p14="http://schemas.microsoft.com/office/powerpoint/2010/main" val="1324740464"/>
      </p:ext>
    </p:extLst>
  </p:cSld>
</p:sld>
</file>

<file path=ppt/slides/beginner_slide1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A090E452-5A02-491F-9151-5A2B995E6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新建的 Kconfig 如何接到已有 SoC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8F0C8A63-3D35-42B4-9DED-265F67172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11.4.1 · 文件内容，不是 Bash 命令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9BD59FCC-85B4-4483-9869-719A18C49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SPDX-License-Identifier: Apache-2.0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config BOARD_PRACTICE_MPS2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  select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SOC_AN386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7C987E3-D4BA-4ADE-9A23-8E3155DBD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位置：同目录 </a:t>
            </a: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Kconfig.practice_mps2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（前两页命令创建）。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文件名跟随 </a:t>
            </a: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board.yml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的 name；选中新板时选择已有 SoC。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这两份登记还没有提供 DTS、内存布局与默认配置，下一步继续补齐。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94968D45-A443-477E-99D4-655A0308B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完整命令：P011_Windows/11.4.1-01.txt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460EDAB-C651-4183-BF83-D8CC90320E4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23</a:t>
            </a:fld>
          </a:p>
        </p:txBody>
      </p:sp>
    </p:spTree>
    <p:extLst>
      <p:ext uri="{BB962C8B-B14F-4D97-AF65-F5344CB8AC3E}">
        <p14:creationId xmlns:p14="http://schemas.microsoft.com/office/powerpoint/2010/main" val="2041771752"/>
      </p:ext>
    </p:extLst>
  </p:cSld>
</p:sld>
</file>

<file path=ppt/slides/beginner_slide1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679D877E-3056-4D4C-B2EA-BC8A8D49F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检查新板能否被发现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F67E1E2-B526-4571-9EC4-222EBBB10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11.4.1_先登记新板身份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17FA87BF-812B-42E0-A28F-D66427BC2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UCRT64；源码根。BOARD_ROOT 指包含 boards 的父目录。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scripts/list_boards.py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--board-root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build/learning-tools/p003/new-board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--soc-root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.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--board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practice_mps2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--cmakeformat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'{NAME};{DIR};{QUALIFIERS}'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3D88C477-D864-4EA0-82D8-F037E1C44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应显示 practice_mps2 与 an386；这时只完成身份，尚未补齐硬件描述。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50B4AC71-F0F6-48D0-AF74-7C98130C6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完整命令：P011_Windows/11.4.1-02.txt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6A8B92F-3787-400A-9DC0-5CC9CC8E589E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24</a:t>
            </a:fld>
          </a:p>
        </p:txBody>
      </p:sp>
    </p:spTree>
    <p:extLst>
      <p:ext uri="{BB962C8B-B14F-4D97-AF65-F5344CB8AC3E}">
        <p14:creationId xmlns:p14="http://schemas.microsoft.com/office/powerpoint/2010/main" val="1004731672"/>
      </p:ext>
    </p:extLst>
  </p:cSld>
</p:sld>
</file>

<file path=ppt/slides/beginner_slide1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644F79DE-F999-4B10-A5BB-617949F6D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从原板逐文件加入硬件描述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74AB4756-933B-4B83-8E6E-B38F76CCC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11.4.2_加入硬件描述和默认配置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258E091C-22AE-4684-A6C0-4345C8CE5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DTS 和被 include 的 dtsi 一并复制；defconfig 本次新建，GPIO 是 pinctrl 所需。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打开下方“完整命令”，复制本操作单元。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文件已含目录/终端注释；按正文先检查前提，再粘贴执行。</a:t>
            </a:r>
          </a:p>
        </p:txBody>
      </p:sp>
      <p:sp>
        <p:nvSpPr>
          <p:cNvPr id="4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5EB5E675-50FB-4D4A-A186-4F6181EBE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完整命令：P011_Windows/11.4.2-01.txt</a:t>
            </a:r>
          </a:p>
        </p:txBody>
      </p:sp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0EAFC40-D966-4F50-87FA-5687756214D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25</a:t>
            </a:fld>
          </a:p>
        </p:txBody>
      </p:sp>
    </p:spTree>
    <p:extLst>
      <p:ext uri="{BB962C8B-B14F-4D97-AF65-F5344CB8AC3E}">
        <p14:creationId xmlns:p14="http://schemas.microsoft.com/office/powerpoint/2010/main" val="2095681404"/>
      </p:ext>
    </p:extLst>
  </p:cSld>
</p:sld>
</file>

<file path=ppt/slides/beginner_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44E6401A-742D-4450-9552-840629F72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配置练习板：新增 BOARD_ROOT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43CE353F-A600-44DB-963A-9CD602CF3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11.4.3_用同一应用验证最小增量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7792D480-3FCF-4C10-8E3B-4A61A60A2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3257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Windows UCRT64；源码根；11.2.1 的 SDK 已注册，源码入口按本命令选择，.venv 已激活。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cmake -S samples/hello_world -B build/learning-tools/p003/build-practice -G Ninja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-DBOARD=practice_mps2/an386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"-DBOARD_ROOT=$(cygpath -m "$PWD/build/learning-tools/p003/new-board")"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"-DZephyr_DIR=$ZEPHYR_BASE/share/zephyr-package/cmake"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"-DZEPHYR_BASE=$ZEPHYR_BASE"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"-DZEPHYR_MODULES=$(cygpath -m "$PWD/build/learning-tools/deps/cmsis_6")"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-DEXTRA_ZEPHYR_MODULES= -DZEPHYR_EXTRA_MODULES=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"-DPython3_EXECUTABLE=$(cygpath -m "$(command -v python)")" \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-DCMAKE_EXPORT_COMPILE_COMMANDS=ON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9A70E524-4738-4AE6-921A-E4D2A894D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BOARD_ROOT 指包含 boards 的父目录；应用/SDK/CMSIS 与第一次相同，输出另用 build-practice。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07044B11-1113-4343-9C9D-FD71D8F67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完整命令：P007_Windows/7.4.3-01.txt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19B2825-BE43-4089-B37A-DD3D58F81669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23</a:t>
            </a:fld>
          </a:p>
        </p:txBody>
      </p:sp>
    </p:spTree>
    <p:extLst>
      <p:ext uri="{BB962C8B-B14F-4D97-AF65-F5344CB8AC3E}">
        <p14:creationId xmlns:p14="http://schemas.microsoft.com/office/powerpoint/2010/main" val="1364002091"/>
      </p:ext>
    </p:extLst>
  </p:cSld>
</p:sld>
</file>

<file path=ppt/slides/beginner_slide16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E9B11023-B6B0-4024-A628-B2A265EE3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构建后确认板变了，芯片没变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E825832-C7EC-4E56-88BB-D428A7411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11.4.3_用同一应用验证最小增量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B4C806B1-DCF8-4941-84E2-C9E517FC7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ns0:p xmlns:ns0="http://schemas.openxmlformats.org/drawingml/2006/main">
            <ns0:pPr>
              <ns0:lnSpc>
                <ns0:spcPct val="120000"/>
              </ns0:lnSpc>
              <ns0:defRPr sz="1875" b="0">
                <ns0:solidFill>
                  <ns0:srgbClr val="005968"/>
                </ns0:solidFill>
                <ns0:latin typeface="Consolas"/>
                <ns0:ea typeface="Consolas"/>
                <ns0:cs typeface="Consolas"/>
              </ns0:defRPr>
            </ns0:pPr>
            <ns0:r>
              <ns0:rPr sz="1875" b="0">
                <ns0:solidFill>
                  <ns0:srgbClr val="646173"/>
                </ns0:solidFill>
                <ns0:latin typeface="Consolas"/>
                <ns0:ea typeface="Consolas"/>
                <ns0:cs typeface="Consolas"/>
              </ns0:rPr>
              <ns0:t># Windows UCRT64；源码根 /g/zephyr_practice/zephyr-main；根 .venv 已激活。</ns0:t>
            </ns0:r>
          </ns0:p>
          <ns1:p xmlns:ns1="http://schemas.openxmlformats.org/drawingml/2006/main">
            <ns1:pPr>
              <ns1:lnSpc>
                <ns1:spcPct val="120000"/>
              </ns1:lnSpc>
              <ns1:defRPr sz="1875" b="0">
                <ns1:solidFill>
                  <ns1:srgbClr val="005968"/>
                </ns1:solidFill>
                <ns1:latin typeface="Consolas"/>
                <ns1:ea typeface="Consolas"/>
                <ns1:cs typeface="Consolas"/>
              </ns1:defRPr>
            </ns1:pPr>
            <ns1:r>
              <ns1:rPr sz="1875" b="0">
                <ns1:solidFill>
                  <ns1:srgbClr val="A02B93"/>
                </ns1:solidFill>
                <ns1:latin typeface="Consolas"/>
                <ns1:ea typeface="Consolas"/>
                <ns1:cs typeface="Consolas"/>
              </ns1:rPr>
              <ns1:t>cmake</ns1:t>
            </ns1:r>
            <ns1:r>
              <ns1:rPr sz="187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875" b="0">
                <ns1:solidFill>
                  <ns1:srgbClr val="B84E00"/>
                </ns1:solidFill>
                <ns1:latin typeface="Consolas"/>
                <ns1:ea typeface="Consolas"/>
                <ns1:cs typeface="Consolas"/>
              </ns1:rPr>
              <ns1:t>--build</ns1:t>
            </ns1:r>
            <ns1:r>
              <ns1:rPr sz="187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875" b="0">
                <ns1:solidFill>
                  <ns1:srgbClr val="0070C0"/>
                </ns1:solidFill>
                <ns1:latin typeface="Consolas"/>
                <ns1:ea typeface="Consolas"/>
                <ns1:cs typeface="Consolas"/>
              </ns1:rPr>
              <ns1:t>build/learning-tools/p003/build-practice-sdk-auto</ns1:t>
            </ns1:r>
          </ns1:p>
          <ns2:p xmlns:ns2="http://schemas.openxmlformats.org/drawingml/2006/main">
            <ns2:pPr>
              <ns2:lnSpc>
                <ns2:spcPct val="120000"/>
              </ns2:lnSpc>
              <ns2:defRPr sz="1875" b="0">
                <ns2:solidFill>
                  <ns2:srgbClr val="005968"/>
                </ns2:solidFill>
                <ns2:latin typeface="Consolas"/>
                <ns2:ea typeface="Consolas"/>
                <ns2:cs typeface="Consolas"/>
              </ns2:defRPr>
            </ns2:pPr>
            <ns2:r>
              <ns2:rPr sz="1875" b="0">
                <ns2:solidFill>
                  <ns2:srgbClr val="A02B93"/>
                </ns2:solidFill>
                <ns2:latin typeface="Consolas"/>
                <ns2:ea typeface="Consolas"/>
                <ns2:cs typeface="Consolas"/>
              </ns2:rPr>
              <ns2:t>grep</ns2:t>
            </ns2:r>
            <ns2:r>
              <ns2:rPr sz="1875" b="0">
                <ns2:solidFill>
                  <ns2:srgbClr val="29263B"/>
                </ns2:solidFill>
                <ns2:latin typeface="Consolas"/>
                <ns2:ea typeface="Consolas"/>
                <ns2:cs typeface="Consolas"/>
              </ns2:rPr>
              <ns2:t> </ns2:t>
            </ns2:r>
            <ns2:r>
              <ns2:rPr sz="1875" b="0">
                <ns2:solidFill>
                  <ns2:srgbClr val="B84E00"/>
                </ns2:solidFill>
                <ns2:latin typeface="Consolas"/>
                <ns2:ea typeface="Consolas"/>
                <ns2:cs typeface="Consolas"/>
              </ns2:rPr>
              <ns2:t>-E</ns2:t>
            </ns2:r>
            <ns2:r>
              <ns2:rPr sz="1875" b="0">
                <ns2:solidFill>
                  <ns2:srgbClr val="29263B"/>
                </ns2:solidFill>
                <ns2:latin typeface="Consolas"/>
                <ns2:ea typeface="Consolas"/>
                <ns2:cs typeface="Consolas"/>
              </ns2:rPr>
              <ns2:t> '^CONFIG_(</ns2:t>
            </ns2:r>
            <ns2:r>
              <ns2:rPr sz="1875" b="0">
                <ns2:solidFill>
                  <ns2:srgbClr val="B84E00"/>
                </ns2:solidFill>
                <ns2:latin typeface="Consolas"/>
                <ns2:ea typeface="Consolas"/>
                <ns2:cs typeface="Consolas"/>
              </ns2:rPr>
              <ns2:t>BOARD</ns2:t>
            </ns2:r>
            <ns2:r>
              <ns2:rPr sz="1875" b="0">
                <ns2:solidFill>
                  <ns2:srgbClr val="29263B"/>
                </ns2:solidFill>
                <ns2:latin typeface="Consolas"/>
                <ns2:ea typeface="Consolas"/>
                <ns2:cs typeface="Consolas"/>
              </ns2:rPr>
              <ns2:t>|SOC|CPU_CORTEX_M4)' \</ns2:t>
            </ns2:r>
          </ns2:p>
          <ns3:p xmlns:ns3="http://schemas.openxmlformats.org/drawingml/2006/main">
            <ns3:pPr>
              <ns3:lnSpc>
                <ns3:spcPct val="120000"/>
              </ns3:lnSpc>
              <ns3:defRPr sz="1875" b="0">
                <ns3:solidFill>
                  <ns3:srgbClr val="005968"/>
                </ns3:solidFill>
                <ns3:latin typeface="Consolas"/>
                <ns3:ea typeface="Consolas"/>
                <ns3:cs typeface="Consolas"/>
              </ns3:defRPr>
            </ns3:pPr>
            <ns3:r>
              <ns3:rPr sz="1875" b="0">
                <ns3:solidFill>
                  <ns3:srgbClr val="29263B"/>
                </ns3:solidFill>
                <ns3:latin typeface="Consolas"/>
                <ns3:ea typeface="Consolas"/>
                <ns3:cs typeface="Consolas"/>
              </ns3:rPr>
              <ns3:t>  </ns3:t>
            </ns3:r>
            <ns3:r>
              <ns3:rPr sz="1875" b="0">
                <ns3:solidFill>
                  <ns3:srgbClr val="0070C0"/>
                </ns3:solidFill>
                <ns3:latin typeface="Consolas"/>
                <ns3:ea typeface="Consolas"/>
                <ns3:cs typeface="Consolas"/>
              </ns3:rPr>
              <ns3:t>build/learning-tools/p003/build-practice-sdk-auto/zephyr/.config</ns3:t>
            </ns3:r>
          </ns3:p>
          <ns4:p xmlns:ns4="http://schemas.openxmlformats.org/drawingml/2006/main">
            <ns4:pPr>
              <ns4:lnSpc>
                <ns4:spcPct val="120000"/>
              </ns4:lnSpc>
              <ns4:defRPr sz="1875" b="0">
                <ns4:solidFill>
                  <ns4:srgbClr val="005968"/>
                </ns4:solidFill>
                <ns4:latin typeface="Consolas"/>
                <ns4:ea typeface="Consolas"/>
                <ns4:cs typeface="Consolas"/>
              </ns4:defRPr>
            </ns4:pPr>
            <ns4:r>
              <ns4:rPr sz="1875" b="0">
                <ns4:solidFill>
                  <ns4:srgbClr val="A02B93"/>
                </ns4:solidFill>
                <ns4:latin typeface="Consolas"/>
                <ns4:ea typeface="Consolas"/>
                <ns4:cs typeface="Consolas"/>
              </ns4:rPr>
              <ns4:t>ls</ns4:t>
            </ns4:r>
            <ns4:r>
              <ns4:rPr sz="187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 </ns4:t>
            </ns4:r>
            <ns4:r>
              <ns4:rPr sz="1875" b="0">
                <ns4:solidFill>
                  <ns4:srgbClr val="B84E00"/>
                </ns4:solidFill>
                <ns4:latin typeface="Consolas"/>
                <ns4:ea typeface="Consolas"/>
                <ns4:cs typeface="Consolas"/>
              </ns4:rPr>
              <ns4:t>-l</ns4:t>
            </ns4:r>
            <ns4:r>
              <ns4:rPr sz="187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 </ns4:t>
            </ns4:r>
            <ns4:r>
              <ns4:rPr sz="1875" b="0">
                <ns4:solidFill>
                  <ns4:srgbClr val="0070C0"/>
                </ns4:solidFill>
                <ns4:latin typeface="Consolas"/>
                <ns4:ea typeface="Consolas"/>
                <ns4:cs typeface="Consolas"/>
              </ns4:rPr>
              <ns4:t>build/learning-tools/p003/build-practice-sdk-auto/zephyr/zephyr.elf</ns4:t>
            </ns4:r>
          </ns4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D0DA497-C665-40DC-B253-C440F2B5A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预期 </a:t>
            </a:r>
            <a:r>
              <a:rPr sz="1875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BOARD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为 practice_mps2，SOC 仍为 an386；说明复用了已有芯片实现。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F5555DA4-44D2-4CA6-B307-BCBF7A8CD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完整命令：P011_Windows/11.4.3-02.txt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1A9394A-12A9-4859-86A5-CB3D5D231C8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27</a:t>
            </a:fld>
          </a:p>
        </p:txBody>
      </p:sp>
    </p:spTree>
    <p:extLst>
      <p:ext uri="{BB962C8B-B14F-4D97-AF65-F5344CB8AC3E}">
        <p14:creationId xmlns:p14="http://schemas.microsoft.com/office/powerpoint/2010/main" val="1959061681"/>
      </p:ext>
    </p:extLst>
  </p:cSld>
</p:sld>
</file>

<file path=ppt/slides/beginner_slide17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956D74A3-2448-4DD7-855C-4FB70FE55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取得教程适配原件，再创建工作副本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1579341-BDA5-4547-86FE-AA54359F5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11.5—11.6 · 官方样式不等于上游已收录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FDCCCA00-86BF-428D-B179-9941A96FC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将随课程取得的 learning 放入实验源码根。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先确认 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learning/board/labs/hc32_port/zephyr/module.yml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已存在。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这是教程材料，不在 Zephyr 官方 ZIP 中；缺失时先补材料。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逐层加入 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build/learning-tools/p003/hc32_port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，只编译这个工作副本。</a:t>
            </a:r>
          </a:p>
        </p:txBody>
      </p:sp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2FE55E7-A252-4347-9A74-F9F8C69472A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30</a:t>
            </a:fld>
          </a:p>
        </p:txBody>
      </p:sp>
    </p:spTree>
    <p:extLst>
      <p:ext uri="{BB962C8B-B14F-4D97-AF65-F5344CB8AC3E}">
        <p14:creationId xmlns:p14="http://schemas.microsoft.com/office/powerpoint/2010/main" val="113103686"/>
      </p:ext>
    </p:extLst>
  </p:cSld>
</p:sld>
</file>

<file path=ppt/slides/beginner_slide18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5B1BD8A6-F7EE-493F-A258-8030E9BF1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第 1 步：模块与 SoC 身份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E9320489-72C3-4A4F-87EA-67C2F227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11.6.1_登记模块和 SoC 身份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F399B6C5-3322-4555-87AA-271FC4E00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356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Windows UCRT64；源码根；随附 learning 已放入源码根。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test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-f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learning/board/labs/hc32_port/zephyr/module.yml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mkdir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build/learning-tools/p003/hc32_port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mkdir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-p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build/learning-tools/p003/hc32_port/soc/xhsc/hc32f4a0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cp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-R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learning/board/labs/hc32_port/zephyr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build/learning-tools/p003/hc32_port/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cp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learning/board/labs/hc32_port/Kconfig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learning/board/labs/hc32_port/CMakeLists.txt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\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build/learning-tools/p003/hc32_port/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cp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learning/board/labs/hc32_port/soc/xhsc/hc32f4a0/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{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soc.yml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Kconfig.soc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Kconfig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Kconfig.defconfig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} \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build/learning-tools/p003/hc32_port/soc/xhsc/hc32f4a0/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3EAAEE6D-5408-417A-8747-01896ABB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99100"/>
            <a:ext cx="109728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cp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的源为随附原件，目标是本节新建副本；入口引用的驱动稍后才加入，现在不完整配置。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DC0268B3-4C3B-4778-AA75-25A2312D1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完整命令：P011_Windows/11.6.1-01.txt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191168F-3960-4FFA-B80A-A2BFA95174F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31</a:t>
            </a:fld>
          </a:p>
        </p:txBody>
      </p:sp>
    </p:spTree>
    <p:extLst>
      <p:ext uri="{BB962C8B-B14F-4D97-AF65-F5344CB8AC3E}">
        <p14:creationId xmlns:p14="http://schemas.microsoft.com/office/powerpoint/2010/main" val="7115492"/>
      </p:ext>
    </p:extLst>
  </p:cSld>
</p:sld>
</file>

<file path=ppt/slides/beginner_slide19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F57871B7-A125-4864-B64A-F9BB8E561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第 2 步：芯片资源与 PCB 连接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2575B419-55C8-45BA-B425-CC22B3B76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11.6.2_描述芯片资源，再描述 PCB 连接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4EB57750-C383-4D35-B820-22CDF4C77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UCRT64；源码根；工作模块已由 11.6.1 创建。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cp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-R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learning/board/labs/hc32_port/dts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build/learning-tools/p003/hc32_port/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cp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-R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learning/board/labs/hc32_port/boards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build/learning-tools/p003/hc32_port/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cat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build/learning-tools/p003/hc32_port/dts/bindings/vendor-prefixes.txt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cat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build/learning-tools/p003/hc32_port/boards/uyup/uyup_rpi_a/board.yml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ACCBAADA-5900-41C8-B6F9-E8223E952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dts/boards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来自随附适配原件，工作副本中新增。核对型号、内存、12 MHz 与实际连线。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065BC236-442D-4E33-ACA3-9FC548B16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完整命令：P011_Windows/11.6.2-01.txt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AF219FF-5534-4FCC-B3D4-593504C7AD8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33</a:t>
            </a:fld>
          </a:p>
        </p:txBody>
      </p:sp>
    </p:spTree>
    <p:extLst>
      <p:ext uri="{BB962C8B-B14F-4D97-AF65-F5344CB8AC3E}">
        <p14:creationId xmlns:p14="http://schemas.microsoft.com/office/powerpoint/2010/main" val="82566660"/>
      </p:ext>
    </p:extLst>
  </p:cSld>
</p:sld>
</file>

<file path=ppt/slides/beginner_slide20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C9EBD4BB-2590-4C2A-8595-D479F0E54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确认 HC32 身份可发现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D9B39964-B22B-4827-8A97-9D1248CB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11.6.2_描述芯片资源，再描述 PCB 连接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28F3C461-95B5-4417-84DE-1E4F100D5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UCRT64；源码根；查询只检查发现关系，不编译驱动。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scripts/list_boards.py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--board-root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build/learning-tools/p003/hc32_port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--soc-root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build/learning-tools/p003/hc32_port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--board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uyup_rpi_a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--cmakeformat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'{NAME};{DIR};{QUALIFIERS}'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F23C5F0E-5F8A-41A7-B2D9-C89769A2D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出现 uyup_rpi_a/hc32f4a0pitb 只证明登记，不能据此宣布启动与驱动完成。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5BFB3417-3FF0-40B4-8D48-3C41512F2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完整命令：P011_Windows/11.6.2-02.txt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0099ADA-CE6F-4CB6-B320-09157F4235C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35</a:t>
            </a:fld>
          </a:p>
        </p:txBody>
      </p:sp>
    </p:spTree>
    <p:extLst>
      <p:ext uri="{BB962C8B-B14F-4D97-AF65-F5344CB8AC3E}">
        <p14:creationId xmlns:p14="http://schemas.microsoft.com/office/powerpoint/2010/main" val="474411313"/>
      </p:ext>
    </p:extLst>
  </p:cSld>
</p:sld>
</file>

<file path=ppt/slides/beginner_slide2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A8A8F704-A7A3-4E58-88F3-67E63BA73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第 3 步：启动、时钟和链接入口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B411A5B-EB8D-4461-BDD0-BEDD561B9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11.6.3_接入复位、时钟和链接布局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4D1973E2-8231-428E-AEFE-1DDCCB01C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逐项阅读 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soc.c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reset_hook.S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icg.ld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与 SoC CMake；不能只把 AN386 改名。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打开下方“完整命令”，复制本操作单元。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文件已含目录/终端注释；按正文先检查前提，再粘贴执行。</a:t>
            </a:r>
          </a:p>
        </p:txBody>
      </p:sp>
      <p:sp>
        <p:nvSpPr>
          <p:cNvPr id="4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C242A409-65F7-4D31-93CA-5D3153FEB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完整命令：P011_Windows/11.6.3-01.txt</a:t>
            </a:r>
          </a:p>
        </p:txBody>
      </p:sp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164D685-CFCF-450E-BDAD-51C80C245E3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36</a:t>
            </a:fld>
          </a:p>
        </p:txBody>
      </p:sp>
    </p:spTree>
    <p:extLst>
      <p:ext uri="{BB962C8B-B14F-4D97-AF65-F5344CB8AC3E}">
        <p14:creationId xmlns:p14="http://schemas.microsoft.com/office/powerpoint/2010/main" val="429999873"/>
      </p:ext>
    </p:extLst>
  </p:cSld>
</p:sld>
</file>

<file path=ppt/slides/beginner_slide2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0767FD89-090F-4085-8AFC-DAD1E9924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第 4 步：把 HAL 接到 Zephyr API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0739C8D8-12A5-44B7-B1A4-5BA984C5E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11.6.4_把 HAL 能力接成 Zephyr 驱动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7BF59EA2-5DFE-4A9F-B1BD-3350481AC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UCRT64；源码根。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cp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-R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learning/board/labs/hc32_port/drivers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build/learning-tools/p003/hc32_port/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cat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build/learning-tools/p003/hc32_port/Kconfig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cat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build/learning-tools/p003/hc32_port/CMakeLists.txt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cat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build/learning-tools/p003/hc32_port/drivers/serial/Kconfig.hc32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4EA8ECE9-5955-4E2B-8A4F-7045464DF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Kconfig 选功能，CMake 选源文件，binding/DTS 给硬件数据，驱动调用 HAL。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D9E90FED-A45A-42DA-9ACB-9BCD7746F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完整命令：P011_Windows/11.6.4-01.txt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DF0F29D-89D6-489D-B51A-4A8441E3C5F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38</a:t>
            </a:fld>
          </a:p>
        </p:txBody>
      </p:sp>
    </p:spTree>
    <p:extLst>
      <p:ext uri="{BB962C8B-B14F-4D97-AF65-F5344CB8AC3E}">
        <p14:creationId xmlns:p14="http://schemas.microsoft.com/office/powerpoint/2010/main" val="695563864"/>
      </p:ext>
    </p:extLst>
  </p:cSld>
</p:sld>
</file>

<file path=ppt/slides/beginner_slide2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15076E31-80DF-4A7B-A056-32129B0B3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第 5 步：比较原件与工作副本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115C11E-6D4D-442D-A2C0-200A79894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11.6.5_检查工作模块与配套材料是否一致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52F76FF5-47D0-4F0D-A1D6-49252FD9B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应得到 missing 和 changed 均为空。先完成可解释的基线，再修改自己的板参数。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打开下方“完整命令”，复制本操作单元。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文件已含目录/终端注释；按正文先检查前提，再粘贴执行。</a:t>
            </a:r>
          </a:p>
        </p:txBody>
      </p:sp>
      <p:sp>
        <p:nvSpPr>
          <p:cNvPr id="4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A4697EE0-80DD-4D55-924D-2ED84460F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完整命令：P011_Windows/11.6.5-01.txt</a:t>
            </a:r>
          </a:p>
        </p:txBody>
      </p:sp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C13E96A-D8DE-4234-A1F1-B12DEB108C5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40</a:t>
            </a:fld>
          </a:p>
        </p:txBody>
      </p:sp>
    </p:spTree>
    <p:extLst>
      <p:ext uri="{BB962C8B-B14F-4D97-AF65-F5344CB8AC3E}">
        <p14:creationId xmlns:p14="http://schemas.microsoft.com/office/powerpoint/2010/main" val="1524420563"/>
      </p:ext>
    </p:extLst>
  </p:cSld>
</p:sld>
</file>

<file path=ppt/slides/beginner_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112C7156-D9AB-4F8E-9AC4-DF2A56FC0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 HC32：增加 HAL 与适配模块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2D576961-CCEB-49E2-9BF0-F77AFCAD7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11.7_编译所选 HC32 板的同一个应用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6671A04-6410-4842-AB64-90531E2B1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完整命令包含三个模块根，以分号分隔；不把同名参考原件再次加入，避免重复定义。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打开下方“完整命令”，复制本操作单元。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文件已含目录/终端注释；按正文先检查前提，再粘贴执行。</a:t>
            </a:r>
          </a:p>
        </p:txBody>
      </p:sp>
      <p:sp>
        <p:nvSpPr>
          <p:cNvPr id="4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B32E1AEC-6DA4-461E-833D-C69B6B106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完整命令：P007_Windows/7.7-01.txt</a:t>
            </a:r>
          </a:p>
        </p:txBody>
      </p:sp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0956932-0D9D-4DB1-8CCC-902A39467AF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39</a:t>
            </a:fld>
          </a:p>
        </p:txBody>
      </p:sp>
    </p:spTree>
    <p:extLst>
      <p:ext uri="{BB962C8B-B14F-4D97-AF65-F5344CB8AC3E}">
        <p14:creationId xmlns:p14="http://schemas.microsoft.com/office/powerpoint/2010/main" val="2031488532"/>
      </p:ext>
    </p:extLst>
  </p:cSld>
</p:sld>
</file>

<file path=ppt/slides/beginner_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34320223-CF82-4906-ADD6-69BE2D373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编译同一个 hello_world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5ABABC6-2DDA-406E-9DB2-24470789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11.7_编译所选 HC32 板的同一个应用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3A826E63-27E4-47B1-8055-466C286C1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UCRT64；源码根；配置成功后。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cmake --build build/learning-tools/p003/build-hc32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ls -l build/learning-tools/p003/build-hc32/zephyr/zephyr.elf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881490B6-7537-4884-B333-F243906CB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生成 ELF 是构建通过；本章节尚未烧录和验收实板外设。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E285F2D5-AB85-453A-8EB8-BA302DDA5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完整命令：P007_Windows/7.7-02.txt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5A2BE20-A4CA-400A-A056-49019BBEE64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40</a:t>
            </a:fld>
          </a:p>
        </p:txBody>
      </p:sp>
    </p:spTree>
    <p:extLst>
      <p:ext uri="{BB962C8B-B14F-4D97-AF65-F5344CB8AC3E}">
        <p14:creationId xmlns:p14="http://schemas.microsoft.com/office/powerpoint/2010/main" val="1299838940"/>
      </p:ext>
    </p:extLst>
  </p:cSld>
</p:sld>
</file>

<file path=ppt/slides/beginner_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33CD19E4-AB66-43C8-B4D2-FAB43B189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确认 HC32 配置和 HAL 实际生效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08BF58EB-A61B-4165-8BFF-8E74A6758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11.8_按阶段验收，留下可以解释的结果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EA0ACC08-F9A7-4094-917E-D8D4D3C08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UCRT64；源码根；HC32 构建已成功。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grep -E '^CONFIG_(BOARD|SOC|CPU_CORTEX_M4|CPU_HAS_FPU|HAS_CMSIS|SYS_CLOCK_HW_CYCLES_PER_SEC)' \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build/learning-tools/p003/build-hc32/zephyr/.config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cat build/learning-tools/p003/build-hc32/zephyr_modules.txt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grep -F 'hc32f4a0' build/learning-tools/p003/build-hc32/compile_commands.json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F65FC8AC-4F04-4477-8AE3-CCB87B63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检查 .config、模块清单及真实编译命令；12 MHz 是本入门快照阶段，不沿用后续 USB 时钟。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90330002-39D2-415A-A4C9-9A8F3F3BA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完整命令：P007_Windows/7.8-01.txt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608F861-2915-4E7E-8C31-A8CAC821F6E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41</a:t>
            </a:fld>
          </a:p>
        </p:txBody>
      </p:sp>
    </p:spTree>
    <p:extLst>
      <p:ext uri="{BB962C8B-B14F-4D97-AF65-F5344CB8AC3E}">
        <p14:creationId xmlns:p14="http://schemas.microsoft.com/office/powerpoint/2010/main" val="2008371078"/>
      </p:ext>
    </p:extLst>
  </p:cSld>
</p:sld>
</file>

<file path=ppt/slides/cmsiswest_slide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A3DAAFEC-1FE3-4D2E-AA62-D8ADED658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从 P002—P005 接过来的输入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1C6273F4-0E4F-4176-B884-C12789D9F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11.2.1 · UCRT64 位于实验源码根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A92158-C976-40D4-BC63-6B380A0683A7}"/>
              </a:ext>
            </a:extLst>
          </p:cNvPr>
          <p:cNvGraphicFramePr/>
          <p:nvPr/>
        </p:nvGraphicFramePr>
        <p:xfrm>
          <a:off xmlns:a="http://schemas.openxmlformats.org/drawingml/2006/main" x="609600" y="1924050"/>
          <a:ext xmlns:a="http://schemas.openxmlformats.org/drawingml/2006/main" cx="10972800" cy="3190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7543800"/>
              </a:tblGrid>
              <a:tr h="63817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来源 / 位置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源码与 venv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zephyr-main；</a:t>
                      </a: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.venv/Scripts/activate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SDK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P002—P005 核验过的实际安装根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CMSIS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A02B9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west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list cmsis_6 查询工作区模块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输出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build/learning-tools/p003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，各实验用新目录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31E259-FEB5-47EC-B7A8-75924391132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</a:p>
        </p:txBody>
      </p:sp>
    </p:spTree>
    <p:extLst>
      <p:ext uri="{BB962C8B-B14F-4D97-AF65-F5344CB8AC3E}">
        <p14:creationId xmlns:p14="http://schemas.microsoft.com/office/powerpoint/2010/main" val="968810106"/>
      </p:ext>
    </p:extLst>
  </p:cSld>
</p:sld>
</file>

<file path=ppt/slides/cmsiswest_slide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A246DF6E-3247-462E-9633-CB99791B1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工程、工具和模块各有入口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BB57862A-A203-424A-A157-D77B2CF2F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11.2.2 · CMake 与 west 分工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165FEDD3-C1B6-4DED-BC6C-B9E00F474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ns0:p xmlns:ns0="http://schemas.openxmlformats.org/drawingml/2006/main">
            <ns0:pPr>
              <ns0:lnSpc>
                <ns0:spcPct val="120000"/>
              </ns0:lnSpc>
              <ns0:defRPr sz="2175" b="0">
                <ns0:solidFill>
                  <ns0:srgbClr val="29263B"/>
                </ns0:solidFill>
                <ns0:latin typeface="Microsoft YaHei"/>
                <ns0:ea typeface="Microsoft YaHei"/>
                <ns0:cs typeface="Microsoft YaHei"/>
              </ns0:defRPr>
            </ns0:pPr>
            <ns0:r>
              <ns0:rPr sz="2175" b="0">
                <ns0:solidFill>
                  <ns0:srgbClr val="29263B"/>
                </ns0:solidFill>
                <ns0:latin typeface="Microsoft YaHei"/>
                <ns0:ea typeface="Microsoft YaHei"/>
                <ns0:cs typeface="Microsoft YaHei"/>
              </ns0:rPr>
              <ns0:t>源码入口：</ns0:t>
            </ns0:r>
            <ns0:r>
              <ns0:rPr sz="2175" b="0">
                <ns0:solidFill>
                  <ns0:srgbClr val="B84E00"/>
                </ns0:solidFill>
                <ns0:latin typeface="Microsoft YaHei"/>
                <ns0:ea typeface="Microsoft YaHei"/>
                <ns0:cs typeface="Microsoft YaHei"/>
              </ns0:rPr>
              <ns0:t>Zephyr_DIR</ns0:t>
            </ns0:r>
            <ns0:r>
              <ns0:rPr sz="2175" b="0">
                <ns0:solidFill>
                  <ns0:srgbClr val="29263B"/>
                </ns0:solidFill>
                <ns0:latin typeface="Microsoft YaHei"/>
                <ns0:ea typeface="Microsoft YaHei"/>
                <ns0:cs typeface="Microsoft YaHei"/>
              </ns0:rPr>
              <ns0:t> 选择 G 盘工程规则。</ns0:t>
            </ns0:r>
          </ns0:p>
          <ns1:p xmlns:ns1="http://schemas.openxmlformats.org/drawingml/2006/main">
            <ns1:pPr>
              <ns1:lnSpc>
                <ns1:spcPct val="120000"/>
              </ns1:lnSpc>
              <ns1:defRPr sz="2175" b="0">
                <ns1:solidFill>
                  <ns1:srgbClr val="29263B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175" b="0">
                <ns1:solidFill>
                  <ns1:srgbClr val="29263B"/>
                </ns1:solidFill>
                <ns1:latin typeface="Microsoft YaHei"/>
                <ns1:ea typeface="Microsoft YaHei"/>
                <ns1:cs typeface="Microsoft YaHei"/>
              </ns1:rPr>
              <ns1:t>SDK 包注册：默认发现可用工具，不再重复传类型和根。</ns1:t>
            </ns1:r>
          </ns1:p>
          <ns2:p xmlns:ns2="http://schemas.openxmlformats.org/drawingml/2006/main">
            <ns2:pPr>
              <ns2:lnSpc>
                <ns2:spcPct val="120000"/>
              </ns2:lnSpc>
              <ns2:defRPr sz="2175" b="0">
                <ns2:solidFill>
                  <ns2:srgbClr val="29263B"/>
                </ns2:solidFill>
                <ns2:latin typeface="Microsoft YaHei"/>
                <ns2:ea typeface="Microsoft YaHei"/>
                <ns2:cs typeface="Microsoft YaHei"/>
              </ns2:defRPr>
            </ns2:pPr>
            <ns2:r>
              <ns2:rPr sz="2175" b="0">
                <ns2:solidFill>
                  <ns2:srgbClr val="A02B93"/>
                </ns2:solidFill>
                <ns2:latin typeface="Microsoft YaHei"/>
                <ns2:ea typeface="Microsoft YaHei"/>
                <ns2:cs typeface="Microsoft YaHei"/>
              </ns2:rPr>
              <ns2:t>west</ns2:t>
            </ns2:r>
            <ns2:r>
              <ns2:rPr sz="2175" b="0">
                <ns2:solidFill>
                  <ns2:srgbClr val="29263B"/>
                </ns2:solidFill>
                <ns2:latin typeface="Microsoft YaHei"/>
                <ns2:ea typeface="Microsoft YaHei"/>
                <ns2:cs typeface="Microsoft YaHei"/>
              </ns2:rPr>
              <ns2:t> 工作区：提供 CMSIS；额外 HAL 在后面按需追加。</ns2:t>
            </ns2:r>
          </ns2:p>
          <ns3:p xmlns:ns3="http://schemas.openxmlformats.org/drawingml/2006/main">
            <ns3:pPr>
              <ns3:lnSpc>
                <ns3:spcPct val="120000"/>
              </ns3:lnSpc>
              <ns3:defRPr sz="2175" b="0">
                <ns3:solidFill>
                  <ns3:srgbClr val="29263B"/>
                </ns3:solidFill>
                <ns3:latin typeface="Microsoft YaHei"/>
                <ns3:ea typeface="Microsoft YaHei"/>
                <ns3:cs typeface="Microsoft YaHei"/>
              </ns3:defRPr>
            </ns3:pPr>
            <ns3:r>
              <ns3:rPr sz="2175" b="0">
                <ns3:solidFill>
                  <ns3:srgbClr val="29263B"/>
                </ns3:solidFill>
                <ns3:latin typeface="Microsoft YaHei"/>
                <ns3:ea typeface="Microsoft YaHei"/>
                <ns3:cs typeface="Microsoft YaHei"/>
              </ns3:rPr>
              <ns3:t>后续 P009 详解 接口组合，再核对本章实际配置。</ns3:t>
            </ns3:r>
          </ns3:p>
        </p:txBody>
      </p:sp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31E259-FEB5-47EC-B7A8-75924391132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87537990"/>
      </p:ext>
    </p:extLst>
  </p:cSld>
</p:sld>
</file>

<file path=ppt/slides/cmsiswest_slide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500D62DC-13D2-49DA-9EC7-189F08880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ns0:p xmlns:ns0="http://schemas.openxmlformats.org/drawingml/2006/main">
            <ns0:pPr>
              <ns0:defRPr sz="3150" b="1">
                <ns0:solidFill>
                  <ns0:srgbClr val="29263B"/>
                </ns0:solidFill>
                <ns0:latin typeface="Microsoft YaHei"/>
                <ns0:ea typeface="Microsoft YaHei"/>
                <ns0:cs typeface="Microsoft YaHei"/>
              </ns0:defRPr>
            </ns0:pPr>
            <ns0:r>
              <ns0:rPr sz="3150" b="1">
                <ns0:solidFill>
                  <ns0:srgbClr val="29263B"/>
                </ns0:solidFill>
                <ns0:latin typeface="Microsoft YaHei"/>
                <ns0:ea typeface="Microsoft YaHei"/>
                <ns0:cs typeface="Microsoft YaHei"/>
              </ns0:rPr>
              <ns0:t>本次终端只准备源码与 Python</ns0:t>
            </ns0:r>
          </ns0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D73F3B42-27FD-484B-9E0B-3E24DD7D4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11.2.1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39E7DE3F-B28E-4413-818D-62A9EFEA5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ns1:p xmlns:ns1="http://schemas.openxmlformats.org/drawingml/2006/main">
            <ns1:pPr>
              <ns1:lnSpc>
                <ns1:spcPct val="120000"/>
              </ns1:lnSpc>
              <ns1:defRPr sz="1875" b="0">
                <ns1:solidFill>
                  <ns1:srgbClr val="005968"/>
                </ns1:solidFill>
                <ns1:latin typeface="Consolas"/>
                <ns1:ea typeface="Consolas"/>
                <ns1:cs typeface="Consolas"/>
              </ns1:defRPr>
            </ns1:pPr>
            <ns1:r>
              <ns1:rPr sz="1875" b="0">
                <ns1:solidFill>
                  <ns1:srgbClr val="646173"/>
                </ns1:solidFill>
                <ns1:latin typeface="Consolas"/>
                <ns1:ea typeface="Consolas"/>
                <ns1:cs typeface="Consolas"/>
              </ns1:rPr>
              <ns1:t># UCRT64；源码根；重开终端时重新执行本块。</ns1:t>
            </ns1:r>
          </ns1:p>
          <ns2:p xmlns:ns2="http://schemas.openxmlformats.org/drawingml/2006/main">
            <ns2:pPr>
              <ns2:lnSpc>
                <ns2:spcPct val="120000"/>
              </ns2:lnSpc>
              <ns2:defRPr sz="1875" b="0">
                <ns2:solidFill>
                  <ns2:srgbClr val="005968"/>
                </ns2:solidFill>
                <ns2:latin typeface="Consolas"/>
                <ns2:ea typeface="Consolas"/>
                <ns2:cs typeface="Consolas"/>
              </ns2:defRPr>
            </ns2:pPr>
            <ns2:r>
              <ns2:rPr sz="1875" b="0">
                <ns2:solidFill>
                  <ns2:srgbClr val="A02B93"/>
                </ns2:solidFill>
                <ns2:latin typeface="Consolas"/>
                <ns2:ea typeface="Consolas"/>
                <ns2:cs typeface="Consolas"/>
              </ns2:rPr>
              <ns2:t>cd</ns2:t>
            </ns2:r>
            <ns2:r>
              <ns2:rPr sz="1875" b="0">
                <ns2:solidFill>
                  <ns2:srgbClr val="29263B"/>
                </ns2:solidFill>
                <ns2:latin typeface="Consolas"/>
                <ns2:ea typeface="Consolas"/>
                <ns2:cs typeface="Consolas"/>
              </ns2:rPr>
              <ns2:t> </ns2:t>
            </ns2:r>
            <ns2:r>
              <ns2:rPr sz="1875" b="0">
                <ns2:solidFill>
                  <ns2:srgbClr val="0070C0"/>
                </ns2:solidFill>
                <ns2:latin typeface="Consolas"/>
                <ns2:ea typeface="Consolas"/>
                <ns2:cs typeface="Consolas"/>
              </ns2:rPr>
              <ns2:t>/g/zephyr_practice/zephyr-main</ns2:t>
            </ns2:r>
          </ns2:p>
          <ns3:p xmlns:ns3="http://schemas.openxmlformats.org/drawingml/2006/main">
            <ns3:pPr>
              <ns3:lnSpc>
                <ns3:spcPct val="120000"/>
              </ns3:lnSpc>
              <ns3:defRPr sz="1875" b="0">
                <ns3:solidFill>
                  <ns3:srgbClr val="005968"/>
                </ns3:solidFill>
                <ns3:latin typeface="Consolas"/>
                <ns3:ea typeface="Consolas"/>
                <ns3:cs typeface="Consolas"/>
              </ns3:defRPr>
            </ns3:pPr>
            <ns3:r>
              <ns3:rPr sz="1875" b="0">
                <ns3:solidFill>
                  <ns3:srgbClr val="A02B93"/>
                </ns3:solidFill>
                <ns3:latin typeface="Consolas"/>
                <ns3:ea typeface="Consolas"/>
                <ns3:cs typeface="Consolas"/>
              </ns3:rPr>
              <ns3:t>source</ns3:t>
            </ns3:r>
            <ns3:r>
              <ns3:rPr sz="1875" b="0">
                <ns3:solidFill>
                  <ns3:srgbClr val="29263B"/>
                </ns3:solidFill>
                <ns3:latin typeface="Consolas"/>
                <ns3:ea typeface="Consolas"/>
                <ns3:cs typeface="Consolas"/>
              </ns3:rPr>
              <ns3:t> </ns3:t>
            </ns3:r>
            <ns3:r>
              <ns3:rPr sz="1875" b="0">
                <ns3:solidFill>
                  <ns3:srgbClr val="0070C0"/>
                </ns3:solidFill>
                <ns3:latin typeface="Consolas"/>
                <ns3:ea typeface="Consolas"/>
                <ns3:cs typeface="Consolas"/>
              </ns3:rPr>
              <ns3:t>.venv/Scripts/activate</ns3:t>
            </ns3:r>
          </ns3:p>
          <ns4:p xmlns:ns4="http://schemas.openxmlformats.org/drawingml/2006/main">
            <ns4:pPr>
              <ns4:lnSpc>
                <ns4:spcPct val="120000"/>
              </ns4:lnSpc>
              <ns4:defRPr sz="1875" b="0">
                <ns4:solidFill>
                  <ns4:srgbClr val="005968"/>
                </ns4:solidFill>
                <ns4:latin typeface="Consolas"/>
                <ns4:ea typeface="Consolas"/>
                <ns4:cs typeface="Consolas"/>
              </ns4:defRPr>
            </ns4:pPr>
            <ns4:r>
              <ns4:rPr sz="1875" b="0">
                <ns4:solidFill>
                  <ns4:srgbClr val="A02B93"/>
                </ns4:solidFill>
                <ns4:latin typeface="Consolas"/>
                <ns4:ea typeface="Consolas"/>
                <ns4:cs typeface="Consolas"/>
              </ns4:rPr>
              <ns4:t>export</ns4:t>
            </ns4:r>
            <ns4:r>
              <ns4:rPr sz="187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 </ns4:t>
            </ns4:r>
            <ns4:r>
              <ns4:rPr sz="1875" b="0">
                <ns4:solidFill>
                  <ns4:srgbClr val="B84E00"/>
                </ns4:solidFill>
                <ns4:latin typeface="Consolas"/>
                <ns4:ea typeface="Consolas"/>
                <ns4:cs typeface="Consolas"/>
              </ns4:rPr>
              <ns4:t>ZEPHYR_BASE</ns4:t>
            </ns4:r>
            <ns4:r>
              <ns4:rPr sz="187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="$(</ns4:t>
            </ns4:r>
            <ns4:r>
              <ns4:rPr sz="1875" b="0">
                <ns4:solidFill>
                  <ns4:srgbClr val="A02B93"/>
                </ns4:solidFill>
                <ns4:latin typeface="Consolas"/>
                <ns4:ea typeface="Consolas"/>
                <ns4:cs typeface="Consolas"/>
              </ns4:rPr>
              <ns4:t>cygpath</ns4:t>
            </ns4:r>
            <ns4:r>
              <ns4:rPr sz="187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 </ns4:t>
            </ns4:r>
            <ns4:r>
              <ns4:rPr sz="1875" b="0">
                <ns4:solidFill>
                  <ns4:srgbClr val="B84E00"/>
                </ns4:solidFill>
                <ns4:latin typeface="Consolas"/>
                <ns4:ea typeface="Consolas"/>
                <ns4:cs typeface="Consolas"/>
              </ns4:rPr>
              <ns4:t>-m</ns4:t>
            </ns4:r>
            <ns4:r>
              <ns4:rPr sz="187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 "</ns4:t>
            </ns4:r>
            <ns4:r>
              <ns4:rPr sz="1875" b="0">
                <ns4:solidFill>
                  <ns4:srgbClr val="B84E00"/>
                </ns4:solidFill>
                <ns4:latin typeface="Consolas"/>
                <ns4:ea typeface="Consolas"/>
                <ns4:cs typeface="Consolas"/>
              </ns4:rPr>
              <ns4:t>$PWD</ns4:t>
            </ns4:r>
            <ns4:r>
              <ns4:rPr sz="187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")"</ns4:t>
            </ns4:r>
          </ns4:p>
          <ns5:p xmlns:ns5="http://schemas.openxmlformats.org/drawingml/2006/main">
            <ns5:pPr>
              <ns5:lnSpc>
                <ns5:spcPct val="120000"/>
              </ns5:lnSpc>
              <ns5:defRPr sz="1875" b="0">
                <ns5:solidFill>
                  <ns5:srgbClr val="005968"/>
                </ns5:solidFill>
                <ns5:latin typeface="Consolas"/>
                <ns5:ea typeface="Consolas"/>
                <ns5:cs typeface="Consolas"/>
              </ns5:defRPr>
            </ns5:pPr>
            <ns5:r>
              <ns5:rPr sz="1875" b="0">
                <ns5:solidFill>
                  <ns5:srgbClr val="A02B93"/>
                </ns5:solidFill>
                <ns5:latin typeface="Consolas"/>
                <ns5:ea typeface="Consolas"/>
                <ns5:cs typeface="Consolas"/>
              </ns5:rPr>
              <ns5:t>unset</ns5:t>
            </ns5:r>
            <ns5:r>
              <ns5:rPr sz="1875" b="0">
                <ns5:solidFill>
                  <ns5:srgbClr val="29263B"/>
                </ns5:solidFill>
                <ns5:latin typeface="Consolas"/>
                <ns5:ea typeface="Consolas"/>
                <ns5:cs typeface="Consolas"/>
              </ns5:rPr>
              <ns5:t> </ns5:t>
            </ns5:r>
            <ns5:r>
              <ns5:rPr sz="1875" b="0">
                <ns5:solidFill>
                  <ns5:srgbClr val="B84E00"/>
                </ns5:solidFill>
                <ns5:latin typeface="Consolas"/>
                <ns5:ea typeface="Consolas"/>
                <ns5:cs typeface="Consolas"/>
              </ns5:rPr>
              <ns5:t>ZEPHYR_MODULES</ns5:t>
            </ns5:r>
            <ns5:r>
              <ns5:rPr sz="1875" b="0">
                <ns5:solidFill>
                  <ns5:srgbClr val="29263B"/>
                </ns5:solidFill>
                <ns5:latin typeface="Consolas"/>
                <ns5:ea typeface="Consolas"/>
                <ns5:cs typeface="Consolas"/>
              </ns5:rPr>
              <ns5:t> </ns5:t>
            </ns5:r>
            <ns5:r>
              <ns5:rPr sz="1875" b="0">
                <ns5:solidFill>
                  <ns5:srgbClr val="B84E00"/>
                </ns5:solidFill>
                <ns5:latin typeface="Consolas"/>
                <ns5:ea typeface="Consolas"/>
                <ns5:cs typeface="Consolas"/>
              </ns5:rPr>
              <ns5:t>EXTRA_ZEPHYR_MODULES</ns5:t>
            </ns5:r>
            <ns5:r>
              <ns5:rPr sz="1875" b="0">
                <ns5:solidFill>
                  <ns5:srgbClr val="29263B"/>
                </ns5:solidFill>
                <ns5:latin typeface="Consolas"/>
                <ns5:ea typeface="Consolas"/>
                <ns5:cs typeface="Consolas"/>
              </ns5:rPr>
              <ns5:t> </ns5:t>
            </ns5:r>
            <ns5:r>
              <ns5:rPr sz="1875" b="0">
                <ns5:solidFill>
                  <ns5:srgbClr val="B84E00"/>
                </ns5:solidFill>
                <ns5:latin typeface="Consolas"/>
                <ns5:ea typeface="Consolas"/>
                <ns5:cs typeface="Consolas"/>
              </ns5:rPr>
              <ns5:t>ZEPHYR_EXTRA_MODULES</ns5:t>
            </ns5:r>
          </ns5:p>
          <ns6:p xmlns:ns6="http://schemas.openxmlformats.org/drawingml/2006/main">
            <ns6:pPr>
              <ns6:lnSpc>
                <ns6:spcPct val="120000"/>
              </ns6:lnSpc>
              <ns6:defRPr sz="1875" b="0">
                <ns6:solidFill>
                  <ns6:srgbClr val="005968"/>
                </ns6:solidFill>
                <ns6:latin typeface="Consolas"/>
                <ns6:ea typeface="Consolas"/>
                <ns6:cs typeface="Consolas"/>
              </ns6:defRPr>
            </ns6:pPr>
            <ns6:r>
              <ns6:rPr sz="1875" b="0">
                <ns6:solidFill>
                  <ns6:srgbClr val="A02B93"/>
                </ns6:solidFill>
                <ns6:latin typeface="Consolas"/>
                <ns6:ea typeface="Consolas"/>
                <ns6:cs typeface="Consolas"/>
              </ns6:rPr>
              <ns6:t>python</ns6:t>
            </ns6:r>
            <ns6:r>
              <ns6:rPr sz="1875" b="0">
                <ns6:solidFill>
                  <ns6:srgbClr val="29263B"/>
                </ns6:solidFill>
                <ns6:latin typeface="Consolas"/>
                <ns6:ea typeface="Consolas"/>
                <ns6:cs typeface="Consolas"/>
              </ns6:rPr>
              <ns6:t> </ns6:t>
            </ns6:r>
            <ns6:r>
              <ns6:rPr sz="1875" b="0">
                <ns6:solidFill>
                  <ns6:srgbClr val="B84E00"/>
                </ns6:solidFill>
                <ns6:latin typeface="Consolas"/>
                <ns6:ea typeface="Consolas"/>
                <ns6:cs typeface="Consolas"/>
              </ns6:rPr>
              <ns6:t>-m</ns6:t>
            </ns6:r>
            <ns6:r>
              <ns6:rPr sz="1875" b="0">
                <ns6:solidFill>
                  <ns6:srgbClr val="29263B"/>
                </ns6:solidFill>
                <ns6:latin typeface="Consolas"/>
                <ns6:ea typeface="Consolas"/>
                <ns6:cs typeface="Consolas"/>
              </ns6:rPr>
              <ns6:t> pip check</ns6:t>
            </ns6:r>
          </ns6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E92039E-4656-4F0A-B673-5144C6681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ns7:p xmlns:ns7="http://schemas.openxmlformats.org/drawingml/2006/main">
            <ns7:pPr>
              <ns7:lnSpc>
                <ns7:spcPct val="120000"/>
              </ns7:lnSpc>
              <ns7:defRPr sz="1875" b="0">
                <ns7:solidFill>
                  <ns7:srgbClr val="29263B"/>
                </ns7:solidFill>
                <ns7:latin typeface="Microsoft YaHei"/>
                <ns7:ea typeface="Microsoft YaHei"/>
                <ns7:cs typeface="Microsoft YaHei"/>
              </ns7:defRPr>
            </ns7:pPr>
            <ns7:r>
              <ns7:rPr sz="1875" b="0">
                <ns7:solidFill>
                  <ns7:srgbClr val="29263B"/>
                </ns7:solidFill>
                <ns7:latin typeface="Microsoft YaHei"/>
                <ns7:ea typeface="Microsoft YaHei"/>
                <ns7:cs typeface="Microsoft YaHei"/>
              </ns7:rPr>
              <ns7:t>SDK 已有效注册，默认发现即可；新构建目录避开旧缓存。</ns7:t>
            </ns7:r>
          </ns7:p>
          <ns8:p xmlns:ns8="http://schemas.openxmlformats.org/drawingml/2006/main">
            <ns8:pPr>
              <ns8:lnSpc>
                <ns8:spcPct val="120000"/>
              </ns8:lnSpc>
              <ns8:defRPr sz="1875" b="0">
                <ns8:solidFill>
                  <ns8:srgbClr val="29263B"/>
                </ns8:solidFill>
                <ns8:latin typeface="Microsoft YaHei"/>
                <ns8:ea typeface="Microsoft YaHei"/>
                <ns8:cs typeface="Microsoft YaHei"/>
              </ns8:defRPr>
            </ns8:pPr>
            <ns8:r>
              <ns8:rPr sz="1875" b="0">
                <ns8:solidFill>
                  <ns8:srgbClr val="29263B"/>
                </ns8:solidFill>
                <ns8:latin typeface="Microsoft YaHei"/>
                <ns8:ea typeface="Microsoft YaHei"/>
                <ns8:cs typeface="Microsoft YaHei"/>
              </ns8:rPr>
              <ns8:t>若曾手动选工具链，按正文条件恢复块取消旧输入。</ns8:t>
            </ns8:r>
          </ns8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5C35C055-54EF-4A8F-A066-188EFEE4C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完整命令：P011_Windows/11.2.1-01.txt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31E259-FEB5-47EC-B7A8-75924391132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</a:p>
        </p:txBody>
      </p:sp>
    </p:spTree>
    <p:extLst>
      <p:ext uri="{BB962C8B-B14F-4D97-AF65-F5344CB8AC3E}">
        <p14:creationId xmlns:p14="http://schemas.microsoft.com/office/powerpoint/2010/main" val="308320861"/>
      </p:ext>
    </p:extLst>
  </p:cSld>
</p:sld>
</file>

<file path=ppt/slides/cmsiswest_slide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B6F71297-4190-492B-BD97-DB5078A97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配置前核对 SDK 与 west 模块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F658F8F1-2021-46EC-8B81-99F77A0C0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11.2.1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CCC68879-E6E1-4E49-9909-A2FC16A82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ns0:p xmlns:ns0="http://schemas.openxmlformats.org/drawingml/2006/main">
            <ns0:pPr>
              <ns0:lnSpc>
                <ns0:spcPct val="120000"/>
              </ns0:lnSpc>
              <ns0:defRPr sz="1875" b="0">
                <ns0:solidFill>
                  <ns0:srgbClr val="005968"/>
                </ns0:solidFill>
                <ns0:latin typeface="Consolas"/>
                <ns0:ea typeface="Consolas"/>
                <ns0:cs typeface="Consolas"/>
              </ns0:defRPr>
            </ns0:pPr>
            <ns0:r>
              <ns0:rPr sz="1875" b="0">
                <ns0:solidFill>
                  <ns0:srgbClr val="646173"/>
                </ns0:solidFill>
                <ns0:latin typeface="Consolas"/>
                <ns0:ea typeface="Consolas"/>
                <ns0:cs typeface="Consolas"/>
              </ns0:rPr>
              <ns0:t># UCRT64；源码根；检查已安装文件；实际选中的 SDK 要在配置后核验。</ns0:t>
            </ns0:r>
          </ns0:p>
          <ns1:p xmlns:ns1="http://schemas.openxmlformats.org/drawingml/2006/main">
            <ns1:pPr>
              <ns1:lnSpc>
                <ns1:spcPct val="120000"/>
              </ns1:lnSpc>
              <ns1:defRPr sz="1875" b="0">
                <ns1:solidFill>
                  <ns1:srgbClr val="005968"/>
                </ns1:solidFill>
                <ns1:latin typeface="Consolas"/>
                <ns1:ea typeface="Consolas"/>
                <ns1:cs typeface="Consolas"/>
              </ns1:defRPr>
            </ns1:pPr>
            <ns1:r>
              <ns1:rPr sz="1875" b="0">
                <ns1:solidFill>
                  <ns1:srgbClr val="A02B93"/>
                </ns1:solidFill>
                <ns1:latin typeface="Consolas"/>
                <ns1:ea typeface="Consolas"/>
                <ns1:cs typeface="Consolas"/>
              </ns1:rPr>
              <ns1:t>cat</ns1:t>
            </ns1:r>
            <ns1:r>
              <ns1:rPr sz="187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875" b="0">
                <ns1:solidFill>
                  <ns1:srgbClr val="0070C0"/>
                </ns1:solidFill>
                <ns1:latin typeface="Consolas"/>
                <ns1:ea typeface="Consolas"/>
                <ns1:cs typeface="Consolas"/>
              </ns1:rPr>
              <ns1:t>../zephyr-sdk-1.0.1/sdk_version</ns1:t>
            </ns1:r>
          </ns1:p>
          <ns2:p xmlns:ns2="http://schemas.openxmlformats.org/drawingml/2006/main">
            <ns2:pPr>
              <ns2:lnSpc>
                <ns2:spcPct val="120000"/>
              </ns2:lnSpc>
              <ns2:defRPr sz="1875" b="0">
                <ns2:solidFill>
                  <ns2:srgbClr val="005968"/>
                </ns2:solidFill>
                <ns2:latin typeface="Consolas"/>
                <ns2:ea typeface="Consolas"/>
                <ns2:cs typeface="Consolas"/>
              </ns2:defRPr>
            </ns2:pPr>
            <ns2:r>
              <ns2:rPr sz="1875" b="0">
                <ns2:solidFill>
                  <ns2:srgbClr val="A02B93"/>
                </ns2:solidFill>
                <ns2:latin typeface="Consolas"/>
                <ns2:ea typeface="Consolas"/>
                <ns2:cs typeface="Consolas"/>
              </ns2:rPr>
              <ns2:t>test</ns2:t>
            </ns2:r>
            <ns2:r>
              <ns2:rPr sz="1875" b="0">
                <ns2:solidFill>
                  <ns2:srgbClr val="29263B"/>
                </ns2:solidFill>
                <ns2:latin typeface="Consolas"/>
                <ns2:ea typeface="Consolas"/>
                <ns2:cs typeface="Consolas"/>
              </ns2:rPr>
              <ns2:t> </ns2:t>
            </ns2:r>
            <ns2:r>
              <ns2:rPr sz="1875" b="0">
                <ns2:solidFill>
                  <ns2:srgbClr val="B84E00"/>
                </ns2:solidFill>
                <ns2:latin typeface="Consolas"/>
                <ns2:ea typeface="Consolas"/>
                <ns2:cs typeface="Consolas"/>
              </ns2:rPr>
              <ns2:t>-f</ns2:t>
            </ns2:r>
            <ns2:r>
              <ns2:rPr sz="1875" b="0">
                <ns2:solidFill>
                  <ns2:srgbClr val="29263B"/>
                </ns2:solidFill>
                <ns2:latin typeface="Consolas"/>
                <ns2:ea typeface="Consolas"/>
                <ns2:cs typeface="Consolas"/>
              </ns2:rPr>
              <ns2:t> </ns2:t>
            </ns2:r>
            <ns2:r>
              <ns2:rPr sz="1875" b="0">
                <ns2:solidFill>
                  <ns2:srgbClr val="0070C0"/>
                </ns2:solidFill>
                <ns2:latin typeface="Consolas"/>
                <ns2:ea typeface="Consolas"/>
                <ns2:cs typeface="Consolas"/>
              </ns2:rPr>
              <ns2:t>../modules/hal/cmsis_6/CMSIS/Core/Include/core_cm4.h</ns2:t>
            </ns2:r>
          </ns2:p>
          <ns3:p xmlns:ns3="http://schemas.openxmlformats.org/drawingml/2006/main">
            <ns3:pPr>
              <ns3:lnSpc>
                <ns3:spcPct val="120000"/>
              </ns3:lnSpc>
              <ns3:defRPr sz="1875" b="0">
                <ns3:solidFill>
                  <ns3:srgbClr val="005968"/>
                </ns3:solidFill>
                <ns3:latin typeface="Consolas"/>
                <ns3:ea typeface="Consolas"/>
                <ns3:cs typeface="Consolas"/>
              </ns3:defRPr>
            </ns3:pPr>
            <ns3:r>
              <ns3:rPr sz="1875" b="0">
                <ns3:solidFill>
                  <ns3:srgbClr val="A02B93"/>
                </ns3:solidFill>
                <ns3:latin typeface="Consolas"/>
                <ns3:ea typeface="Consolas"/>
                <ns3:cs typeface="Consolas"/>
              </ns3:rPr>
              <ns3:t>test</ns3:t>
            </ns3:r>
            <ns3:r>
              <ns3:rPr sz="1875" b="0">
                <ns3:solidFill>
                  <ns3:srgbClr val="29263B"/>
                </ns3:solidFill>
                <ns3:latin typeface="Consolas"/>
                <ns3:ea typeface="Consolas"/>
                <ns3:cs typeface="Consolas"/>
              </ns3:rPr>
              <ns3:t> </ns3:t>
            </ns3:r>
            <ns3:r>
              <ns3:rPr sz="1875" b="0">
                <ns3:solidFill>
                  <ns3:srgbClr val="B84E00"/>
                </ns3:solidFill>
                <ns3:latin typeface="Consolas"/>
                <ns3:ea typeface="Consolas"/>
                <ns3:cs typeface="Consolas"/>
              </ns3:rPr>
              <ns3:t>-f</ns3:t>
            </ns3:r>
            <ns3:r>
              <ns3:rPr sz="1875" b="0">
                <ns3:solidFill>
                  <ns3:srgbClr val="29263B"/>
                </ns3:solidFill>
                <ns3:latin typeface="Consolas"/>
                <ns3:ea typeface="Consolas"/>
                <ns3:cs typeface="Consolas"/>
              </ns3:rPr>
              <ns3:t> </ns3:t>
            </ns3:r>
            <ns3:r>
              <ns3:rPr sz="1875" b="0">
                <ns3:solidFill>
                  <ns3:srgbClr val="0070C0"/>
                </ns3:solidFill>
                <ns3:latin typeface="Consolas"/>
                <ns3:ea typeface="Consolas"/>
                <ns3:cs typeface="Consolas"/>
              </ns3:rPr>
              <ns3:t>../modules/hal/cmsis_6/zephyr/module.yml</ns3:t>
            </ns3:r>
          </ns3:p>
          <ns4:p xmlns:ns4="http://schemas.openxmlformats.org/drawingml/2006/main">
            <ns4:pPr>
              <ns4:lnSpc>
                <ns4:spcPct val="120000"/>
              </ns4:lnSpc>
              <ns4:defRPr sz="1875" b="0">
                <ns4:solidFill>
                  <ns4:srgbClr val="005968"/>
                </ns4:solidFill>
                <ns4:latin typeface="Consolas"/>
                <ns4:ea typeface="Consolas"/>
                <ns4:cs typeface="Consolas"/>
              </ns4:defRPr>
            </ns4:pPr>
            <ns4:r>
              <ns4:rPr sz="1875" b="0">
                <ns4:solidFill>
                  <ns4:srgbClr val="A02B93"/>
                </ns4:solidFill>
                <ns4:latin typeface="Consolas"/>
                <ns4:ea typeface="Consolas"/>
                <ns4:cs typeface="Consolas"/>
              </ns4:rPr>
              <ns4:t>python</ns4:t>
            </ns4:r>
            <ns4:r>
              <ns4:rPr sz="187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 </ns4:t>
            </ns4:r>
            <ns4:r>
              <ns4:rPr sz="1875" b="0">
                <ns4:solidFill>
                  <ns4:srgbClr val="B84E00"/>
                </ns4:solidFill>
                <ns4:latin typeface="Consolas"/>
                <ns4:ea typeface="Consolas"/>
                <ns4:cs typeface="Consolas"/>
              </ns4:rPr>
              <ns4:t>-c</ns4:t>
            </ns4:r>
            <ns4:r>
              <ns4:rPr sz="187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 'import sys; </ns4:t>
            </ns4:r>
            <ns4:r>
              <ns4:rPr sz="1875" b="0">
                <ns4:solidFill>
                  <ns4:srgbClr val="087B3D"/>
                </ns4:solidFill>
                <ns4:latin typeface="Consolas"/>
                <ns4:ea typeface="Consolas"/>
                <ns4:cs typeface="Consolas"/>
              </ns4:rPr>
              <ns4:t>print</ns4:t>
            </ns4:r>
            <ns4:r>
              <ns4:rPr sz="187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(sys.executable)'</ns4:t>
            </ns4:r>
          </ns4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534899F3-5889-4D77-8C0D-A7F0C7A1C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ns5:p xmlns:ns5="http://schemas.openxmlformats.org/drawingml/2006/main">
            <ns5:pPr>
              <ns5:lnSpc>
                <ns5:spcPct val="120000"/>
              </ns5:lnSpc>
              <ns5:defRPr sz="1875" b="0">
                <ns5:solidFill>
                  <ns5:srgbClr val="29263B"/>
                </ns5:solidFill>
                <ns5:latin typeface="Microsoft YaHei"/>
                <ns5:ea typeface="Microsoft YaHei"/>
                <ns5:cs typeface="Microsoft YaHei"/>
              </ns5:defRPr>
            </ns5:pPr>
            <ns5:r>
              <ns5:rPr sz="1875" b="0">
                <ns5:solidFill>
                  <ns5:srgbClr val="29263B"/>
                </ns5:solidFill>
                <ns5:latin typeface="Microsoft YaHei"/>
                <ns5:ea typeface="Microsoft YaHei"/>
                <ns5:cs typeface="Microsoft YaHei"/>
              </ns5:rPr>
              <ns5:t>本页只查文件存在；SDK 实际选择以配置输出为准。</ns5:t>
            </ns5:r>
          </ns5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40DCC374-AC07-4F0B-9EBD-9B4A66325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完整命令：P011_Windows/11.2.1-03.txt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31E259-FEB5-47EC-B7A8-75924391132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</a:p>
        </p:txBody>
      </p:sp>
    </p:spTree>
    <p:extLst>
      <p:ext uri="{BB962C8B-B14F-4D97-AF65-F5344CB8AC3E}">
        <p14:creationId xmlns:p14="http://schemas.microsoft.com/office/powerpoint/2010/main" val="1960606150"/>
      </p:ext>
    </p:extLst>
  </p:cSld>
</p:sld>
</file>

<file path=ppt/slides/cmsiswest_slide5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E77B4D2D-F423-45AB-B8DC-0C0B5E171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配置官方 MPS2 / AN386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4794C5BF-02D2-43EC-9B09-B407B88F4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11.2.2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73125547-9C23-441D-AD85-3DC59861C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3257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ns0:p xmlns:ns0="http://schemas.openxmlformats.org/drawingml/2006/main">
            <ns0:pPr>
              <ns0:lnSpc>
                <ns0:spcPct val="120000"/>
              </ns0:lnSpc>
              <ns0:defRPr sz="1725" b="0">
                <ns0:solidFill>
                  <ns0:srgbClr val="005968"/>
                </ns0:solidFill>
                <ns0:latin typeface="Consolas"/>
                <ns0:ea typeface="Consolas"/>
                <ns0:cs typeface="Consolas"/>
              </ns0:defRPr>
            </ns0:pPr>
            <ns0:r>
              <ns0:rPr sz="1725" b="0">
                <ns0:solidFill>
                  <ns0:srgbClr val="646173"/>
                </ns0:solidFill>
                <ns0:latin typeface="Consolas"/>
                <ns0:ea typeface="Consolas"/>
                <ns0:cs typeface="Consolas"/>
              </ns0:rPr>
              <ns0:t># Windows UCRT64；源码根；11.2.1 源码环境已准备；SDK 已注册，使用新构建目录。</ns0:t>
            </ns0:r>
          </ns0:p>
          <ns1:p xmlns:ns1="http://schemas.openxmlformats.org/drawingml/2006/main">
            <ns1:pPr>
              <ns1:lnSpc>
                <ns1:spcPct val="120000"/>
              </ns1:lnSpc>
              <ns1:defRPr sz="1725" b="0">
                <ns1:solidFill>
                  <ns1:srgbClr val="005968"/>
                </ns1:solidFill>
                <ns1:latin typeface="Consolas"/>
                <ns1:ea typeface="Consolas"/>
                <ns1:cs typeface="Consolas"/>
              </ns1:defRPr>
            </ns1:pPr>
            <ns1:r>
              <ns1:rPr sz="1725" b="0">
                <ns1:solidFill>
                  <ns1:srgbClr val="A02B93"/>
                </ns1:solidFill>
                <ns1:latin typeface="Consolas"/>
                <ns1:ea typeface="Consolas"/>
                <ns1:cs typeface="Consolas"/>
              </ns1:rPr>
              <ns1:t>cmake</ns1:t>
            </ns1:r>
            <ns1:r>
              <ns1:rPr sz="172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725" b="0">
                <ns1:solidFill>
                  <ns1:srgbClr val="B84E00"/>
                </ns1:solidFill>
                <ns1:latin typeface="Consolas"/>
                <ns1:ea typeface="Consolas"/>
                <ns1:cs typeface="Consolas"/>
              </ns1:rPr>
              <ns1:t>-S</ns1:t>
            </ns1:r>
            <ns1:r>
              <ns1:rPr sz="172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725" b="0">
                <ns1:solidFill>
                  <ns1:srgbClr val="0070C0"/>
                </ns1:solidFill>
                <ns1:latin typeface="Consolas"/>
                <ns1:ea typeface="Consolas"/>
                <ns1:cs typeface="Consolas"/>
              </ns1:rPr>
              <ns1:t>samples/hello_world</ns1:t>
            </ns1:r>
            <ns1:r>
              <ns1:rPr sz="172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725" b="0">
                <ns1:solidFill>
                  <ns1:srgbClr val="B84E00"/>
                </ns1:solidFill>
                <ns1:latin typeface="Consolas"/>
                <ns1:ea typeface="Consolas"/>
                <ns1:cs typeface="Consolas"/>
              </ns1:rPr>
              <ns1:t>-B</ns1:t>
            </ns1:r>
            <ns1:r>
              <ns1:rPr sz="172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725" b="0">
                <ns1:solidFill>
                  <ns1:srgbClr val="0070C0"/>
                </ns1:solidFill>
                <ns1:latin typeface="Consolas"/>
                <ns1:ea typeface="Consolas"/>
                <ns1:cs typeface="Consolas"/>
              </ns1:rPr>
              <ns1:t>build/learning-tools/p003/build-mps2-sdk-auto</ns1:t>
            </ns1:r>
            <ns1:r>
              <ns1:rPr sz="172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725" b="0">
                <ns1:solidFill>
                  <ns1:srgbClr val="B84E00"/>
                </ns1:solidFill>
                <ns1:latin typeface="Consolas"/>
                <ns1:ea typeface="Consolas"/>
                <ns1:cs typeface="Consolas"/>
              </ns1:rPr>
              <ns1:t>-G</ns1:t>
            </ns1:r>
            <ns1:r>
              <ns1:rPr sz="172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Ninja \</ns1:t>
            </ns1:r>
          </ns1:p>
          <ns2:p xmlns:ns2="http://schemas.openxmlformats.org/drawingml/2006/main">
            <ns2:pPr>
              <ns2:lnSpc>
                <ns2:spcPct val="120000"/>
              </ns2:lnSpc>
              <ns2:defRPr sz="1725" b="0">
                <ns2:solidFill>
                  <ns2:srgbClr val="005968"/>
                </ns2:solidFill>
                <ns2:latin typeface="Consolas"/>
                <ns2:ea typeface="Consolas"/>
                <ns2:cs typeface="Consolas"/>
              </ns2:defRPr>
            </ns2:pPr>
            <ns2:r>
              <ns2:rPr sz="1725" b="0">
                <ns2:solidFill>
                  <ns2:srgbClr val="29263B"/>
                </ns2:solidFill>
                <ns2:latin typeface="Consolas"/>
                <ns2:ea typeface="Consolas"/>
                <ns2:cs typeface="Consolas"/>
              </ns2:rPr>
              <ns2:t>  </ns2:t>
            </ns2:r>
            <ns2:r>
              <ns2:rPr sz="1725" b="0">
                <ns2:solidFill>
                  <ns2:srgbClr val="B84E00"/>
                </ns2:solidFill>
                <ns2:latin typeface="Consolas"/>
                <ns2:ea typeface="Consolas"/>
                <ns2:cs typeface="Consolas"/>
              </ns2:rPr>
              <ns2:t>-DBOARD</ns2:t>
            </ns2:r>
            <ns2:r>
              <ns2:rPr sz="1725" b="0">
                <ns2:solidFill>
                  <ns2:srgbClr val="29263B"/>
                </ns2:solidFill>
                <ns2:latin typeface="Consolas"/>
                <ns2:ea typeface="Consolas"/>
                <ns2:cs typeface="Consolas"/>
              </ns2:rPr>
              <ns2:t>=mps2/an386 \</ns2:t>
            </ns2:r>
          </ns2:p>
          <ns3:p xmlns:ns3="http://schemas.openxmlformats.org/drawingml/2006/main">
            <ns3:pPr>
              <ns3:lnSpc>
                <ns3:spcPct val="120000"/>
              </ns3:lnSpc>
              <ns3:defRPr sz="1725" b="0">
                <ns3:solidFill>
                  <ns3:srgbClr val="005968"/>
                </ns3:solidFill>
                <ns3:latin typeface="Consolas"/>
                <ns3:ea typeface="Consolas"/>
                <ns3:cs typeface="Consolas"/>
              </ns3:defRPr>
            </ns3:pPr>
            <ns3:r>
              <ns3:rPr sz="1725" b="0">
                <ns3:solidFill>
                  <ns3:srgbClr val="29263B"/>
                </ns3:solidFill>
                <ns3:latin typeface="Consolas"/>
                <ns3:ea typeface="Consolas"/>
                <ns3:cs typeface="Consolas"/>
              </ns3:rPr>
              <ns3:t>  "</ns3:t>
            </ns3:r>
            <ns3:r>
              <ns3:rPr sz="1725" b="0">
                <ns3:solidFill>
                  <ns3:srgbClr val="B84E00"/>
                </ns3:solidFill>
                <ns3:latin typeface="Consolas"/>
                <ns3:ea typeface="Consolas"/>
                <ns3:cs typeface="Consolas"/>
              </ns3:rPr>
              <ns3:t>-DZephyr_DIR</ns3:t>
            </ns3:r>
            <ns3:r>
              <ns3:rPr sz="1725" b="0">
                <ns3:solidFill>
                  <ns3:srgbClr val="29263B"/>
                </ns3:solidFill>
                <ns3:latin typeface="Consolas"/>
                <ns3:ea typeface="Consolas"/>
                <ns3:cs typeface="Consolas"/>
              </ns3:rPr>
              <ns3:t>=</ns3:t>
            </ns3:r>
            <ns3:r>
              <ns3:rPr sz="1725" b="0">
                <ns3:solidFill>
                  <ns3:srgbClr val="B84E00"/>
                </ns3:solidFill>
                <ns3:latin typeface="Consolas"/>
                <ns3:ea typeface="Consolas"/>
                <ns3:cs typeface="Consolas"/>
              </ns3:rPr>
              <ns3:t>$ZEPHYR_BASE</ns3:t>
            </ns3:r>
            <ns3:r>
              <ns3:rPr sz="1725" b="0">
                <ns3:solidFill>
                  <ns3:srgbClr val="0070C0"/>
                </ns3:solidFill>
                <ns3:latin typeface="Consolas"/>
                <ns3:ea typeface="Consolas"/>
                <ns3:cs typeface="Consolas"/>
              </ns3:rPr>
              <ns3:t>/share/zephyr-package/cmake</ns3:t>
            </ns3:r>
            <ns3:r>
              <ns3:rPr sz="1725" b="0">
                <ns3:solidFill>
                  <ns3:srgbClr val="29263B"/>
                </ns3:solidFill>
                <ns3:latin typeface="Consolas"/>
                <ns3:ea typeface="Consolas"/>
                <ns3:cs typeface="Consolas"/>
              </ns3:rPr>
              <ns3:t>" \</ns3:t>
            </ns3:r>
          </ns3:p>
          <ns4:p xmlns:ns4="http://schemas.openxmlformats.org/drawingml/2006/main">
            <ns4:pPr>
              <ns4:lnSpc>
                <ns4:spcPct val="120000"/>
              </ns4:lnSpc>
              <ns4:defRPr sz="1725" b="0">
                <ns4:solidFill>
                  <ns4:srgbClr val="005968"/>
                </ns4:solidFill>
                <ns4:latin typeface="Consolas"/>
                <ns4:ea typeface="Consolas"/>
                <ns4:cs typeface="Consolas"/>
              </ns4:defRPr>
            </ns4:pPr>
            <ns4:r>
              <ns4:rPr sz="172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  "</ns4:t>
            </ns4:r>
            <ns4:r>
              <ns4:rPr sz="1725" b="0">
                <ns4:solidFill>
                  <ns4:srgbClr val="B84E00"/>
                </ns4:solidFill>
                <ns4:latin typeface="Consolas"/>
                <ns4:ea typeface="Consolas"/>
                <ns4:cs typeface="Consolas"/>
              </ns4:rPr>
              <ns4:t>-DZEPHYR_BASE</ns4:t>
            </ns4:r>
            <ns4:r>
              <ns4:rPr sz="172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=</ns4:t>
            </ns4:r>
            <ns4:r>
              <ns4:rPr sz="1725" b="0">
                <ns4:solidFill>
                  <ns4:srgbClr val="B84E00"/>
                </ns4:solidFill>
                <ns4:latin typeface="Consolas"/>
                <ns4:ea typeface="Consolas"/>
                <ns4:cs typeface="Consolas"/>
              </ns4:rPr>
              <ns4:t>$ZEPHYR_BASE</ns4:t>
            </ns4:r>
            <ns4:r>
              <ns4:rPr sz="172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" \</ns4:t>
            </ns4:r>
          </ns4:p>
          <ns5:p xmlns:ns5="http://schemas.openxmlformats.org/drawingml/2006/main">
            <ns5:pPr>
              <ns5:lnSpc>
                <ns5:spcPct val="120000"/>
              </ns5:lnSpc>
              <ns5:defRPr sz="1725" b="0">
                <ns5:solidFill>
                  <ns5:srgbClr val="005968"/>
                </ns5:solidFill>
                <ns5:latin typeface="Consolas"/>
                <ns5:ea typeface="Consolas"/>
                <ns5:cs typeface="Consolas"/>
              </ns5:defRPr>
            </ns5:pPr>
            <ns5:r>
              <ns5:rPr sz="1725" b="0">
                <ns5:solidFill>
                  <ns5:srgbClr val="29263B"/>
                </ns5:solidFill>
                <ns5:latin typeface="Consolas"/>
                <ns5:ea typeface="Consolas"/>
                <ns5:cs typeface="Consolas"/>
              </ns5:rPr>
              <ns5:t>  </ns5:t>
            </ns5:r>
            <ns5:r>
              <ns5:rPr sz="1725" b="0">
                <ns5:solidFill>
                  <ns5:srgbClr val="B84E00"/>
                </ns5:solidFill>
                <ns5:latin typeface="Consolas"/>
                <ns5:ea typeface="Consolas"/>
                <ns5:cs typeface="Consolas"/>
              </ns5:rPr>
              <ns5:t>-DEXTRA_ZEPHYR_MODULES</ns5:t>
            </ns5:r>
            <ns5:r>
              <ns5:rPr sz="1725" b="0">
                <ns5:solidFill>
                  <ns5:srgbClr val="29263B"/>
                </ns5:solidFill>
                <ns5:latin typeface="Consolas"/>
                <ns5:ea typeface="Consolas"/>
                <ns5:cs typeface="Consolas"/>
              </ns5:rPr>
              <ns5:t>= </ns5:t>
            </ns5:r>
            <ns5:r>
              <ns5:rPr sz="1725" b="0">
                <ns5:solidFill>
                  <ns5:srgbClr val="B84E00"/>
                </ns5:solidFill>
                <ns5:latin typeface="Consolas"/>
                <ns5:ea typeface="Consolas"/>
                <ns5:cs typeface="Consolas"/>
              </ns5:rPr>
              <ns5:t>-DZEPHYR_EXTRA_MODULES</ns5:t>
            </ns5:r>
            <ns5:r>
              <ns5:rPr sz="1725" b="0">
                <ns5:solidFill>
                  <ns5:srgbClr val="29263B"/>
                </ns5:solidFill>
                <ns5:latin typeface="Consolas"/>
                <ns5:ea typeface="Consolas"/>
                <ns5:cs typeface="Consolas"/>
              </ns5:rPr>
              <ns5:t>= \</ns5:t>
            </ns5:r>
          </ns5:p>
          <ns6:p xmlns:ns6="http://schemas.openxmlformats.org/drawingml/2006/main">
            <ns6:pPr>
              <ns6:lnSpc>
                <ns6:spcPct val="120000"/>
              </ns6:lnSpc>
              <ns6:defRPr sz="1725" b="0">
                <ns6:solidFill>
                  <ns6:srgbClr val="005968"/>
                </ns6:solidFill>
                <ns6:latin typeface="Consolas"/>
                <ns6:ea typeface="Consolas"/>
                <ns6:cs typeface="Consolas"/>
              </ns6:defRPr>
            </ns6:pPr>
            <ns6:r>
              <ns6:rPr sz="1725" b="0">
                <ns6:solidFill>
                  <ns6:srgbClr val="29263B"/>
                </ns6:solidFill>
                <ns6:latin typeface="Consolas"/>
                <ns6:ea typeface="Consolas"/>
                <ns6:cs typeface="Consolas"/>
              </ns6:rPr>
              <ns6:t>  "</ns6:t>
            </ns6:r>
            <ns6:r>
              <ns6:rPr sz="1725" b="0">
                <ns6:solidFill>
                  <ns6:srgbClr val="B84E00"/>
                </ns6:solidFill>
                <ns6:latin typeface="Consolas"/>
                <ns6:ea typeface="Consolas"/>
                <ns6:cs typeface="Consolas"/>
              </ns6:rPr>
              <ns6:t>-DPython3_EXECUTABLE</ns6:t>
            </ns6:r>
            <ns6:r>
              <ns6:rPr sz="1725" b="0">
                <ns6:solidFill>
                  <ns6:srgbClr val="29263B"/>
                </ns6:solidFill>
                <ns6:latin typeface="Consolas"/>
                <ns6:ea typeface="Consolas"/>
                <ns6:cs typeface="Consolas"/>
              </ns6:rPr>
              <ns6:t>=$(</ns6:t>
            </ns6:r>
            <ns6:r>
              <ns6:rPr sz="1725" b="0">
                <ns6:solidFill>
                  <ns6:srgbClr val="A02B93"/>
                </ns6:solidFill>
                <ns6:latin typeface="Consolas"/>
                <ns6:ea typeface="Consolas"/>
                <ns6:cs typeface="Consolas"/>
              </ns6:rPr>
              <ns6:t>cygpath</ns6:t>
            </ns6:r>
            <ns6:r>
              <ns6:rPr sz="1725" b="0">
                <ns6:solidFill>
                  <ns6:srgbClr val="29263B"/>
                </ns6:solidFill>
                <ns6:latin typeface="Consolas"/>
                <ns6:ea typeface="Consolas"/>
                <ns6:cs typeface="Consolas"/>
              </ns6:rPr>
              <ns6:t> </ns6:t>
            </ns6:r>
            <ns6:r>
              <ns6:rPr sz="1725" b="0">
                <ns6:solidFill>
                  <ns6:srgbClr val="B84E00"/>
                </ns6:solidFill>
                <ns6:latin typeface="Consolas"/>
                <ns6:ea typeface="Consolas"/>
                <ns6:cs typeface="Consolas"/>
              </ns6:rPr>
              <ns6:t>-m</ns6:t>
            </ns6:r>
            <ns6:r>
              <ns6:rPr sz="1725" b="0">
                <ns6:solidFill>
                  <ns6:srgbClr val="29263B"/>
                </ns6:solidFill>
                <ns6:latin typeface="Consolas"/>
                <ns6:ea typeface="Consolas"/>
                <ns6:cs typeface="Consolas"/>
              </ns6:rPr>
              <ns6:t> "$(</ns6:t>
            </ns6:r>
            <ns6:r>
              <ns6:rPr sz="1725" b="0">
                <ns6:solidFill>
                  <ns6:srgbClr val="A02B93"/>
                </ns6:solidFill>
                <ns6:latin typeface="Consolas"/>
                <ns6:ea typeface="Consolas"/>
                <ns6:cs typeface="Consolas"/>
              </ns6:rPr>
              <ns6:t>command</ns6:t>
            </ns6:r>
            <ns6:r>
              <ns6:rPr sz="1725" b="0">
                <ns6:solidFill>
                  <ns6:srgbClr val="29263B"/>
                </ns6:solidFill>
                <ns6:latin typeface="Consolas"/>
                <ns6:ea typeface="Consolas"/>
                <ns6:cs typeface="Consolas"/>
              </ns6:rPr>
              <ns6:t> </ns6:t>
            </ns6:r>
            <ns6:r>
              <ns6:rPr sz="1725" b="0">
                <ns6:solidFill>
                  <ns6:srgbClr val="B84E00"/>
                </ns6:solidFill>
                <ns6:latin typeface="Consolas"/>
                <ns6:ea typeface="Consolas"/>
                <ns6:cs typeface="Consolas"/>
              </ns6:rPr>
              <ns6:t>-v</ns6:t>
            </ns6:r>
            <ns6:r>
              <ns6:rPr sz="1725" b="0">
                <ns6:solidFill>
                  <ns6:srgbClr val="29263B"/>
                </ns6:solidFill>
                <ns6:latin typeface="Consolas"/>
                <ns6:ea typeface="Consolas"/>
                <ns6:cs typeface="Consolas"/>
              </ns6:rPr>
              <ns6:t> </ns6:t>
            </ns6:r>
            <ns6:r>
              <ns6:rPr sz="1725" b="0">
                <ns6:solidFill>
                  <ns6:srgbClr val="A02B93"/>
                </ns6:solidFill>
                <ns6:latin typeface="Consolas"/>
                <ns6:ea typeface="Consolas"/>
                <ns6:cs typeface="Consolas"/>
              </ns6:rPr>
              <ns6:t>python</ns6:t>
            </ns6:r>
            <ns6:r>
              <ns6:rPr sz="1725" b="0">
                <ns6:solidFill>
                  <ns6:srgbClr val="29263B"/>
                </ns6:solidFill>
                <ns6:latin typeface="Consolas"/>
                <ns6:ea typeface="Consolas"/>
                <ns6:cs typeface="Consolas"/>
              </ns6:rPr>
              <ns6:t>)")" \</ns6:t>
            </ns6:r>
          </ns6:p>
          <ns7:p xmlns:ns7="http://schemas.openxmlformats.org/drawingml/2006/main">
            <ns7:pPr>
              <ns7:lnSpc>
                <ns7:spcPct val="120000"/>
              </ns7:lnSpc>
              <ns7:defRPr sz="1725" b="0">
                <ns7:solidFill>
                  <ns7:srgbClr val="005968"/>
                </ns7:solidFill>
                <ns7:latin typeface="Consolas"/>
                <ns7:ea typeface="Consolas"/>
                <ns7:cs typeface="Consolas"/>
              </ns7:defRPr>
            </ns7:pPr>
            <ns7:r>
              <ns7:rPr sz="1725" b="0">
                <ns7:solidFill>
                  <ns7:srgbClr val="29263B"/>
                </ns7:solidFill>
                <ns7:latin typeface="Consolas"/>
                <ns7:ea typeface="Consolas"/>
                <ns7:cs typeface="Consolas"/>
              </ns7:rPr>
              <ns7:t>  </ns7:t>
            </ns7:r>
            <ns7:r>
              <ns7:rPr sz="1725" b="0">
                <ns7:solidFill>
                  <ns7:srgbClr val="B84E00"/>
                </ns7:solidFill>
                <ns7:latin typeface="Consolas"/>
                <ns7:ea typeface="Consolas"/>
                <ns7:cs typeface="Consolas"/>
              </ns7:rPr>
              <ns7:t>-DCMAKE_EXPORT_COMPILE_COMMANDS</ns7:t>
            </ns7:r>
            <ns7:r>
              <ns7:rPr sz="1725" b="0">
                <ns7:solidFill>
                  <ns7:srgbClr val="29263B"/>
                </ns7:solidFill>
                <ns7:latin typeface="Consolas"/>
                <ns7:ea typeface="Consolas"/>
                <ns7:cs typeface="Consolas"/>
              </ns7:rPr>
              <ns7:t>=ON</ns7:t>
            </ns7:r>
          </ns7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72DBC9D-3B8E-4883-B8AC-D2791FC9A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ns8:p xmlns:ns8="http://schemas.openxmlformats.org/drawingml/2006/main">
            <ns8:pPr>
              <ns8:lnSpc>
                <ns8:spcPct val="120000"/>
              </ns8:lnSpc>
              <ns8:defRPr sz="1875" b="0">
                <ns8:solidFill>
                  <ns8:srgbClr val="29263B"/>
                </ns8:solidFill>
                <ns8:latin typeface="Microsoft YaHei"/>
                <ns8:ea typeface="Microsoft YaHei"/>
                <ns8:cs typeface="Microsoft YaHei"/>
              </ns8:defRPr>
            </ns8:pPr>
            <ns8:r>
              <ns8:rPr sz="1875" b="0">
                <ns8:solidFill>
                  <ns8:srgbClr val="29263B"/>
                </ns8:solidFill>
                <ns8:latin typeface="Microsoft YaHei"/>
                <ns8:ea typeface="Microsoft YaHei"/>
                <ns8:cs typeface="Microsoft YaHei"/>
              </ns8:rPr>
              <ns8:t>未传工具链类型与 SDK 根，观察默认发现已注册 SDK。</ns8:t>
            </ns8:r>
          </ns8:p>
          <ns9:p xmlns:ns9="http://schemas.openxmlformats.org/drawingml/2006/main">
            <ns9:pPr>
              <ns9:lnSpc>
                <ns9:spcPct val="120000"/>
              </ns9:lnSpc>
              <ns9:defRPr sz="1875" b="0">
                <ns9:solidFill>
                  <ns9:srgbClr val="29263B"/>
                </ns9:solidFill>
                <ns9:latin typeface="Microsoft YaHei"/>
                <ns9:ea typeface="Microsoft YaHei"/>
                <ns9:cs typeface="Microsoft YaHei"/>
              </ns9:defRPr>
            </ns9:pPr>
            <ns9:r>
              <ns9:rPr sz="1875" b="0">
                <ns9:solidFill>
                  <ns9:srgbClr val="29263B"/>
                </ns9:solidFill>
                <ns9:latin typeface="Microsoft YaHei"/>
                <ns9:ea typeface="Microsoft YaHei"/>
                <ns9:cs typeface="Microsoft YaHei"/>
              </ns9:rPr>
              <ns9:t>使用新 build-mps2-sdk-auto；不要复用旧的手动配置缓存。</ns9:t>
            </ns9:r>
          </ns9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427C5742-ADE0-4E56-AD4C-8D493EC0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完整命令：P011_Windows/11.2.2-01.txt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31E259-FEB5-47EC-B7A8-75924391132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</a:p>
        </p:txBody>
      </p:sp>
    </p:spTree>
    <p:extLst>
      <p:ext uri="{BB962C8B-B14F-4D97-AF65-F5344CB8AC3E}">
        <p14:creationId xmlns:p14="http://schemas.microsoft.com/office/powerpoint/2010/main" val="248593360"/>
      </p:ext>
    </p:extLst>
  </p:cSld>
</p:sld>
</file>

<file path=ppt/slides/cmsiswest_slide6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A0F1BA86-5FB9-4D9F-B82A-76F32E49C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配置结束后再编译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D523B72-0F13-4DCA-A090-3DF6221E6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11.2.2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043C914C-312C-4B4A-896C-5172B6E2E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ns0:p xmlns:ns0="http://schemas.openxmlformats.org/drawingml/2006/main">
            <ns0:pPr>
              <ns0:lnSpc>
                <ns0:spcPct val="120000"/>
              </ns0:lnSpc>
              <ns0:defRPr sz="1875" b="0">
                <ns0:solidFill>
                  <ns0:srgbClr val="005968"/>
                </ns0:solidFill>
                <ns0:latin typeface="Consolas"/>
                <ns0:ea typeface="Consolas"/>
                <ns0:cs typeface="Consolas"/>
              </ns0:defRPr>
            </ns0:pPr>
            <ns0:r>
              <ns0:rPr sz="1875" b="0">
                <ns0:solidFill>
                  <ns0:srgbClr val="646173"/>
                </ns0:solidFill>
                <ns0:latin typeface="Consolas"/>
                <ns0:ea typeface="Consolas"/>
                <ns0:cs typeface="Consolas"/>
              </ns0:rPr>
              <ns0:t># UCRT64；源码根；上一条配置已成功。</ns0:t>
            </ns0:r>
          </ns0:p>
          <ns1:p xmlns:ns1="http://schemas.openxmlformats.org/drawingml/2006/main">
            <ns1:pPr>
              <ns1:lnSpc>
                <ns1:spcPct val="120000"/>
              </ns1:lnSpc>
              <ns1:defRPr sz="1875" b="0">
                <ns1:solidFill>
                  <ns1:srgbClr val="005968"/>
                </ns1:solidFill>
                <ns1:latin typeface="Consolas"/>
                <ns1:ea typeface="Consolas"/>
                <ns1:cs typeface="Consolas"/>
              </ns1:defRPr>
            </ns1:pPr>
            <ns1:r>
              <ns1:rPr sz="1875" b="0">
                <ns1:solidFill>
                  <ns1:srgbClr val="A02B93"/>
                </ns1:solidFill>
                <ns1:latin typeface="Consolas"/>
                <ns1:ea typeface="Consolas"/>
                <ns1:cs typeface="Consolas"/>
              </ns1:rPr>
              <ns1:t>cmake</ns1:t>
            </ns1:r>
            <ns1:r>
              <ns1:rPr sz="187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875" b="0">
                <ns1:solidFill>
                  <ns1:srgbClr val="B84E00"/>
                </ns1:solidFill>
                <ns1:latin typeface="Consolas"/>
                <ns1:ea typeface="Consolas"/>
                <ns1:cs typeface="Consolas"/>
              </ns1:rPr>
              <ns1:t>--build</ns1:t>
            </ns1:r>
            <ns1:r>
              <ns1:rPr sz="187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875" b="0">
                <ns1:solidFill>
                  <ns1:srgbClr val="0070C0"/>
                </ns1:solidFill>
                <ns1:latin typeface="Consolas"/>
                <ns1:ea typeface="Consolas"/>
                <ns1:cs typeface="Consolas"/>
              </ns1:rPr>
              <ns1:t>build/learning-tools/p003/build-mps2-sdk-auto</ns1:t>
            </ns1:r>
          </ns1:p>
          <ns2:p xmlns:ns2="http://schemas.openxmlformats.org/drawingml/2006/main">
            <ns2:pPr>
              <ns2:lnSpc>
                <ns2:spcPct val="120000"/>
              </ns2:lnSpc>
              <ns2:defRPr sz="1875" b="0">
                <ns2:solidFill>
                  <ns2:srgbClr val="005968"/>
                </ns2:solidFill>
                <ns2:latin typeface="Consolas"/>
                <ns2:ea typeface="Consolas"/>
                <ns2:cs typeface="Consolas"/>
              </ns2:defRPr>
            </ns2:pPr>
            <ns2:r>
              <ns2:rPr sz="1875" b="0">
                <ns2:solidFill>
                  <ns2:srgbClr val="A02B93"/>
                </ns2:solidFill>
                <ns2:latin typeface="Consolas"/>
                <ns2:ea typeface="Consolas"/>
                <ns2:cs typeface="Consolas"/>
              </ns2:rPr>
              <ns2:t>ls</ns2:t>
            </ns2:r>
            <ns2:r>
              <ns2:rPr sz="1875" b="0">
                <ns2:solidFill>
                  <ns2:srgbClr val="29263B"/>
                </ns2:solidFill>
                <ns2:latin typeface="Consolas"/>
                <ns2:ea typeface="Consolas"/>
                <ns2:cs typeface="Consolas"/>
              </ns2:rPr>
              <ns2:t> </ns2:t>
            </ns2:r>
            <ns2:r>
              <ns2:rPr sz="1875" b="0">
                <ns2:solidFill>
                  <ns2:srgbClr val="B84E00"/>
                </ns2:solidFill>
                <ns2:latin typeface="Consolas"/>
                <ns2:ea typeface="Consolas"/>
                <ns2:cs typeface="Consolas"/>
              </ns2:rPr>
              <ns2:t>-l</ns2:t>
            </ns2:r>
            <ns2:r>
              <ns2:rPr sz="1875" b="0">
                <ns2:solidFill>
                  <ns2:srgbClr val="29263B"/>
                </ns2:solidFill>
                <ns2:latin typeface="Consolas"/>
                <ns2:ea typeface="Consolas"/>
                <ns2:cs typeface="Consolas"/>
              </ns2:rPr>
              <ns2:t> </ns2:t>
            </ns2:r>
            <ns2:r>
              <ns2:rPr sz="1875" b="0">
                <ns2:solidFill>
                  <ns2:srgbClr val="0070C0"/>
                </ns2:solidFill>
                <ns2:latin typeface="Consolas"/>
                <ns2:ea typeface="Consolas"/>
                <ns2:cs typeface="Consolas"/>
              </ns2:rPr>
              <ns2:t>build/learning-tools/p003/build-mps2-sdk-auto/zephyr/zephyr.elf</ns2:t>
            </ns2:r>
          </ns2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E54B40CB-6668-40C8-B56B-27734E3D6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ELF 生成且构建成功才算通过；这里是 AN386，不是 HC32 实板。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5A54DD8A-358E-44E2-B1D1-EB86B0E3E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完整命令：P011_Windows/11.2.2-02.txt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31E259-FEB5-47EC-B7A8-75924391132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13</a:t>
            </a:fld>
          </a:p>
        </p:txBody>
      </p:sp>
    </p:spTree>
    <p:extLst>
      <p:ext uri="{BB962C8B-B14F-4D97-AF65-F5344CB8AC3E}">
        <p14:creationId xmlns:p14="http://schemas.microsoft.com/office/powerpoint/2010/main" val="731350690"/>
      </p:ext>
    </p:extLst>
  </p:cSld>
</p:sld>
</file>

<file path=ppt/slides/cmsiswest_slide7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15AE21FC-7619-4E14-8685-3E8686A26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练习板只追加 BOARD_ROOT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C62B4DB1-3B8B-4594-9105-BC552DD24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11.4.3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B9C401B3-B534-4FEF-82FF-F0B436C05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3257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ns0:p xmlns:ns0="http://schemas.openxmlformats.org/drawingml/2006/main">
            <ns0:pPr>
              <ns0:lnSpc>
                <ns0:spcPct val="120000"/>
              </ns0:lnSpc>
              <ns0:defRPr sz="1725" b="0">
                <ns0:solidFill>
                  <ns0:srgbClr val="005968"/>
                </ns0:solidFill>
                <ns0:latin typeface="Consolas"/>
                <ns0:ea typeface="Consolas"/>
                <ns0:cs typeface="Consolas"/>
              </ns0:defRPr>
            </ns0:pPr>
            <ns0:r>
              <ns0:rPr sz="1725" b="0">
                <ns0:solidFill>
                  <ns0:srgbClr val="646173"/>
                </ns0:solidFill>
                <ns0:latin typeface="Consolas"/>
                <ns0:ea typeface="Consolas"/>
                <ns0:cs typeface="Consolas"/>
              </ns0:rPr>
              <ns0:t># Windows UCRT64；源码根；11.2.1 源码环境已准备；SDK 已注册，使用新构建目录。</ns0:t>
            </ns0:r>
          </ns0:p>
          <ns1:p xmlns:ns1="http://schemas.openxmlformats.org/drawingml/2006/main">
            <ns1:pPr>
              <ns1:lnSpc>
                <ns1:spcPct val="120000"/>
              </ns1:lnSpc>
              <ns1:defRPr sz="1725" b="0">
                <ns1:solidFill>
                  <ns1:srgbClr val="005968"/>
                </ns1:solidFill>
                <ns1:latin typeface="Consolas"/>
                <ns1:ea typeface="Consolas"/>
                <ns1:cs typeface="Consolas"/>
              </ns1:defRPr>
            </ns1:pPr>
            <ns1:r>
              <ns1:rPr sz="1725" b="0">
                <ns1:solidFill>
                  <ns1:srgbClr val="A02B93"/>
                </ns1:solidFill>
                <ns1:latin typeface="Consolas"/>
                <ns1:ea typeface="Consolas"/>
                <ns1:cs typeface="Consolas"/>
              </ns1:rPr>
              <ns1:t>cmake</ns1:t>
            </ns1:r>
            <ns1:r>
              <ns1:rPr sz="172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725" b="0">
                <ns1:solidFill>
                  <ns1:srgbClr val="B84E00"/>
                </ns1:solidFill>
                <ns1:latin typeface="Consolas"/>
                <ns1:ea typeface="Consolas"/>
                <ns1:cs typeface="Consolas"/>
              </ns1:rPr>
              <ns1:t>-S</ns1:t>
            </ns1:r>
            <ns1:r>
              <ns1:rPr sz="172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725" b="0">
                <ns1:solidFill>
                  <ns1:srgbClr val="0070C0"/>
                </ns1:solidFill>
                <ns1:latin typeface="Consolas"/>
                <ns1:ea typeface="Consolas"/>
                <ns1:cs typeface="Consolas"/>
              </ns1:rPr>
              <ns1:t>samples/hello_world</ns1:t>
            </ns1:r>
            <ns1:r>
              <ns1:rPr sz="172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725" b="0">
                <ns1:solidFill>
                  <ns1:srgbClr val="B84E00"/>
                </ns1:solidFill>
                <ns1:latin typeface="Consolas"/>
                <ns1:ea typeface="Consolas"/>
                <ns1:cs typeface="Consolas"/>
              </ns1:rPr>
              <ns1:t>-B</ns1:t>
            </ns1:r>
            <ns1:r>
              <ns1:rPr sz="172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725" b="0">
                <ns1:solidFill>
                  <ns1:srgbClr val="0070C0"/>
                </ns1:solidFill>
                <ns1:latin typeface="Consolas"/>
                <ns1:ea typeface="Consolas"/>
                <ns1:cs typeface="Consolas"/>
              </ns1:rPr>
              <ns1:t>build/learning-tools/p003/build-practice-sdk-auto</ns1:t>
            </ns1:r>
            <ns1:r>
              <ns1:rPr sz="172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725" b="0">
                <ns1:solidFill>
                  <ns1:srgbClr val="B84E00"/>
                </ns1:solidFill>
                <ns1:latin typeface="Consolas"/>
                <ns1:ea typeface="Consolas"/>
                <ns1:cs typeface="Consolas"/>
              </ns1:rPr>
              <ns1:t>-G</ns1:t>
            </ns1:r>
            <ns1:r>
              <ns1:rPr sz="172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Ninja \</ns1:t>
            </ns1:r>
          </ns1:p>
          <ns2:p xmlns:ns2="http://schemas.openxmlformats.org/drawingml/2006/main">
            <ns2:pPr>
              <ns2:lnSpc>
                <ns2:spcPct val="120000"/>
              </ns2:lnSpc>
              <ns2:defRPr sz="1725" b="0">
                <ns2:solidFill>
                  <ns2:srgbClr val="005968"/>
                </ns2:solidFill>
                <ns2:latin typeface="Consolas"/>
                <ns2:ea typeface="Consolas"/>
                <ns2:cs typeface="Consolas"/>
              </ns2:defRPr>
            </ns2:pPr>
            <ns2:r>
              <ns2:rPr sz="1725" b="0">
                <ns2:solidFill>
                  <ns2:srgbClr val="29263B"/>
                </ns2:solidFill>
                <ns2:latin typeface="Consolas"/>
                <ns2:ea typeface="Consolas"/>
                <ns2:cs typeface="Consolas"/>
              </ns2:rPr>
              <ns2:t>  </ns2:t>
            </ns2:r>
            <ns2:r>
              <ns2:rPr sz="1725" b="0">
                <ns2:solidFill>
                  <ns2:srgbClr val="B84E00"/>
                </ns2:solidFill>
                <ns2:latin typeface="Consolas"/>
                <ns2:ea typeface="Consolas"/>
                <ns2:cs typeface="Consolas"/>
              </ns2:rPr>
              <ns2:t>-DBOARD</ns2:t>
            </ns2:r>
            <ns2:r>
              <ns2:rPr sz="1725" b="0">
                <ns2:solidFill>
                  <ns2:srgbClr val="29263B"/>
                </ns2:solidFill>
                <ns2:latin typeface="Consolas"/>
                <ns2:ea typeface="Consolas"/>
                <ns2:cs typeface="Consolas"/>
              </ns2:rPr>
              <ns2:t>=practice_mps2/an386 \</ns2:t>
            </ns2:r>
          </ns2:p>
          <ns3:p xmlns:ns3="http://schemas.openxmlformats.org/drawingml/2006/main">
            <ns3:pPr>
              <ns3:lnSpc>
                <ns3:spcPct val="120000"/>
              </ns3:lnSpc>
              <ns3:defRPr sz="1725" b="0">
                <ns3:solidFill>
                  <ns3:srgbClr val="005968"/>
                </ns3:solidFill>
                <ns3:latin typeface="Consolas"/>
                <ns3:ea typeface="Consolas"/>
                <ns3:cs typeface="Consolas"/>
              </ns3:defRPr>
            </ns3:pPr>
            <ns3:r>
              <ns3:rPr sz="1725" b="0">
                <ns3:solidFill>
                  <ns3:srgbClr val="29263B"/>
                </ns3:solidFill>
                <ns3:latin typeface="Consolas"/>
                <ns3:ea typeface="Consolas"/>
                <ns3:cs typeface="Consolas"/>
              </ns3:rPr>
              <ns3:t>  "</ns3:t>
            </ns3:r>
            <ns3:r>
              <ns3:rPr sz="1725" b="0">
                <ns3:solidFill>
                  <ns3:srgbClr val="B84E00"/>
                </ns3:solidFill>
                <ns3:latin typeface="Consolas"/>
                <ns3:ea typeface="Consolas"/>
                <ns3:cs typeface="Consolas"/>
              </ns3:rPr>
              <ns3:t>-DBOARD_ROOT</ns3:t>
            </ns3:r>
            <ns3:r>
              <ns3:rPr sz="1725" b="0">
                <ns3:solidFill>
                  <ns3:srgbClr val="29263B"/>
                </ns3:solidFill>
                <ns3:latin typeface="Consolas"/>
                <ns3:ea typeface="Consolas"/>
                <ns3:cs typeface="Consolas"/>
              </ns3:rPr>
              <ns3:t>=$(</ns3:t>
            </ns3:r>
            <ns3:r>
              <ns3:rPr sz="1725" b="0">
                <ns3:solidFill>
                  <ns3:srgbClr val="A02B93"/>
                </ns3:solidFill>
                <ns3:latin typeface="Consolas"/>
                <ns3:ea typeface="Consolas"/>
                <ns3:cs typeface="Consolas"/>
              </ns3:rPr>
              <ns3:t>cygpath</ns3:t>
            </ns3:r>
            <ns3:r>
              <ns3:rPr sz="1725" b="0">
                <ns3:solidFill>
                  <ns3:srgbClr val="29263B"/>
                </ns3:solidFill>
                <ns3:latin typeface="Consolas"/>
                <ns3:ea typeface="Consolas"/>
                <ns3:cs typeface="Consolas"/>
              </ns3:rPr>
              <ns3:t> </ns3:t>
            </ns3:r>
            <ns3:r>
              <ns3:rPr sz="1725" b="0">
                <ns3:solidFill>
                  <ns3:srgbClr val="B84E00"/>
                </ns3:solidFill>
                <ns3:latin typeface="Consolas"/>
                <ns3:ea typeface="Consolas"/>
                <ns3:cs typeface="Consolas"/>
              </ns3:rPr>
              <ns3:t>-m</ns3:t>
            </ns3:r>
            <ns3:r>
              <ns3:rPr sz="1725" b="0">
                <ns3:solidFill>
                  <ns3:srgbClr val="29263B"/>
                </ns3:solidFill>
                <ns3:latin typeface="Consolas"/>
                <ns3:ea typeface="Consolas"/>
                <ns3:cs typeface="Consolas"/>
              </ns3:rPr>
              <ns3:t> "</ns3:t>
            </ns3:r>
            <ns3:r>
              <ns3:rPr sz="1725" b="0">
                <ns3:solidFill>
                  <ns3:srgbClr val="B84E00"/>
                </ns3:solidFill>
                <ns3:latin typeface="Consolas"/>
                <ns3:ea typeface="Consolas"/>
                <ns3:cs typeface="Consolas"/>
              </ns3:rPr>
              <ns3:t>$PWD</ns3:t>
            </ns3:r>
            <ns3:r>
              <ns3:rPr sz="1725" b="0">
                <ns3:solidFill>
                  <ns3:srgbClr val="0070C0"/>
                </ns3:solidFill>
                <ns3:latin typeface="Consolas"/>
                <ns3:ea typeface="Consolas"/>
                <ns3:cs typeface="Consolas"/>
              </ns3:rPr>
              <ns3:t>/build/learning-tools/p003/new-board</ns3:t>
            </ns3:r>
            <ns3:r>
              <ns3:rPr sz="1725" b="0">
                <ns3:solidFill>
                  <ns3:srgbClr val="29263B"/>
                </ns3:solidFill>
                <ns3:latin typeface="Consolas"/>
                <ns3:ea typeface="Consolas"/>
                <ns3:cs typeface="Consolas"/>
              </ns3:rPr>
              <ns3:t>")" \</ns3:t>
            </ns3:r>
          </ns3:p>
          <ns4:p xmlns:ns4="http://schemas.openxmlformats.org/drawingml/2006/main">
            <ns4:pPr>
              <ns4:lnSpc>
                <ns4:spcPct val="120000"/>
              </ns4:lnSpc>
              <ns4:defRPr sz="1725" b="0">
                <ns4:solidFill>
                  <ns4:srgbClr val="005968"/>
                </ns4:solidFill>
                <ns4:latin typeface="Consolas"/>
                <ns4:ea typeface="Consolas"/>
                <ns4:cs typeface="Consolas"/>
              </ns4:defRPr>
            </ns4:pPr>
            <ns4:r>
              <ns4:rPr sz="172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  "</ns4:t>
            </ns4:r>
            <ns4:r>
              <ns4:rPr sz="1725" b="0">
                <ns4:solidFill>
                  <ns4:srgbClr val="B84E00"/>
                </ns4:solidFill>
                <ns4:latin typeface="Consolas"/>
                <ns4:ea typeface="Consolas"/>
                <ns4:cs typeface="Consolas"/>
              </ns4:rPr>
              <ns4:t>-DZephyr_DIR</ns4:t>
            </ns4:r>
            <ns4:r>
              <ns4:rPr sz="172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=</ns4:t>
            </ns4:r>
            <ns4:r>
              <ns4:rPr sz="1725" b="0">
                <ns4:solidFill>
                  <ns4:srgbClr val="B84E00"/>
                </ns4:solidFill>
                <ns4:latin typeface="Consolas"/>
                <ns4:ea typeface="Consolas"/>
                <ns4:cs typeface="Consolas"/>
              </ns4:rPr>
              <ns4:t>$ZEPHYR_BASE</ns4:t>
            </ns4:r>
            <ns4:r>
              <ns4:rPr sz="1725" b="0">
                <ns4:solidFill>
                  <ns4:srgbClr val="0070C0"/>
                </ns4:solidFill>
                <ns4:latin typeface="Consolas"/>
                <ns4:ea typeface="Consolas"/>
                <ns4:cs typeface="Consolas"/>
              </ns4:rPr>
              <ns4:t>/share/zephyr-package/cmake</ns4:t>
            </ns4:r>
            <ns4:r>
              <ns4:rPr sz="172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" \</ns4:t>
            </ns4:r>
          </ns4:p>
          <ns5:p xmlns:ns5="http://schemas.openxmlformats.org/drawingml/2006/main">
            <ns5:pPr>
              <ns5:lnSpc>
                <ns5:spcPct val="120000"/>
              </ns5:lnSpc>
              <ns5:defRPr sz="1725" b="0">
                <ns5:solidFill>
                  <ns5:srgbClr val="005968"/>
                </ns5:solidFill>
                <ns5:latin typeface="Consolas"/>
                <ns5:ea typeface="Consolas"/>
                <ns5:cs typeface="Consolas"/>
              </ns5:defRPr>
            </ns5:pPr>
            <ns5:r>
              <ns5:rPr sz="1725" b="0">
                <ns5:solidFill>
                  <ns5:srgbClr val="29263B"/>
                </ns5:solidFill>
                <ns5:latin typeface="Consolas"/>
                <ns5:ea typeface="Consolas"/>
                <ns5:cs typeface="Consolas"/>
              </ns5:rPr>
              <ns5:t>  "</ns5:t>
            </ns5:r>
            <ns5:r>
              <ns5:rPr sz="1725" b="0">
                <ns5:solidFill>
                  <ns5:srgbClr val="B84E00"/>
                </ns5:solidFill>
                <ns5:latin typeface="Consolas"/>
                <ns5:ea typeface="Consolas"/>
                <ns5:cs typeface="Consolas"/>
              </ns5:rPr>
              <ns5:t>-DZEPHYR_BASE</ns5:t>
            </ns5:r>
            <ns5:r>
              <ns5:rPr sz="1725" b="0">
                <ns5:solidFill>
                  <ns5:srgbClr val="29263B"/>
                </ns5:solidFill>
                <ns5:latin typeface="Consolas"/>
                <ns5:ea typeface="Consolas"/>
                <ns5:cs typeface="Consolas"/>
              </ns5:rPr>
              <ns5:t>=</ns5:t>
            </ns5:r>
            <ns5:r>
              <ns5:rPr sz="1725" b="0">
                <ns5:solidFill>
                  <ns5:srgbClr val="B84E00"/>
                </ns5:solidFill>
                <ns5:latin typeface="Consolas"/>
                <ns5:ea typeface="Consolas"/>
                <ns5:cs typeface="Consolas"/>
              </ns5:rPr>
              <ns5:t>$ZEPHYR_BASE</ns5:t>
            </ns5:r>
            <ns5:r>
              <ns5:rPr sz="1725" b="0">
                <ns5:solidFill>
                  <ns5:srgbClr val="29263B"/>
                </ns5:solidFill>
                <ns5:latin typeface="Consolas"/>
                <ns5:ea typeface="Consolas"/>
                <ns5:cs typeface="Consolas"/>
              </ns5:rPr>
              <ns5:t>" \</ns5:t>
            </ns5:r>
          </ns5:p>
          <ns6:p xmlns:ns6="http://schemas.openxmlformats.org/drawingml/2006/main">
            <ns6:pPr>
              <ns6:lnSpc>
                <ns6:spcPct val="120000"/>
              </ns6:lnSpc>
              <ns6:defRPr sz="1725" b="0">
                <ns6:solidFill>
                  <ns6:srgbClr val="005968"/>
                </ns6:solidFill>
                <ns6:latin typeface="Consolas"/>
                <ns6:ea typeface="Consolas"/>
                <ns6:cs typeface="Consolas"/>
              </ns6:defRPr>
            </ns6:pPr>
            <ns6:r>
              <ns6:rPr sz="1725" b="0">
                <ns6:solidFill>
                  <ns6:srgbClr val="29263B"/>
                </ns6:solidFill>
                <ns6:latin typeface="Consolas"/>
                <ns6:ea typeface="Consolas"/>
                <ns6:cs typeface="Consolas"/>
              </ns6:rPr>
              <ns6:t>  </ns6:t>
            </ns6:r>
            <ns6:r>
              <ns6:rPr sz="1725" b="0">
                <ns6:solidFill>
                  <ns6:srgbClr val="B84E00"/>
                </ns6:solidFill>
                <ns6:latin typeface="Consolas"/>
                <ns6:ea typeface="Consolas"/>
                <ns6:cs typeface="Consolas"/>
              </ns6:rPr>
              <ns6:t>-DEXTRA_ZEPHYR_MODULES</ns6:t>
            </ns6:r>
            <ns6:r>
              <ns6:rPr sz="1725" b="0">
                <ns6:solidFill>
                  <ns6:srgbClr val="29263B"/>
                </ns6:solidFill>
                <ns6:latin typeface="Consolas"/>
                <ns6:ea typeface="Consolas"/>
                <ns6:cs typeface="Consolas"/>
              </ns6:rPr>
              <ns6:t>= </ns6:t>
            </ns6:r>
            <ns6:r>
              <ns6:rPr sz="1725" b="0">
                <ns6:solidFill>
                  <ns6:srgbClr val="B84E00"/>
                </ns6:solidFill>
                <ns6:latin typeface="Consolas"/>
                <ns6:ea typeface="Consolas"/>
                <ns6:cs typeface="Consolas"/>
              </ns6:rPr>
              <ns6:t>-DZEPHYR_EXTRA_MODULES</ns6:t>
            </ns6:r>
            <ns6:r>
              <ns6:rPr sz="1725" b="0">
                <ns6:solidFill>
                  <ns6:srgbClr val="29263B"/>
                </ns6:solidFill>
                <ns6:latin typeface="Consolas"/>
                <ns6:ea typeface="Consolas"/>
                <ns6:cs typeface="Consolas"/>
              </ns6:rPr>
              <ns6:t>= \</ns6:t>
            </ns6:r>
          </ns6:p>
          <ns7:p xmlns:ns7="http://schemas.openxmlformats.org/drawingml/2006/main">
            <ns7:pPr>
              <ns7:lnSpc>
                <ns7:spcPct val="120000"/>
              </ns7:lnSpc>
              <ns7:defRPr sz="1725" b="0">
                <ns7:solidFill>
                  <ns7:srgbClr val="005968"/>
                </ns7:solidFill>
                <ns7:latin typeface="Consolas"/>
                <ns7:ea typeface="Consolas"/>
                <ns7:cs typeface="Consolas"/>
              </ns7:defRPr>
            </ns7:pPr>
            <ns7:r>
              <ns7:rPr sz="1725" b="0">
                <ns7:solidFill>
                  <ns7:srgbClr val="29263B"/>
                </ns7:solidFill>
                <ns7:latin typeface="Consolas"/>
                <ns7:ea typeface="Consolas"/>
                <ns7:cs typeface="Consolas"/>
              </ns7:rPr>
              <ns7:t>  "</ns7:t>
            </ns7:r>
            <ns7:r>
              <ns7:rPr sz="1725" b="0">
                <ns7:solidFill>
                  <ns7:srgbClr val="B84E00"/>
                </ns7:solidFill>
                <ns7:latin typeface="Consolas"/>
                <ns7:ea typeface="Consolas"/>
                <ns7:cs typeface="Consolas"/>
              </ns7:rPr>
              <ns7:t>-DPython3_EXECUTABLE</ns7:t>
            </ns7:r>
            <ns7:r>
              <ns7:rPr sz="1725" b="0">
                <ns7:solidFill>
                  <ns7:srgbClr val="29263B"/>
                </ns7:solidFill>
                <ns7:latin typeface="Consolas"/>
                <ns7:ea typeface="Consolas"/>
                <ns7:cs typeface="Consolas"/>
              </ns7:rPr>
              <ns7:t>=$(</ns7:t>
            </ns7:r>
            <ns7:r>
              <ns7:rPr sz="1725" b="0">
                <ns7:solidFill>
                  <ns7:srgbClr val="A02B93"/>
                </ns7:solidFill>
                <ns7:latin typeface="Consolas"/>
                <ns7:ea typeface="Consolas"/>
                <ns7:cs typeface="Consolas"/>
              </ns7:rPr>
              <ns7:t>cygpath</ns7:t>
            </ns7:r>
            <ns7:r>
              <ns7:rPr sz="1725" b="0">
                <ns7:solidFill>
                  <ns7:srgbClr val="29263B"/>
                </ns7:solidFill>
                <ns7:latin typeface="Consolas"/>
                <ns7:ea typeface="Consolas"/>
                <ns7:cs typeface="Consolas"/>
              </ns7:rPr>
              <ns7:t> </ns7:t>
            </ns7:r>
            <ns7:r>
              <ns7:rPr sz="1725" b="0">
                <ns7:solidFill>
                  <ns7:srgbClr val="B84E00"/>
                </ns7:solidFill>
                <ns7:latin typeface="Consolas"/>
                <ns7:ea typeface="Consolas"/>
                <ns7:cs typeface="Consolas"/>
              </ns7:rPr>
              <ns7:t>-m</ns7:t>
            </ns7:r>
            <ns7:r>
              <ns7:rPr sz="1725" b="0">
                <ns7:solidFill>
                  <ns7:srgbClr val="29263B"/>
                </ns7:solidFill>
                <ns7:latin typeface="Consolas"/>
                <ns7:ea typeface="Consolas"/>
                <ns7:cs typeface="Consolas"/>
              </ns7:rPr>
              <ns7:t> "$(</ns7:t>
            </ns7:r>
            <ns7:r>
              <ns7:rPr sz="1725" b="0">
                <ns7:solidFill>
                  <ns7:srgbClr val="A02B93"/>
                </ns7:solidFill>
                <ns7:latin typeface="Consolas"/>
                <ns7:ea typeface="Consolas"/>
                <ns7:cs typeface="Consolas"/>
              </ns7:rPr>
              <ns7:t>command</ns7:t>
            </ns7:r>
            <ns7:r>
              <ns7:rPr sz="1725" b="0">
                <ns7:solidFill>
                  <ns7:srgbClr val="29263B"/>
                </ns7:solidFill>
                <ns7:latin typeface="Consolas"/>
                <ns7:ea typeface="Consolas"/>
                <ns7:cs typeface="Consolas"/>
              </ns7:rPr>
              <ns7:t> </ns7:t>
            </ns7:r>
            <ns7:r>
              <ns7:rPr sz="1725" b="0">
                <ns7:solidFill>
                  <ns7:srgbClr val="B84E00"/>
                </ns7:solidFill>
                <ns7:latin typeface="Consolas"/>
                <ns7:ea typeface="Consolas"/>
                <ns7:cs typeface="Consolas"/>
              </ns7:rPr>
              <ns7:t>-v</ns7:t>
            </ns7:r>
            <ns7:r>
              <ns7:rPr sz="1725" b="0">
                <ns7:solidFill>
                  <ns7:srgbClr val="29263B"/>
                </ns7:solidFill>
                <ns7:latin typeface="Consolas"/>
                <ns7:ea typeface="Consolas"/>
                <ns7:cs typeface="Consolas"/>
              </ns7:rPr>
              <ns7:t> </ns7:t>
            </ns7:r>
            <ns7:r>
              <ns7:rPr sz="1725" b="0">
                <ns7:solidFill>
                  <ns7:srgbClr val="A02B93"/>
                </ns7:solidFill>
                <ns7:latin typeface="Consolas"/>
                <ns7:ea typeface="Consolas"/>
                <ns7:cs typeface="Consolas"/>
              </ns7:rPr>
              <ns7:t>python</ns7:t>
            </ns7:r>
            <ns7:r>
              <ns7:rPr sz="1725" b="0">
                <ns7:solidFill>
                  <ns7:srgbClr val="29263B"/>
                </ns7:solidFill>
                <ns7:latin typeface="Consolas"/>
                <ns7:ea typeface="Consolas"/>
                <ns7:cs typeface="Consolas"/>
              </ns7:rPr>
              <ns7:t>)")" \</ns7:t>
            </ns7:r>
          </ns7:p>
          <ns8:p xmlns:ns8="http://schemas.openxmlformats.org/drawingml/2006/main">
            <ns8:pPr>
              <ns8:lnSpc>
                <ns8:spcPct val="120000"/>
              </ns8:lnSpc>
              <ns8:defRPr sz="1725" b="0">
                <ns8:solidFill>
                  <ns8:srgbClr val="005968"/>
                </ns8:solidFill>
                <ns8:latin typeface="Consolas"/>
                <ns8:ea typeface="Consolas"/>
                <ns8:cs typeface="Consolas"/>
              </ns8:defRPr>
            </ns8:pPr>
            <ns8:r>
              <ns8:rPr sz="1725" b="0">
                <ns8:solidFill>
                  <ns8:srgbClr val="29263B"/>
                </ns8:solidFill>
                <ns8:latin typeface="Consolas"/>
                <ns8:ea typeface="Consolas"/>
                <ns8:cs typeface="Consolas"/>
              </ns8:rPr>
              <ns8:t>  </ns8:t>
            </ns8:r>
            <ns8:r>
              <ns8:rPr sz="1725" b="0">
                <ns8:solidFill>
                  <ns8:srgbClr val="B84E00"/>
                </ns8:solidFill>
                <ns8:latin typeface="Consolas"/>
                <ns8:ea typeface="Consolas"/>
                <ns8:cs typeface="Consolas"/>
              </ns8:rPr>
              <ns8:t>-DCMAKE_EXPORT_COMPILE_COMMANDS</ns8:t>
            </ns8:r>
            <ns8:r>
              <ns8:rPr sz="1725" b="0">
                <ns8:solidFill>
                  <ns8:srgbClr val="29263B"/>
                </ns8:solidFill>
                <ns8:latin typeface="Consolas"/>
                <ns8:ea typeface="Consolas"/>
                <ns8:cs typeface="Consolas"/>
              </ns8:rPr>
              <ns8:t>=ON</ns8:t>
            </ns8:r>
          </ns8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0A840A52-A0CD-4CCA-B40E-969BF7677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保留同一个应用、SoC、SDK 与 </a:t>
            </a:r>
            <a:r>
              <a:rPr sz="18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CMSIS。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只增加练习板根，构建进入新的 build-practice-sdk-auto。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BD308AA2-47E9-4A9A-8A03-E13070B0F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完整命令：P011_Windows/11.4.3-01.txt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31E259-FEB5-47EC-B7A8-75924391132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26</a:t>
            </a:fld>
          </a:p>
        </p:txBody>
      </p:sp>
    </p:spTree>
    <p:extLst>
      <p:ext uri="{BB962C8B-B14F-4D97-AF65-F5344CB8AC3E}">
        <p14:creationId xmlns:p14="http://schemas.microsoft.com/office/powerpoint/2010/main" val="898079521"/>
      </p:ext>
    </p:extLst>
  </p:cSld>
</p:sld>
</file>

<file path=ppt/slides/cmsiswest_slide8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992BD963-A29D-4CA9-97DE-30485A967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HC32 追加 HAL 与适配模块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5AB9435-E855-4651-82F9-16FCA7630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11.7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E03ACB5A-9FEE-4372-AF58-071DA6A94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3257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ns0:p xmlns:ns0="http://schemas.openxmlformats.org/drawingml/2006/main">
            <ns0:pPr>
              <ns0:lnSpc>
                <ns0:spcPct val="120000"/>
              </ns0:lnSpc>
              <ns0:defRPr sz="1575" b="0">
                <ns0:solidFill>
                  <ns0:srgbClr val="005968"/>
                </ns0:solidFill>
                <ns0:latin typeface="Consolas"/>
                <ns0:ea typeface="Consolas"/>
                <ns0:cs typeface="Consolas"/>
              </ns0:defRPr>
            </ns0:pPr>
            <ns0:r>
              <ns0:rPr sz="1575" b="0">
                <ns0:solidFill>
                  <ns0:srgbClr val="646173"/>
                </ns0:solidFill>
                <ns0:latin typeface="Consolas"/>
                <ns0:ea typeface="Consolas"/>
                <ns0:cs typeface="Consolas"/>
              </ns0:rPr>
              <ns0:t># Windows UCRT64；源码根；11.2.1 源码环境已准备；SDK 已注册，使用新构建目录。</ns0:t>
            </ns0:r>
          </ns0:p>
          <ns1:p xmlns:ns1="http://schemas.openxmlformats.org/drawingml/2006/main">
            <ns1:pPr>
              <ns1:lnSpc>
                <ns1:spcPct val="120000"/>
              </ns1:lnSpc>
              <ns1:defRPr sz="1575" b="0">
                <ns1:solidFill>
                  <ns1:srgbClr val="005968"/>
                </ns1:solidFill>
                <ns1:latin typeface="Consolas"/>
                <ns1:ea typeface="Consolas"/>
                <ns1:cs typeface="Consolas"/>
              </ns1:defRPr>
            </ns1:pPr>
            <ns1:r>
              <ns1:rPr sz="1575" b="0">
                <ns1:solidFill>
                  <ns1:srgbClr val="A02B93"/>
                </ns1:solidFill>
                <ns1:latin typeface="Consolas"/>
                <ns1:ea typeface="Consolas"/>
                <ns1:cs typeface="Consolas"/>
              </ns1:rPr>
              <ns1:t>cmake</ns1:t>
            </ns1:r>
            <ns1:r>
              <ns1:rPr sz="157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575" b="0">
                <ns1:solidFill>
                  <ns1:srgbClr val="B84E00"/>
                </ns1:solidFill>
                <ns1:latin typeface="Consolas"/>
                <ns1:ea typeface="Consolas"/>
                <ns1:cs typeface="Consolas"/>
              </ns1:rPr>
              <ns1:t>-S</ns1:t>
            </ns1:r>
            <ns1:r>
              <ns1:rPr sz="157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575" b="0">
                <ns1:solidFill>
                  <ns1:srgbClr val="0070C0"/>
                </ns1:solidFill>
                <ns1:latin typeface="Consolas"/>
                <ns1:ea typeface="Consolas"/>
                <ns1:cs typeface="Consolas"/>
              </ns1:rPr>
              <ns1:t>samples/hello_world</ns1:t>
            </ns1:r>
            <ns1:r>
              <ns1:rPr sz="157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575" b="0">
                <ns1:solidFill>
                  <ns1:srgbClr val="B84E00"/>
                </ns1:solidFill>
                <ns1:latin typeface="Consolas"/>
                <ns1:ea typeface="Consolas"/>
                <ns1:cs typeface="Consolas"/>
              </ns1:rPr>
              <ns1:t>-B</ns1:t>
            </ns1:r>
            <ns1:r>
              <ns1:rPr sz="157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575" b="0">
                <ns1:solidFill>
                  <ns1:srgbClr val="0070C0"/>
                </ns1:solidFill>
                <ns1:latin typeface="Consolas"/>
                <ns1:ea typeface="Consolas"/>
                <ns1:cs typeface="Consolas"/>
              </ns1:rPr>
              <ns1:t>build/learning-tools/p003/build-hc32-sdk-auto</ns1:t>
            </ns1:r>
            <ns1:r>
              <ns1:rPr sz="157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575" b="0">
                <ns1:solidFill>
                  <ns1:srgbClr val="B84E00"/>
                </ns1:solidFill>
                <ns1:latin typeface="Consolas"/>
                <ns1:ea typeface="Consolas"/>
                <ns1:cs typeface="Consolas"/>
              </ns1:rPr>
              <ns1:t>-G</ns1:t>
            </ns1:r>
            <ns1:r>
              <ns1:rPr sz="157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Ninja \</ns1:t>
            </ns1:r>
          </ns1:p>
          <ns2:p xmlns:ns2="http://schemas.openxmlformats.org/drawingml/2006/main">
            <ns2:pPr>
              <ns2:lnSpc>
                <ns2:spcPct val="120000"/>
              </ns2:lnSpc>
              <ns2:defRPr sz="1575" b="0">
                <ns2:solidFill>
                  <ns2:srgbClr val="005968"/>
                </ns2:solidFill>
                <ns2:latin typeface="Consolas"/>
                <ns2:ea typeface="Consolas"/>
                <ns2:cs typeface="Consolas"/>
              </ns2:defRPr>
            </ns2:pPr>
            <ns2:r>
              <ns2:rPr sz="1575" b="0">
                <ns2:solidFill>
                  <ns2:srgbClr val="29263B"/>
                </ns2:solidFill>
                <ns2:latin typeface="Consolas"/>
                <ns2:ea typeface="Consolas"/>
                <ns2:cs typeface="Consolas"/>
              </ns2:rPr>
              <ns2:t>  </ns2:t>
            </ns2:r>
            <ns2:r>
              <ns2:rPr sz="1575" b="0">
                <ns2:solidFill>
                  <ns2:srgbClr val="B84E00"/>
                </ns2:solidFill>
                <ns2:latin typeface="Consolas"/>
                <ns2:ea typeface="Consolas"/>
                <ns2:cs typeface="Consolas"/>
              </ns2:rPr>
              <ns2:t>-DBOARD</ns2:t>
            </ns2:r>
            <ns2:r>
              <ns2:rPr sz="1575" b="0">
                <ns2:solidFill>
                  <ns2:srgbClr val="29263B"/>
                </ns2:solidFill>
                <ns2:latin typeface="Consolas"/>
                <ns2:ea typeface="Consolas"/>
                <ns2:cs typeface="Consolas"/>
              </ns2:rPr>
              <ns2:t>=uyup_rpi_a/hc32f4a0pitb \</ns2:t>
            </ns2:r>
          </ns2:p>
          <ns3:p xmlns:ns3="http://schemas.openxmlformats.org/drawingml/2006/main">
            <ns3:pPr>
              <ns3:lnSpc>
                <ns3:spcPct val="120000"/>
              </ns3:lnSpc>
              <ns3:defRPr sz="1575" b="0">
                <ns3:solidFill>
                  <ns3:srgbClr val="005968"/>
                </ns3:solidFill>
                <ns3:latin typeface="Consolas"/>
                <ns3:ea typeface="Consolas"/>
                <ns3:cs typeface="Consolas"/>
              </ns3:defRPr>
            </ns3:pPr>
            <ns3:r>
              <ns3:rPr sz="1575" b="0">
                <ns3:solidFill>
                  <ns3:srgbClr val="29263B"/>
                </ns3:solidFill>
                <ns3:latin typeface="Consolas"/>
                <ns3:ea typeface="Consolas"/>
                <ns3:cs typeface="Consolas"/>
              </ns3:rPr>
              <ns3:t>  "</ns3:t>
            </ns3:r>
            <ns3:r>
              <ns3:rPr sz="1575" b="0">
                <ns3:solidFill>
                  <ns3:srgbClr val="B84E00"/>
                </ns3:solidFill>
                <ns3:latin typeface="Consolas"/>
                <ns3:ea typeface="Consolas"/>
                <ns3:cs typeface="Consolas"/>
              </ns3:rPr>
              <ns3:t>-DZephyr_DIR</ns3:t>
            </ns3:r>
            <ns3:r>
              <ns3:rPr sz="1575" b="0">
                <ns3:solidFill>
                  <ns3:srgbClr val="29263B"/>
                </ns3:solidFill>
                <ns3:latin typeface="Consolas"/>
                <ns3:ea typeface="Consolas"/>
                <ns3:cs typeface="Consolas"/>
              </ns3:rPr>
              <ns3:t>=</ns3:t>
            </ns3:r>
            <ns3:r>
              <ns3:rPr sz="1575" b="0">
                <ns3:solidFill>
                  <ns3:srgbClr val="B84E00"/>
                </ns3:solidFill>
                <ns3:latin typeface="Consolas"/>
                <ns3:ea typeface="Consolas"/>
                <ns3:cs typeface="Consolas"/>
              </ns3:rPr>
              <ns3:t>$ZEPHYR_BASE</ns3:t>
            </ns3:r>
            <ns3:r>
              <ns3:rPr sz="1575" b="0">
                <ns3:solidFill>
                  <ns3:srgbClr val="0070C0"/>
                </ns3:solidFill>
                <ns3:latin typeface="Consolas"/>
                <ns3:ea typeface="Consolas"/>
                <ns3:cs typeface="Consolas"/>
              </ns3:rPr>
              <ns3:t>/share/zephyr-package/cmake</ns3:t>
            </ns3:r>
            <ns3:r>
              <ns3:rPr sz="1575" b="0">
                <ns3:solidFill>
                  <ns3:srgbClr val="29263B"/>
                </ns3:solidFill>
                <ns3:latin typeface="Consolas"/>
                <ns3:ea typeface="Consolas"/>
                <ns3:cs typeface="Consolas"/>
              </ns3:rPr>
              <ns3:t>" \</ns3:t>
            </ns3:r>
          </ns3:p>
          <ns4:p xmlns:ns4="http://schemas.openxmlformats.org/drawingml/2006/main">
            <ns4:pPr>
              <ns4:lnSpc>
                <ns4:spcPct val="120000"/>
              </ns4:lnSpc>
              <ns4:defRPr sz="1575" b="0">
                <ns4:solidFill>
                  <ns4:srgbClr val="005968"/>
                </ns4:solidFill>
                <ns4:latin typeface="Consolas"/>
                <ns4:ea typeface="Consolas"/>
                <ns4:cs typeface="Consolas"/>
              </ns4:defRPr>
            </ns4:pPr>
            <ns4:r>
              <ns4:rPr sz="157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  "</ns4:t>
            </ns4:r>
            <ns4:r>
              <ns4:rPr sz="1575" b="0">
                <ns4:solidFill>
                  <ns4:srgbClr val="B84E00"/>
                </ns4:solidFill>
                <ns4:latin typeface="Consolas"/>
                <ns4:ea typeface="Consolas"/>
                <ns4:cs typeface="Consolas"/>
              </ns4:rPr>
              <ns4:t>-DZEPHYR_BASE</ns4:t>
            </ns4:r>
            <ns4:r>
              <ns4:rPr sz="157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=</ns4:t>
            </ns4:r>
            <ns4:r>
              <ns4:rPr sz="1575" b="0">
                <ns4:solidFill>
                  <ns4:srgbClr val="B84E00"/>
                </ns4:solidFill>
                <ns4:latin typeface="Consolas"/>
                <ns4:ea typeface="Consolas"/>
                <ns4:cs typeface="Consolas"/>
              </ns4:rPr>
              <ns4:t>$ZEPHYR_BASE</ns4:t>
            </ns4:r>
            <ns4:r>
              <ns4:rPr sz="157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" \</ns4:t>
            </ns4:r>
          </ns4:p>
          <ns5:p xmlns:ns5="http://schemas.openxmlformats.org/drawingml/2006/main">
            <ns5:pPr>
              <ns5:lnSpc>
                <ns5:spcPct val="120000"/>
              </ns5:lnSpc>
              <ns5:defRPr sz="1575" b="0">
                <ns5:solidFill>
                  <ns5:srgbClr val="005968"/>
                </ns5:solidFill>
                <ns5:latin typeface="Consolas"/>
                <ns5:ea typeface="Consolas"/>
                <ns5:cs typeface="Consolas"/>
              </ns5:defRPr>
            </ns5:pPr>
            <ns5:r>
              <ns5:rPr sz="1575" b="0">
                <ns5:solidFill>
                  <ns5:srgbClr val="29263B"/>
                </ns5:solidFill>
                <ns5:latin typeface="Consolas"/>
                <ns5:ea typeface="Consolas"/>
                <ns5:cs typeface="Consolas"/>
              </ns5:rPr>
              <ns5:t>  "</ns5:t>
            </ns5:r>
            <ns5:r>
              <ns5:rPr sz="1575" b="0">
                <ns5:solidFill>
                  <ns5:srgbClr val="B84E00"/>
                </ns5:solidFill>
                <ns5:latin typeface="Consolas"/>
                <ns5:ea typeface="Consolas"/>
                <ns5:cs typeface="Consolas"/>
              </ns5:rPr>
              <ns5:t>-DEXTRA_ZEPHYR_MODULES</ns5:t>
            </ns5:r>
            <ns5:r>
              <ns5:rPr sz="1575" b="0">
                <ns5:solidFill>
                  <ns5:srgbClr val="29263B"/>
                </ns5:solidFill>
                <ns5:latin typeface="Consolas"/>
                <ns5:ea typeface="Consolas"/>
                <ns5:cs typeface="Consolas"/>
              </ns5:rPr>
              <ns5:t>=$(</ns5:t>
            </ns5:r>
            <ns5:r>
              <ns5:rPr sz="1575" b="0">
                <ns5:solidFill>
                  <ns5:srgbClr val="A02B93"/>
                </ns5:solidFill>
                <ns5:latin typeface="Consolas"/>
                <ns5:ea typeface="Consolas"/>
                <ns5:cs typeface="Consolas"/>
              </ns5:rPr>
              <ns5:t>cygpath</ns5:t>
            </ns5:r>
            <ns5:r>
              <ns5:rPr sz="1575" b="0">
                <ns5:solidFill>
                  <ns5:srgbClr val="29263B"/>
                </ns5:solidFill>
                <ns5:latin typeface="Consolas"/>
                <ns5:ea typeface="Consolas"/>
                <ns5:cs typeface="Consolas"/>
              </ns5:rPr>
              <ns5:t> </ns5:t>
            </ns5:r>
            <ns5:r>
              <ns5:rPr sz="1575" b="0">
                <ns5:solidFill>
                  <ns5:srgbClr val="B84E00"/>
                </ns5:solidFill>
                <ns5:latin typeface="Consolas"/>
                <ns5:ea typeface="Consolas"/>
                <ns5:cs typeface="Consolas"/>
              </ns5:rPr>
              <ns5:t>-m</ns5:t>
            </ns5:r>
            <ns5:r>
              <ns5:rPr sz="1575" b="0">
                <ns5:solidFill>
                  <ns5:srgbClr val="29263B"/>
                </ns5:solidFill>
                <ns5:latin typeface="Consolas"/>
                <ns5:ea typeface="Consolas"/>
                <ns5:cs typeface="Consolas"/>
              </ns5:rPr>
              <ns5:t> "</ns5:t>
            </ns5:r>
            <ns5:r>
              <ns5:rPr sz="1575" b="0">
                <ns5:solidFill>
                  <ns5:srgbClr val="B84E00"/>
                </ns5:solidFill>
                <ns5:latin typeface="Consolas"/>
                <ns5:ea typeface="Consolas"/>
                <ns5:cs typeface="Consolas"/>
              </ns5:rPr>
              <ns5:t>$PWD</ns5:t>
            </ns5:r>
            <ns5:r>
              <ns5:rPr sz="1575" b="0">
                <ns5:solidFill>
                  <ns5:srgbClr val="0070C0"/>
                </ns5:solidFill>
                <ns5:latin typeface="Consolas"/>
                <ns5:ea typeface="Consolas"/>
                <ns5:cs typeface="Consolas"/>
              </ns5:rPr>
              <ns5:t>/build/learning-tools/deps/hal_xhsc</ns5:t>
            </ns5:r>
            <ns5:r>
              <ns5:rPr sz="1575" b="0">
                <ns5:solidFill>
                  <ns5:srgbClr val="29263B"/>
                </ns5:solidFill>
                <ns5:latin typeface="Consolas"/>
                <ns5:ea typeface="Consolas"/>
                <ns5:cs typeface="Consolas"/>
              </ns5:rPr>
              <ns5:t>");$(</ns5:t>
            </ns5:r>
            <ns5:r>
              <ns5:rPr sz="1575" b="0">
                <ns5:solidFill>
                  <ns5:srgbClr val="A02B93"/>
                </ns5:solidFill>
                <ns5:latin typeface="Consolas"/>
                <ns5:ea typeface="Consolas"/>
                <ns5:cs typeface="Consolas"/>
              </ns5:rPr>
              <ns5:t>cygpath</ns5:t>
            </ns5:r>
            <ns5:r>
              <ns5:rPr sz="1575" b="0">
                <ns5:solidFill>
                  <ns5:srgbClr val="29263B"/>
                </ns5:solidFill>
                <ns5:latin typeface="Consolas"/>
                <ns5:ea typeface="Consolas"/>
                <ns5:cs typeface="Consolas"/>
              </ns5:rPr>
              <ns5:t> </ns5:t>
            </ns5:r>
            <ns5:r>
              <ns5:rPr sz="1575" b="0">
                <ns5:solidFill>
                  <ns5:srgbClr val="B84E00"/>
                </ns5:solidFill>
                <ns5:latin typeface="Consolas"/>
                <ns5:ea typeface="Consolas"/>
                <ns5:cs typeface="Consolas"/>
              </ns5:rPr>
              <ns5:t>-m</ns5:t>
            </ns5:r>
            <ns5:r>
              <ns5:rPr sz="1575" b="0">
                <ns5:solidFill>
                  <ns5:srgbClr val="29263B"/>
                </ns5:solidFill>
                <ns5:latin typeface="Consolas"/>
                <ns5:ea typeface="Consolas"/>
                <ns5:cs typeface="Consolas"/>
              </ns5:rPr>
              <ns5:t> "</ns5:t>
            </ns5:r>
            <ns5:r>
              <ns5:rPr sz="1575" b="0">
                <ns5:solidFill>
                  <ns5:srgbClr val="B84E00"/>
                </ns5:solidFill>
                <ns5:latin typeface="Consolas"/>
                <ns5:ea typeface="Consolas"/>
                <ns5:cs typeface="Consolas"/>
              </ns5:rPr>
              <ns5:t>$PWD</ns5:t>
            </ns5:r>
            <ns5:r>
              <ns5:rPr sz="1575" b="0">
                <ns5:solidFill>
                  <ns5:srgbClr val="0070C0"/>
                </ns5:solidFill>
                <ns5:latin typeface="Consolas"/>
                <ns5:ea typeface="Consolas"/>
                <ns5:cs typeface="Consolas"/>
              </ns5:rPr>
              <ns5:t>/build/learning-tools/p003/hc32_port</ns5:t>
            </ns5:r>
            <ns5:r>
              <ns5:rPr sz="1575" b="0">
                <ns5:solidFill>
                  <ns5:srgbClr val="29263B"/>
                </ns5:solidFill>
                <ns5:latin typeface="Consolas"/>
                <ns5:ea typeface="Consolas"/>
                <ns5:cs typeface="Consolas"/>
              </ns5:rPr>
              <ns5:t>")" \</ns5:t>
            </ns5:r>
          </ns5:p>
          <ns6:p xmlns:ns6="http://schemas.openxmlformats.org/drawingml/2006/main">
            <ns6:pPr>
              <ns6:lnSpc>
                <ns6:spcPct val="120000"/>
              </ns6:lnSpc>
              <ns6:defRPr sz="1575" b="0">
                <ns6:solidFill>
                  <ns6:srgbClr val="005968"/>
                </ns6:solidFill>
                <ns6:latin typeface="Consolas"/>
                <ns6:ea typeface="Consolas"/>
                <ns6:cs typeface="Consolas"/>
              </ns6:defRPr>
            </ns6:pPr>
            <ns6:r>
              <ns6:rPr sz="1575" b="0">
                <ns6:solidFill>
                  <ns6:srgbClr val="29263B"/>
                </ns6:solidFill>
                <ns6:latin typeface="Consolas"/>
                <ns6:ea typeface="Consolas"/>
                <ns6:cs typeface="Consolas"/>
              </ns6:rPr>
              <ns6:t>  </ns6:t>
            </ns6:r>
            <ns6:r>
              <ns6:rPr sz="1575" b="0">
                <ns6:solidFill>
                  <ns6:srgbClr val="B84E00"/>
                </ns6:solidFill>
                <ns6:latin typeface="Consolas"/>
                <ns6:ea typeface="Consolas"/>
                <ns6:cs typeface="Consolas"/>
              </ns6:rPr>
              <ns6:t>-DZEPHYR_EXTRA_MODULES</ns6:t>
            </ns6:r>
            <ns6:r>
              <ns6:rPr sz="1575" b="0">
                <ns6:solidFill>
                  <ns6:srgbClr val="29263B"/>
                </ns6:solidFill>
                <ns6:latin typeface="Consolas"/>
                <ns6:ea typeface="Consolas"/>
                <ns6:cs typeface="Consolas"/>
              </ns6:rPr>
              <ns6:t>= \</ns6:t>
            </ns6:r>
          </ns6:p>
          <ns7:p xmlns:ns7="http://schemas.openxmlformats.org/drawingml/2006/main">
            <ns7:pPr>
              <ns7:lnSpc>
                <ns7:spcPct val="120000"/>
              </ns7:lnSpc>
              <ns7:defRPr sz="1575" b="0">
                <ns7:solidFill>
                  <ns7:srgbClr val="005968"/>
                </ns7:solidFill>
                <ns7:latin typeface="Consolas"/>
                <ns7:ea typeface="Consolas"/>
                <ns7:cs typeface="Consolas"/>
              </ns7:defRPr>
            </ns7:pPr>
            <ns7:r>
              <ns7:rPr sz="1575" b="0">
                <ns7:solidFill>
                  <ns7:srgbClr val="29263B"/>
                </ns7:solidFill>
                <ns7:latin typeface="Consolas"/>
                <ns7:ea typeface="Consolas"/>
                <ns7:cs typeface="Consolas"/>
              </ns7:rPr>
              <ns7:t>  "</ns7:t>
            </ns7:r>
            <ns7:r>
              <ns7:rPr sz="1575" b="0">
                <ns7:solidFill>
                  <ns7:srgbClr val="B84E00"/>
                </ns7:solidFill>
                <ns7:latin typeface="Consolas"/>
                <ns7:ea typeface="Consolas"/>
                <ns7:cs typeface="Consolas"/>
              </ns7:rPr>
              <ns7:t>-DPython3_EXECUTABLE</ns7:t>
            </ns7:r>
            <ns7:r>
              <ns7:rPr sz="1575" b="0">
                <ns7:solidFill>
                  <ns7:srgbClr val="29263B"/>
                </ns7:solidFill>
                <ns7:latin typeface="Consolas"/>
                <ns7:ea typeface="Consolas"/>
                <ns7:cs typeface="Consolas"/>
              </ns7:rPr>
              <ns7:t>=$(</ns7:t>
            </ns7:r>
            <ns7:r>
              <ns7:rPr sz="1575" b="0">
                <ns7:solidFill>
                  <ns7:srgbClr val="A02B93"/>
                </ns7:solidFill>
                <ns7:latin typeface="Consolas"/>
                <ns7:ea typeface="Consolas"/>
                <ns7:cs typeface="Consolas"/>
              </ns7:rPr>
              <ns7:t>cygpath</ns7:t>
            </ns7:r>
            <ns7:r>
              <ns7:rPr sz="1575" b="0">
                <ns7:solidFill>
                  <ns7:srgbClr val="29263B"/>
                </ns7:solidFill>
                <ns7:latin typeface="Consolas"/>
                <ns7:ea typeface="Consolas"/>
                <ns7:cs typeface="Consolas"/>
              </ns7:rPr>
              <ns7:t> </ns7:t>
            </ns7:r>
            <ns7:r>
              <ns7:rPr sz="1575" b="0">
                <ns7:solidFill>
                  <ns7:srgbClr val="B84E00"/>
                </ns7:solidFill>
                <ns7:latin typeface="Consolas"/>
                <ns7:ea typeface="Consolas"/>
                <ns7:cs typeface="Consolas"/>
              </ns7:rPr>
              <ns7:t>-m</ns7:t>
            </ns7:r>
            <ns7:r>
              <ns7:rPr sz="1575" b="0">
                <ns7:solidFill>
                  <ns7:srgbClr val="29263B"/>
                </ns7:solidFill>
                <ns7:latin typeface="Consolas"/>
                <ns7:ea typeface="Consolas"/>
                <ns7:cs typeface="Consolas"/>
              </ns7:rPr>
              <ns7:t> "$(</ns7:t>
            </ns7:r>
            <ns7:r>
              <ns7:rPr sz="1575" b="0">
                <ns7:solidFill>
                  <ns7:srgbClr val="A02B93"/>
                </ns7:solidFill>
                <ns7:latin typeface="Consolas"/>
                <ns7:ea typeface="Consolas"/>
                <ns7:cs typeface="Consolas"/>
              </ns7:rPr>
              <ns7:t>command</ns7:t>
            </ns7:r>
            <ns7:r>
              <ns7:rPr sz="1575" b="0">
                <ns7:solidFill>
                  <ns7:srgbClr val="29263B"/>
                </ns7:solidFill>
                <ns7:latin typeface="Consolas"/>
                <ns7:ea typeface="Consolas"/>
                <ns7:cs typeface="Consolas"/>
              </ns7:rPr>
              <ns7:t> </ns7:t>
            </ns7:r>
            <ns7:r>
              <ns7:rPr sz="1575" b="0">
                <ns7:solidFill>
                  <ns7:srgbClr val="B84E00"/>
                </ns7:solidFill>
                <ns7:latin typeface="Consolas"/>
                <ns7:ea typeface="Consolas"/>
                <ns7:cs typeface="Consolas"/>
              </ns7:rPr>
              <ns7:t>-v</ns7:t>
            </ns7:r>
            <ns7:r>
              <ns7:rPr sz="1575" b="0">
                <ns7:solidFill>
                  <ns7:srgbClr val="29263B"/>
                </ns7:solidFill>
                <ns7:latin typeface="Consolas"/>
                <ns7:ea typeface="Consolas"/>
                <ns7:cs typeface="Consolas"/>
              </ns7:rPr>
              <ns7:t> </ns7:t>
            </ns7:r>
            <ns7:r>
              <ns7:rPr sz="1575" b="0">
                <ns7:solidFill>
                  <ns7:srgbClr val="A02B93"/>
                </ns7:solidFill>
                <ns7:latin typeface="Consolas"/>
                <ns7:ea typeface="Consolas"/>
                <ns7:cs typeface="Consolas"/>
              </ns7:rPr>
              <ns7:t>python</ns7:t>
            </ns7:r>
            <ns7:r>
              <ns7:rPr sz="1575" b="0">
                <ns7:solidFill>
                  <ns7:srgbClr val="29263B"/>
                </ns7:solidFill>
                <ns7:latin typeface="Consolas"/>
                <ns7:ea typeface="Consolas"/>
                <ns7:cs typeface="Consolas"/>
              </ns7:rPr>
              <ns7:t>)")" \</ns7:t>
            </ns7:r>
          </ns7:p>
          <ns8:p xmlns:ns8="http://schemas.openxmlformats.org/drawingml/2006/main">
            <ns8:pPr>
              <ns8:lnSpc>
                <ns8:spcPct val="120000"/>
              </ns8:lnSpc>
              <ns8:defRPr sz="1575" b="0">
                <ns8:solidFill>
                  <ns8:srgbClr val="005968"/>
                </ns8:solidFill>
                <ns8:latin typeface="Consolas"/>
                <ns8:ea typeface="Consolas"/>
                <ns8:cs typeface="Consolas"/>
              </ns8:defRPr>
            </ns8:pPr>
            <ns8:r>
              <ns8:rPr sz="1575" b="0">
                <ns8:solidFill>
                  <ns8:srgbClr val="29263B"/>
                </ns8:solidFill>
                <ns8:latin typeface="Consolas"/>
                <ns8:ea typeface="Consolas"/>
                <ns8:cs typeface="Consolas"/>
              </ns8:rPr>
              <ns8:t>  </ns8:t>
            </ns8:r>
            <ns8:r>
              <ns8:rPr sz="1575" b="0">
                <ns8:solidFill>
                  <ns8:srgbClr val="B84E00"/>
                </ns8:solidFill>
                <ns8:latin typeface="Consolas"/>
                <ns8:ea typeface="Consolas"/>
                <ns8:cs typeface="Consolas"/>
              </ns8:rPr>
              <ns8:t>-DCMAKE_EXPORT_COMPILE_COMMANDS</ns8:t>
            </ns8:r>
            <ns8:r>
              <ns8:rPr sz="1575" b="0">
                <ns8:solidFill>
                  <ns8:srgbClr val="29263B"/>
                </ns8:solidFill>
                <ns8:latin typeface="Consolas"/>
                <ns8:ea typeface="Consolas"/>
                <ns8:cs typeface="Consolas"/>
              </ns8:rPr>
              <ns8:t>=ON</ns8:t>
            </ns8:r>
          </ns8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461CD54E-DC05-4ED1-ACC3-B49545624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EXTRA_ZEPHYR_MODULES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只列两个新增模块。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CMSIS 继续由 </a:t>
            </a:r>
            <a:r>
              <a:rPr sz="18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提供，不替换整个模块列表。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6BE394D0-F49D-45F6-9E52-92511D65E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完整命令：P011_Windows/11.7-01.txt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31E259-FEB5-47EC-B7A8-75924391132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42</a:t>
            </a:fld>
          </a:p>
        </p:txBody>
      </p:sp>
    </p:spTree>
    <p:extLst>
      <p:ext uri="{BB962C8B-B14F-4D97-AF65-F5344CB8AC3E}">
        <p14:creationId xmlns:p14="http://schemas.microsoft.com/office/powerpoint/2010/main" val="823577949"/>
      </p:ext>
    </p:extLst>
  </p:cSld>
</p:sld>
</file>

<file path=ppt/slides/cmsiswest_slide9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E9C9B746-E28C-4B47-8867-9E8738BDA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编译同一个 hello_world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1DF69E3C-9EC9-42EB-B58A-C6C6890F0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11.7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11E52C86-891C-467B-B138-DEC5E12C0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ns0:p xmlns:ns0="http://schemas.openxmlformats.org/drawingml/2006/main">
            <ns0:pPr>
              <ns0:lnSpc>
                <ns0:spcPct val="120000"/>
              </ns0:lnSpc>
              <ns0:defRPr sz="1875" b="0">
                <ns0:solidFill>
                  <ns0:srgbClr val="005968"/>
                </ns0:solidFill>
                <ns0:latin typeface="Consolas"/>
                <ns0:ea typeface="Consolas"/>
                <ns0:cs typeface="Consolas"/>
              </ns0:defRPr>
            </ns0:pPr>
            <ns0:r>
              <ns0:rPr sz="1875" b="0">
                <ns0:solidFill>
                  <ns0:srgbClr val="646173"/>
                </ns0:solidFill>
                <ns0:latin typeface="Consolas"/>
                <ns0:ea typeface="Consolas"/>
                <ns0:cs typeface="Consolas"/>
              </ns0:rPr>
              <ns0:t># UCRT64；源码根；配置成功后。</ns0:t>
            </ns0:r>
          </ns0:p>
          <ns1:p xmlns:ns1="http://schemas.openxmlformats.org/drawingml/2006/main">
            <ns1:pPr>
              <ns1:lnSpc>
                <ns1:spcPct val="120000"/>
              </ns1:lnSpc>
              <ns1:defRPr sz="1875" b="0">
                <ns1:solidFill>
                  <ns1:srgbClr val="005968"/>
                </ns1:solidFill>
                <ns1:latin typeface="Consolas"/>
                <ns1:ea typeface="Consolas"/>
                <ns1:cs typeface="Consolas"/>
              </ns1:defRPr>
            </ns1:pPr>
            <ns1:r>
              <ns1:rPr sz="1875" b="0">
                <ns1:solidFill>
                  <ns1:srgbClr val="A02B93"/>
                </ns1:solidFill>
                <ns1:latin typeface="Consolas"/>
                <ns1:ea typeface="Consolas"/>
                <ns1:cs typeface="Consolas"/>
              </ns1:rPr>
              <ns1:t>cmake</ns1:t>
            </ns1:r>
            <ns1:r>
              <ns1:rPr sz="187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875" b="0">
                <ns1:solidFill>
                  <ns1:srgbClr val="B84E00"/>
                </ns1:solidFill>
                <ns1:latin typeface="Consolas"/>
                <ns1:ea typeface="Consolas"/>
                <ns1:cs typeface="Consolas"/>
              </ns1:rPr>
              <ns1:t>--build</ns1:t>
            </ns1:r>
            <ns1:r>
              <ns1:rPr sz="187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875" b="0">
                <ns1:solidFill>
                  <ns1:srgbClr val="0070C0"/>
                </ns1:solidFill>
                <ns1:latin typeface="Consolas"/>
                <ns1:ea typeface="Consolas"/>
                <ns1:cs typeface="Consolas"/>
              </ns1:rPr>
              <ns1:t>build/learning-tools/p003/build-hc32-sdk-auto</ns1:t>
            </ns1:r>
          </ns1:p>
          <ns2:p xmlns:ns2="http://schemas.openxmlformats.org/drawingml/2006/main">
            <ns2:pPr>
              <ns2:lnSpc>
                <ns2:spcPct val="120000"/>
              </ns2:lnSpc>
              <ns2:defRPr sz="1875" b="0">
                <ns2:solidFill>
                  <ns2:srgbClr val="005968"/>
                </ns2:solidFill>
                <ns2:latin typeface="Consolas"/>
                <ns2:ea typeface="Consolas"/>
                <ns2:cs typeface="Consolas"/>
              </ns2:defRPr>
            </ns2:pPr>
            <ns2:r>
              <ns2:rPr sz="1875" b="0">
                <ns2:solidFill>
                  <ns2:srgbClr val="A02B93"/>
                </ns2:solidFill>
                <ns2:latin typeface="Consolas"/>
                <ns2:ea typeface="Consolas"/>
                <ns2:cs typeface="Consolas"/>
              </ns2:rPr>
              <ns2:t>ls</ns2:t>
            </ns2:r>
            <ns2:r>
              <ns2:rPr sz="1875" b="0">
                <ns2:solidFill>
                  <ns2:srgbClr val="29263B"/>
                </ns2:solidFill>
                <ns2:latin typeface="Consolas"/>
                <ns2:ea typeface="Consolas"/>
                <ns2:cs typeface="Consolas"/>
              </ns2:rPr>
              <ns2:t> </ns2:t>
            </ns2:r>
            <ns2:r>
              <ns2:rPr sz="1875" b="0">
                <ns2:solidFill>
                  <ns2:srgbClr val="B84E00"/>
                </ns2:solidFill>
                <ns2:latin typeface="Consolas"/>
                <ns2:ea typeface="Consolas"/>
                <ns2:cs typeface="Consolas"/>
              </ns2:rPr>
              <ns2:t>-l</ns2:t>
            </ns2:r>
            <ns2:r>
              <ns2:rPr sz="1875" b="0">
                <ns2:solidFill>
                  <ns2:srgbClr val="29263B"/>
                </ns2:solidFill>
                <ns2:latin typeface="Consolas"/>
                <ns2:ea typeface="Consolas"/>
                <ns2:cs typeface="Consolas"/>
              </ns2:rPr>
              <ns2:t> </ns2:t>
            </ns2:r>
            <ns2:r>
              <ns2:rPr sz="1875" b="0">
                <ns2:solidFill>
                  <ns2:srgbClr val="0070C0"/>
                </ns2:solidFill>
                <ns2:latin typeface="Consolas"/>
                <ns2:ea typeface="Consolas"/>
                <ns2:cs typeface="Consolas"/>
              </ns2:rPr>
              <ns2:t>build/learning-tools/p003/build-hc32-sdk-auto/zephyr/zephyr.elf</ns2:t>
            </ns2:r>
          </ns2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5EA6BDB4-2D4C-472C-87CA-F534DD201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本次使用 build-hc32-sdk-auto；生成固件不代表已通过实板验证。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E9A0E0E7-19BC-4E10-ABDD-72E6214DE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完整命令：P011_Windows/11.7-02.txt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31E259-FEB5-47EC-B7A8-75924391132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43</a:t>
            </a:fld>
          </a:p>
        </p:txBody>
      </p:sp>
    </p:spTree>
    <p:extLst>
      <p:ext uri="{BB962C8B-B14F-4D97-AF65-F5344CB8AC3E}">
        <p14:creationId xmlns:p14="http://schemas.microsoft.com/office/powerpoint/2010/main" val="835242090"/>
      </p:ext>
    </p:extLst>
  </p:cSld>
</p:sld>
</file>

<file path=ppt/slides/cmsiswest_slide10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2E212547-DD60-4DB2-B464-B34411D0F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核对 HC32 配置与实际模块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B3D535DC-0C3A-4895-9BDF-65144546C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11.8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197B57DF-BDF4-49DC-B0B9-F5895CA7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83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ns0:p xmlns:ns0="http://schemas.openxmlformats.org/drawingml/2006/main">
            <ns0:pPr>
              <ns0:lnSpc>
                <ns0:spcPct val="120000"/>
              </ns0:lnSpc>
              <ns0:defRPr sz="1875" b="0">
                <ns0:solidFill>
                  <ns0:srgbClr val="005968"/>
                </ns0:solidFill>
                <ns0:latin typeface="Consolas"/>
                <ns0:ea typeface="Consolas"/>
                <ns0:cs typeface="Consolas"/>
              </ns0:defRPr>
            </ns0:pPr>
            <ns0:r>
              <ns0:rPr sz="1875" b="0">
                <ns0:solidFill>
                  <ns0:srgbClr val="646173"/>
                </ns0:solidFill>
                <ns0:latin typeface="Consolas"/>
                <ns0:ea typeface="Consolas"/>
                <ns0:cs typeface="Consolas"/>
              </ns0:rPr>
              <ns0:t># UCRT64；源码根；HC32 构建已成功。</ns0:t>
            </ns0:r>
          </ns0:p>
          <ns1:p xmlns:ns1="http://schemas.openxmlformats.org/drawingml/2006/main">
            <ns1:pPr>
              <ns1:lnSpc>
                <ns1:spcPct val="120000"/>
              </ns1:lnSpc>
              <ns1:defRPr sz="1875" b="0">
                <ns1:solidFill>
                  <ns1:srgbClr val="005968"/>
                </ns1:solidFill>
                <ns1:latin typeface="Consolas"/>
                <ns1:ea typeface="Consolas"/>
                <ns1:cs typeface="Consolas"/>
              </ns1:defRPr>
            </ns1:pPr>
            <ns1:r>
              <ns1:rPr sz="1875" b="0">
                <ns1:solidFill>
                  <ns1:srgbClr val="A02B93"/>
                </ns1:solidFill>
                <ns1:latin typeface="Consolas"/>
                <ns1:ea typeface="Consolas"/>
                <ns1:cs typeface="Consolas"/>
              </ns1:rPr>
              <ns1:t>grep</ns1:t>
            </ns1:r>
            <ns1:r>
              <ns1:rPr sz="187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</ns1:t>
            </ns1:r>
            <ns1:r>
              <ns1:rPr sz="1875" b="0">
                <ns1:solidFill>
                  <ns1:srgbClr val="B84E00"/>
                </ns1:solidFill>
                <ns1:latin typeface="Consolas"/>
                <ns1:ea typeface="Consolas"/>
                <ns1:cs typeface="Consolas"/>
              </ns1:rPr>
              <ns1:t>-E</ns1:t>
            </ns1:r>
            <ns1:r>
              <ns1:rPr sz="187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 '^CONFIG_(</ns1:t>
            </ns1:r>
            <ns1:r>
              <ns1:rPr sz="1875" b="0">
                <ns1:solidFill>
                  <ns1:srgbClr val="B84E00"/>
                </ns1:solidFill>
                <ns1:latin typeface="Consolas"/>
                <ns1:ea typeface="Consolas"/>
                <ns1:cs typeface="Consolas"/>
              </ns1:rPr>
              <ns1:t>BOARD</ns1:t>
            </ns1:r>
            <ns1:r>
              <ns1:rPr sz="1875" b="0">
                <ns1:solidFill>
                  <ns1:srgbClr val="29263B"/>
                </ns1:solidFill>
                <ns1:latin typeface="Consolas"/>
                <ns1:ea typeface="Consolas"/>
                <ns1:cs typeface="Consolas"/>
              </ns1:rPr>
              <ns1:t>|SOC|CPU_CORTEX_M4|CPU_HAS_FPU|HAS_CMSIS|SYS_CLOCK_HW_CYCLES_PER_SEC)' \</ns1:t>
            </ns1:r>
          </ns1:p>
          <ns2:p xmlns:ns2="http://schemas.openxmlformats.org/drawingml/2006/main">
            <ns2:pPr>
              <ns2:lnSpc>
                <ns2:spcPct val="120000"/>
              </ns2:lnSpc>
              <ns2:defRPr sz="1875" b="0">
                <ns2:solidFill>
                  <ns2:srgbClr val="005968"/>
                </ns2:solidFill>
                <ns2:latin typeface="Consolas"/>
                <ns2:ea typeface="Consolas"/>
                <ns2:cs typeface="Consolas"/>
              </ns2:defRPr>
            </ns2:pPr>
            <ns2:r>
              <ns2:rPr sz="1875" b="0">
                <ns2:solidFill>
                  <ns2:srgbClr val="29263B"/>
                </ns2:solidFill>
                <ns2:latin typeface="Consolas"/>
                <ns2:ea typeface="Consolas"/>
                <ns2:cs typeface="Consolas"/>
              </ns2:rPr>
              <ns2:t>  </ns2:t>
            </ns2:r>
            <ns2:r>
              <ns2:rPr sz="1875" b="0">
                <ns2:solidFill>
                  <ns2:srgbClr val="0070C0"/>
                </ns2:solidFill>
                <ns2:latin typeface="Consolas"/>
                <ns2:ea typeface="Consolas"/>
                <ns2:cs typeface="Consolas"/>
              </ns2:rPr>
              <ns2:t>build/learning-tools/p003/build-hc32-sdk-auto/zephyr/.config</ns2:t>
            </ns2:r>
          </ns2:p>
          <ns3:p xmlns:ns3="http://schemas.openxmlformats.org/drawingml/2006/main">
            <ns3:pPr>
              <ns3:lnSpc>
                <ns3:spcPct val="120000"/>
              </ns3:lnSpc>
              <ns3:defRPr sz="1875" b="0">
                <ns3:solidFill>
                  <ns3:srgbClr val="005968"/>
                </ns3:solidFill>
                <ns3:latin typeface="Consolas"/>
                <ns3:ea typeface="Consolas"/>
                <ns3:cs typeface="Consolas"/>
              </ns3:defRPr>
            </ns3:pPr>
            <ns3:r>
              <ns3:rPr sz="1875" b="0">
                <ns3:solidFill>
                  <ns3:srgbClr val="A02B93"/>
                </ns3:solidFill>
                <ns3:latin typeface="Consolas"/>
                <ns3:ea typeface="Consolas"/>
                <ns3:cs typeface="Consolas"/>
              </ns3:rPr>
              <ns3:t>cat</ns3:t>
            </ns3:r>
            <ns3:r>
              <ns3:rPr sz="1875" b="0">
                <ns3:solidFill>
                  <ns3:srgbClr val="29263B"/>
                </ns3:solidFill>
                <ns3:latin typeface="Consolas"/>
                <ns3:ea typeface="Consolas"/>
                <ns3:cs typeface="Consolas"/>
              </ns3:rPr>
              <ns3:t> </ns3:t>
            </ns3:r>
            <ns3:r>
              <ns3:rPr sz="1875" b="0">
                <ns3:solidFill>
                  <ns3:srgbClr val="0070C0"/>
                </ns3:solidFill>
                <ns3:latin typeface="Consolas"/>
                <ns3:ea typeface="Consolas"/>
                <ns3:cs typeface="Consolas"/>
              </ns3:rPr>
              <ns3:t>build/learning-tools/p003/build-hc32-sdk-auto/zephyr_modules.txt</ns3:t>
            </ns3:r>
          </ns3:p>
          <ns4:p xmlns:ns4="http://schemas.openxmlformats.org/drawingml/2006/main">
            <ns4:pPr>
              <ns4:lnSpc>
                <ns4:spcPct val="120000"/>
              </ns4:lnSpc>
              <ns4:defRPr sz="1875" b="0">
                <ns4:solidFill>
                  <ns4:srgbClr val="005968"/>
                </ns4:solidFill>
                <ns4:latin typeface="Consolas"/>
                <ns4:ea typeface="Consolas"/>
                <ns4:cs typeface="Consolas"/>
              </ns4:defRPr>
            </ns4:pPr>
            <ns4:r>
              <ns4:rPr sz="1875" b="0">
                <ns4:solidFill>
                  <ns4:srgbClr val="A02B93"/>
                </ns4:solidFill>
                <ns4:latin typeface="Consolas"/>
                <ns4:ea typeface="Consolas"/>
                <ns4:cs typeface="Consolas"/>
              </ns4:rPr>
              <ns4:t>grep</ns4:t>
            </ns4:r>
            <ns4:r>
              <ns4:rPr sz="187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 </ns4:t>
            </ns4:r>
            <ns4:r>
              <ns4:rPr sz="1875" b="0">
                <ns4:solidFill>
                  <ns4:srgbClr val="B84E00"/>
                </ns4:solidFill>
                <ns4:latin typeface="Consolas"/>
                <ns4:ea typeface="Consolas"/>
                <ns4:cs typeface="Consolas"/>
              </ns4:rPr>
              <ns4:t>-F</ns4:t>
            </ns4:r>
            <ns4:r>
              <ns4:rPr sz="1875" b="0">
                <ns4:solidFill>
                  <ns4:srgbClr val="29263B"/>
                </ns4:solidFill>
                <ns4:latin typeface="Consolas"/>
                <ns4:ea typeface="Consolas"/>
                <ns4:cs typeface="Consolas"/>
              </ns4:rPr>
              <ns4:t> 'hc32f4a0' </ns4:t>
            </ns4:r>
            <ns4:r>
              <ns4:rPr sz="1875" b="0">
                <ns4:solidFill>
                  <ns4:srgbClr val="0070C0"/>
                </ns4:solidFill>
                <ns4:latin typeface="Consolas"/>
                <ns4:ea typeface="Consolas"/>
                <ns4:cs typeface="Consolas"/>
              </ns4:rPr>
              <ns4:t>build/learning-tools/p003/build-hc32-sdk-auto/compile_commands.json</ns4:t>
            </ns4:r>
          </ns4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10C37C9A-5DB2-4E1A-A169-37015D25B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应看到 </a:t>
            </a:r>
            <a:r>
              <a:rPr sz="18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CMSIS、固定 HAL 和工作适配模块共同进入构建。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10B97060-78E7-4EBC-B8F6-A0F541365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完整命令：P011_Windows/11.8-01.txt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31E259-FEB5-47EC-B7A8-75924391132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45</a:t>
            </a:fld>
          </a:p>
        </p:txBody>
      </p:sp>
    </p:spTree>
    <p:extLst>
      <p:ext uri="{BB962C8B-B14F-4D97-AF65-F5344CB8AC3E}">
        <p14:creationId xmlns:p14="http://schemas.microsoft.com/office/powerpoint/2010/main" val="273746464"/>
      </p:ext>
    </p:extLst>
  </p:cSld>
</p:sld>
</file>

<file path=ppt/slides/cmsiswest_slide1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D7EA971D-F8B9-45C3-AFC4-546AD5D9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ns0:p xmlns:ns0="http://schemas.openxmlformats.org/drawingml/2006/main">
            <ns0:pPr>
              <ns0:defRPr sz="3150" b="1">
                <ns0:solidFill>
                  <ns0:srgbClr val="29263B"/>
                </ns0:solidFill>
                <ns0:latin typeface="Microsoft YaHei"/>
                <ns0:ea typeface="Microsoft YaHei"/>
                <ns0:cs typeface="Microsoft YaHei"/>
              </ns0:defRPr>
            </ns0:pPr>
            <ns0:r>
              <ns0:rPr sz="3150" b="1">
                <ns0:solidFill>
                  <ns0:srgbClr val="29263B"/>
                </ns0:solidFill>
                <ns0:latin typeface="Microsoft YaHei"/>
                <ns0:ea typeface="Microsoft YaHei"/>
                <ns0:cs typeface="Microsoft YaHei"/>
              </ns0:rPr>
              <ns0:t>可选：固定 SDK，保留模块自动发现</ns0:t>
            </ns0:r>
          </ns0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F8735869-90E6-4F36-ADBD-C2F607CFA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11.9.5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5564BA0B-FD30-4B89-9FBC-C4BE42E35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ns1:p xmlns:ns1="http://schemas.openxmlformats.org/drawingml/2006/main">
            <ns1:pPr>
              <ns1:lnSpc>
                <ns1:spcPct val="120000"/>
              </ns1:lnSpc>
              <ns1:defRPr sz="2175" b="0">
                <ns1:solidFill>
                  <ns1:srgbClr val="29263B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175" b="0">
                <ns1:solidFill>
                  <ns1:srgbClr val="29263B"/>
                </ns1:solidFill>
                <ns1:latin typeface="Microsoft YaHei"/>
                <ns1:ea typeface="Microsoft YaHei"/>
                <ns1:cs typeface="Microsoft YaHei"/>
              </ns1:rPr>
              <ns1:t>这是默认发现以外的固定组合，不是每个工程的必做步骤。</ns1:t>
            </ns1:r>
          </ns1:p>
          <ns2:p xmlns:ns2="http://schemas.openxmlformats.org/drawingml/2006/main">
            <ns2:pPr>
              <ns2:lnSpc>
                <ns2:spcPct val="120000"/>
              </ns2:lnSpc>
              <ns2:defRPr sz="2175" b="0">
                <ns2:solidFill>
                  <ns2:srgbClr val="29263B"/>
                </ns2:solidFill>
                <ns2:latin typeface="Microsoft YaHei"/>
                <ns2:ea typeface="Microsoft YaHei"/>
                <ns2:cs typeface="Microsoft YaHei"/>
              </ns2:defRPr>
            </ns2:pPr>
            <ns2:r>
              <ns2:rPr sz="2175" b="0">
                <ns2:solidFill>
                  <ns2:srgbClr val="29263B"/>
                </ns2:solidFill>
                <ns2:latin typeface="Microsoft YaHei"/>
                <ns2:ea typeface="Microsoft YaHei"/>
                <ns2:cs typeface="Microsoft YaHei"/>
              </ns2:rPr>
              <ns2:t>应用旁创建或合并预设；模板有意固定 SDK 根和类型。</ns2:t>
            </ns2:r>
          </ns2:p>
        </p:txBody>
      </p:sp>
      <p:sp>
        <p:nvSpPr>
          <p:cNvPr id="4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65B0994F-C866-4FEE-9D09-56CA234B4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完整命令：P011_Windows/11.9.5-01.txt</a:t>
            </a:r>
          </a:p>
        </p:txBody>
      </p:sp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31E259-FEB5-47EC-B7A8-75924391132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51</a:t>
            </a:fld>
          </a:p>
        </p:txBody>
      </p:sp>
    </p:spTree>
    <p:extLst>
      <p:ext uri="{BB962C8B-B14F-4D97-AF65-F5344CB8AC3E}">
        <p14:creationId xmlns:p14="http://schemas.microsoft.com/office/powerpoint/2010/main" val="1000677428"/>
      </p:ext>
    </p:extLst>
  </p:cSld>
</p:sld>
</file>

<file path=ppt/slides/cmsiswest_slide1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63655FA2-5B4A-41AB-B598-7AD489BA0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新终端选择预设并构建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02C508E-4889-4001-8664-8C7C4EFD4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ns0:p xmlns:ns0="http://schemas.openxmlformats.org/drawingml/2006/main">
            <ns0:pPr>
              <ns0:defRPr sz="1575" b="0">
                <ns0:solidFill>
                  <ns0:srgbClr val="6845AC"/>
                </ns0:solidFill>
                <ns0:latin typeface="Microsoft YaHei"/>
                <ns0:ea typeface="Microsoft YaHei"/>
                <ns0:cs typeface="Microsoft YaHei"/>
              </ns0:defRPr>
            </ns0:pPr>
            <ns0:r>
              <ns0:rPr sz="1575" b="0">
                <ns0:solidFill>
                  <ns0:srgbClr val="6845AC"/>
                </ns0:solidFill>
                <ns0:latin typeface="Microsoft YaHei"/>
                <ns0:ea typeface="Microsoft YaHei"/>
                <ns0:cs typeface="Microsoft YaHei"/>
              </ns0:rPr>
              <ns0:t>11.9.5 · 仅选择了用户预设替代路线时执行</ns0:t>
            </ns0:r>
          </ns0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5DC47559-AAE2-47FD-AD92-DC022AFF7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Windows UCRT64；重新开终端也使用同一组命令。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cd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/g/zephyr_practice/zephyr-main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source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.venv/Scripts/activate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cd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samples/hello_world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cmake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--list-presets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cmake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--preset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mps2-west-local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cmake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--build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--preset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mps2-west-local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B63BE93-5D29-478C-9C40-59AC6235E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先激活 </a:t>
            </a: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.venv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，核对当前 Git；SDK 从预设读取，模块由 </a:t>
            </a:r>
            <a:r>
              <a:rPr sz="18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发现。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A549AB19-D52C-413F-9E32-779776F95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完整命令：P011_Windows/11.9.5-02.txt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31E259-FEB5-47EC-B7A8-75924391132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52</a:t>
            </a:fld>
          </a:p>
        </p:txBody>
      </p:sp>
    </p:spTree>
    <p:extLst>
      <p:ext uri="{BB962C8B-B14F-4D97-AF65-F5344CB8AC3E}">
        <p14:creationId xmlns:p14="http://schemas.microsoft.com/office/powerpoint/2010/main" val="179281474"/>
      </p:ext>
    </p:extLst>
  </p:cSld>
</p:sld>
</file>

<file path=ppt/slides/cmsiswest_slide1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B52198FF-F202-472B-B8FD-40473C56D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HC32 相对 AN386 的增量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9D23983E-5273-47C1-9DE7-D93FEB16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11.7 · 保留基础模块，只追加移植输入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446ABF-C78C-45BA-B85B-55CBF31DA032}"/>
              </a:ext>
            </a:extLst>
          </p:cNvPr>
          <p:cNvGraphicFramePr/>
          <p:nvPr/>
        </p:nvGraphicFramePr>
        <p:xfrm>
          <a:off xmlns:a="http://schemas.openxmlformats.org/drawingml/2006/main" x="609600" y="1924050"/>
          <a:ext xmlns:a="http://schemas.openxmlformats.org/drawingml/2006/main" cx="10972800" cy="3190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7543800"/>
              </a:tblGrid>
              <a:tr h="63817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这一次的选择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BOARD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uyup_rpi_a/hc32f4a0pitb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输出目录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build/learning-tools/p003/build-hc32-sdk-auto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CMSIS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同一 </a:t>
                      </a:r>
                      <a:r>
                        <a:rPr sz="1800" b="0">
                          <a:solidFill>
                            <a:srgbClr val="A02B9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west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工作区中的 cmsis_6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EXTRA_ZEPHYR_MODULES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固定 HAL + 工作适配模块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31E259-FEB5-47EC-B7A8-75924391132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41</a:t>
            </a:fld>
          </a:p>
        </p:txBody>
      </p:sp>
    </p:spTree>
    <p:extLst>
      <p:ext uri="{BB962C8B-B14F-4D97-AF65-F5344CB8AC3E}">
        <p14:creationId xmlns:p14="http://schemas.microsoft.com/office/powerpoint/2010/main" val="24779360"/>
      </p:ext>
    </p:extLst>
  </p:cSld>
</p:sld>
</file>

<file path=ppt/slides/firmware_formats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52E1E4F1-9E03-4590-8BCF-FC0428FD3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rIns="0" t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本次 HC32 同时生成 ELF、HEX 和 BIN</a:t>
            </a:r>
          </a:p>
        </p:txBody>
      </p:sp>
      <p:sp>
        <p:nvSpPr>
          <p:cNvPr id="2" name="Stage">
            <a:extLst xmlns:a="http://schemas.openxmlformats.org/drawingml/2006/main">
              <a:ext uri="{FF2B5EF4-FFF2-40B4-BE49-F238E27FC236}">
                <a16:creationId xmlns:a16="http://schemas.microsoft.com/office/drawing/2014/main" id="{12AA3BF6-5404-4A53-94D9-2F27FCFDD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rIns="0" t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t>11.7.1 · 先核对产物，再区分烧录接入阶段</a:t>
            </a:r>
          </a:p>
        </p:txBody>
      </p:sp>
      <p:sp>
        <p:nvSpPr>
          <p:cNvPr id="3" name="Configuration">
            <a:extLst xmlns:a="http://schemas.openxmlformats.org/drawingml/2006/main">
              <a:ext uri="{FF2B5EF4-FFF2-40B4-BE49-F238E27FC236}">
                <a16:creationId xmlns:a16="http://schemas.microsoft.com/office/drawing/2014/main" id="{00A407A8-D29E-4DBA-A433-5A9C5470E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09728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rIns="0" t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教程适配的板级 defconfig 已设置 </a:t>
            </a:r>
            <a:r>
              <a:rPr>
                <a:solidFill>
                  <a:srgbClr val="B84E00"/>
                </a:solidFill>
              </a:rPr>
              <a:t>CONFIG_BUILD_OUTPUT_HEX</a:t>
            </a:r>
            <a:r>
              <a:rPr>
                <a:solidFill>
                  <a:srgbClr val="B84E00"/>
                </a:solidFill>
              </a:rPr>
              <a:t>=y</a:t>
            </a:r>
            <a:r>
              <a:rPr/>
              <a:t>。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BIN 使用 Zephyr 默认开启值；ELF 始终是本次核心链接产物。</a:t>
            </a:r>
          </a:p>
        </p:txBody>
      </p:sp>
      <p:sp>
        <p:nvSpPr>
          <p:cNvPr id="4" name="Command">
            <a:extLst xmlns:a="http://schemas.openxmlformats.org/drawingml/2006/main">
              <a:ext uri="{FF2B5EF4-FFF2-40B4-BE49-F238E27FC236}">
                <a16:creationId xmlns:a16="http://schemas.microsoft.com/office/drawing/2014/main" id="{255192A2-0F95-471D-A3A2-6B38F0FD6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43225"/>
            <a:ext cx="109728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rIns="0" t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646173"/>
                </a:solidFill>
              </a:rPr>
              <a:t># Windows UCRT64；源码根；11.7 的 HC32 构建已成功。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cd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0070C0"/>
                </a:solidFill>
              </a:rPr>
              <a:t>/g/zephyr_practice/zephyr-main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grep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-E</a:t>
            </a:r>
            <a:r>
              <a:rPr>
                <a:solidFill>
                  <a:srgbClr val="29263B"/>
                </a:solidFill>
              </a:rPr>
              <a:t> '^</a:t>
            </a:r>
            <a:r>
              <a:rPr>
                <a:solidFill>
                  <a:srgbClr val="B84E00"/>
                </a:solidFill>
              </a:rPr>
              <a:t>CONFIG_BUILD_OUTPUT_</a:t>
            </a:r>
            <a:r>
              <a:rPr>
                <a:solidFill>
                  <a:srgbClr val="29263B"/>
                </a:solidFill>
              </a:rPr>
              <a:t>(HEX|BIN)=' \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29263B"/>
                </a:solidFill>
              </a:rPr>
              <a:t>  </a:t>
            </a:r>
            <a:r>
              <a:rPr>
                <a:solidFill>
                  <a:srgbClr val="0070C0"/>
                </a:solidFill>
              </a:rPr>
              <a:t>build/learning-tools/p003/build-hc32-sdk-auto/zephyr/.config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find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0070C0"/>
                </a:solidFill>
              </a:rPr>
              <a:t>build/learning-tools/p003/build-hc32-sdk-auto/zephyr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-maxdepth</a:t>
            </a:r>
            <a:r>
              <a:rPr>
                <a:solidFill>
                  <a:srgbClr val="29263B"/>
                </a:solidFill>
              </a:rPr>
              <a:t> 1 \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29263B"/>
                </a:solidFill>
              </a:rPr>
              <a:t>  \( </a:t>
            </a:r>
            <a:r>
              <a:rPr>
                <a:solidFill>
                  <a:srgbClr val="B84E00"/>
                </a:solidFill>
              </a:rPr>
              <a:t>-name</a:t>
            </a:r>
            <a:r>
              <a:rPr>
                <a:solidFill>
                  <a:srgbClr val="29263B"/>
                </a:solidFill>
              </a:rPr>
              <a:t> '</a:t>
            </a:r>
            <a:r>
              <a:rPr>
                <a:solidFill>
                  <a:srgbClr val="0070C0"/>
                </a:solidFill>
              </a:rPr>
              <a:t>zephyr.elf</a:t>
            </a:r>
            <a:r>
              <a:rPr>
                <a:solidFill>
                  <a:srgbClr val="29263B"/>
                </a:solidFill>
              </a:rPr>
              <a:t>' </a:t>
            </a:r>
            <a:r>
              <a:rPr>
                <a:solidFill>
                  <a:srgbClr val="B84E00"/>
                </a:solidFill>
              </a:rPr>
              <a:t>-o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-name</a:t>
            </a:r>
            <a:r>
              <a:rPr>
                <a:solidFill>
                  <a:srgbClr val="29263B"/>
                </a:solidFill>
              </a:rPr>
              <a:t> '</a:t>
            </a:r>
            <a:r>
              <a:rPr>
                <a:solidFill>
                  <a:srgbClr val="0070C0"/>
                </a:solidFill>
              </a:rPr>
              <a:t>zephyr.hex</a:t>
            </a:r>
            <a:r>
              <a:rPr>
                <a:solidFill>
                  <a:srgbClr val="29263B"/>
                </a:solidFill>
              </a:rPr>
              <a:t>' </a:t>
            </a:r>
            <a:r>
              <a:rPr>
                <a:solidFill>
                  <a:srgbClr val="B84E00"/>
                </a:solidFill>
              </a:rPr>
              <a:t>-o</a:t>
            </a:r>
            <a:r>
              <a:rPr>
                <a:solidFill>
                  <a:srgbClr val="29263B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-name</a:t>
            </a:r>
            <a:r>
              <a:rPr>
                <a:solidFill>
                  <a:srgbClr val="29263B"/>
                </a:solidFill>
              </a:rPr>
              <a:t> '</a:t>
            </a:r>
            <a:r>
              <a:rPr>
                <a:solidFill>
                  <a:srgbClr val="0070C0"/>
                </a:solidFill>
              </a:rPr>
              <a:t>zephyr.bin</a:t>
            </a:r>
            <a:r>
              <a:rPr>
                <a:solidFill>
                  <a:srgbClr val="29263B"/>
                </a:solidFill>
              </a:rPr>
              <a:t>' \) </a:t>
            </a:r>
            <a:r>
              <a:rPr>
                <a:solidFill>
                  <a:srgbClr val="B84E00"/>
                </a:solidFill>
              </a:rPr>
              <a:t>-print</a:t>
            </a:r>
          </a:p>
        </p:txBody>
      </p:sp>
      <p:sp>
        <p:nvSpPr>
          <p:cNvPr id="5" name="Runner">
            <a:extLst xmlns:a="http://schemas.openxmlformats.org/drawingml/2006/main">
              <a:ext uri="{FF2B5EF4-FFF2-40B4-BE49-F238E27FC236}">
                <a16:creationId xmlns:a16="http://schemas.microsoft.com/office/drawing/2014/main" id="{5D13D28F-FA92-43F9-A6BF-5A4C4DB39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rIns="0" t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本章尚未接入 runner。正式接入 pyOCD 后：烧录优先 HEX → BIN → ELF；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/>
              <a:t>三者齐全时选 HEX，源码调试读 ELF。产物存在不等于已下载或运行。</a:t>
            </a:r>
          </a:p>
        </p:txBody>
      </p:sp>
      <p:sp>
        <p:nvSpPr>
          <p:cNvPr id="6" name="Source">
            <a:extLst xmlns:a="http://schemas.openxmlformats.org/drawingml/2006/main">
              <a:ext uri="{FF2B5EF4-FFF2-40B4-BE49-F238E27FC236}">
                <a16:creationId xmlns:a16="http://schemas.microsoft.com/office/drawing/2014/main" id="{70E4A332-122E-45D7-97FA-E288000CC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34075"/>
            <a:ext cx="10972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rIns="0" t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97589"/>
                </a:solidFill>
                <a:hlinkClick xmlns:r="http://schemas.openxmlformats.org/officeDocument/2006/relationships" r:id="R70fd65e9c4634740"/>
              </a:rPr>
              <a:t>依据：板级 defconfig；</a:t>
            </a:r>
            <a:r>
              <a:rPr u="sng">
                <a:solidFill>
                  <a:srgbClr val="0070C0"/>
                </a:solidFill>
                <a:hlinkClick xmlns:r="http://schemas.openxmlformats.org/officeDocument/2006/relationships" r:id="R70fd65e9c4634740"/>
              </a:rPr>
              <a:t>Kconfig.zephyr</a:t>
            </a:r>
            <a:r>
              <a:rPr u="sng">
                <a:solidFill>
                  <a:srgbClr val="397589"/>
                </a:solidFill>
                <a:hlinkClick xmlns:r="http://schemas.openxmlformats.org/officeDocument/2006/relationships" r:id="R70fd65e9c4634740"/>
              </a:rPr>
              <a:t>；</a:t>
            </a:r>
            <a:r>
              <a:rPr u="sng">
                <a:solidFill>
                  <a:srgbClr val="0070C0"/>
                </a:solidFill>
                <a:hlinkClick xmlns:r="http://schemas.openxmlformats.org/officeDocument/2006/relationships" r:id="R70fd65e9c4634740"/>
              </a:rPr>
              <a:t>pyocd.py</a:t>
            </a:r>
            <a:r>
              <a:rPr u="sng">
                <a:solidFill>
                  <a:srgbClr val="397589"/>
                </a:solidFill>
                <a:hlinkClick xmlns:r="http://schemas.openxmlformats.org/officeDocument/2006/relationships" r:id="R70fd65e9c4634740"/>
              </a:rPr>
              <a:t> 的 flash()</a:t>
            </a:r>
          </a:p>
        </p:txBody>
      </p:sp>
      <p:sp>
        <p:nvSpPr>
          <p:cNvPr id="7" name="Links">
            <a:extLst xmlns:a="http://schemas.openxmlformats.org/drawingml/2006/main">
              <a:ext uri="{FF2B5EF4-FFF2-40B4-BE49-F238E27FC236}">
                <a16:creationId xmlns:a16="http://schemas.microsoft.com/office/drawing/2014/main" id="{3C1DCD1B-729E-4F65-8D4F-803BFDF99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rIns="0" t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solidFill>
                  <a:srgbClr val="397589"/>
                </a:solidFill>
                <a:hlinkClick xmlns:r="http://schemas.openxmlformats.org/officeDocument/2006/relationships" r:id="R5283398eb4484a46"/>
              </a:rPr>
              <a:t>完整检查命令与正文</a:t>
            </a:r>
          </a:p>
        </p:txBody>
      </p:sp>
      <p:sp>
        <p:nvSpPr>
          <p:cNvPr id="90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lnSpc>
                <a:spcPct val="120000"/>
              </a:lnSpc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31E259-FEB5-47EC-B7A8-75924391132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44</a:t>
            </a:fld>
          </a:p>
        </p:txBody>
      </p:sp>
    </p:spTree>
    <p:extLst>
      <p:ext uri="{BB962C8B-B14F-4D97-AF65-F5344CB8AC3E}">
        <p14:creationId xmlns:p14="http://schemas.microsoft.com/office/powerpoint/2010/main" val="835242090"/>
      </p:ext>
    </p:extLst>
  </p:cSld>
</p:sld>
</file>

<file path=ppt/slides/sdkscope_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643BF366-7AFE-4043-86B8-AC2CD967E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本次终端的 Python 与 SDK 输入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25897F0-56BD-4AB7-A3C5-46AD401FC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6.2.1 · 环境输入；后续 -D 写入指定构建缓存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C9DAF5B6-6181-4037-8A28-A28D1050B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UCRT64；源码根；重开终端时重新执行本块。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/g/zephyr_practice/zephyr-main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source .venv/Scripts/activate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export ZEPHYR_BASE="$(cygpath -m "$PWD")"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unset EXTRA_ZEPHYR_MODULES ZEPHYR_EXTRA_MODULES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-m pip check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53261FBD-6416-4041-B29A-888444AF0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根 .venv 负责 Python，两个 SDK export 属于当前 Bash。</a:t>
            </a:r>
          </a:p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长期保存到应用文件的替代路线见 11.9.5；不必修改 .venv。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7715B7F8-3E5A-4FD6-8ACE-AA375CBD9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完整命令：P007_Windows/7.2.1-01.txt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BC41FF04-2407-4D97-B2D6-22343B47CBF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</a:p>
        </p:txBody>
      </p:sp>
    </p:spTree>
    <p:extLst>
      <p:ext uri="{BB962C8B-B14F-4D97-AF65-F5344CB8AC3E}">
        <p14:creationId xmlns:p14="http://schemas.microsoft.com/office/powerpoint/2010/main" val="82825497"/>
      </p:ext>
    </p:extLst>
  </p:cSld>
</p:sld>
</file>

<file path=ppt/slides/sdkscope_slide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8C48A806-EC56-4704-B519-2C26728C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ns0:p xmlns:ns0="http://schemas.openxmlformats.org/drawingml/2006/main">
            <ns0:pPr>
              <ns0:defRPr sz="3150" b="1">
                <ns0:solidFill>
                  <ns0:srgbClr val="29263B"/>
                </ns0:solidFill>
                <ns0:latin typeface="Microsoft YaHei"/>
                <ns0:ea typeface="Microsoft YaHei"/>
                <ns0:cs typeface="Microsoft YaHei"/>
              </ns0:defRPr>
            </ns0:pPr>
            <ns0:r>
              <ns0:rPr sz="3150" b="1">
                <ns0:solidFill>
                  <ns0:srgbClr val="29263B"/>
                </ns0:solidFill>
                <ns0:latin typeface="Microsoft YaHei"/>
                <ns0:ea typeface="Microsoft YaHei"/>
                <ns0:cs typeface="Microsoft YaHei"/>
              </ns0:rPr>
              <ns0:t>可选：用用户预设固定工程组合</ns0:t>
            </ns0:r>
          </ns0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D75ABC4-ACB1-4B7F-BD3F-F94F0C0A4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11.9.5 · 已完成 AN386 的首次实验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7771E9-11F6-4707-8AF9-0624F1B87928}"/>
              </a:ext>
            </a:extLst>
          </p:cNvPr>
          <p:cNvGraphicFramePr/>
          <p:nvPr/>
        </p:nvGraphicFramePr>
        <p:xfrm>
          <a:off xmlns:a="http://schemas.openxmlformats.org/drawingml/2006/main" x="609600" y="19240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715000"/>
                <a:gridCol w="525780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位置 / 字段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含义与来源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samples/hello_world/CMakeLists.txt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官方已有应用入口，保持原样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同目录 </a:t>
                      </a: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CMakeUserPresets.json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读者新建的本机文件，不提交个人路径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cacheVariables / SDK 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配置时作为 </a:t>
                      </a:r>
                      <a:r>
                        <a:rPr sz="1800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-D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输入，值按实际安装修改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binaryDir / build-mps2-preset-west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独立输出目录，由配置生成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mps2-west-local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自定预设名；</a:t>
                      </a:r>
                      <a:r>
                        <a:rPr sz="1800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BOARD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仍是 mps2/an386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3F86AE6-6394-4A6A-AAAF-95EAC924C41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50</a:t>
            </a:fld>
          </a:p>
        </p:txBody>
      </p:sp>
    </p:spTree>
    <p:extLst>
      <p:ext uri="{BB962C8B-B14F-4D97-AF65-F5344CB8AC3E}">
        <p14:creationId xmlns:p14="http://schemas.microsoft.com/office/powerpoint/2010/main" val="563307904"/>
      </p:ext>
    </p:extLst>
  </p:cSld>
</p:sld>
</file>

<file path=ppt/slides/sdkscope_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8DBECB7E-B22E-495A-BA54-1E667A38D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创建完整预设后，先核对 SDK 值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E6949CB0-F1B3-4652-828B-A0132AC5C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11.9.5 · 完整 JSON 与创建命令见下方文件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BFECB467-3E3D-4512-8071-BE27A8ED7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在源码根执行完整文件中的创建命令，已有预设时先合并。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根按本机修改；sourceDir 是 CMake 原生的应用目录宏。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清理 build 后可以重新从此文件配置；换 SDK 时另用新输出目录。</a:t>
            </a:r>
          </a:p>
        </p:txBody>
      </p:sp>
      <p:sp>
        <p:nvSpPr>
          <p:cNvPr id="4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74F6B322-2157-4437-AD32-0EA0B0CD0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完整命令：P007_Windows/7.9.5-01.txt</a:t>
            </a:r>
          </a:p>
        </p:txBody>
      </p:sp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FC79908-A4E2-48F5-BF56-2DC6437D0E1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47</a:t>
            </a:fld>
          </a:p>
        </p:txBody>
      </p:sp>
    </p:spTree>
    <p:extLst>
      <p:ext uri="{BB962C8B-B14F-4D97-AF65-F5344CB8AC3E}">
        <p14:creationId xmlns:p14="http://schemas.microsoft.com/office/powerpoint/2010/main" val="421653368"/>
      </p:ext>
    </p:extLst>
  </p:cSld>
</p:sld>
</file>

<file path=ppt/slides/sdkscope_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794AF7B0-A3A4-42C8-8955-C2322B9A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新终端选择预设，再配置和构建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DF573193-939E-4B85-9225-3D40B9B2A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6.9.5 · 不需要再次 export SDK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134B66F5-E85B-42E9-8820-297511970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Windows UCRT64；重新开终端也使用同一组命令。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/g/zephyr_practice/zephyr-main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source .venv/Scripts/activate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samples/hello_world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cmake --list-presets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cmake --preset mps2-local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cmake --build --preset mps2-local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E0823A06-0604-426F-A343-8097D38A1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先激活 Python；SDK 来自选定预设。</a:t>
            </a:r>
          </a:p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修改预设后先配置，再构建；build 不自动替你应用新预设输入。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BCCB23C7-D76A-4E5C-B748-0CA364D31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完整命令：P007_Windows/7.9.5-02.txt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66D7D36-ADD6-4FFB-9D47-EE0D6E15E4E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48</a:t>
            </a:fld>
          </a:p>
        </p:txBody>
      </p:sp>
    </p:spTree>
    <p:extLst>
      <p:ext uri="{BB962C8B-B14F-4D97-AF65-F5344CB8AC3E}">
        <p14:creationId xmlns:p14="http://schemas.microsoft.com/office/powerpoint/2010/main" val="1049108747"/>
      </p:ext>
    </p:extLst>
  </p:cSld>
</p:sld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ED686CA-009C-46C0-9649-59779F457B10}"/>
              </a:ext>
            </a:extLst>
          </p:cNvPr>
          <p:cNvSpPr>
            <a:spLocks noGrp="1"/>
          </p:cNvSpPr>
          <p:nvPr/>
        </p:nvSpPr>
        <p:spPr>
          <a:xfrm>
            <a:off x="647700" y="914400"/>
            <a:ext cx="19050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P011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83EA0C4-B462-4BE3-B25A-16FBB35A6FF0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7572375" cy="1666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Zephyr 编译示例</a:t>
            </a:r>
          </a:p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与新增开发板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A3B33A2-9A6E-4A0A-9111-996B334312DA}"/>
              </a:ext>
            </a:extLst>
          </p:cNvPr>
          <p:cNvSpPr>
            <a:spLocks noGrp="1"/>
          </p:cNvSpPr>
          <p:nvPr/>
        </p:nvSpPr>
        <p:spPr>
          <a:xfrm>
            <a:off x="647700" y="4248150"/>
            <a:ext cx="733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Windows x64  UCRT64 实操教程</a:t>
            </a:r>
          </a:p>
        </p:txBody>
      </p:sp>
      <p:sp>
        <p:nvSpPr>
          <p:cNvPr id="6" name="Presenter lizhaojun">
            <a:extLst>
              <a:ext uri="{FF2B5EF4-FFF2-40B4-BE49-F238E27FC236}">
                <a16:creationId xmlns:a16="http://schemas.microsoft.com/office/drawing/2014/main" id="{133315A9-327F-4AF3-9469-360FC6999EB2}"/>
              </a:ext>
            </a:extLst>
          </p:cNvPr>
          <p:cNvSpPr>
            <a:spLocks noGrp="1"/>
          </p:cNvSpPr>
          <p:nvPr/>
        </p:nvSpPr>
        <p:spPr>
          <a:xfrm>
            <a:off x="609600" y="4972050"/>
            <a:ext cx="5334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rPr>
              <a:t>主讲人：lizhaojun</a:t>
            </a:r>
          </a:p>
        </p:txBody>
      </p:sp>
    </p:spTree>
    <p:extLst>
      <p:ext uri="{BB962C8B-B14F-4D97-AF65-F5344CB8AC3E}">
        <p14:creationId xmlns:p14="http://schemas.microsoft.com/office/powerpoint/2010/main" val="1122830412"/>
      </p:ext>
    </p:extLst>
  </p:cSld>
  <p:clrMapOvr>
    <a:masterClrMapping/>
  </p:clrMapOvr>
</p:sld>
</file>

<file path=ppt/slides/slide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ontent">
            <a:extLst xmlns:a="http://schemas.openxmlformats.org/drawingml/2006/main">
              <a:ext uri="{FF2B5EF4-FFF2-40B4-BE49-F238E27FC236}">
                <a16:creationId xmlns:a16="http://schemas.microsoft.com/office/drawing/2014/main" id="{2A524FE0-31DA-4745-B01B-BB21E621D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三次实验的递进关系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C2D90635-EDCE-4029-BFAF-13C092A9B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本期路线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0C921CCF-8CD4-43CC-96F7-AEC052F91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A：mps2/an386，工具链与已有板基线。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B：practice_mps2/an386，只新增板身份，SoC 不变。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C：uyup_rpi_a/hc32f4a0pitb，增加真实芯片支持。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B1F316-175F-4364-8E4A-40587E7207D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ff32942d3f461a"/>
          <a:stretch xmlns:a="http://schemas.openxmlformats.org/drawingml/2006/main"/>
        </p:blipFill>
        <p:spPr>
          <a:xfrm xmlns:a="http://schemas.openxmlformats.org/drawingml/2006/main">
            <a:off x="1061132" y="4124325"/>
            <a:ext cx="10069736" cy="1857375"/>
          </a:xfrm>
          <a:prstGeom xmlns:a="http://schemas.openxmlformats.org/drawingml/2006/main" prst="rect">
            <a:avLst/>
          </a:prstGeom>
        </p:spPr>
      </p:pic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31E259-FEB5-47EC-B7A8-75924391132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</a:t>
            </a:fld>
          </a:p>
        </p:txBody>
      </p:sp>
      <p:sp>
        <p:nvSpPr>
          <p:cNvPr id="9" name="Semantic color legend">
            <a:extLst xmlns:a="http://schemas.openxmlformats.org/drawingml/2006/main">
              <a:ext uri="{FF2B5EF4-FFF2-40B4-BE49-F238E27FC236}">
                <a16:creationId xmlns:a16="http://schemas.microsoft.com/office/drawing/2014/main" id="{39154CEE-9E0E-4815-8A42-342F49989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t>阅读标色： </a:t>
            </a:r>
            <a:r>
              <a:rPr>
                <a:solidFill>
                  <a:srgbClr val="B84E00"/>
                </a:solidFill>
              </a:rPr>
              <a:t>变量 / 参数</a:t>
            </a:r>
            <a:r>
              <a:t>     </a:t>
            </a:r>
            <a:r>
              <a:rPr>
                <a:solidFill>
                  <a:srgbClr val="0070C0"/>
                </a:solidFill>
              </a:rPr>
              <a:t>文件 / 路径</a:t>
            </a:r>
            <a:r>
              <a:t>     </a:t>
            </a:r>
            <a:r>
              <a:rPr>
                <a:solidFill>
                  <a:srgbClr val="087B3D"/>
                </a:solidFill>
              </a:rPr>
              <a:t>接口函数</a:t>
            </a:r>
            <a:r>
              <a:t>     </a:t>
            </a:r>
            <a:r>
              <a:rPr>
                <a:solidFill>
                  <a:srgbClr val="A02B93"/>
                </a:solidFill>
              </a:rPr>
              <a:t>终端命令</a:t>
            </a:r>
          </a:p>
        </p:txBody>
      </p:sp>
    </p:spTree>
    <p:extLst>
      <p:ext uri="{BB962C8B-B14F-4D97-AF65-F5344CB8AC3E}">
        <p14:creationId xmlns:p14="http://schemas.microsoft.com/office/powerpoint/2010/main" val="1071409526"/>
      </p:ext>
    </p:extLst>
  </p:cSld>
</p:sld>
</file>

<file path=ppt/slides/slide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5649092C-EA4B-4508-81A7-3573336E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示例板：Arm V2M MPS2 与 AN386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BAB7A48F-3040-451E-B5BA-66AC415E6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11.1 · 先认识目标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31B5FBB4-CC2F-455F-BF6F-F1E32F765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MPS2：Arm 的 FPGA 原型开发板平台。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AN386：Cortex-M4 系统的 FPGA 镜像 / 系统配置。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目标：mps2/an386，当前源码已经提供支持。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本阶段不要求购买 MPS2，先完成配置与编译。</a:t>
            </a:r>
          </a:p>
        </p:txBody>
      </p:sp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B89D4B65-2731-42A3-B0CD-BAABBC46BE4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958375667"/>
      </p:ext>
    </p:extLst>
  </p:cSld>
</p:sld>
</file>

<file path=ppt/slides/slide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4DEBC0B1-B146-4823-B0DC-DBD18DFBE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当前 AN386 目标描述了什么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178E932D-6CF9-49CA-81A3-EB078DF1E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11.1 · 源码根 boards/arm/mps2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EF0DCA-9B67-40E1-8FB3-BE4094FF51E0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00375"/>
                <a:gridCol w="4048125"/>
                <a:gridCol w="3924300"/>
              </a:tblGrid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对象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本次源码描述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查证文件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CPU / 时基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Cortex-M4F / 25 MHz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mps2_an386.dts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内存映射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 MiB SRAM；4 MiB flash 节点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mps2_base.dtsi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控制台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CMSDK UART0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chosen 与 UART 节点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其他节点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LED、按钮、定时器等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mps2_base.dtsi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C1F23F7-CC39-46CB-A324-C779123097CB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</a:t>
            </a:fld>
          </a:p>
        </p:txBody>
      </p:sp>
    </p:spTree>
    <p:extLst>
      <p:ext uri="{BB962C8B-B14F-4D97-AF65-F5344CB8AC3E}">
        <p14:creationId xmlns:p14="http://schemas.microsoft.com/office/powerpoint/2010/main" val="1018964852"/>
      </p:ext>
    </p:extLst>
  </p:cSld>
</p:sld>
</file>

<file path=ppt/slides/slide5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F805B903-72CA-441D-A8BF-AEA571C43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从目标名找到官方实现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D24E16B9-41A7-4669-BDA9-5B91D1A50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11.1 · BOARD 不是目录路径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A06EE7-F6F6-479B-BAFD-19E3134A236C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95875"/>
                <a:gridCol w="5876925"/>
              </a:tblGrid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源码入口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读出什么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boards/arm/mps2/board.yml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name=mps2，socs 包含 an386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boards/arm/mps2/Kconfig.mps2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板级限定名选择 </a:t>
                      </a: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SOC_AN386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soc/arm/mps2/Kconfig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选择 Cortex-M4 与芯片能力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mps2_an386.dts</a:t>
                      </a: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/ *_defconfig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硬件资源与默认软件功能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D85FD20-DBC0-4C14-B72D-7ADFF5DFC6D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</a:t>
            </a:fld>
          </a:p>
        </p:txBody>
      </p:sp>
    </p:spTree>
    <p:extLst>
      <p:ext uri="{BB962C8B-B14F-4D97-AF65-F5344CB8AC3E}">
        <p14:creationId xmlns:p14="http://schemas.microsoft.com/office/powerpoint/2010/main" val="156925073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ontent">
            <a:extLst xmlns:a="http://schemas.openxmlformats.org/drawingml/2006/main">
              <a:ext uri="{FF2B5EF4-FFF2-40B4-BE49-F238E27FC236}">
                <a16:creationId xmlns:a16="http://schemas.microsoft.com/office/drawing/2014/main" id="{0EBAF93E-17FF-4E66-8EA6-3B8DC343D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本次编译的应用：hello_world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531AC28A-D513-4738-90BF-6241313F4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11.1 · 应用与硬件的分工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A57C2EB5-07E6-4F9A-BD50-6741ACCC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9728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# UCRT64；/g/zephyr_practice/zephyr-main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cat samples/hello_world/src/main.c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cat samples/hello_world/CMakeLists.txt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cat boards/arm/mps2/mps2_an386_defconfig</a:t>
            </a:r>
          </a:p>
        </p:txBody>
      </p:sp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B10BED4C-ECF2-436D-9ABE-D856F541A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应用负责打印；板与 SoC 决定控制台、内存和 CPU。</a:t>
            </a:r>
          </a:p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得到 ELF 表示构建通过，此时尚未运行或烧录。</a:t>
            </a:r>
          </a:p>
        </p:txBody>
      </p:sp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843DD07D-E007-439E-91EC-EBFE54B7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3F4C3FF-8C45-4505-AF89-1E240FC569AB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</a:t>
            </a:fld>
          </a:p>
        </p:txBody>
      </p:sp>
    </p:spTree>
    <p:extLst>
      <p:ext uri="{BB962C8B-B14F-4D97-AF65-F5344CB8AC3E}">
        <p14:creationId xmlns:p14="http://schemas.microsoft.com/office/powerpoint/2010/main" val="28390064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CB36EF51-2CAD-48D3-A1DC-47624791B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从 P002—P005 接过来的输入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62F83CEF-5373-4405-A850-3A99C712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11.2.1 · UCRT64 始终位于源码根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A54403-C94E-48FB-A00D-E17533A9B271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95875"/>
                <a:gridCol w="5876925"/>
              </a:tblGrid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位置 / 作用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源码与 venv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源码根；.venv/Scripts/activate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SDK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P002—P005 核验过的真实安装根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CMSIS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build/learning-tools/deps/cmsis_6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输出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本期统一进入 build/learning-tools/p003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B49EE50-D412-4009-AF36-F751389684B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</a:p>
        </p:txBody>
      </p:sp>
    </p:spTree>
    <p:extLst>
      <p:ext uri="{BB962C8B-B14F-4D97-AF65-F5344CB8AC3E}">
        <p14:creationId xmlns:p14="http://schemas.microsoft.com/office/powerpoint/2010/main" val="20140957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A5FDD2E4-B96F-406B-880F-271342673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恢复环境，指定原生接口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232FE2FA-A711-4C6C-8B60-03F4E556D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11.2.1 · UCRT64；源码根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AC14B763-B615-480F-8FA2-42C737680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972800" cy="404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# UCRT64；源码根；重开终端时重新执行本块。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cd /g/zephyr_practice/zephyr-main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source .venv/Scripts/activate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export ZEPHYR_BASE="$(cygpath -m "$PWD")"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unset EXTRA_ZEPHYR_MODULES ZEPHYR_EXTRA_MODULES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python -m pip check</a:t>
            </a:r>
          </a:p>
        </p:txBody>
      </p:sp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845B003D-8D9B-4F63-87DD-DF7407909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30221B5-ED77-4028-B20D-A0343FFE3F3D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</a:p>
        </p:txBody>
      </p:sp>
    </p:spTree>
    <p:extLst>
      <p:ext uri="{BB962C8B-B14F-4D97-AF65-F5344CB8AC3E}">
        <p14:creationId xmlns:p14="http://schemas.microsoft.com/office/powerpoint/2010/main" val="892436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971D27FD-DB6B-4C48-BBBB-1479195AA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配置官方已有板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D8F163F0-C0B4-4592-8B74-772B77317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11.2.2 · UCRT64；源码根；路径变量来自上一页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60B76995-BC27-45D9-8BA8-693636A2D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972800" cy="404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cmake -S samples/hello_world -B build/learning-tools/p003/build-mps2 -G Ninja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-DBOARD=mps2/an386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"-DZephyr_DIR=$ZEPHYR_BASE/share/zephyr-package/cmake"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"-DZEPHYR_BASE=$ZEPHYR_BASE"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"-DZEPHYR_MODULES=$(cygpath -m "$PWD/build/learning-tools/deps/cmsis_6")"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-DEXTRA_ZEPHYR_MODULES= -DZEPHYR_EXTRA_MODULES=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"-DPython3_EXECUTABLE=$(cygpath -m "$(command -v python)")"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-DCMAKE_EXPORT_COMPILE_COMMANDS=ON</a:t>
            </a:r>
          </a:p>
        </p:txBody>
      </p:sp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A3AF4206-CAEF-4A34-A8DC-8FE8656C9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3E00D2B-5849-4A4A-B738-0A434F071ABD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40438394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ontent">
            <a:extLst xmlns:a="http://schemas.openxmlformats.org/drawingml/2006/main">
              <a:ext uri="{FF2B5EF4-FFF2-40B4-BE49-F238E27FC236}">
                <a16:creationId xmlns:a16="http://schemas.microsoft.com/office/drawing/2014/main" id="{0B08319D-0FDA-4C54-8729-95027F3F2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先生成规则，再编译链接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F4D9FD11-48F0-41AF-B32E-0558B8D92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11.2.2 · 第一次完成已有板编译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41B1EA31-BA2A-4B78-879B-356D3E3E6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9728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# UCRT64；源码根；上一页配置已成功。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cmake --build build/learning-tools/p003/build-mps2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ls -l build/learning-tools/p003/build-mps2/zephyr/zephyr.elf</a:t>
            </a:r>
          </a:p>
        </p:txBody>
      </p:sp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70365CF4-4224-445E-8D8C-78B757189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配置输出：mps2 / an386，预期源码和 SDK。</a:t>
            </a:r>
          </a:p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构建输出：zephyr.elf；命令应成功退出。</a:t>
            </a:r>
          </a:p>
        </p:txBody>
      </p:sp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47E695EA-B95F-48CF-9BEA-6178ADF63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B91FEEF-7A1B-4F2E-A343-3BD7F0C0C7BA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</a:p>
        </p:txBody>
      </p:sp>
    </p:spTree>
    <p:extLst>
      <p:ext uri="{BB962C8B-B14F-4D97-AF65-F5344CB8AC3E}">
        <p14:creationId xmlns:p14="http://schemas.microsoft.com/office/powerpoint/2010/main" val="208731360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DA9CD44C-7F0C-4C4F-B934-78D63770B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反查实际板、工具与模块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40396C6A-3C6B-4AF5-80C3-7638815A1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11.3 · 得到可比较的成功基线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3523F4-D53E-45EE-AFE6-57B2F62752C5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95875"/>
                <a:gridCol w="5876925"/>
              </a:tblGrid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产物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应检查什么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zephyr/.config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BOARD=mps2，SOC=an386，Cortex-M4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CMakeCache.txt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当前源码、SDK 和 Python 路径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compile_commands.json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 GCC、Cortex-M4 参数、CMSIS include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zephyr/zephyr.dts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内存和控制台仍是 MPS2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8E2DB0BD-79D3-4477-AA96-B5C708197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E8E2911-2EB9-4900-8C0D-C0B3DA32C81C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</a:p>
        </p:txBody>
      </p:sp>
    </p:spTree>
    <p:extLst>
      <p:ext uri="{BB962C8B-B14F-4D97-AF65-F5344CB8AC3E}">
        <p14:creationId xmlns:p14="http://schemas.microsoft.com/office/powerpoint/2010/main" val="1824142352"/>
      </p:ext>
    </p:extLst>
  </p:cSld>
</p:sld>
</file>

<file path=ppt/slides/slide1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DDE07C98-6685-496F-9980-3E8923D65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练习板：这一遍只改变板登记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5A0866E6-F97B-43D0-8C33-E1BB27601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11.4 · 先新增板，再新增芯片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FD9499F9-07C9-4FF1-A68A-B30155CC2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新的 </a:t>
            </a:r>
            <a:r>
              <a:rPr sz="22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BOARD</a:t>
            </a: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：practice_mps2/an386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应用、AN386 SoC、CMSIS、SDK 保持相同。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目录：</a:t>
            </a:r>
            <a:r>
              <a:rPr sz="22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build/learning-tools/p003/new-board/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其下 </a:t>
            </a:r>
            <a:r>
              <a:rPr sz="22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boards/others/practice_mps2</a:t>
            </a: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保存新增板文件。</a:t>
            </a:r>
          </a:p>
        </p:txBody>
      </p:sp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D1DFF55-CE12-43FE-9358-252ABD6D9BA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18</a:t>
            </a:fld>
          </a:p>
        </p:txBody>
      </p:sp>
    </p:spTree>
    <p:extLst>
      <p:ext uri="{BB962C8B-B14F-4D97-AF65-F5344CB8AC3E}">
        <p14:creationId xmlns:p14="http://schemas.microsoft.com/office/powerpoint/2010/main" val="73303337"/>
      </p:ext>
    </p:extLst>
  </p:cSld>
</p:sld>
</file>

<file path=ppt/slides/slide1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0010294D-17E6-44D2-B970-FF00B0F36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对照原板，逐个确定新增文件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52B25CC0-603C-4D92-A938-54340D170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11.4 · 板文件的一对一对应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B32EAE-ECF5-4010-A60C-EF6D3C3E0FBC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00375"/>
                <a:gridCol w="4048125"/>
                <a:gridCol w="392430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原板文件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新板文件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变化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board.yml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board.yml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新板名，只列 an386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Kconfig.mps2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Kconfig.practice_mps2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 </a:t>
                      </a:r>
                      <a:r>
                        <a:rPr sz="172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BOARD</a:t>
                      </a: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，仍选 AN386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mps2_an386.dts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practice_mps2_an386.dts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更名；硬件描述复用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base / pinctrl .dtsi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同名文件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保留原硬件和版权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mps2_an386_defconfig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新板同限定名 defconfig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控制台 + pinctrl 所需 GPIO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0DC3555-3826-4A6C-B0D5-201F2051F79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19</a:t>
            </a:fld>
          </a:p>
        </p:txBody>
      </p:sp>
    </p:spTree>
    <p:extLst>
      <p:ext uri="{BB962C8B-B14F-4D97-AF65-F5344CB8AC3E}">
        <p14:creationId xmlns:p14="http://schemas.microsoft.com/office/powerpoint/2010/main" val="107005969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ontent">
            <a:extLst xmlns:a="http://schemas.openxmlformats.org/drawingml/2006/main">
              <a:ext uri="{FF2B5EF4-FFF2-40B4-BE49-F238E27FC236}">
                <a16:creationId xmlns:a16="http://schemas.microsoft.com/office/drawing/2014/main" id="{2F901475-565C-4966-9719-46900C06C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board.yml：板名连接到 SoC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1CEB4C93-28AF-45AF-BB85-E0666D455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11.4.1 · 目录创建及完整命令见正文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033FC190-C8C7-4426-8DD7-6B4B3B6E6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9728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# 新板目录中的 board.yml（文件保留 SPDX）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board: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name: practice_mps2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full_name: AN386 board registration exercise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vendor: others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socs: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  - name: an386</a:t>
            </a:r>
          </a:p>
        </p:txBody>
      </p:sp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B733D22C-B503-462A-8E0D-30C99A623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BOARD = practice_mps2/an386</a:t>
            </a:r>
          </a:p>
        </p:txBody>
      </p:sp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3DCEA3F6-909A-40E1-8FB2-78D76FA59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FA6A626-E0E5-46B8-8F90-06D4F552D09C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14</a:t>
            </a:fld>
          </a:p>
        </p:txBody>
      </p:sp>
    </p:spTree>
    <p:extLst>
      <p:ext uri="{BB962C8B-B14F-4D97-AF65-F5344CB8AC3E}">
        <p14:creationId xmlns:p14="http://schemas.microsoft.com/office/powerpoint/2010/main" val="61312594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ontent">
            <a:extLst xmlns:a="http://schemas.openxmlformats.org/drawingml/2006/main">
              <a:ext uri="{FF2B5EF4-FFF2-40B4-BE49-F238E27FC236}">
                <a16:creationId xmlns:a16="http://schemas.microsoft.com/office/drawing/2014/main" id="{1E3D36E5-92FA-4953-A9C9-C22B29DA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Kconfig：把板选择接到芯片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5F6971E8-6559-4A8B-9964-05D99116B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11.4.1 · 对照官方 Kconfig.mps2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0075C85D-0C95-445C-A1DA-391FD136D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9728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# Kconfig.practice_mps2（文件保留 SPDX）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config BOARD_PRACTICE_MPS2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  select SOC_AN386</a:t>
            </a:r>
          </a:p>
        </p:txBody>
      </p:sp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1D0BB67F-99DD-4C57-A7B5-27A5F7B46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原板在多个 SoC 间按限定名选择。</a:t>
            </a:r>
          </a:p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练习板只有 AN386，所以直接选择已有 SOC_AN386。</a:t>
            </a:r>
          </a:p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这一步是板登记，还没有新增芯片实现。</a:t>
            </a:r>
          </a:p>
        </p:txBody>
      </p:sp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3CE05C20-6EBF-4181-860B-AF29A458A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7B7236E-7CFD-4963-9CB4-3FBD543F9858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15</a:t>
            </a:fld>
          </a:p>
        </p:txBody>
      </p:sp>
    </p:spTree>
    <p:extLst>
      <p:ext uri="{BB962C8B-B14F-4D97-AF65-F5344CB8AC3E}">
        <p14:creationId xmlns:p14="http://schemas.microsoft.com/office/powerpoint/2010/main" val="144038262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ontent">
            <a:extLst xmlns:a="http://schemas.openxmlformats.org/drawingml/2006/main">
              <a:ext uri="{FF2B5EF4-FFF2-40B4-BE49-F238E27FC236}">
                <a16:creationId xmlns:a16="http://schemas.microsoft.com/office/drawing/2014/main" id="{B1B863AF-F436-4EB1-9CF0-E0596836A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先验证新板能够被发现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5331D7D2-3CBB-4ED4-8B39-F6AB3506B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11.4.1 · 第一处可观察结果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B52A99D5-4566-49F1-B8B9-0ACFBCC77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9728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# UCRT64；源码根。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python scripts/list_boards.py \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--board-root build/learning-tools/p003/new-board \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--soc-root . --board practice_mps2 \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--cmakeformat '{NAME};{DIR};{QUALIFIERS}' </a:t>
            </a:r>
          </a:p>
        </p:txBody>
      </p:sp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03620DE5-8A48-48E8-B16F-18855099C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预期：practice_mps2；新板目录；an386。</a:t>
            </a:r>
          </a:p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发现通过后继续补硬件描述，此时还不构建。</a:t>
            </a:r>
          </a:p>
        </p:txBody>
      </p:sp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4CFA9435-149D-4D55-9468-DFDF30CC1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3CA4744-059F-4D0F-A7D2-9C8811E61933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</a:p>
        </p:txBody>
      </p:sp>
    </p:spTree>
    <p:extLst>
      <p:ext uri="{BB962C8B-B14F-4D97-AF65-F5344CB8AC3E}">
        <p14:creationId xmlns:p14="http://schemas.microsoft.com/office/powerpoint/2010/main" val="67963563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48831C83-FC9D-46EB-A15A-F54E713FF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DTS 与默认配置各自解决什么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A90406C1-0107-4040-AAC5-71D4E5A65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11.4.2 · 按正文复制同一修订文件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89F894-6B49-4D3D-B78C-8051805B52BF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2781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95875"/>
                <a:gridCol w="5876925"/>
              </a:tblGrid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文件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负责的内容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practice_mps2_an386.dts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CPU 目标描述、include 公共 DTS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mps2_base.dtsi / mps2-pinctrl.dtsi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内存、UART、引脚等已有硬件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practice_mps2_an386_defconfig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GPIO、SERIAL、CONSOLE、UART_CONSOLE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ECCBC1F5-8EE8-4C16-9291-6E4CCE415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0E69E65-ED65-4DDA-A036-EBF10587B0F1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17</a:t>
            </a:fld>
          </a:p>
        </p:txBody>
      </p:sp>
    </p:spTree>
    <p:extLst>
      <p:ext uri="{BB962C8B-B14F-4D97-AF65-F5344CB8AC3E}">
        <p14:creationId xmlns:p14="http://schemas.microsoft.com/office/powerpoint/2010/main" val="3939814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D493BF5F-3003-4AC2-BE58-C7DAD5288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编译练习板：只增加必要输入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DC485749-E726-493C-B8FA-E3C227596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11.4.3 · UCRT64；源码根；原生路径变量见 11.2.1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0A405D55-CDB0-4129-B4D3-B2F46589A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972800" cy="404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cmake -S samples/hello_world -B build/learning-tools/p003/build-practice -G Ninja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-DBOARD=practice_mps2/an386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"-DBOARD_ROOT=$(cygpath -m "$PWD/build/learning-tools/p003/new-board")"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"-DZephyr_DIR=$ZEPHYR_BASE/share/zephyr-package/cmake"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"-DZEPHYR_BASE=$ZEPHYR_BASE"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"-DZEPHYR_MODULES=$(cygpath -m "$PWD/build/learning-tools/deps/cmsis_6")"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-DEXTRA_ZEPHYR_MODULES= -DZEPHYR_EXTRA_MODULES=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"-DPython3_EXECUTABLE=$(cygpath -m "$(command -v python)")" \</a:t>
            </a:r>
          </a:p>
          <a:p xmlns:a="http://schemas.openxmlformats.org/drawingml/2006/main">
            <a:pPr>
              <a:defRPr sz="172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-DCMAKE_EXPORT_COMPILE_COMMANDS=ON</a:t>
            </a:r>
          </a:p>
        </p:txBody>
      </p:sp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748C54B6-9CD4-400E-9406-68C402E8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9CB8A41-6C84-4E7C-8B5D-30AAF0826ADA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18</a:t>
            </a:fld>
          </a:p>
        </p:txBody>
      </p:sp>
    </p:spTree>
    <p:extLst>
      <p:ext uri="{BB962C8B-B14F-4D97-AF65-F5344CB8AC3E}">
        <p14:creationId xmlns:p14="http://schemas.microsoft.com/office/powerpoint/2010/main" val="180382809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ontent">
            <a:extLst xmlns:a="http://schemas.openxmlformats.org/drawingml/2006/main">
              <a:ext uri="{FF2B5EF4-FFF2-40B4-BE49-F238E27FC236}">
                <a16:creationId xmlns:a16="http://schemas.microsoft.com/office/drawing/2014/main" id="{05D32590-A981-4F10-B211-48011B0B6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确认 BOARD 变了，SoC 没变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C48493F6-4E42-4972-9DAB-658D8501F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11.4.3 · 完成新增板、复用芯片的实验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A872E590-FC17-4BB4-BD1F-79E7C01EE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9728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# UCRT64；源码根；配置已成功。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cmake --build build/learning-tools/p003/build-practice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grep -E '^CONFIG_(BOARD|SOC|CPU_CORTEX_M4)' \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build/learning-tools/p003/build-practice/zephyr/.config</a:t>
            </a:r>
          </a:p>
        </p:txBody>
      </p:sp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6C1D44E8-1C6D-4EC0-A06D-B796E9AF8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BOARD：practice_mps2；SoC：an386。</a:t>
            </a:r>
          </a:p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对照 zephyr.dts，硬件资源仍与官方板相同。</a:t>
            </a:r>
          </a:p>
        </p:txBody>
      </p:sp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C8852823-7D1E-4B54-9363-3C7257496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FAA7390-AF45-4D5A-8C0C-ACE05252C46B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19</a:t>
            </a:fld>
          </a:p>
        </p:txBody>
      </p:sp>
    </p:spTree>
    <p:extLst>
      <p:ext uri="{BB962C8B-B14F-4D97-AF65-F5344CB8AC3E}">
        <p14:creationId xmlns:p14="http://schemas.microsoft.com/office/powerpoint/2010/main" val="1715367454"/>
      </p:ext>
    </p:extLst>
  </p:cSld>
</p:sld>
</file>

<file path=ppt/slides/slide20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FD74BAC3-781E-474B-BC81-D7089F0EF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HC32 为什么不能只改板名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FB86D6BB-D449-4C20-BF3A-3D570949C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11.5 · 对照职责，重新取硬件数值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D50A72-E7E1-4EE6-B9AC-67DFE147DD29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00375"/>
                <a:gridCol w="4048125"/>
                <a:gridCol w="392430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层次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 / AN386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UYUP / HC32F4A0PITB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Cortex-M4；</a:t>
                      </a:r>
                      <a:r>
                        <a:rPr sz="172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arch/arm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继续复用 Arm 架构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资源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 MiB映射、25 MHz时基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MiB Flash、512 KiB SRAM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控制台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CMSDK UART0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HC32 USART1 PA9 / PA10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GPIO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 寄存器与连接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HC32 寄存器与 PD10 蓝灯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芯片支持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已有 SoC / 驱动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新增 SoC / binding / 驱动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9D672F4-6C0C-4201-8539-FDE21CB13DC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28</a:t>
            </a:fld>
          </a:p>
        </p:txBody>
      </p:sp>
    </p:spTree>
    <p:extLst>
      <p:ext uri="{BB962C8B-B14F-4D97-AF65-F5344CB8AC3E}">
        <p14:creationId xmlns:p14="http://schemas.microsoft.com/office/powerpoint/2010/main" val="1643236823"/>
      </p:ext>
    </p:extLst>
  </p:cSld>
</p:sld>
</file>

<file path=ppt/slides/slide2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C4EAAD35-92CD-4D99-9618-D632B0209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板厂、芯片厂商与架构目录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462109D0-E1F3-4B8F-A253-40561E32D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11.5 · 官方硬件模型 v2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1164E4FD-0634-4666-B09C-49345AF95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boards/uyup/uyup_rpi_a</a:t>
            </a: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：板厂与 PCB 连接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soc/xhsc/hc32f4a0</a:t>
            </a: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：芯片厂商与芯片支持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arch/arm</a:t>
            </a: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：各厂商共用的架构实现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board.yml</a:t>
            </a: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和 Kconfig 连接各层，不靠目录逐层嵌套。</a:t>
            </a:r>
          </a:p>
        </p:txBody>
      </p:sp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0204A05-1A22-4139-90C0-EF4614BFBF6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29</a:t>
            </a:fld>
          </a:p>
        </p:txBody>
      </p:sp>
    </p:spTree>
    <p:extLst>
      <p:ext uri="{BB962C8B-B14F-4D97-AF65-F5344CB8AC3E}">
        <p14:creationId xmlns:p14="http://schemas.microsoft.com/office/powerpoint/2010/main" val="138627549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ontent">
            <a:extLst xmlns:a="http://schemas.openxmlformats.org/drawingml/2006/main">
              <a:ext uri="{FF2B5EF4-FFF2-40B4-BE49-F238E27FC236}">
                <a16:creationId xmlns:a16="http://schemas.microsoft.com/office/drawing/2014/main" id="{072DF1AB-9D63-4AFD-BC20-5F6535B73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从空工作模块分层加入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FC430363-C539-4455-87FF-9F09E1E0F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11.6 · 接入顺序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D36CAF7D-8536-4026-83C0-19427FD25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参考：learning/board/labs/hc32_port</a:t>
            </a:r>
          </a:p>
          <a:p xmlns:a="http://schemas.openxmlformats.org/drawingml/2006/main">
            <a: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工作：build/learning-tools/p003/hc32_port</a:t>
            </a:r>
          </a:p>
          <a:p xmlns:a="http://schemas.openxmlformats.org/drawingml/2006/main">
            <a: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每加一层，读文件职责并检查当前结果。</a:t>
            </a:r>
          </a:p>
          <a:p xmlns:a="http://schemas.openxmlformats.org/drawingml/2006/main">
            <a: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最终只把工作模块加入构建，避免同名定义重复。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D531A7-9705-4503-8D93-F058604E753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9d5d6955dc4661"/>
          <a:stretch xmlns:a="http://schemas.openxmlformats.org/drawingml/2006/main"/>
        </p:blipFill>
        <p:spPr>
          <a:xfrm xmlns:a="http://schemas.openxmlformats.org/drawingml/2006/main">
            <a:off x="1061132" y="4124325"/>
            <a:ext cx="10069736" cy="1857375"/>
          </a:xfrm>
          <a:prstGeom xmlns:a="http://schemas.openxmlformats.org/drawingml/2006/main" prst="rect">
            <a:avLst/>
          </a:prstGeom>
        </p:spPr>
      </p:pic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ABDF2945-43C9-4BF7-B609-F5504DA62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6369A6D-983E-487A-8A98-D9EC21447D23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22</a:t>
            </a:fld>
          </a:p>
        </p:txBody>
      </p:sp>
    </p:spTree>
    <p:extLst>
      <p:ext uri="{BB962C8B-B14F-4D97-AF65-F5344CB8AC3E}">
        <p14:creationId xmlns:p14="http://schemas.microsoft.com/office/powerpoint/2010/main" val="942163222"/>
      </p:ext>
    </p:extLst>
  </p:cSld>
</p:sld>
</file>

<file path=ppt/slides/slide2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AB316CAC-5B84-410A-B555-C9C320A96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第一步：模块入口与 SoC 身份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7B8F4E96-C3F4-4C4C-8480-7B376C099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11.6.1 · 驱动源文件未齐，此时不完整配置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7D7D37-7174-44C6-96D2-7B780B312DBC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95875"/>
                <a:gridCol w="5876925"/>
              </a:tblGrid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加入文件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应检查的内容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zephyr/module.yml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hc32_port；三个硬件搜索根为 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soc.yml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xhsc → hc32f4a0 → hc32f4a0pitb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Kconfig.soc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芯片、系列、族的身份相互一致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SoC Kconfig / </a:t>
                      </a: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Kconfig.defconfig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Cortex-M4 能力；12 MHz 实验默认值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3F0EB0A-4A44-4C77-95E8-6B296DDC76BE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32</a:t>
            </a:fld>
          </a:p>
        </p:txBody>
      </p:sp>
    </p:spTree>
    <p:extLst>
      <p:ext uri="{BB962C8B-B14F-4D97-AF65-F5344CB8AC3E}">
        <p14:creationId xmlns:p14="http://schemas.microsoft.com/office/powerpoint/2010/main" val="677680773"/>
      </p:ext>
    </p:extLst>
  </p:cSld>
</p:sld>
</file>

<file path=ppt/slides/slide2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63318978-B101-4270-8C4D-BDF6588A1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第二步：芯片资源与 PCB 连接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7E570792-585C-4FF0-AE88-AD63DF040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11.6.2 · 根据 HC32 资料填写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F0505A-2CDD-4457-95A7-CF17371330FB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95875"/>
                <a:gridCol w="5876925"/>
              </a:tblGrid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新增层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对应的实际内容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SoC / 型号 .dtsi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存储、片上外设、型号与封装约束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板级 .dts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USART1、LED、12 MHz 实装晶振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board.yml</a:t>
                      </a: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/ 板级 Kconfig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uyup、板名、</a:t>
                      </a: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SOC_HC32F4A0PITB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binding / vendor-prefixes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属性约定；uyup 与 xhsc 厂商前缀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D829BF6-4F16-41F7-9831-4829B298E0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34</a:t>
            </a:fld>
          </a:p>
        </p:txBody>
      </p:sp>
    </p:spTree>
    <p:extLst>
      <p:ext uri="{BB962C8B-B14F-4D97-AF65-F5344CB8AC3E}">
        <p14:creationId xmlns:p14="http://schemas.microsoft.com/office/powerpoint/2010/main" val="43433601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ontent">
            <a:extLst xmlns:a="http://schemas.openxmlformats.org/drawingml/2006/main">
              <a:ext uri="{FF2B5EF4-FFF2-40B4-BE49-F238E27FC236}">
                <a16:creationId xmlns:a16="http://schemas.microsoft.com/office/drawing/2014/main" id="{AC0E3031-C593-4485-8B26-89DF16D43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完成身份后查询 HC32 目标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5068733B-A78F-4845-AECE-AD8478EF2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11.6.2 · 第二处可观察结果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887ECF73-1316-49C0-8186-1C7434C5E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9728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# UCRT64；源码根；完成 11.6.1—11.6.2。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python scripts/list_boards.py \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--board-root build/learning-tools/p003/hc32_port \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--soc-root build/learning-tools/p003/hc32_port \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  --board uyup_rpi_a --cmakeformat '{NAME};{DIR};{QUALIFIERS}' </a:t>
            </a:r>
          </a:p>
        </p:txBody>
      </p:sp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4C3A32AA-CCD3-4D62-B271-E4E247DC4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预期 uyup_rpi_a / hc32f4a0pitb。</a:t>
            </a:r>
          </a:p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身份可发现，启动和驱动仍待接入。</a:t>
            </a:r>
          </a:p>
        </p:txBody>
      </p:sp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E861B5F4-21FB-4B98-AA7C-24F74A63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B96B568B-9601-479B-A032-12EC0775CBF9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25</a:t>
            </a:fld>
          </a:p>
        </p:txBody>
      </p:sp>
    </p:spTree>
    <p:extLst>
      <p:ext uri="{BB962C8B-B14F-4D97-AF65-F5344CB8AC3E}">
        <p14:creationId xmlns:p14="http://schemas.microsoft.com/office/powerpoint/2010/main" val="116140910"/>
      </p:ext>
    </p:extLst>
  </p:cSld>
</p:sld>
</file>

<file path=ppt/slides/slide26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723835D-CFA5-457C-B076-2C6AE708E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设备头、Core 与初始化各自怎样接入</a:t>
            </a:r>
          </a:p>
        </p:txBody>
      </p:sp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7E88789C-5FCB-41FE-9EEA-9FE49D683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11.6.3 · 文件来源与构建连接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52A737-9E17-4F79-A222-8F1F58BE429C}"/>
              </a:ext>
            </a:extLst>
          </p:cNvPr>
          <p:cNvGraphicFramePr/>
          <p:nvPr/>
        </p:nvGraphicFramePr>
        <p:xfrm>
          <a:off xmlns:a="http://schemas.openxmlformats.org/drawingml/2006/main" x="609600" y="1885950"/>
          <a:ext xmlns:a="http://schemas.openxmlformats.org/drawingml/2006/main" cx="109728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62375"/>
                <a:gridCol w="7210425"/>
              </a:tblGrid>
              <a:tr h="685800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参与文件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本系列的实际接法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85800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soc.h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/ SoC CMake（教程适配）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加入厂商 soc 头文件路径，选择 system 与 DDL 源文件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hc32f4a0.h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（下载的厂商设备头）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提供寄存器与IRQ定义，引用通用 </a:t>
                      </a: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core_cm4.h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core_cm4.h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（</a:t>
                      </a:r>
                      <a:r>
                        <a:rPr sz="1800" b="0">
                          <a:solidFill>
                            <a:srgbClr val="A02B9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west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配套 CMSIS）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 CMSIS 模块规则加入 </a:t>
                      </a: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Core/Include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system、12 MHz 时钟与 reset_hook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按本板启动顺序适配，保留 Zephyr 向量和复位框架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8889864-E812-48BE-8084-3B2C0BD2D7C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37</a:t>
            </a:fld>
          </a:p>
        </p:txBody>
      </p:sp>
    </p:spTree>
    <p:extLst>
      <p:ext uri="{BB962C8B-B14F-4D97-AF65-F5344CB8AC3E}">
        <p14:creationId xmlns:p14="http://schemas.microsoft.com/office/powerpoint/2010/main" val="1877250272"/>
      </p:ext>
    </p:extLst>
  </p:cSld>
</p:sld>
</file>

<file path=ppt/slides/slide27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C14B057-327D-4A32-A407-333EBFCDE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外设驱动必须接到 Zephyr API</a:t>
            </a:r>
          </a:p>
        </p:txBody>
      </p:sp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906AA2AC-3FEF-4A8A-8F72-47828F6EF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11.6.4 · 有 DDL 与仅有设备头的区别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1DC9EB8D-DB0A-4BCE-8F46-042C12B8C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本系列 HC32 已有 DDL：</a:t>
            </a:r>
            <a:r>
              <a:rPr sz="210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uart_hc32.c</a:t>
            </a: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将 USART 操作接成 Zephyr UART。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120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Kconfig 决定启用，CMake 选择源文件，DTS/binding 提供硬件配置。</a:t>
            </a:r>
          </a:p>
          <a:p xmlns:a="http://schemas.openxmlformats.org/drawingml/2006/main">
            <a:pPr>
              <a:lnSpc>
                <a:spcPct val="120000"/>
              </a:lnSpc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若其他芯片只有 CMSIS 设备头，没有 HAL/DDL：</a:t>
            </a:r>
          </a:p>
          <a:p xmlns:a="http://schemas.openxmlformats.org/drawingml/2006/main">
            <a:pPr>
              <a:lnSpc>
                <a:spcPct val="120000"/>
              </a:lnSpc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仍要依据手册实现时钟、引脚和寄存器操作，再接同一 Zephyr API。</a:t>
            </a:r>
          </a:p>
          <a:p xmlns:a="http://schemas.openxmlformats.org/drawingml/2006/main">
            <a:pPr>
              <a:lnSpc>
                <a:spcPct val="120000"/>
              </a:lnSpc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不能只新增 </a:t>
            </a:r>
            <a:r>
              <a:rPr sz="210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module.yml</a:t>
            </a:r>
            <a:r>
              <a: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就宣称串口或 GPIO 已可用。</a:t>
            </a:r>
          </a:p>
        </p:txBody>
      </p:sp>
      <p:sp>
        <p:nvSpPr>
          <p:cNvPr id="5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0C8E97A-9441-4946-8025-57D1E6327F99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39</a:t>
            </a:fld>
          </a:p>
        </p:txBody>
      </p:sp>
    </p:spTree>
    <p:extLst>
      <p:ext uri="{BB962C8B-B14F-4D97-AF65-F5344CB8AC3E}">
        <p14:creationId xmlns:p14="http://schemas.microsoft.com/office/powerpoint/2010/main" val="180092313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B742FC89-5F4E-48BE-85DF-28AF9748A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第五步：检查文件，再开始配置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FC394BCF-8407-4AD5-85FA-561826106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11.6.5 · 完整性检查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40D87611-6073-411D-90A7-FD71DE1E0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按正文 11.6.5 比较参考材料与工作模块。</a:t>
            </a:r>
          </a:p>
          <a:p xmlns:a="http://schemas.openxmlformats.org/drawingml/2006/main">
            <a: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首次复现应得到 missing=[]、changed=[]。</a:t>
            </a:r>
          </a:p>
          <a:p xmlns:a="http://schemas.openxmlformats.org/drawingml/2006/main">
            <a: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模块入口、SoC 启动、binding 和驱动都已加入。</a:t>
            </a:r>
          </a:p>
          <a:p xmlns:a="http://schemas.openxmlformats.org/drawingml/2006/main">
            <a: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只查询到板名或下载了 HAL，不足以进入验收。</a:t>
            </a:r>
          </a:p>
        </p:txBody>
      </p:sp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5917AB83-851F-4569-9F01-0D4DFC160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7AAA9EE-5BBF-4510-85C4-AFEFDA04A64E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28</a:t>
            </a:fld>
          </a:p>
        </p:txBody>
      </p:sp>
    </p:spTree>
    <p:extLst>
      <p:ext uri="{BB962C8B-B14F-4D97-AF65-F5344CB8AC3E}">
        <p14:creationId xmlns:p14="http://schemas.microsoft.com/office/powerpoint/2010/main" val="283290664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291C3A3E-2648-487E-88D3-0240CCCF1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HC32 配置相对 AN386 的增量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043ABA64-25FA-4EF6-9FFC-CB989278D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11.7 · 完整配置命令见正文；不复用缓存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2B121A-DD47-4573-B5C5-ABE4327D8F18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95875"/>
                <a:gridCol w="5876925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这一次选择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BOARD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uyup_rpi_a/hc32f4a0pitb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构建目录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build/learning-tools/p003/build-hc32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CMSIS 模块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build/learning-tools/deps/cmsis_6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新增 HAL 模块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build/learning-tools/deps/hal_xhsc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新增适配模块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build/learning-tools/p003/hc32_port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72F0A23-8DB1-4530-8C63-FB744EAD879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38</a:t>
            </a:fld>
          </a:p>
        </p:txBody>
      </p:sp>
    </p:spTree>
    <p:extLst>
      <p:ext uri="{BB962C8B-B14F-4D97-AF65-F5344CB8AC3E}">
        <p14:creationId xmlns:p14="http://schemas.microsoft.com/office/powerpoint/2010/main" val="1577378122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ontent">
            <a:extLst xmlns:a="http://schemas.openxmlformats.org/drawingml/2006/main">
              <a:ext uri="{FF2B5EF4-FFF2-40B4-BE49-F238E27FC236}">
                <a16:creationId xmlns:a16="http://schemas.microsoft.com/office/drawing/2014/main" id="{D1552771-C1D6-490E-AF78-3A388FD7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编译 HC32 的同一个 hello_world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16510352-4234-4FF6-A2C4-202568C91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11.7 · 所有接入文件齐全后才编译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E5687412-F17B-4893-BB8C-4D7885EB6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9728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# UCRT64；源码根；先完成正文 11.7 的完整配置命令。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cmake --build build/learning-tools/p003/build-hc32</a:t>
            </a:r>
          </a:p>
          <a:p xmlns:a="http://schemas.openxmlformats.org/drawingml/2006/main">
            <a:pPr>
              <a:defRPr sz="1875" b="0">
                <a:solidFill>
                  <a:srgbClr val="006776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6776"/>
                </a:solidFill>
                <a:latin typeface="Consolas"/>
                <a:ea typeface="Consolas"/>
                <a:cs typeface="Consolas"/>
              </a:rPr>
              <a:t>ls -l build/learning-tools/p003/build-hc32/zephyr/zephyr.elf</a:t>
            </a:r>
          </a:p>
        </p:txBody>
      </p:sp>
      <p:sp>
        <p:nvSpPr>
          <p:cNvPr id="4" name="content">
            <a:extLst xmlns:a="http://schemas.openxmlformats.org/drawingml/2006/main">
              <a:ext uri="{FF2B5EF4-FFF2-40B4-BE49-F238E27FC236}">
                <a16:creationId xmlns:a16="http://schemas.microsoft.com/office/drawing/2014/main" id="{29DF550B-5E38-43B3-97BC-339192FC0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模块入口自动提供 board / soc / dts 搜索根。</a:t>
            </a:r>
          </a:p>
          <a:p xmlns:a="http://schemas.openxmlformats.org/drawingml/2006/main">
            <a: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报缺 HAL 时，检查 P002—P005 的下载路径和模块名。</a:t>
            </a:r>
          </a:p>
        </p:txBody>
      </p:sp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BB794AB5-3275-4885-B881-843CA67CC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7420EC0-8CE8-47DD-95AF-856A5EE31131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30</a:t>
            </a:fld>
          </a:p>
        </p:txBody>
      </p:sp>
    </p:spTree>
    <p:extLst>
      <p:ext uri="{BB962C8B-B14F-4D97-AF65-F5344CB8AC3E}">
        <p14:creationId xmlns:p14="http://schemas.microsoft.com/office/powerpoint/2010/main" val="752015812"/>
      </p:ext>
    </p:extLst>
  </p:cSld>
</p:sld>
</file>

<file path=ppt/slides/slide3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EBACF660-5000-45B8-A179-EDCB7FBAC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确认 HC32 和 HAL 实际进入构建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856038DA-A4EA-4579-9D77-F0E23BC64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11.8 · 源码路径与硬件配置同时核验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B84CB0-AF83-4F8F-B9FC-F1FBC6F472B8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95875"/>
                <a:gridCol w="5876925"/>
              </a:tblGrid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产物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应能看到的证据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zephyr/.config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HC32F4A0PITB、Cortex-M4、12000000 Hz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zephyr_modules.txt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CMSIS、hal_xhsc 与工作适配模块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compile_commands.json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Core include 与 HC32 DDL 源文件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zephyr/zephyr.dts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Flash / SRAM、USART1、实际引脚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CFDBDDD-83A5-4256-9530-92B8BA80BFC9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46</a:t>
            </a:fld>
          </a:p>
        </p:txBody>
      </p:sp>
    </p:spTree>
    <p:extLst>
      <p:ext uri="{BB962C8B-B14F-4D97-AF65-F5344CB8AC3E}">
        <p14:creationId xmlns:p14="http://schemas.microsoft.com/office/powerpoint/2010/main" val="1136560738"/>
      </p:ext>
    </p:extLst>
  </p:cSld>
</p:sld>
</file>

<file path=ppt/slides/slide3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439B9AD9-5AEA-4E36-B8D0-54E683644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三次实验分别证明了什么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D6476E7A-D03F-470F-B7CE-E1BC85748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11.8 · 构建和实板验收分开记录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4C2725-32A4-4E66-9B04-21F13DB293BD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2781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00375"/>
                <a:gridCol w="4048125"/>
                <a:gridCol w="3924300"/>
              </a:tblGrid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阶段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已经证明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尚未证明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已有 MPS2 编译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工具与已有支持可产生 ELF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MPS2 实物运行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新增 practice_mps2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新板登记与同一 SoC 可构建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新芯片支持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新增 HC32 支持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芯片、板、驱动连接可生成 ELF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72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下载、启动及全部外设运行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3022E90-3BBC-45EA-8FC2-0B2BBBDB211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47</a:t>
            </a:fld>
          </a:p>
        </p:txBody>
      </p:sp>
    </p:spTree>
    <p:extLst>
      <p:ext uri="{BB962C8B-B14F-4D97-AF65-F5344CB8AC3E}">
        <p14:creationId xmlns:p14="http://schemas.microsoft.com/office/powerpoint/2010/main" val="1655745818"/>
      </p:ext>
    </p:extLst>
  </p:cSld>
</p:sld>
</file>

<file path=ppt/slides/slide3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B1FA3802-359B-44C1-8F75-0B1B22D8C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构建失败按发生阶段定位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9F89BEE3-F306-4AE7-97F6-F9AE9DF07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11.8 · 先定位层次，再修改文件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8E8444-0ACC-466C-9504-707CB3F98481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95875"/>
                <a:gridCol w="5876925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阶段 / 现象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优先检查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找不到 Zephyr / SDK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包入口和真正含 </a:t>
                      </a:r>
                      <a:r>
                        <a:rPr sz="1875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sdk_version</a:t>
                      </a: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的根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目标未知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YAML、限定名、搜索根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DTS / Kconfig 失败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compatible、binding、符号与选择关系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编译 / 链接缺符号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驱动 CMake、HAL API、启动与链接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换板后缓存冲突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为新目标使用独立 </a:t>
                      </a:r>
                      <a:r>
                        <a:rPr sz="1875" b="0">
                          <a:solidFill>
                            <a:srgbClr val="B84E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-B</a:t>
                      </a:r>
                      <a:r>
                        <a:rPr sz="1875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目录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855D37A-A089-4752-AC79-24DF8FA47E6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48</a:t>
            </a:fld>
          </a:p>
        </p:txBody>
      </p:sp>
    </p:spTree>
    <p:extLst>
      <p:ext uri="{BB962C8B-B14F-4D97-AF65-F5344CB8AC3E}">
        <p14:creationId xmlns:p14="http://schemas.microsoft.com/office/powerpoint/2010/main" val="321395044"/>
      </p:ext>
    </p:extLst>
  </p:cSld>
</p:sld>
</file>

<file path=ppt/slides/slide3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tent">
            <a:extLst xmlns:a="http://schemas.openxmlformats.org/drawingml/2006/main">
              <a:ext uri="{FF2B5EF4-FFF2-40B4-BE49-F238E27FC236}">
                <a16:creationId xmlns:a16="http://schemas.microsoft.com/office/drawing/2014/main" id="{361B4E78-3E91-48C1-8411-93549FFF5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从练习进入正式维护</a:t>
            </a:r>
          </a:p>
        </p:txBody>
      </p:sp>
      <p:sp>
        <p:nvSpPr>
          <p:cNvPr id="2" name="content">
            <a:extLst xmlns:a="http://schemas.openxmlformats.org/drawingml/2006/main">
              <a:ext uri="{FF2B5EF4-FFF2-40B4-BE49-F238E27FC236}">
                <a16:creationId xmlns:a16="http://schemas.microsoft.com/office/drawing/2014/main" id="{F2469646-51DC-4617-90E7-965052A11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382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11.8—11.9 · 本期结束</a:t>
            </a:r>
          </a:p>
        </p:txBody>
      </p:sp>
      <p:sp>
        <p:nvSpPr>
          <p:cNvPr id="3" name="content">
            <a:extLst xmlns:a="http://schemas.openxmlformats.org/drawingml/2006/main">
              <a:ext uri="{FF2B5EF4-FFF2-40B4-BE49-F238E27FC236}">
                <a16:creationId xmlns:a16="http://schemas.microsoft.com/office/drawing/2014/main" id="{B53C6319-FA23-4ECF-B9D3-5E604C9BB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保持 board、SoC、binding 和驱动职责清楚。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维护厂商登记、平台测试元数据与板文档。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迁入源码树时合并入口，并撤掉重复模块定义。</a:t>
            </a:r>
          </a:p>
          <a:p xmlns:a="http://schemas.openxmlformats.org/drawingml/2006/main"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用配置与硬件证据，逐项增加外设能力。</a:t>
            </a:r>
          </a:p>
        </p:txBody>
      </p:sp>
      <p:sp>
        <p:nvSpPr>
          <p:cNvPr id="7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C09C31C-3158-4ECA-A5DD-5A6D57C6EEA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49</a:t>
            </a:fld>
          </a:p>
        </p:txBody>
      </p:sp>
    </p:spTree>
    <p:extLst>
      <p:ext uri="{BB962C8B-B14F-4D97-AF65-F5344CB8AC3E}">
        <p14:creationId xmlns:p14="http://schemas.microsoft.com/office/powerpoint/2010/main" val="536176092"/>
      </p:ext>
    </p:extLst>
  </p:cSld>
</p:sld>
</file>

<file path=ppt/slides/standalone_toolchain_7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03EFA41-0F69-462C-971D-2E1F3950B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独立 ARM 包：同一应用的替代路线</a:t>
            </a:r>
          </a:p>
        </p:txBody>
      </p:sp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B20D0EF6-CECB-4650-B129-19422A54D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11.2.3 · 与 SDK 主线二选一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A000105B-C66B-4D84-BEF4-56C0C81F9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1097280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ns0:p xmlns:ns0="http://schemas.openxmlformats.org/drawingml/2006/main">
            <ns0:pPr>
              <ns0:lnSpc>
                <ns0:spcPct val="120000"/>
              </ns0:lnSpc>
              <ns0:defRPr sz="1950" b="0">
                <ns0:solidFill>
                  <ns0:srgbClr val="29263B"/>
                </ns0:solidFill>
                <ns0:latin typeface="Microsoft YaHei"/>
                <ns0:ea typeface="Microsoft YaHei"/>
                <ns0:cs typeface="Microsoft YaHei"/>
              </ns0:defRPr>
            </ns0:pPr>
            <ns0:r>
              <ns0:rPr sz="1950" b="0">
                <ns0:solidFill>
                  <ns0:srgbClr val="29263B"/>
                </ns0:solidFill>
                <ns0:latin typeface="Microsoft YaHei"/>
                <ns0:ea typeface="Microsoft YaHei"/>
                <ns0:cs typeface="Microsoft YaHei"/>
              </ns0:rPr>
              <ns0:t>仍编译官方 hello_world，仍选 mps2/an386（Cortex-M4）。</ns0:t>
            </ns0:r>
          </ns0:p>
          <ns1:p xmlns:ns1="http://schemas.openxmlformats.org/drawingml/2006/main">
            <ns1:pPr>
              <ns1:lnSpc>
                <ns1:spcPct val="120000"/>
              </ns1:lnSpc>
              <ns1:spcAft>
                <ns1:spcPts val="1200"/>
              </ns1:spcAft>
              <ns1:defRPr sz="1950" b="0">
                <ns1:solidFill>
                  <ns1:srgbClr val="29263B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0">
                <ns1:solidFill>
                  <ns1:srgbClr val="29263B"/>
                </ns1:solidFill>
                <ns1:latin typeface="Microsoft YaHei"/>
                <ns1:ea typeface="Microsoft YaHei"/>
                <ns1:cs typeface="Microsoft YaHei"/>
              </ns1:rPr>
              <ns1:t>只更换工具链接口，CMSIS 仍由 </ns1:t>
            </ns1:r>
            <ns1:r>
              <ns1:rPr sz="1950" b="0">
                <ns1:solidFill>
                  <ns1:srgbClr val="A02B93"/>
                </ns1:solidFill>
                <ns1:latin typeface="Microsoft YaHei"/>
                <ns1:ea typeface="Microsoft YaHei"/>
                <ns1:cs typeface="Microsoft YaHei"/>
              </ns1:rPr>
              <ns1:t>west</ns1:t>
            </ns1:r>
            <ns1:r>
              <ns1:rPr sz="1950" b="0">
                <ns1:solidFill>
                  <ns1:srgbClr val="29263B"/>
                </ns1:solidFill>
                <ns1:latin typeface="Microsoft YaHei"/>
                <ns1:ea typeface="Microsoft YaHei"/>
                <ns1:cs typeface="Microsoft YaHei"/>
              </ns1:rPr>
              <ns1:t> 工作区发现。</ns1:t>
            </ns1:r>
          </ns1:p>
          <ns3:p xmlns:ns3="http://schemas.openxmlformats.org/drawingml/2006/main">
            <ns3:pPr>
              <ns3:lnSpc>
                <ns3:spcPct val="120000"/>
              </ns3:lnSpc>
              <ns3:defRPr sz="1950" b="0">
                <ns3:solidFill>
                  <ns3:srgbClr val="29263B"/>
                </ns3:solidFill>
                <ns3:latin typeface="Microsoft YaHei"/>
                <ns3:ea typeface="Microsoft YaHei"/>
                <ns3:cs typeface="Microsoft YaHei"/>
              </ns3:defRPr>
            </ns3:pPr>
            <ns3:r>
              <ns3:rPr sz="1950" b="0">
                <ns3:solidFill>
                  <ns3:srgbClr val="29263B"/>
                </ns3:solidFill>
                <ns3:latin typeface="Microsoft YaHei"/>
                <ns3:ea typeface="Microsoft YaHei"/>
                <ns3:cs typeface="Microsoft YaHei"/>
              </ns3:rPr>
              <ns3:t>当前工具链根：</ns3:t>
            </ns3:r>
            <ns3:r>
              <ns3:rPr sz="1950" b="0">
                <ns3:solidFill>
                  <ns3:srgbClr val="0070C0"/>
                </ns3:solidFill>
                <ns3:latin typeface="Microsoft YaHei"/>
                <ns3:ea typeface="Microsoft YaHei"/>
                <ns3:cs typeface="Microsoft YaHei"/>
              </ns3:rPr>
              <ns3:t>G:/zephyr_practice/arm-zephyr-eabi</ns3:t>
            </ns3:r>
          </ns3:p>
          <ns4:p xmlns:ns4="http://schemas.openxmlformats.org/drawingml/2006/main">
            <ns4:pPr>
              <ns4:lnSpc>
                <ns4:spcPct val="120000"/>
              </ns4:lnSpc>
              <ns4:spcAft>
                <ns4:spcPts val="1200"/>
              </ns4:spcAft>
              <ns4:defRPr sz="1950" b="0">
                <ns4:solidFill>
                  <ns4:srgbClr val="29263B"/>
                </ns4:solidFill>
                <ns4:latin typeface="Microsoft YaHei"/>
                <ns4:ea typeface="Microsoft YaHei"/>
                <ns4:cs typeface="Microsoft YaHei"/>
              </ns4:defRPr>
            </ns4:pPr>
            <ns4:r>
              <ns4:rPr sz="1950" b="0">
                <ns4:solidFill>
                  <ns4:srgbClr val="B84E00"/>
                </ns4:solidFill>
                <ns4:latin typeface="Microsoft YaHei"/>
                <ns4:ea typeface="Microsoft YaHei"/>
                <ns4:cs typeface="Microsoft YaHei"/>
              </ns4:rPr>
              <ns4:t>CROSS_COMPILE</ns4:t>
            </ns4:r>
            <ns4:r>
              <ns4:rPr sz="1950" b="0">
                <ns4:solidFill>
                  <ns4:srgbClr val="29263B"/>
                </ns4:solidFill>
                <ns4:latin typeface="Microsoft YaHei"/>
                <ns4:ea typeface="Microsoft YaHei"/>
                <ns4:cs typeface="Microsoft YaHei"/>
              </ns4:rPr>
              <ns4:t> 指向其 </ns4:t>
            </ns4:r>
            <ns4:r>
              <ns4:rPr sz="1950" b="0">
                <ns4:solidFill>
                  <ns4:srgbClr val="0070C0"/>
                </ns4:solidFill>
                <ns4:latin typeface="Microsoft YaHei"/>
                <ns4:ea typeface="Microsoft YaHei"/>
                <ns4:cs typeface="Microsoft YaHei"/>
              </ns4:rPr>
              <ns4:t>bin/arm-zephyr-eabi-</ns4:t>
            </ns4:r>
            <ns4:r>
              <ns4:rPr sz="1950" b="0">
                <ns4:solidFill>
                  <ns4:srgbClr val="29263B"/>
                </ns4:solidFill>
                <ns4:latin typeface="Microsoft YaHei"/>
                <ns4:ea typeface="Microsoft YaHei"/>
                <ns4:cs typeface="Microsoft YaHei"/>
              </ns4:rPr>
              <ns4:t>。</ns4:t>
            </ns4:r>
          </ns4:p>
          <ns6:p xmlns:ns6="http://schemas.openxmlformats.org/drawingml/2006/main">
            <ns6:pPr>
              <ns6:lnSpc>
                <ns6:spcPct val="120000"/>
              </ns6:lnSpc>
              <ns6:defRPr sz="1950" b="0">
                <ns6:solidFill>
                  <ns6:srgbClr val="29263B"/>
                </ns6:solidFill>
                <ns6:latin typeface="Microsoft YaHei"/>
                <ns6:ea typeface="Microsoft YaHei"/>
                <ns6:cs typeface="Microsoft YaHei"/>
              </ns6:defRPr>
            </ns6:pPr>
            <ns6:r>
              <ns6:rPr sz="1950" b="0">
                <ns6:solidFill>
                  <ns6:srgbClr val="29263B"/>
                </ns6:solidFill>
                <ns6:latin typeface="Microsoft YaHei"/>
                <ns6:ea typeface="Microsoft YaHei"/>
                <ns6:cs typeface="Microsoft YaHei"/>
              </ns6:rPr>
              <ns6:t>在 UCRT64 源码根激活 </ns6:t>
            </ns6:r>
            <ns6:r>
              <ns6:rPr sz="1950" b="0">
                <ns6:solidFill>
                  <ns6:srgbClr val="0070C0"/>
                </ns6:solidFill>
                <ns6:latin typeface="Microsoft YaHei"/>
                <ns6:ea typeface="Microsoft YaHei"/>
                <ns6:cs typeface="Microsoft YaHei"/>
              </ns6:rPr>
              <ns6:t>.venv</ns6:t>
            </ns6:r>
            <ns6:r>
              <ns6:rPr sz="1950" b="0">
                <ns6:solidFill>
                  <ns6:srgbClr val="29263B"/>
                </ns6:solidFill>
                <ns6:latin typeface="Microsoft YaHei"/>
                <ns6:ea typeface="Microsoft YaHei"/>
                <ns6:cs typeface="Microsoft YaHei"/>
              </ns6:rPr>
              <ns6:t>，新构建目录使用 </ns6:t>
            </ns6:r>
            <ns6:r>
              <ns6:rPr sz="1950" b="0">
                <ns6:solidFill>
                  <ns6:srgbClr val="B84E00"/>
                </ns6:solidFill>
                <ns6:latin typeface="Microsoft YaHei"/>
                <ns6:ea typeface="Microsoft YaHei"/>
                <ns6:cs typeface="Microsoft YaHei"/>
              </ns6:rPr>
              <ns6:t>-layout2</ns6:t>
            </ns6:r>
            <ns6:r>
              <ns6:rPr sz="1950" b="0">
                <ns6:solidFill>
                  <ns6:srgbClr val="29263B"/>
                </ns6:solidFill>
                <ns6:latin typeface="Microsoft YaHei"/>
                <ns6:ea typeface="Microsoft YaHei"/>
                <ns6:cs typeface="Microsoft YaHei"/>
              </ns6:rPr>
              <ns6:t> 后缀。</ns6:t>
            </ns6:r>
          </ns6:p>
          <ns7:p xmlns:ns7="http://schemas.openxmlformats.org/drawingml/2006/main">
            <ns7:pPr>
              <ns7:lnSpc>
                <ns7:spcPct val="120000"/>
              </ns7:lnSpc>
              <ns7:defRPr sz="1950" b="0">
                <ns7:solidFill>
                  <ns7:srgbClr val="29263B"/>
                </ns7:solidFill>
                <ns7:latin typeface="Microsoft YaHei"/>
                <ns7:ea typeface="Microsoft YaHei"/>
                <ns7:cs typeface="Microsoft YaHei"/>
              </ns7:defRPr>
            </ns7:pPr>
            <ns7:r>
              <ns7:rPr sz="1950" b="0">
                <ns7:solidFill>
                  <ns7:srgbClr val="29263B"/>
                </ns7:solidFill>
                <ns7:latin typeface="Microsoft YaHei"/>
                <ns7:ea typeface="Microsoft YaHei"/>
                <ns7:cs typeface="Microsoft YaHei"/>
              </ns7:rPr>
              <ns7:t>主机 CMake、Ninja、Python、DTC 与 CMSIS 必须已经准备好。</ns7:t>
            </ns7:r>
          </ns7:p>
        </p:txBody>
      </p:sp>
      <p:sp>
        <p:nvSpPr>
          <p:cNvPr id="5" name="Source link 0">
            <a:extLst xmlns:a="http://schemas.openxmlformats.org/drawingml/2006/main">
              <a:ext uri="{FF2B5EF4-FFF2-40B4-BE49-F238E27FC236}">
                <a16:creationId xmlns:a16="http://schemas.microsoft.com/office/drawing/2014/main" id="{FDEE6109-7D86-45FF-93F4-278CB867C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5381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InputLink0"/>
              </a:rPr>
              <a:t>三条路线及参数读取者</a:t>
            </a:r>
          </a:p>
        </p:txBody>
      </p:sp>
      <p:sp>
        <p:nvSpPr>
          <p:cNvPr id="6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31E259-FEB5-47EC-B7A8-75924391132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14</a:t>
            </a:fld>
          </a:p>
        </p:txBody>
      </p:sp>
    </p:spTree>
    <p:extLst>
      <p:ext uri="{BB962C8B-B14F-4D97-AF65-F5344CB8AC3E}">
        <p14:creationId xmlns:p14="http://schemas.microsoft.com/office/powerpoint/2010/main" val="248593360"/>
      </p:ext>
    </p:extLst>
  </p:cSld>
</p:sld>
</file>

<file path=ppt/slides/standalone_toolchain_8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346E8DB-875F-45C9-8A54-37CCAD127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独立工具链的完整配置输入</a:t>
            </a:r>
          </a:p>
        </p:txBody>
      </p:sp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D66C0777-E4C8-43EA-BEE8-0BD3FE774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11.2.3 · 打开配套 TXT，复制整个操作块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5EEBFAF2-E6E1-45C4-A690-71FC0F298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1097280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下方 TXT 包含进入源码根、激活 venv、前提检查与完整 </a:t>
            </a:r>
            <a:r>
              <a:rPr sz="195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命令。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取消当前 UCRT64 的旧 SDK 输入，返回 SDK 主线时按 11.2.1 恢复。</a:t>
            </a:r>
          </a:p>
          <a:p xmlns:a="http://schemas.openxmlformats.org/drawingml/2006/main"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variant 选 cross-compile，程序前缀与工具链根指向实际 ARM 目录。</a:t>
            </a:r>
          </a:p>
          <a:p xmlns:a="http://schemas.openxmlformats.org/drawingml/2006/main"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Zephyr_DIR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指向源码的包入口，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BOARD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仍为 mps2/an386。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全部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参数只保存在本次新构建目录的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CMakeCache.txt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 xmlns:a="http://schemas.openxmlformats.org/drawingml/2006/main"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看到 Found toolchain: cross-compile，且配置、生成成功后再编译。</a:t>
            </a:r>
          </a:p>
        </p:txBody>
      </p:sp>
      <p:sp>
        <p:nvSpPr>
          <p:cNvPr id="5" name="Source link 0">
            <a:extLst xmlns:a="http://schemas.openxmlformats.org/drawingml/2006/main">
              <a:ext uri="{FF2B5EF4-FFF2-40B4-BE49-F238E27FC236}">
                <a16:creationId xmlns:a16="http://schemas.microsoft.com/office/drawing/2014/main" id="{A042CF0B-809E-44E6-B333-6440FDC9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5381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InputLink0"/>
              </a:rPr>
              <a:t>完整可复制配置：11.2.3-01.txt</a:t>
            </a:r>
          </a:p>
        </p:txBody>
      </p:sp>
      <p:sp>
        <p:nvSpPr>
          <p:cNvPr id="6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31E259-FEB5-47EC-B7A8-75924391132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15</a:t>
            </a:fld>
          </a:p>
        </p:txBody>
      </p:sp>
    </p:spTree>
    <p:extLst>
      <p:ext uri="{BB962C8B-B14F-4D97-AF65-F5344CB8AC3E}">
        <p14:creationId xmlns:p14="http://schemas.microsoft.com/office/powerpoint/2010/main" val="248593360"/>
      </p:ext>
    </p:extLst>
  </p:cSld>
</p:sld>
</file>

<file path=ppt/slides/standalone_toolchain_9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B49F077-8319-42B0-B67E-BD1FDE174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编译后确认来自独立 ARM 目录</a:t>
            </a:r>
          </a:p>
        </p:txBody>
      </p:sp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10CC52B8-915C-41F2-8723-5E39A8B0F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11.2.3 · 构建与接入核验</a:t>
            </a:r>
          </a:p>
        </p:txBody>
      </p:sp>
      <p:sp>
        <p:nvSpPr>
          <p:cNvPr id="4" name="Complete build commands">
            <a:extLst xmlns:a="http://schemas.openxmlformats.org/drawingml/2006/main">
              <a:ext uri="{FF2B5EF4-FFF2-40B4-BE49-F238E27FC236}">
                <a16:creationId xmlns:a16="http://schemas.microsoft.com/office/drawing/2014/main" id="{86F27FCD-9020-49A8-B7CF-09CE0687E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109728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5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Windows UCRT64；源码根；11.2.3 上一块配置成功后执行。</a:t>
            </a:r>
          </a:p>
          <a:p xmlns:a="http://schemas.openxmlformats.org/drawingml/2006/main">
            <a:pPr>
              <a:lnSpc>
                <a:spcPct val="120000"/>
              </a:lnSpc>
              <a:defRPr sz="15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cd</a:t>
            </a:r>
            <a:r>
              <a:rPr sz="15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/g/zephyr_practice/zephyr-main</a:t>
            </a:r>
            <a:r>
              <a:rPr sz="15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&amp;&amp;</a:t>
            </a:r>
          </a:p>
          <a:p xmlns:a="http://schemas.openxmlformats.org/drawingml/2006/main">
            <a:pPr>
              <a:lnSpc>
                <a:spcPct val="120000"/>
              </a:lnSpc>
              <a:defRPr sz="15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cmake</a:t>
            </a:r>
            <a:r>
              <a:rPr sz="15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--build</a:t>
            </a:r>
            <a:r>
              <a:rPr sz="15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build/learning-tools/p003/build-mps2-cross-compile-layout2</a:t>
            </a:r>
            <a:r>
              <a:rPr sz="15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&amp;&amp;</a:t>
            </a:r>
          </a:p>
          <a:p xmlns:a="http://schemas.openxmlformats.org/drawingml/2006/main">
            <a:pPr>
              <a:lnSpc>
                <a:spcPct val="120000"/>
              </a:lnSpc>
              <a:defRPr sz="15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ls</a:t>
            </a:r>
            <a:r>
              <a:rPr sz="15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-l</a:t>
            </a:r>
            <a:r>
              <a:rPr sz="15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build/learning-tools/p003/build-mps2-cross-compile-layout2/zephyr/zephyr.elf</a:t>
            </a:r>
          </a:p>
        </p:txBody>
      </p:sp>
      <p:sp>
        <p:nvSpPr>
          <p:cNvPr id="5" name="explanation">
            <a:extLst xmlns:a="http://schemas.openxmlformats.org/drawingml/2006/main">
              <a:ext uri="{FF2B5EF4-FFF2-40B4-BE49-F238E27FC236}">
                <a16:creationId xmlns:a16="http://schemas.microsoft.com/office/drawing/2014/main" id="{8C61C286-CA72-4C64-9ADF-8C18A6F95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检查缓存中的 variant、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CMAKE_C_COMPILER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与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SYSROOT_DIR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 xmlns:a="http://schemas.openxmlformats.org/drawingml/2006/main"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编译器与库应来自独立目录，没有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ZEPHYR_SDK_INSTALL_DIR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 xmlns:a="http://schemas.openxmlformats.org/drawingml/2006/main"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compile_commands.json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应显示 Cortex-M4 的实际编译参数。</a:t>
            </a:r>
          </a:p>
          <a:p xmlns:a="http://schemas.openxmlformats.org/drawingml/2006/main"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本例已生成 ELF；这不是 HC32 下载或运行验证。</a:t>
            </a:r>
          </a:p>
        </p:txBody>
      </p:sp>
      <p:sp>
        <p:nvSpPr>
          <p:cNvPr id="6" name="Source link 0">
            <a:extLst xmlns:a="http://schemas.openxmlformats.org/drawingml/2006/main">
              <a:ext uri="{FF2B5EF4-FFF2-40B4-BE49-F238E27FC236}">
                <a16:creationId xmlns:a16="http://schemas.microsoft.com/office/drawing/2014/main" id="{1D12C2B0-8CB2-4C33-A449-BBCCC3A36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5381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InputLink0"/>
              </a:rPr>
              <a:t>构建命令：11.2.3-02.txt</a:t>
            </a:r>
          </a:p>
        </p:txBody>
      </p:sp>
      <p:sp>
        <p:nvSpPr>
          <p:cNvPr id="7" name="Source link 1">
            <a:extLst xmlns:a="http://schemas.openxmlformats.org/drawingml/2006/main">
              <a:ext uri="{FF2B5EF4-FFF2-40B4-BE49-F238E27FC236}">
                <a16:creationId xmlns:a16="http://schemas.microsoft.com/office/drawing/2014/main" id="{458026BA-BD04-47AF-9DE3-71C69C3BC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6048375"/>
            <a:ext cx="5381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xmlns:ns1="http://schemas.openxmlformats.org/officeDocument/2006/relationships" ns1:id="rIdInputLink1"/>
              </a:rPr>
              <a:t>核验命令：11.2.3-03.txt</a:t>
            </a:r>
          </a:p>
        </p:txBody>
      </p:sp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31E259-FEB5-47EC-B7A8-75924391132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</a:p>
        </p:txBody>
      </p:sp>
    </p:spTree>
    <p:extLst>
      <p:ext uri="{BB962C8B-B14F-4D97-AF65-F5344CB8AC3E}">
        <p14:creationId xmlns:p14="http://schemas.microsoft.com/office/powerpoint/2010/main" val="248593360"/>
      </p:ext>
    </p:extLst>
  </p:cSld>
</p:sld>
</file>

<file path=ppt/theme/lizhaojunCoverTheme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52</ap:Slides>
  <ap:Notes>34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2026-10-06T03:23:19.1600000Z</dcterms:created>
  <dcterms:modified xsi:type="dcterms:W3CDTF">2026-10-06T03:23:19.1600000Z</dcterms:modified>
</coreProperties>
</file>