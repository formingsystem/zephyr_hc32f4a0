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10_1.xml" ContentType="application/vnd.openxmlformats-officedocument.presentationml.slide+xml"/>
  <Override PartName="/ppt/notesSlides/lesson_10_1.xml" ContentType="application/vnd.openxmlformats-officedocument.presentationml.notesSlide+xml"/>
  <Override PartName="/ppt/slides/guide18.xml" ContentType="application/vnd.openxmlformats-officedocument.presentationml.slide+xml"/>
  <Override PartName="/ppt/notesSlides/guide18.xml" ContentType="application/vnd.openxmlformats-officedocument.presentationml.notesSlide+xml"/>
  <Override PartName="/ppt/slides/guide19.xml" ContentType="application/vnd.openxmlformats-officedocument.presentationml.slide+xml"/>
  <Override PartName="/ppt/notesSlides/gu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20" r:id="rIdGuideOrder20"/>
    <p:sldId id="821" r:id="rIdGuideOrder21"/>
    <p:sldId id="822" r:id="rIdGuideOrder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lesson_10_1.xml"/><Relationship Id="rIdGuideOrder3" Type="http://schemas.openxmlformats.org/officeDocument/2006/relationships/slide" Target="slides/guide18.xml"/><Relationship Id="rIdGuideOrder4" Type="http://schemas.openxmlformats.org/officeDocument/2006/relationships/slide" Target="slides/slide13.xml"/><Relationship Id="rIdGuideOrder5" Type="http://schemas.openxmlformats.org/officeDocument/2006/relationships/slide" Target="slides/slide39.xml"/><Relationship Id="rIdGuideOrder6" Type="http://schemas.openxmlformats.org/officeDocument/2006/relationships/slide" Target="slides/slide40.xml"/><Relationship Id="rIdGuideOrder7" Type="http://schemas.openxmlformats.org/officeDocument/2006/relationships/slide" Target="slides/slide41.xml"/><Relationship Id="rIdGuideOrder8" Type="http://schemas.openxmlformats.org/officeDocument/2006/relationships/slide" Target="slides/slide42.xml"/><Relationship Id="rIdGuideOrder9" Type="http://schemas.openxmlformats.org/officeDocument/2006/relationships/slide" Target="slides/slide43.xml"/><Relationship Id="rIdGuideOrder10" Type="http://schemas.openxmlformats.org/officeDocument/2006/relationships/slide" Target="slides/slide44.xml"/><Relationship Id="rIdGuideOrder11" Type="http://schemas.openxmlformats.org/officeDocument/2006/relationships/slide" Target="slides/slide45.xml"/><Relationship Id="rIdGuideOrder12" Type="http://schemas.openxmlformats.org/officeDocument/2006/relationships/slide" Target="slides/slide46.xml"/><Relationship Id="rIdGuideOrder13" Type="http://schemas.openxmlformats.org/officeDocument/2006/relationships/slide" Target="slides/slide47.xml"/><Relationship Id="rIdGuideOrder14" Type="http://schemas.openxmlformats.org/officeDocument/2006/relationships/slide" Target="slides/slide48.xml"/><Relationship Id="rIdGuideOrder15" Type="http://schemas.openxmlformats.org/officeDocument/2006/relationships/slide" Target="slides/slide49.xml"/><Relationship Id="rIdGuideOrder16" Type="http://schemas.openxmlformats.org/officeDocument/2006/relationships/slide" Target="slides/slide50.xml"/><Relationship Id="rIdGuideOrder17" Type="http://schemas.openxmlformats.org/officeDocument/2006/relationships/slide" Target="slides/slide51.xml"/><Relationship Id="rIdGuideOrder18" Type="http://schemas.openxmlformats.org/officeDocument/2006/relationships/slide" Target="slides/slide52.xml"/><Relationship Id="rIdGuideOrder19" Type="http://schemas.openxmlformats.org/officeDocument/2006/relationships/slide" Target="slides/slide54.xml"/><Relationship Id="rIdGuideOrder20" Type="http://schemas.openxmlformats.org/officeDocument/2006/relationships/slide" Target="slides/guide19.xml"/><Relationship Id="rIdGuideOrder21" Type="http://schemas.openxmlformats.org/officeDocument/2006/relationships/slide" Target="slides/slide55.xml"/><Relationship Id="rIdGuideOrder22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guide18.xml.rels><?xml version='1.0' encoding='UTF-8' standalone='yes'?>
<Relationships xmlns="http://schemas.openxmlformats.org/package/2006/relationships"><Relationship Id="rId2" Type="http://schemas.openxmlformats.org/officeDocument/2006/relationships/slide" Target="../slides/guide18.xml"/><Relationship Id="rId1" Type="http://schemas.openxmlformats.org/officeDocument/2006/relationships/notesMaster" Target="../notesMasters/notesMaster1.xml"/></Relationships>
</file>

<file path=ppt/notesSlides/_rels/guide19.xml.rels><?xml version='1.0' encoding='UTF-8' standalone='yes'?>
<Relationships xmlns="http://schemas.openxmlformats.org/package/2006/relationships"><Relationship Id="rId2" Type="http://schemas.openxmlformats.org/officeDocument/2006/relationships/slide" Target="../slides/guide19.xml"/><Relationship Id="rId1" Type="http://schemas.openxmlformats.org/officeDocument/2006/relationships/notesMaster" Target="../notesMasters/notesMaster1.xml"/></Relationships>
</file>

<file path=ppt/notesSlides/_rels/lesson_10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10_1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gu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11.1。</a:t>
            </a:r>
          </a:p>
          <a:p>
            <a:r>
              <a:t>沿用成功的 hello_world 工程。现在改变 SDK 或模块路径，却发现构建仍使用旧位置——先检查这一次配置保存了什么。</a:t>
            </a:r>
          </a:p>
          <a:p>
            <a:r>
              <a:t>本册把应用输入、终端环境和构建缓存对应起来。每次只改变一个输入，观察配置日志和生成记录。</a:t>
            </a:r>
          </a:p>
          <a:p>
            <a:r>
              <a:t>据此判断该补源码、改发现路径还是启用功能；换板目标时另建输出目录。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11.2.4。</a:t>
            </a:r>
          </a:p>
          <a:p>
            <a:r>
              <a:t>磁盘上没有所需文件：查来源与固定版本，补下载。目录已有但模块记录没有：查列表输入和模块入口。</a:t>
            </a:r>
          </a:p>
          <a:p>
            <a:r>
              <a:t>模块已发现却没有目标源文件：查 Kconfig、设备树与 CMake 条件；头文件依赖还要检查编译命令中的包含路径。</a:t>
            </a:r>
          </a:p>
          <a:p>
            <a:r>
              <a:t>构建成功但行为不对：进入运行、驱动和板级验证。重新下载 HAL 或清空缓存不能替代这些判断。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10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</a:t>
            </a:r>
          </a:p>
          <a:p>
            <a:r>
              <a:t>11.1—11.3 · 缓存与排错</a:t>
            </a:r>
          </a:p>
          <a:p>
            <a:r>
              <a:t>沿用 P008 的 cmake-demo，先只读缓存，再改一项日志输入。</a:t>
            </a:r>
          </a:p>
          <a:p>
            <a:r>
              <a:t>区分缓存、生成规则、固件产物，以及 shell 与用户注册表。</a:t>
            </a:r>
          </a:p>
          <a:p>
            <a:r>
              <a:t>遇到错误按阶段排查，不把重新 init 或全量下载当作通用修复。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P003—P012 回顾各自接口，并讲解本模块的结构与完整实验。</a:t>
            </a:r>
          </a:p>
          <a:p>
            <a:r>
              <a:t>配套正文：learning/P01_zephyr_make_project/P011_Zephyr应用构建_Windows.md。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对应正文：P008_Zephyr应用构建_Windows.md#cmake-build-command</a:t>
            </a:r>
          </a:p>
          <a:p>
            <a:r>
              <a:t>11.1 · 配置类型与缓存边界</a:t>
            </a:r>
          </a:p>
          <a:p>
            <a:r>
              <a:t>普通 CMake 的单配置工程常在配置时设置 CMAKE_BUILD_TYPE。</a:t>
            </a:r>
          </a:p>
          <a:p>
            <a:r>
              <a:t>多配置生成器通常在构建时用 --config 选择配置。</a:t>
            </a:r>
          </a:p>
          <a:p>
            <a:endParaRPr/>
          </a:p>
          <a:p>
            <a:r>
              <a:t>本系列使用 Ninja。Zephyr 的优化主要由 Kconfig 决定，</a:t>
            </a:r>
          </a:p>
          <a:p>
            <a:r>
              <a:t>如 CONFIG_DEBUG_OPTIMIZATIONS 与 CONFIG_SIZE_OPTIMIZATIONS。</a:t>
            </a:r>
          </a:p>
          <a:p>
            <a:r>
              <a:t>单独传 Debug 不等于完成 Zephyr 调试优化配置。</a:t>
            </a:r>
          </a:p>
          <a:p>
            <a:endParaRPr/>
          </a:p>
          <a:p>
            <a:r>
              <a:t>核对 zephyr/.config 与实际编译参数。</a:t>
            </a:r>
          </a:p>
          <a:p>
            <a:r>
              <a:t>cmake --install 是项目安装操作，也不等于烧录固件。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官方说明：https://cmake.org/cmake/help/latest/variable/CMAKE_BUILD_TYPE.html</a:t>
            </a:r>
          </a:p>
          <a:p>
            <a:r>
              <a:t>固定源码依据：https://github.com/zephyrproject-rtos/zephyr/blob/25c8f4a23988dd3b2cfb463613622738298c2d6c/CMakeLists.txt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配套正文：P011_CMake缓存与构建排错_Windows.md#section-11-1-1</a:t>
            </a:r>
          </a:p>
          <a:p>
            <a:r>
              <a:t>11.1.1 · ④ 保存与组合</a:t>
            </a:r>
          </a:p>
          <a:p>
            <a:r>
              <a:t>export：当前终端及之后启动的子进程环境。</a:t>
            </a:r>
          </a:p>
          <a:p>
            <a:r>
              <a:t>-D：所选 -B 构建目录的 CMakeCache.txt。</a:t>
            </a:r>
          </a:p>
          <a:p>
            <a:r>
              <a:t>set：CMake 普通作用域；带 CACHE 才涉及缓存。</a:t>
            </a:r>
          </a:p>
          <a:p>
            <a:r>
              <a:t>用户预设：读者保存参数组合，选择 --preset 时读取。</a:t>
            </a:r>
          </a:p>
          <a:p>
            <a:r>
              <a:t>SDK 注册：当前用户的包位置候选，跨终端保留。</a:t>
            </a:r>
          </a:p>
          <a:p>
            <a:endParaRPr/>
          </a:p>
          <a:p>
            <a:r>
              <a:t>关闭终端不会删除缓存，激活 .venv 不会重新选择 SDK。</a:t>
            </a:r>
          </a:p>
          <a:p>
            <a:endParaRPr/>
          </a:p>
          <a:p>
            <a:r>
              <a:t>讲解展开：</a:t>
            </a:r>
          </a:p>
          <a:p>
            <a:r>
              <a:t>### 11.1.1\_同一个名字为什么会有不同的保存范围</a:t>
            </a:r>
          </a:p>
          <a:p>
            <a:endParaRPr/>
          </a:p>
          <a:p>
            <a:r>
              <a:t>现在才讨论范围，是因为已经知道 BOARD、SDK 根和模块列表各自交给谁。以固定 SDK 根为例，Bash 的 `export` 把值放进当前进程环境，后续启动的 CMake 可以读取；命令行 `-D` 把值交给某一个构建目录的 CMake 缓存；CMake 文件中的 `set` 默认创建普通变量。这三种容器互相独立。</a:t>
            </a:r>
          </a:p>
          <a:p>
            <a:endParaRPr/>
          </a:p>
          <a:p>
            <a:r>
              <a:t>| 选择方式 | 保存在哪里 | 对哪些操作有效 | 改变或退出的方法 |</a:t>
            </a:r>
          </a:p>
          <a:p>
            <a:r>
              <a:t>| --- | --- | --- | --- |</a:t>
            </a:r>
          </a:p>
          <a:p>
            <a:r>
              <a:t>| 当前 Bash `export` | 当前终端及后续子进程的环境 | 由这个终端启动、且会读取该环境的程序 | 当前终端 `unset` 或关闭；已经形成的构建缓存仍存在 |</a:t>
            </a:r>
          </a:p>
          <a:p>
            <a:r>
              <a:t>| CMake `-D` | 对应 `-B` 目录的 `CMakeCache.txt` | 这个构建目录后续配置 | 对允许变更的项重传；换板/工具组合优先用新构建目录 |</a:t>
            </a:r>
          </a:p>
          <a:p>
            <a:r>
              <a:t>| CMake `set` | 普通变量作用域；带 CACHE 时涉及缓存 | 当前执行的目录/函数等作用域 | 修改定义者；普通 set 不自动成为全局永久设置 |</a:t>
            </a:r>
          </a:p>
          <a:p>
            <a:r>
              <a:t>| `CMakeUserPresets.json` | 应用旁由读者自行创建的用户文件 | 选择相应 `cmake --preset` 时 | 修改所选预设；存在文件时合并，不覆盖个人配置 |</a:t>
            </a:r>
          </a:p>
          <a:p>
            <a:r>
              <a:t>| SDK 包注册 | 当前用户的 CMake 包位置记录 | 使用包搜索的工程 | SDK 移动后重新注册并核对实际发现结果 |</a:t>
            </a:r>
          </a:p>
          <a:p>
            <a:endParaRPr/>
          </a:p>
          <a:p>
            <a:r>
              <a:t>预设属于 CMake 功能，是保存参数组合的方式，不是另一套 Zephyr 工具链。`.venv` 解决 Python 包隔离，不能称为 SDK 的永久工程配置；本系列不修改自动生成的 activate 脚本来暗中固定 SDK。依据：[CMake 变量读取规则](https://cmake.org/cmake/help/latest/manual/cmake-language.7.html#variables)（原件 `CMake 变量与作用域`）；[CMake 工程预设](https://cmake.org/cmake/help/latest/manual/cmake-presets.7.html)（原件 `CMakePresets.json / CMakeUserPresets.json`）；[SDK 输入与默认查找分支](https://github.com/zephyrproject-rtos/zephyr/blob/25c8f4a23988dd3b2cfb463613622738298c2d6c/cmake/modules/FindZephyr-sdk.cmake#L44)（原件 `cmake/modules/FindZephyr-sdk.cmake`，第 44 行附近）。</a:t>
            </a:r>
          </a:p>
          <a:p>
            <a:endParaRPr/>
          </a:p>
          <a:p>
            <a:r>
              <a:t>&lt;a id="section-11-1-2"&gt;&lt;/a&gt;</a:t>
            </a:r>
          </a:p>
          <a:p>
            <a:endParaRPr/>
          </a:p>
          <a:p>
            <a:endParaRPr/>
          </a:p>
          <a:p>
            <a:r>
              <a:t>官方说明：https://cmake.org/cmake/help/latest/manual/cmake-language.7.html#variables</a:t>
            </a:r>
          </a:p>
          <a:p>
            <a:r>
              <a:t>仓库原件：https://cmake.org/cmake/help/latest/manual/cmake-language.7.html#variables</a:t>
            </a:r>
          </a:p>
          <a:p>
            <a:r>
              <a:t>实现定位：https://github.com/zephyrproject-rtos/zephyr/blob/25c8f4a23988dd3b2cfb463613622738298c2d6c/cmake/modules/extensions.cmake#L4088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11.1.1.1 · ④ 保存与复用</a:t>
            </a:r>
          </a:p>
          <a:p>
            <a:r>
              <a:t>CMakeCache.txt 保存配置值，build.ninja 描述执行规则。</a:t>
            </a:r>
          </a:p>
          <a:p>
            <a:r>
              <a:t>对象文件与 zephyr.elf 是执行结果，不能与配置缓存混为一谈。</a:t>
            </a:r>
          </a:p>
          <a:p>
            <a:r>
              <a:t>第二次配置同一 -B 时，CMake 读取已有缓存再生成规则。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11.1.1.2 · ④ 保存与复用</a:t>
            </a:r>
          </a:p>
          <a:p>
            <a:r>
              <a:t>-N 只查看，不重新配置或生成。-L 列选项，A 加高级项，H 带帮助。</a:t>
            </a:r>
          </a:p>
          <a:p>
            <a:r>
              <a:t>没有 -N 的 -LAH 调用可能重新配置。</a:t>
            </a:r>
          </a:p>
          <a:p>
            <a:r>
              <a:t>列表不含全部 INTERNAL 条目；入口等信息可直接读缓存文件。</a:t>
            </a:r>
          </a:p>
          <a:p>
            <a:r>
              <a:t>缓存不存在时回到首次配置，不手工创建空文件。</a:t>
            </a:r>
          </a:p>
          <a:p>
            <a:endParaRPr/>
          </a:p>
          <a:p>
            <a:r>
              <a:t># UCRT64；源码根；前提：P008 8.2 的 cmake-demo 配置成功。</a:t>
            </a:r>
          </a:p>
          <a:p>
            <a:r>
              <a:t>test -f build/learning-tools/p003/cmake-demo/CMakeCache.txt &amp;&amp; \</a:t>
            </a:r>
          </a:p>
          <a:p>
            <a:r>
              <a:t>cmake -N -LAH build/learning-tools/p003/cmake-demo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11.1.1.3 · ④ 缓存操作</a:t>
            </a:r>
          </a:p>
          <a:p>
            <a:r>
              <a:t>CMAKE_MESSAGE_LOG_LEVEL 是 CMake 配置日志级别，不是编译详细输出。</a:t>
            </a:r>
          </a:p>
          <a:p>
            <a:r>
              <a:t>首次设为 VERBOSE 后，重复配置不再传它，缓存仍保留 VERBOSE。</a:t>
            </a:r>
          </a:p>
          <a:p>
            <a:r>
              <a:t>因此“下一条命令省略参数”不会撤销前一次选择。</a:t>
            </a:r>
          </a:p>
          <a:p>
            <a:endParaRPr/>
          </a:p>
          <a:p>
            <a:r>
              <a:t># UCRT64；源码根；本节 cmake-demo 已配置，.venv 已激活。</a:t>
            </a:r>
          </a:p>
          <a:p>
            <a:r>
              <a:t>cmake -S samples/hello_world -B build/learning-tools/p003/cmake-demo \</a:t>
            </a:r>
          </a:p>
          <a:p>
            <a:r>
              <a:t>  -DCMAKE_MESSAGE_LOG_LEVEL:STRING=VERBOSE</a:t>
            </a:r>
          </a:p>
          <a:p>
            <a:r>
              <a:t># 同一目录再次配置，特意不重复 -D。</a:t>
            </a:r>
          </a:p>
          <a:p>
            <a:r>
              <a:t>cmake -S samples/hello_world -B build/learning-tools/p003/cmake-demo</a:t>
            </a:r>
          </a:p>
          <a:p>
            <a:r>
              <a:t>cmake -N -LAH build/learning-tools/p003/cmake-demo | grep CMAKE_MESSAGE_LOG_LEVEL</a:t>
            </a:r>
          </a:p>
          <a:p>
            <a:endParaRPr/>
          </a:p>
          <a:p>
            <a:r>
              <a:t>官方说明：https://cmake.org/cmake/help/latest/variable/CMAKE_MESSAGE_LOG_LEVEL.html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11.1.1.4 · ④ 缓存操作</a:t>
            </a:r>
          </a:p>
          <a:p>
            <a:r>
              <a:t>-U 删除准确匹配的缓存项，再执行配置。</a:t>
            </a:r>
          </a:p>
          <a:p>
            <a:r>
              <a:t>本例无其他来源重建该项时，grep 无输出、返回 1 是预期结果。</a:t>
            </a:r>
          </a:p>
          <a:p>
            <a:r>
              <a:t>显式改为 STATUS 仍保留一个值；删除条目才撤销缓存选择。</a:t>
            </a:r>
          </a:p>
          <a:p>
            <a:r>
              <a:t>终端环境、预设和脚本不会随 -U 一起删除。</a:t>
            </a:r>
          </a:p>
          <a:p>
            <a:endParaRPr/>
          </a:p>
          <a:p>
            <a:r>
              <a:t># UCRT64；源码根；前提：上一页已设置日志项，.venv 已激活。</a:t>
            </a:r>
          </a:p>
          <a:p>
            <a:r>
              <a:t>cmake -S samples/hello_world -B build/learning-tools/p003/cmake-demo \</a:t>
            </a:r>
          </a:p>
          <a:p>
            <a:r>
              <a:t>  -U CMAKE_MESSAGE_LOG_LEVEL</a:t>
            </a:r>
          </a:p>
          <a:p>
            <a:r>
              <a:t>grep '^CMAKE_MESSAGE_LOG_LEVEL:' build/learning-tools/p003/cmake-demo/CMakeCache.txt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11.1.1.4 · ④ 传入值与实际值</a:t>
            </a:r>
          </a:p>
          <a:p>
            <a:r>
              <a:t>当前 Zephyr 强制生成编译命令数据库，供内部脚本使用。</a:t>
            </a:r>
          </a:p>
          <a:p>
            <a:r>
              <a:t>因此把此项传成 OFF，配置脚本仍会用 FORCE 写回 TRUE。</a:t>
            </a:r>
          </a:p>
          <a:p>
            <a:r>
              <a:t>-D 不保证压过随后执行的所有项目规则。</a:t>
            </a:r>
          </a:p>
          <a:p>
            <a:r>
              <a:t>普通变量、缓存与 zephyr_get 的读取顺序也要区分。</a:t>
            </a:r>
          </a:p>
          <a:p>
            <a:endParaRPr/>
          </a:p>
          <a:p>
            <a:r>
              <a:t># 只读：Zephyr 原有 cmake/modules/kernel.cmake，第 167 行附近。</a:t>
            </a:r>
          </a:p>
          <a:p>
            <a:r>
              <a:t>set(CMAKE_EXPORT_COMPILE_COMMANDS TRUE CACHE BOOL</a:t>
            </a:r>
          </a:p>
          <a:p>
            <a:r>
              <a:t>    "Export CMake compile commands. Used by gen_app_partitions.py script"</a:t>
            </a:r>
          </a:p>
          <a:p>
            <a:r>
              <a:t>    FORCE</a:t>
            </a:r>
          </a:p>
          <a:p>
            <a:r>
              <a:t>)</a:t>
            </a:r>
          </a:p>
          <a:p>
            <a:endParaRPr/>
          </a:p>
          <a:p>
            <a:r>
              <a:t>官方说明：https://cmake.org/cmake/help/latest/command/set.html</a:t>
            </a:r>
          </a:p>
          <a:p>
            <a:r>
              <a:t>固定源码依据：https://github.com/zephyrproject-rtos/zephyr/blob/25c8f4a23988dd3b2cfb463613622738298c2d6c/cmake/modules/kernel.cmake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11.1.1.5 · ④ 清理范围</a:t>
            </a:r>
          </a:p>
          <a:p>
            <a:r>
              <a:t>本例 clean 清除后端管理的构建产物，缓存与规则仍在。</a:t>
            </a:r>
          </a:p>
          <a:p>
            <a:r>
              <a:t>随后 build 复用相同的板和工具链重新编译。</a:t>
            </a:r>
          </a:p>
          <a:p>
            <a:r>
              <a:t>--clean-first 是先 clean 再 build，也不会重置配置选择。</a:t>
            </a:r>
          </a:p>
          <a:p>
            <a:r>
              <a:t>日常改代码先增量构建，不必每次清理。</a:t>
            </a:r>
          </a:p>
          <a:p>
            <a:endParaRPr/>
          </a:p>
          <a:p>
            <a:r>
              <a:t># UCRT64；源码根；本节 cmake-demo 已构建，.venv 已激活。</a:t>
            </a:r>
          </a:p>
          <a:p>
            <a:r>
              <a:t>cmake --build build/learning-tools/p003/cmake-demo --target clean</a:t>
            </a:r>
          </a:p>
          <a:p>
            <a:r>
              <a:t>ls build/learning-tools/p003/cmake-demo/CMakeCache.txt</a:t>
            </a:r>
          </a:p>
          <a:p>
            <a:r>
              <a:t>cmake --build build/learning-tools/p003/cmake-demo --parallel 4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11.1.1.5 · ④ 重置时的选择</a:t>
            </a:r>
          </a:p>
          <a:p>
            <a:r>
              <a:t>重新配置：复用已有缓存，更新本次传入项并生成规则。</a:t>
            </a:r>
          </a:p>
          <a:p>
            <a:endParaRPr/>
          </a:p>
          <a:p>
            <a:r>
              <a:t>--fresh：CMake 3.24+ 重建 CMakeCache.txt 和 CMakeFiles。</a:t>
            </a:r>
          </a:p>
          <a:p>
            <a:r>
              <a:t>它不保证删除所有 Zephyr 状态，不能等同于 pristine。</a:t>
            </a:r>
          </a:p>
          <a:p>
            <a:endParaRPr/>
          </a:p>
          <a:p>
            <a:r>
              <a:t>west build 的 -p always：先清空指定构建目录，再配置构建。</a:t>
            </a:r>
          </a:p>
          <a:p>
            <a:r>
              <a:t>仅用于确认可以丢弃的输出目录，目录内手工文件也会丢失。</a:t>
            </a:r>
          </a:p>
          <a:p>
            <a:endParaRPr/>
          </a:p>
          <a:p>
            <a:r>
              <a:t>换板、生成器或工具链，优先使用新的 -B，保留旧结果。</a:t>
            </a:r>
          </a:p>
          <a:p>
            <a:r>
              <a:t>新目录没有旧缓存，必须重新提供应用与 BOARD 等输入。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官方说明：https://docs.zephyrproject.org/latest/develop/west/build-flash-debug.html#pristine-builds</a:t>
            </a:r>
          </a:p>
          <a:p>
            <a:r>
              <a:t>固定源码依据：https://github.com/zephyrproject-rtos/zephyr/blob/25c8f4a23988dd3b2cfb463613622738298c2d6c/cmake/pristine.cmake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对应正文：P011_CMake缓存与构建排错_Windows.md#cmake-cache-practice</a:t>
            </a:r>
          </a:p>
          <a:p>
            <a:r>
              <a:t>11.1.1.6 · ④ 保存参数组合</a:t>
            </a:r>
          </a:p>
          <a:p>
            <a:r>
              <a:t>先按 MD 11.1.1.6 在应用目录新建或合并 CMakeUserPresets.json。</a:t>
            </a:r>
          </a:p>
          <a:p>
            <a:r>
              <a:t>进入应用目录，选择其配置预设，再选择关联的构建预设。</a:t>
            </a:r>
          </a:p>
          <a:p>
            <a:r>
              <a:t>先核对预设内路径；编辑 JSON 后重新配置才能更新缓存。</a:t>
            </a:r>
          </a:p>
          <a:p>
            <a:r>
              <a:t>本节使用独立 cmake-presets 输出；完整 JSON 见配套正文。</a:t>
            </a:r>
          </a:p>
          <a:p>
            <a:endParaRPr/>
          </a:p>
          <a:p>
            <a:r>
              <a:t># UCRT64；.venv 已激活；本节的 learning-mps2 预设已创建。</a:t>
            </a:r>
          </a:p>
          <a:p>
            <a:r>
              <a:t>cd /g/zephyr_practice/zephyr-main/samples/hello_world</a:t>
            </a:r>
          </a:p>
          <a:p>
            <a:r>
              <a:t>cmake --list-presets</a:t>
            </a:r>
          </a:p>
          <a:p>
            <a:r>
              <a:t>cmake --preset learning-mps2</a:t>
            </a:r>
          </a:p>
          <a:p>
            <a:r>
              <a:t>cmake --build --preset learning-mps2</a:t>
            </a:r>
          </a:p>
          <a:p>
            <a:endParaRPr/>
          </a:p>
          <a:p>
            <a:r>
              <a:t>官方说明：https://cmake.org/cmake/help/latest/manual/cmake-presets.7.html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配套正文：P011_CMake缓存与构建排错_Windows.md#section-11-1-2</a:t>
            </a:r>
          </a:p>
          <a:p>
            <a:r>
              <a:t>11.1.2 · ④ 保存与组合</a:t>
            </a:r>
          </a:p>
          <a:p>
            <a:r>
              <a:t>第一次用 SDK-A 配置后，该构建目录记住相关选择。</a:t>
            </a:r>
          </a:p>
          <a:p>
            <a:r>
              <a:t>第二次只 export SDK-B，已有缓存仍可能选择 A。</a:t>
            </a:r>
          </a:p>
          <a:p>
            <a:r>
              <a:t>SDK 标量通过 zephyr_get 读取；本系列简化为缓存、环境、普通值。</a:t>
            </a:r>
          </a:p>
          <a:p>
            <a:endParaRPr/>
          </a:p>
          <a:p>
            <a:r>
              <a:t>这是具体函数的规则，不能套到所有 CMake 变量。</a:t>
            </a:r>
          </a:p>
          <a:p>
            <a:r>
              <a:t>换板或工具组合优先用新的构建目录，避免关联结果残留。</a:t>
            </a:r>
          </a:p>
          <a:p>
            <a:r>
              <a:t>不是每次出错都要重新安装 SDK 或删除工作区。</a:t>
            </a:r>
          </a:p>
          <a:p>
            <a:endParaRPr/>
          </a:p>
          <a:p>
            <a:r>
              <a:t>讲解展开：</a:t>
            </a:r>
          </a:p>
          <a:p>
            <a:r>
              <a:t>### 11.1.2\_缓存为什么能挡住新 export</a:t>
            </a:r>
          </a:p>
          <a:p>
            <a:endParaRPr/>
          </a:p>
          <a:p>
            <a:r>
              <a:t>CMake 的 `${名字}` 通常先找普通变量、再找缓存；`$ENV{名字}` 明确读进程环境。Zephyr 的辅助函数还能自行规定读取顺序。SDK 相关输入调用 `zephyr_get`；本系列普通单应用、不使用 snippets 的情况，相关标量按**缓存、环境、当前普通值**寻找已定义输入。</a:t>
            </a:r>
          </a:p>
          <a:p>
            <a:endParaRPr/>
          </a:p>
          <a:p>
            <a:r>
              <a:t>因此，第一次用 SDK-A 配置构建目录后，第二次只在终端 export SDK-B，旧缓存可能仍使 A 生效。这是同一构建目录在保留选择，不是“注册失败”。换工具组合时使用新的构建目录，可以避免关联编译器和库配置残留；不能仅修改一个缓存路径就假定全部状态同步。</a:t>
            </a:r>
          </a:p>
          <a:p>
            <a:endParaRPr/>
          </a:p>
          <a:p>
            <a:r>
              <a:t>完整函数还考虑 sysbuild 与 snippets 作用域，不能把这个简化顺序说成所有 CMake 变量的通用规则。`ZEPHYR_BASE` 有自己的包入口分支；额外模块也不同：`EXTRA_ZEPHYR_MODULES` 与兼容名 `ZEPHYR_EXTRA_MODULES` 使用 MERGE 合并来源，所以只给空 `-D` 不一定清除环境里追加的路径。P012 的恢复分支分别处理旧环境和新构建目录。依据：[Zephyr 输入读取与优先级](https://github.com/zephyrproject-rtos/zephyr/blob/25c8f4a23988dd3b2cfb463613622738298c2d6c/cmake/modules/extensions.cmake#L4088)（原件 `cmake/modules/extensions.cmake`，第 4088 行附近）；[模块输入与发现脚本调用](https://github.com/zephyrproject-rtos/zephyr/blob/25c8f4a23988dd3b2cfb463613622738298c2d6c/cmake/modules/zephyr_module.cmake#L34)（原件 `cmake/modules/zephyr_module.cmake`，第 34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id="interface-combinations"&gt;&lt;/a&gt;</a:t>
            </a:r>
          </a:p>
          <a:p>
            <a:endParaRPr/>
          </a:p>
          <a:p>
            <a:r>
              <a:t>&lt;a id="section-11-1-3"&gt;&lt;/a&gt;</a:t>
            </a:r>
          </a:p>
          <a:p>
            <a:endParaRPr/>
          </a:p>
          <a:p>
            <a:endParaRPr/>
          </a:p>
          <a:p>
            <a:r>
              <a:t>官方说明：https://cmake.org/cmake/help/latest/manual/cmake-language.7.html#variables</a:t>
            </a:r>
          </a:p>
          <a:p>
            <a:r>
              <a:t>仓库原件：https://cmake.org/cmake/help/latest/manual/cmake-language.7.html#variables</a:t>
            </a:r>
          </a:p>
          <a:p>
            <a:r>
              <a:t>实现定位：https://github.com/zephyrproject-rtos/zephyr/blob/25c8f4a23988dd3b2cfb463613622738298c2d6c/cmake/modules/extensions.cmake#L4088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配套正文：P011_CMake缓存与构建排错_Windows.md#section-11-1-2</a:t>
            </a:r>
          </a:p>
          <a:p>
            <a:r>
              <a:t>11.1.2 · ④ 保存与组合</a:t>
            </a:r>
          </a:p>
          <a:p>
            <a:r>
              <a:t>EXTRA_ZEPHYR_MODULES 使用 zephyr_get 的 MERGE 模式。</a:t>
            </a:r>
          </a:p>
          <a:p>
            <a:r>
              <a:t>它还处理兼容名 ZEPHYR_EXTRA_MODULES，并合并各来源。</a:t>
            </a:r>
          </a:p>
          <a:p>
            <a:r>
              <a:t>因此空 -D 不一定能清除环境里的额外路径。</a:t>
            </a:r>
          </a:p>
          <a:p>
            <a:endParaRPr/>
          </a:p>
          <a:p>
            <a:r>
              <a:t>排错时分别核对终端、所选预设、应用定义和构建目录。</a:t>
            </a:r>
          </a:p>
          <a:p>
            <a:r>
              <a:t>ZEPHYR_BASE 也有自己的包入口分支。</a:t>
            </a:r>
          </a:p>
          <a:p>
            <a:r>
              <a:t>接口说明必须指向具体读取者，不能只背一条“通用优先级”。</a:t>
            </a:r>
          </a:p>
          <a:p>
            <a:endParaRPr/>
          </a:p>
          <a:p>
            <a:r>
              <a:t>讲解展开：</a:t>
            </a:r>
          </a:p>
          <a:p>
            <a:r>
              <a:t>### 11.1.2\_缓存为什么能挡住新 export</a:t>
            </a:r>
          </a:p>
          <a:p>
            <a:endParaRPr/>
          </a:p>
          <a:p>
            <a:r>
              <a:t>CMake 的 `${名字}` 通常先找普通变量、再找缓存；`$ENV{名字}` 明确读进程环境。Zephyr 的辅助函数还能自行规定读取顺序。SDK 相关输入调用 `zephyr_get`；本系列普通单应用、不使用 snippets 的情况，相关标量按**缓存、环境、当前普通值**寻找已定义输入。</a:t>
            </a:r>
          </a:p>
          <a:p>
            <a:endParaRPr/>
          </a:p>
          <a:p>
            <a:r>
              <a:t>因此，第一次用 SDK-A 配置构建目录后，第二次只在终端 export SDK-B，旧缓存可能仍使 A 生效。这是同一构建目录在保留选择，不是“注册失败”。换工具组合时使用新的构建目录，可以避免关联编译器和库配置残留；不能仅修改一个缓存路径就假定全部状态同步。</a:t>
            </a:r>
          </a:p>
          <a:p>
            <a:endParaRPr/>
          </a:p>
          <a:p>
            <a:r>
              <a:t>完整函数还考虑 sysbuild 与 snippets 作用域，不能把这个简化顺序说成所有 CMake 变量的通用规则。`ZEPHYR_BASE` 有自己的包入口分支；额外模块也不同：`EXTRA_ZEPHYR_MODULES` 与兼容名 `ZEPHYR_EXTRA_MODULES` 使用 MERGE 合并来源，所以只给空 `-D` 不一定清除环境里追加的路径。P012 的恢复分支分别处理旧环境和新构建目录。依据：[Zephyr 输入读取与优先级](https://github.com/zephyrproject-rtos/zephyr/blob/25c8f4a23988dd3b2cfb463613622738298c2d6c/cmake/modules/extensions.cmake#L4088)（原件 `cmake/modules/extensions.cmake`，第 4088 行附近）；[模块输入与发现脚本调用](https://github.com/zephyrproject-rtos/zephyr/blob/25c8f4a23988dd3b2cfb463613622738298c2d6c/cmake/modules/zephyr_module.cmake#L34)（原件 `cmake/modules/zephyr_module.cmake`，第 34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id="interface-combinations"&gt;&lt;/a&gt;</a:t>
            </a:r>
          </a:p>
          <a:p>
            <a:endParaRPr/>
          </a:p>
          <a:p>
            <a:r>
              <a:t>&lt;a id="section-11-1-3"&gt;&lt;/a&gt;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配套正文：P011_CMake缓存与构建排错_Windows.md#section-11-1-3</a:t>
            </a:r>
          </a:p>
          <a:p>
            <a:r>
              <a:t>11.1.3 · ④ 保存与组合</a:t>
            </a:r>
          </a:p>
          <a:p>
            <a:r>
              <a:t>换应用代码：修改目标源码；换功能：Kconfig 配置片段。</a:t>
            </a:r>
          </a:p>
          <a:p>
            <a:r>
              <a:t>换硬件描述：板 / SoC / overlay；新增板目录：相应搜索根。</a:t>
            </a:r>
          </a:p>
          <a:p>
            <a:r>
              <a:t>固定 SDK：约束包位置；换独立工具：选择类型与前缀。</a:t>
            </a:r>
          </a:p>
          <a:p>
            <a:r>
              <a:t>更换 HAL：先核对芯片与适配，再取得源码、追加模块。</a:t>
            </a:r>
          </a:p>
          <a:p>
            <a:endParaRPr/>
          </a:p>
          <a:p>
            <a:r>
              <a:t>官方板的正常组合可以保留 SDK 默认发现与 west 模块。</a:t>
            </a:r>
          </a:p>
          <a:p>
            <a:r>
              <a:t>每增加一个显式参数，都应能解释它改变了哪个对象。</a:t>
            </a:r>
          </a:p>
          <a:p>
            <a:endParaRPr/>
          </a:p>
          <a:p>
            <a:r>
              <a:t>讲解展开：</a:t>
            </a:r>
          </a:p>
          <a:p>
            <a:r>
              <a:t>### 11.1.3\_按要改变的对象选择接口</a:t>
            </a:r>
          </a:p>
          <a:p>
            <a:endParaRPr/>
          </a:p>
          <a:p>
            <a:r>
              <a:t>| 本次要改变什么 | 使用或保留的接口 | 不应误做的事情 |</a:t>
            </a:r>
          </a:p>
          <a:p>
            <a:r>
              <a:t>| --- | --- | --- |</a:t>
            </a:r>
          </a:p>
          <a:p>
            <a:r>
              <a:t>| 编译已支持的官方板 | 选择应用和 BOARD，默认 SDK 与 west 模块可继续使用 | 为了表示“用 Zephyr”重复设置默认类型 |</a:t>
            </a:r>
          </a:p>
          <a:p>
            <a:r>
              <a:t>| 多套 SDK 固定一套 | 按需固定 SDK 根 | 把 SDK 根填成 TOOLCHAIN_ROOT |</a:t>
            </a:r>
          </a:p>
          <a:p>
            <a:r>
              <a:t>| 改用独立 GNU 编译器组件 | 选择 cross-compile 与程序前缀，核对目标库 | 把独立组件称作 Minimal SDK |</a:t>
            </a:r>
          </a:p>
          <a:p>
            <a:r>
              <a:t>| 加一个 HAL 项目 | 下载后通过追加模块接口提供根路径 | 替换整份默认模块列表或直接伪造 MODULE_DIR |</a:t>
            </a:r>
          </a:p>
          <a:p>
            <a:r>
              <a:t>| 增加树外板/SoC | 提供相应搜索根或模块 settings，并实现硬件文件 | 只换 BOARD 名称就宣称硬件存在 |</a:t>
            </a:r>
          </a:p>
          <a:p>
            <a:r>
              <a:t>| 改应用功能或硬件属性 | 分别提供 Kconfig 片段或 overlay | 把 CONF_FILE 当布尔开关，或把 overlay 当 CMake 脚本 |</a:t>
            </a:r>
          </a:p>
          <a:p>
            <a:r>
              <a:t>| 给库增加一个实现文件 | 执行到该 CMake 入口后，用目标/库函数加源码 | 只把文件复制进目录便期待自动构建 |</a:t>
            </a:r>
          </a:p>
          <a:p>
            <a:endParaRPr/>
          </a:p>
          <a:p>
            <a:r>
              <a:t>这张表的作用是让输入与工作相对应。正常选择一个已支持的 Cortex-M 板，通常不涉及自定义工具链规则；新增一个源码模块也不要求重写应用加载 Zephyr 的包入口。</a:t>
            </a:r>
          </a:p>
          <a:p>
            <a:endParaRPr/>
          </a:p>
          <a:p>
            <a:r>
              <a:t>&lt;a id="section-11-1-4"&gt;&lt;/a&gt;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配套正文：P011_CMake缓存与构建排错_Windows.md#section-11-1-4</a:t>
            </a:r>
          </a:p>
          <a:p>
            <a:r>
              <a:t>11.1.4 · ④ 保存与组合</a:t>
            </a:r>
          </a:p>
          <a:p>
            <a:r>
              <a:t>BOARD_ROOT / SOC_ROOT / DTS_ROOT：硬件描述的搜索范围。</a:t>
            </a:r>
          </a:p>
          <a:p>
            <a:r>
              <a:t>MODULE_EXT_ROOT：模块外置接入文件所在位置。</a:t>
            </a:r>
          </a:p>
          <a:p>
            <a:r>
              <a:t>TOOLCHAIN_ROOT：工具链接入规则所在位置。</a:t>
            </a:r>
          </a:p>
          <a:p>
            <a:endParaRPr/>
          </a:p>
          <a:p>
            <a:r>
              <a:t>snippets 组合命名配置片段；sysbuild 协调多个镜像。</a:t>
            </a:r>
          </a:p>
          <a:p>
            <a:r>
              <a:t>各镜像仍有自己的配置和构建产物。</a:t>
            </a:r>
          </a:p>
          <a:p>
            <a:r>
              <a:t>普通单应用先走本章主线，需要时再进入相应扩展文档。</a:t>
            </a:r>
          </a:p>
          <a:p>
            <a:endParaRPr/>
          </a:p>
          <a:p>
            <a:r>
              <a:t>讲解展开：</a:t>
            </a:r>
          </a:p>
          <a:p>
            <a:r>
              <a:t>### 11.1.4\_更大工程还有哪些扩展入口</a:t>
            </a:r>
          </a:p>
          <a:p>
            <a:endParaRPr/>
          </a:p>
          <a:p>
            <a:r>
              <a:t>`BOARD_ROOT`、`SOC_ROOT`、`DTS_ROOT` 扩展硬件描述查找范围；`MODULE_EXT_ROOT` 用于模块接入文件放在外部的位置；`TOOLCHAIN_ROOT` 扩展工具链接入规则。它们虽然都带 ROOT，所寻找的目录结构和读取者不同。</a:t>
            </a:r>
          </a:p>
          <a:p>
            <a:endParaRPr/>
          </a:p>
          <a:p>
            <a:r>
              <a:t>snippets 用于给构建添加命名的配置片段；sysbuild 在外层协调多个镜像，各镜像仍有自己的 Zephyr 配置与产物。初学单应用时先理解本章主线，遇到多镜像需求再进入 sysbuild，而不是在普通命令里预先堆上这些变量。相关官方说明已在 11.3 提供直接入口。依据：[外部项目模块说明](https://docs.zephyrproject.org/latest/develop/modules.html)（原件 `doc/develop/modules.rst`，第 3 行附近）；[树外工具链设计说明](https://docs.zephyrproject.org/latest/develop/toolchains/custom_cmake.html)（原件 `doc/develop/toolchains/custom_cmake.rst`，第 3 行附近）；[配置片段组合入口](https://docs.zephyrproject.org/latest/build/snippets/index.html)（原件 `doc/build/snippets/index.rst`，第 3 行附近）；[多镜像构建入口](https://docs.zephyrproject.org/latest/build/sysbuild/index.html)（原件 `doc/build/sysbuild/index.rst`，第 3 行附近）。</a:t>
            </a:r>
          </a:p>
          <a:p>
            <a:endParaRPr/>
          </a:p>
          <a:p>
            <a:r>
              <a:t>&lt;a id="section-11-2"&gt;&lt;/a&gt;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官方说明：https://docs.zephyrproject.org/latest/build/sysbuild/index.html</a:t>
            </a:r>
          </a:p>
          <a:p>
            <a:r>
              <a:t>仓库原件：https://github.com/zephyrproject-rtos/zephyr/blob/25c8f4a23988dd3b2cfb463613622738298c2d6c/doc/build/sysbuild/index.rst#L3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配套正文：P011_CMake缓存与构建排错_Windows.md#section-11-2-1</a:t>
            </a:r>
          </a:p>
          <a:p>
            <a:r>
              <a:t>11.2.1 · ⑤ 核对结果</a:t>
            </a:r>
          </a:p>
          <a:p>
            <a:r>
              <a:t>配置日志、CMakeCache.txt：入口和保存的选择。</a:t>
            </a:r>
          </a:p>
          <a:p>
            <a:r>
              <a:t>zephyr/.config：Kconfig 的有效功能。</a:t>
            </a:r>
          </a:p>
          <a:p>
            <a:r>
              <a:t>zephyr/zephyr.dts：合并后的硬件描述。</a:t>
            </a:r>
          </a:p>
          <a:p>
            <a:r>
              <a:t>zephyr_modules.txt：已识别模块根和接入位置。</a:t>
            </a:r>
          </a:p>
          <a:p>
            <a:r>
              <a:t>compile_commands.json：实际编译器、宏、头文件和 CPU 参数。</a:t>
            </a:r>
          </a:p>
          <a:p>
            <a:r>
              <a:t>zephyr.elf：最终构建产物。</a:t>
            </a:r>
          </a:p>
          <a:p>
            <a:endParaRPr/>
          </a:p>
          <a:p>
            <a:r>
              <a:t>这些文件在相应阶段生成，不由读者预先手建。</a:t>
            </a:r>
          </a:p>
          <a:p>
            <a:endParaRPr/>
          </a:p>
          <a:p>
            <a:r>
              <a:t>讲解展开：</a:t>
            </a:r>
          </a:p>
          <a:p>
            <a:r>
              <a:t>### 11.2.1\_按阶段读产物</a:t>
            </a:r>
          </a:p>
          <a:p>
            <a:endParaRPr/>
          </a:p>
          <a:p>
            <a:r>
              <a:t>源码中的脚本说明机制，实际构建的产物说明本次选择。它们需要互相对应。</a:t>
            </a:r>
          </a:p>
          <a:p>
            <a:endParaRPr/>
          </a:p>
          <a:p>
            <a:r>
              <a:t>| 要回答的问题 | 在所选构建目录里看什么 | 能证明到哪一步 |</a:t>
            </a:r>
          </a:p>
          <a:p>
            <a:r>
              <a:t>| --- | --- | --- |</a:t>
            </a:r>
          </a:p>
          <a:p>
            <a:r>
              <a:t>| 选中了哪个应用、源码、板和 SDK | 配置日志及 `CMakeCache.txt` | 配置采用的入口与保存值；不代表实板运行成功 |</a:t>
            </a:r>
          </a:p>
          <a:p>
            <a:r>
              <a:t>| 功能最终启用了什么 | `zephyr/.config` | Kconfig 计算结果 |</a:t>
            </a:r>
          </a:p>
          <a:p>
            <a:r>
              <a:t>| 硬件描述合并后是什么 | `zephyr/zephyr.dts` | DTS/overlay 处理结果 |</a:t>
            </a:r>
          </a:p>
          <a:p>
            <a:r>
              <a:t>| CMake 识别了哪些模块 | `zephyr_modules.txt` | 模块根与 CMake 入口记录；不代表每个文件都编译 |</a:t>
            </a:r>
          </a:p>
          <a:p>
            <a:r>
              <a:t>| 某个 C 文件实际怎么编译 | 启用导出后的 `compile_commands.json` | 编译器、CPU 参数、宏与头文件目录 |</a:t>
            </a:r>
          </a:p>
          <a:p>
            <a:r>
              <a:t>| 最终有没有生成固件 | `zephyr/zephyr.elf` 和构建日志 | 构建完成；运行和烧录另验 |</a:t>
            </a:r>
          </a:p>
          <a:p>
            <a:endParaRPr/>
          </a:p>
          <a:p>
            <a:r>
              <a:t>这些都是**工具生成文件**，应在成功执行对应阶段后出现；第一次只读 P008 时没有它们是正常的，不需要提前手建。P012 的官方 MPS2 实验负责生成并检查它们。</a:t>
            </a:r>
          </a:p>
          <a:p>
            <a:endParaRPr/>
          </a:p>
          <a:p>
            <a:r>
              <a:t>&lt;a id="section-11-2-2"&gt;&lt;/a&gt;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配套正文：P011_CMake缓存与构建排错_Windows.md#section-11-2-3</a:t>
            </a:r>
          </a:p>
          <a:p>
            <a:r>
              <a:t>11.2.3 · ⑤ 核对结果</a:t>
            </a:r>
          </a:p>
          <a:p>
            <a:r>
              <a:t>HAL 缺头文件：候选是否包含它，入口是否执行，条件是否启用？</a:t>
            </a:r>
          </a:p>
          <a:p>
            <a:r>
              <a:t>SDK 仍是旧版：环境、预设或构建缓存是否固定了旧位置？</a:t>
            </a:r>
          </a:p>
          <a:p>
            <a:r>
              <a:t>换芯片不能构建：板 / SoC / 驱动是否已实现并进入搜索范围？</a:t>
            </a:r>
          </a:p>
          <a:p>
            <a:endParaRPr/>
          </a:p>
          <a:p>
            <a:r>
              <a:t>每个问题都回到对应输入、读取者和产物。</a:t>
            </a:r>
          </a:p>
          <a:p>
            <a:r>
              <a:t>包存在、模块发现、文件参与编译、固件运行是不同证据。</a:t>
            </a:r>
          </a:p>
          <a:p>
            <a:r>
              <a:t>本册先核对 P008 的 cmake-demo，P012 再做新增板。</a:t>
            </a:r>
          </a:p>
          <a:p>
            <a:endParaRPr/>
          </a:p>
          <a:p>
            <a:r>
              <a:t>讲解展开：</a:t>
            </a:r>
          </a:p>
          <a:p>
            <a:r>
              <a:t>### 11.2.3\_三个问题检查是否理解模型</a:t>
            </a:r>
          </a:p>
          <a:p>
            <a:endParaRPr/>
          </a:p>
          <a:p>
            <a:r>
              <a:t>**下载了一个 HAL，目录里有 module.yml，为什么编译器仍找不到头文件？** 先查项目是否成为模块候选，再查 zephyr_modules.txt、CMake 入口是否执行、配置条件与头文件目录设置。单凭下载成功无法跳过这些层。</a:t>
            </a:r>
          </a:p>
          <a:p>
            <a:endParaRPr/>
          </a:p>
          <a:p>
            <a:r>
              <a:t>**SDK 已注册，为什么还会用旧 SDK？** 注册提供包搜索候选；旧环境、所选预设或构建缓存可能明确约束了另一套位置。先看实际配置输入和保存范围，不要反复 reinstall 或为每个终端重新注册。</a:t>
            </a:r>
          </a:p>
          <a:p>
            <a:endParaRPr/>
          </a:p>
          <a:p>
            <a:r>
              <a:t>**从 MPS2 换到 HC32，为什么不能只改工具链变量？** 工具链规则负责如何编译；板/SoC、设备树、Kconfig 和驱动负责该芯片上的硬件与功能。后者需要按 P012 新增并接入，ARM 编译器通常可以复用。</a:t>
            </a:r>
          </a:p>
          <a:p>
            <a:endParaRPr/>
          </a:p>
          <a:p>
            <a:r>
              <a:t>&lt;a id="section-11-3"&gt;&lt;/a&gt;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配套正文：P011_CMake缓存与构建排错_Windows.md#section-11-3-1</a:t>
            </a:r>
          </a:p>
          <a:p>
            <a:r>
              <a:t>11.3.1 · ⑤ 依据入口</a:t>
            </a:r>
          </a:p>
          <a:p>
            <a:r>
              <a:t>Build and Configuration Systems → Build System (CMake)：阶段模型。</a:t>
            </a:r>
          </a:p>
          <a:p>
            <a:r>
              <a:t>同组的 CMake Reference：模块、目标属性与变量分类。</a:t>
            </a:r>
          </a:p>
          <a:p>
            <a:r>
              <a:t>Developing with Zephyr → Application Development：应用结构。</a:t>
            </a:r>
          </a:p>
          <a:p>
            <a:r>
              <a:t>Modules (External projects)：module.yml 与源码项目接入。</a:t>
            </a:r>
          </a:p>
          <a:p>
            <a:r>
              <a:t>Toolchains：SDK、独立编译器和自定义规则。</a:t>
            </a:r>
          </a:p>
          <a:p>
            <a:endParaRPr/>
          </a:p>
          <a:p>
            <a:r>
              <a:t>前面的操作已说明输入、读取者和产物；这些链接用于复核规则。</a:t>
            </a:r>
          </a:p>
          <a:p>
            <a:endParaRPr/>
          </a:p>
          <a:p>
            <a:r>
              <a:t>讲解展开：</a:t>
            </a:r>
          </a:p>
          <a:p>
            <a:r>
              <a:t>### 11.3.1\_从网页到仓库原件的路线</a:t>
            </a:r>
          </a:p>
          <a:p>
            <a:endParaRPr/>
          </a:p>
          <a:p>
            <a:r>
              <a:t>在 Zephyr 文档网站进入 **Build and Configuration Systems**，先看 **Build System (CMake)** 的阶段图，再看 **CMake Reference** 的模块、目标属性与变量分类。需要理解应用文件时进入 **Developing with Zephyr → Application Development**；源码模块进入 **Modules (External projects)**；工具链进入 **Toolchains**。下面给出直接链接，不要求先全仓库搜索。</a:t>
            </a:r>
          </a:p>
          <a:p>
            <a:endParaRPr/>
          </a:p>
          <a:p>
            <a:r>
              <a:t>| 当前想理解什么 | 直接阅读的官方页面与仓库原件 | 本章位置 |</a:t>
            </a:r>
          </a:p>
          <a:p>
            <a:r>
              <a:t>| --- | --- | --- |</a:t>
            </a:r>
          </a:p>
          <a:p>
            <a:r>
              <a:t>| CMake、Ninja、配置和构建阶段 | [构建阶段说明](https://docs.zephyrproject.org/latest/build/cmake/index.html#build-and-configuration-phases)（原件 `doc/build/cmake/index.rst`，第 52 行附近） | 7.1.1—P008 8.2 |</a:t>
            </a:r>
          </a:p>
          <a:p>
            <a:r>
              <a:t>| 应用入口怎样组织 | [应用开发说明](https://docs.zephyrproject.org/latest/develop/application/index.html)（原件 `doc/develop/application/index.rst`，第 3 行附近） | 7.1.3 |</a:t>
            </a:r>
          </a:p>
          <a:p>
            <a:r>
              <a:t>| 包入口选择哪份源码 | [Zephyr 包发现说明](https://docs.zephyrproject.org/latest/build/zephyr_cmake_package.html)（原件 `doc/build/zephyr_cmake_package.rst`，第 3 行附近） | 7.1.4、9.1.2 |</a:t>
            </a:r>
          </a:p>
          <a:p>
            <a:r>
              <a:t>| 命令、变量、模块的分类说明 | [CMake Reference 分类入口](https://docs.zephyrproject.org/latest/build/cmake-ref/index.html)（原件 `doc/build/cmake-ref/index.rst`，第 3 行附近） | 9.1、11.3.2 |</a:t>
            </a:r>
          </a:p>
          <a:p>
            <a:r>
              <a:t>| 板目标与配置片段输入 | [BOARD 变量参考](https://docs.zephyrproject.org/latest/build/cmake-ref/variable/BOARD.html)（原件 `doc/build/cmake-ref/variable/BOARD.rst`，第 4 行附近）；[CONF_FILE 变量参考](https://docs.zephyrproject.org/latest/build/cmake-ref/variable/CONF_FILE.html)（原件 `doc/build/cmake-ref/variable/CONF_FILE.rst`，第 4 行附近） | 9.1.3—9.1.4 |</a:t>
            </a:r>
          </a:p>
          <a:p>
            <a:r>
              <a:t>| SDK、独立编译器与自定义规则 | [SDK 文档](https://docs.zephyrproject.org/latest/develop/toolchains/zephyr_sdk.html)（原件 `doc/develop/toolchains/zephyr_sdk.rst`，第 3 行附近）；[独立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 | 9.2 |</a:t>
            </a:r>
          </a:p>
          <a:p>
            <a:r>
              <a:t>| module.yml 与外部源码接入 | [外部项目模块说明](https://docs.zephyrproject.org/latest/develop/modules.html)（原件 `doc/develop/modules.rst`，第 3 行附近） | 9.3 |</a:t>
            </a:r>
          </a:p>
          <a:p>
            <a:r>
              <a:t>| west build 的职责 | [west 构建命令说明](https://docs.zephyrproject.org/latest/develop/west/build-flash-debug.html)（原件 `doc/develop/west/build-flash-debug.rst`，第 3 行附近） | 7.1.1 |</a:t>
            </a:r>
          </a:p>
          <a:p>
            <a:r>
              <a:t>| 多镜像与配置组合 | [多镜像构建入口](https://docs.zephyrproject.org/latest/build/sysbuild/index.html)（原件 `doc/build/sysbuild/index.rst`，第 3 行附近）；[配置片段组合入口](https://docs.zephyrproject.org/latest/build/snippets/index.html)（原件 `doc/build/snippets/index.rst`，第 3 行附近） | 11.1.4 |</a:t>
            </a:r>
          </a:p>
          <a:p>
            <a:endParaRPr/>
          </a:p>
          <a:p>
            <a:r>
              <a:t>&lt;a id="section-11-3-2"&gt;&lt;/a&gt;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实现定位：https://github.com/zephyrproject-rtos/zephyr/blob/25c8f4a23988dd3b2cfb463613622738298c2d6c/doc/develop/application/index.rst#L3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配套正文：P011_CMake缓存与构建排错_Windows.md#section-11-3-2</a:t>
            </a:r>
          </a:p>
          <a:p>
            <a:r>
              <a:t>11.3.2 · ⑤ 依据入口</a:t>
            </a:r>
          </a:p>
          <a:p>
            <a:r>
              <a:t>doc/build/cmake-ref/module/extensions.rst 使用 cmake-module 指令。</a:t>
            </a:r>
          </a:p>
          <a:p>
            <a:r>
              <a:t>它从 extensions.cmake 的 .rst 注释提取接口说明。</a:t>
            </a:r>
          </a:p>
          <a:p>
            <a:r>
              <a:t>注释解释参数与行为，下面紧接实际函数或宏实现。</a:t>
            </a:r>
          </a:p>
          <a:p>
            <a:endParaRPr/>
          </a:p>
          <a:p>
            <a:r>
              <a:t>变量页会继续指向读取模块，如 CONF_FILE → configuration_files。</a:t>
            </a:r>
          </a:p>
          <a:p>
            <a:r>
              <a:t>例如 CONF_FILE 决定应用配置片段，由 configuration_files 读取。</a:t>
            </a:r>
          </a:p>
          <a:p>
            <a:r>
              <a:t>换配置片段后，核对本次 .config 中的功能值。</a:t>
            </a:r>
          </a:p>
          <a:p>
            <a:endParaRPr/>
          </a:p>
          <a:p>
            <a:r>
              <a:t>讲解展开：</a:t>
            </a:r>
          </a:p>
          <a:p>
            <a:r>
              <a:t>### 11.3.2\_有些接口文档为什么藏在 CMake 文件的注释里</a:t>
            </a:r>
          </a:p>
          <a:p>
            <a:endParaRPr/>
          </a:p>
          <a:p>
            <a:r>
              <a:t>`doc/build/cmake-ref/module/extensions.rst` 很短，其中的 `cmake-module` 指令从 `cmake/modules/extensions.cmake` 提取文档。后者的 `.rst` 注释描述函数的参数、返回值或行为，随后就是实现。因此短 `.rst` 不代表接口没有文档，也不应让读者盲目搜索变量名。先按 Reference 分类找到函数所属模块，再读网页说明；需要核查边界时，直接打开本章给出的固定实现链接。</a:t>
            </a:r>
          </a:p>
          <a:p>
            <a:endParaRPr/>
          </a:p>
          <a:p>
            <a:r>
              <a:t>变量页如 `doc/build/cmake-ref/variable/CONF_FILE.rst` 会把读取者指向 `configuration_files` 模块。下一步应读该模块的说明与实现，而不是把 CONF_FILE 当成 CMake 程序自身内置的参数。SDK 接口中一部分行为在独立 SDK 安装包，须到已标注的安装根查验。</a:t>
            </a:r>
          </a:p>
          <a:p>
            <a:endParaRPr/>
          </a:p>
          <a:p>
            <a:r>
              <a:t>本章的实现定位清单如下。每项链接固定到本章源码提交；SDK 两项明确指向安装包文件，发行链接用于取得同版原件。</a:t>
            </a:r>
          </a:p>
          <a:p>
            <a:endParaRPr/>
          </a:p>
          <a:p>
            <a:r>
              <a:t>- [构建阶段说明](https://github.com/zephyrproject-rtos/zephyr/blob/25c8f4a23988dd3b2cfb463613622738298c2d6c/doc/build/cmake/index.rst#L52)：`doc/build/cmake/index.rst`，第 52 行附近。</a:t>
            </a:r>
          </a:p>
          <a:p>
            <a:r>
              <a:t>- [扩展函数参考页](https://github.com/zephyrproject-rtos/zephyr/blob/25c8f4a23988dd3b2cfb463613622738298c2d6c/doc/build/cmake-ref/module/extensions.rst#L1)：`doc/build/cmake-ref/module/extensions.rst`，第 1 行附近。</a:t>
            </a:r>
          </a:p>
          <a:p>
            <a:r>
              <a:t>- [Zephyr 包发现说明](https://github.com/zephyrproject-rtos/zephyr/blob/25c8f4a23988dd3b2cfb463613622738298c2d6c/doc/build/zephyr_cmake_package.rst#L3)：`doc/build/zephyr_cmake_package.rst`，第 3 行附近。</a:t>
            </a:r>
          </a:p>
          <a:p>
            <a:r>
              <a:t>- [hello_world 原有入口](https://github.com/zephyrproject-rtos/zephyr/blob/25c8f4a23988dd3b2cfb463613622738298c2d6c/samples/hello_world/CMakeLists.txt#L3)：`samples/hello_world/CMakeLists.txt`，第 3 行附近。</a:t>
            </a:r>
          </a:p>
          <a:p>
            <a:r>
              <a:t>- [包入口 include_boilerplate](https://github.com/zephyrproject-rtos/zephyr/blob/25c8f4a23988dd3b2cfb463613622738298c2d6c/share/zephyr-package/cmake/ZephyrConfig.cmake#L28)：`share/zephyr-package/cmake/ZephyrConfig.cmake`，第 28 行附近。</a:t>
            </a:r>
          </a:p>
          <a:p>
            <a:r>
              <a:t>- [默认初始化顺序](https://github.com/zephyrproject-rtos/zephyr/blob/25c8f4a23988dd3b2cfb463613622738298c2d6c/cmake/modules/zephyr_default.cmake#L71)：`cmake/modules/zephyr_default.cmake`，第 71 行附近。</a:t>
            </a:r>
          </a:p>
          <a:p>
            <a:r>
              <a:t>- [app 目标创建处](https://github.com/zephyrproject-rtos/zephyr/blob/25c8f4a23988dd3b2cfb463613622738298c2d6c/cmake/modules/kernel.cmake#L236)：`cmake/modules/kernel.cmake`，第 236 行附近。</a:t>
            </a:r>
          </a:p>
          <a:p>
            <a:r>
              <a:t>- [外部模块 CMake 入口加载处](https://github.com/zephyrproject-rtos/zephyr/blob/25c8f4a23988dd3b2cfb463613622738298c2d6c/CMakeLists.txt#L778)：`CMakeLists.txt`，第 778 行附近。</a:t>
            </a:r>
          </a:p>
          <a:p>
            <a:r>
              <a:t>- [板选择的说明与实现](https://github.com/zephyrproject-rtos/zephyr/blob/25c8f4a23988dd3b2cfb463613622738298c2d6c/cmake/modules/boards.cmake#L6)：`cmake/modules/boards.cmake`，第 6 行附近。</a:t>
            </a:r>
          </a:p>
          <a:p>
            <a:r>
              <a:t>- [BOARD 变量参考](https://github.com/zephyrproject-rtos/zephyr/blob/25c8f4a23988dd3b2cfb463613622738298c2d6c/doc/build/cmake-ref/variable/BOARD.rst#L4)：`doc/build/cmake-ref/variable/BOARD.rst`，第 4 行附近。</a:t>
            </a:r>
          </a:p>
          <a:p>
            <a:r>
              <a:t>- [BOARD_ROOT 变量参考](https://github.com/zephyrproject-rtos/zephyr/blob/25c8f4a23988dd3b2cfb463613622738298c2d6c/doc/build/cmake-ref/variable/BOARD_ROOT.rst#L4)：`doc/build/cmake-ref/variable/BOARD_ROOT.rst`，第 4 行附近。</a:t>
            </a:r>
          </a:p>
          <a:p>
            <a:r>
              <a:t>- [配置片段的选取](https://github.com/zephyrproject-rtos/zephyr/blob/25c8f4a23988dd3b2cfb463613622738298c2d6c/cmake/modules/configuration_files.cmake#L43)：`cmake/modules/configuration_files.cmake`，第 43 行附近。</a:t>
            </a:r>
          </a:p>
          <a:p>
            <a:r>
              <a:t>- [CONF_FILE 变量参考](https://github.com/zephyrproject-rtos/zephyr/blob/25c8f4a23988dd3b2cfb463613622738298c2d6c/doc/build/cmake-ref/variable/CONF_FILE.rst#L4)：`doc/build/cmake-ref/variable/CONF_FILE.rst`，第 4 行附近。</a:t>
            </a:r>
          </a:p>
          <a:p>
            <a:r>
              <a:t>- [设备树配置入口](https://github.com/zephyrproject-rtos/zephyr/blob/25c8f4a23988dd3b2cfb463613622738298c2d6c/cmake/modules/dts.cmake#L9)：`cmake/modules/dts.cmake`，第 9 行附近。</a:t>
            </a:r>
          </a:p>
          <a:p>
            <a:r>
              <a:t>- [Kconfig 脚本调用处](https://github.com/zephyrproject-rtos/zephyr/blob/25c8f4a23988dd3b2cfb463613622738298c2d6c/cmake/modules/kconfig.cmake#L473)：`cmake/modules/kconfig.cmake`，第 473 行附近。</a:t>
            </a:r>
          </a:p>
          <a:p>
            <a:r>
              <a:t>- [SDK 请求与通用工具规则](https://github.com/zephyrproject-rtos/zephyr/blob/25c8f4a23988dd3b2cfb463613622738298c2d6c/cmake/modules/FindHostTools.cmake#L51)：`cmake/modules/FindHostTools.cmake`，第 51 行附近。</a:t>
            </a:r>
          </a:p>
          <a:p>
            <a:r>
              <a:t>- [SDK 输入与默认查找分支](https://github.com/zephyrproject-rtos/zephyr/blob/25c8f4a23988dd3b2cfb463613622738298c2d6c/cmake/modules/FindZephyr-sdk.cmake#L44)：`cmake/modules/FindZephyr-sdk.cmake`，第 44 行附近。</a:t>
            </a:r>
          </a:p>
          <a:p>
            <a:r>
              <a:t>- [目标工具链规则](https://github.com/zephyrproject-rtos/zephyr/blob/25c8f4a23988dd3b2cfb463613622738298c2d6c/cmake/modules/FindTargetTools.cmake#L30)：`cmake/modules/FindTargetTools.cmake`，第 30 行附近。</a:t>
            </a:r>
          </a:p>
          <a:p>
            <a:r>
              <a:t>- [树外工具链设计说明](https://github.com/zephyrproject-rtos/zephyr/blob/25c8f4a23988dd3b2cfb463613622738298c2d6c/doc/develop/toolchains/custom_cmake.rst#L3)：`doc/develop/toolchains/custom_cmake.rst`，第 3 行附近。</a:t>
            </a:r>
          </a:p>
          <a:p>
            <a:r>
              <a:t>- [ARM CPU 参数实现](https://github.com/zephyrproject-rtos/zephyr/blob/25c8f4a23988dd3b2cfb463613622738298c2d6c/cmake/compiler/gcc/target_arm.cmake#L5)：`cmake/compiler/gcc/target_arm.cmake`，第 5 行附近。</a:t>
            </a:r>
          </a:p>
          <a:p>
            <a:r>
              <a:t>- [模块输入与发现脚本调用](https://github.com/zephyrproject-rtos/zephyr/blob/25c8f4a23988dd3b2cfb463613622738298c2d6c/cmake/modules/zephyr_module.cmake#L34)：`cmake/modules/zephyr_module.cmake`，第 34 行附近。</a:t>
            </a:r>
          </a:p>
          <a:p>
            <a:r>
              <a:t>- [派生模块目录变量创建处](https://github.com/zephyrproject-rtos/zephyr/blob/25c8f4a23988dd3b2cfb463613622738298c2d6c/cmake/modules/zephyr_module.cmake#L141)：`cmake/modules/zephyr_module.cmake`，第 141 行附近。</a:t>
            </a:r>
          </a:p>
          <a:p>
            <a:r>
              <a:t>- [候选项目解析实现](https://github.com/zephyrproject-rtos/zephyr/blob/25c8f4a23988dd3b2cfb463613622738298c2d6c/scripts/zephyr_module.py#L627)：`scripts/zephyr_module.py`，第 627 行附近。</a:t>
            </a:r>
          </a:p>
          <a:p>
            <a:r>
              <a:t>- [外置模块接入文件选择](https://github.com/zephyrproject-rtos/zephyr/blob/25c8f4a23988dd3b2cfb463613622738298c2d6c/modules/modules.cmake#L5)：`modules/modules.cmake`，第 5 行附近。</a:t>
            </a:r>
          </a:p>
          <a:p>
            <a:r>
              <a:t>- [CMSIS 头文件接入实现](https://github.com/zephyrproject-rtos/zephyr/blob/25c8f4a23988dd3b2cfb463613622738298c2d6c/modules/cmsis_6/CMakeLists.txt#L4)：`modules/cmsis_6/CMakeLists.txt`，第 4 行附近。</a:t>
            </a:r>
          </a:p>
          <a:p>
            <a:r>
              <a:t>- [Zephyr 库创建接口](https://github.com/zephyrproject-rtos/zephyr/blob/25c8f4a23988dd3b2cfb463613622738298c2d6c/cmake/modules/extensions.cmake#L682)：`cmake/modules/extensions.cmake`，第 682 行附近。</a:t>
            </a:r>
          </a:p>
          <a:p>
            <a:r>
              <a:t>- [Zephyr 库源码接口](https://github.com/zephyrproject-rtos/zephyr/blob/25c8f4a23988dd3b2cfb463613622738298c2d6c/cmake/modules/extensions.cmake#L769)：`cmake/modules/extensions.cmake`，第 769 行附近。</a:t>
            </a:r>
          </a:p>
          <a:p>
            <a:r>
              <a:t>- [按配置加入源码](https://github.com/zephyrproject-rtos/zephyr/blob/25c8f4a23988dd3b2cfb463613622738298c2d6c/cmake/modules/extensions.cmake#L2831)：`cmake/modules/extensions.cmake`，第 2831 行附近。</a:t>
            </a:r>
          </a:p>
          <a:p>
            <a:r>
              <a:t>- [Zephyr 输入读取与优先级](https://github.com/zephyrproject-rtos/zephyr/blob/25c8f4a23988dd3b2cfb463613622738298c2d6c/cmake/modules/extensions.cmake#L4088)：`cmake/modules/extensions.cmake`，第 4088 行附近。</a:t>
            </a:r>
          </a:p>
          <a:p>
            <a:r>
              <a:t>- [Python 选择模块](https://github.com/zephyrproject-rtos/zephyr/blob/25c8f4a23988dd3b2cfb463613622738298c2d6c/cmake/modules/python.cmake#L4)：`cmake/modules/python.cmake`，第 4 行附近。</a:t>
            </a:r>
          </a:p>
          <a:p>
            <a:r>
              <a:t>- [west 构建命令说明](https://github.com/zephyrproject-rtos/zephyr/blob/25c8f4a23988dd3b2cfb463613622738298c2d6c/doc/develop/west/build-flash-debug.rst#L3)：`doc/develop/west/build-flash-debug.rst`，第 3 行附近。</a:t>
            </a:r>
          </a:p>
          <a:p>
            <a:r>
              <a:t>- [多镜像构建入口](https://github.com/zephyrproject-rtos/zephyr/blob/25c8f4a23988dd3b2cfb463613622738298c2d6c/doc/build/sysbuild/index.rst#L3)：`doc/build/sysbuild/index.rst`，第 3 行附近。</a:t>
            </a:r>
          </a:p>
          <a:p>
            <a:r>
              <a:t>- [配置片段组合入口](https://github.com/zephyrproject-rtos/zephyr/blob/25c8f4a23988dd3b2cfb463613622738298c2d6c/doc/build/snippets/index.rst#L3)：`doc/build/snippets/index.rst`，第 3 行附近。</a:t>
            </a:r>
          </a:p>
          <a:p>
            <a:r>
              <a:t>- [SDK 1.0.1 的默认类型实现（安装包内）](https://github.com/zephyrproject-rtos/sdk-ng/releases/tag/v1.0.1)：`cmake/Zephyr-sdkConfig.cmake`，第 15 行附近。</a:t>
            </a:r>
          </a:p>
          <a:p>
            <a:r>
              <a:t>- [SDK 1.0.1 的 ARM 映射（安装包内）](https://github.com/zephyrproject-rtos/sdk-ng/releases/tag/v1.0.1)：`cmake/zephyr/gnu/target.cmake`，第 5 行附近。</a:t>
            </a:r>
          </a:p>
          <a:p>
            <a:endParaRPr/>
          </a:p>
          <a:p>
            <a:r>
              <a:t>下一步：[P003 SDK 准备与编译器选型](P003_SDK准备与编译器选型_Windows.md)回顾工具链接口，再讲包的实际组成和安装；P004 下载 CMSIS；P005 解释驱动模型；P006 从调用方完成模块接入；P012 把接口组合成完整构建实验。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实现定位：https://github.com/zephyrproject-rtos/zephyr/blob/25c8f4a23988dd3b2cfb463613622738298c2d6c/cmake/modules/extensions.cmake#L682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guide18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18.xml"/><Relationship Id="rIdReading" Type="http://schemas.openxmlformats.org/officeDocument/2006/relationships/hyperlink" Target="../P011_CMake&#32531;&#23384;&#19982;&#26500;&#24314;&#25490;&#38169;_Windows.md" TargetMode="External"/></Relationships>
</file>

<file path=ppt/slides/_rels/guide19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19.xml"/><Relationship Id="rIdReading" Type="http://schemas.openxmlformats.org/officeDocument/2006/relationships/hyperlink" Target="../P011_CMake&#32531;&#23384;&#19982;&#26500;&#24314;&#25490;&#38169;_Windows.md" TargetMode="External"/></Relationships>
</file>

<file path=ppt/slides/_rels/lesson_10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daa5d16f8004861"/><Relationship Type="http://schemas.openxmlformats.org/officeDocument/2006/relationships/hyperlink" Target="https://docs.zephyrproject.org/latest/build/cmake/index.html" TargetMode="External" Id="R1fd50b8310bc4f5f"/><Relationship Type="http://schemas.openxmlformats.org/officeDocument/2006/relationships/hyperlink" Target="../P011_CMake&#32531;&#23384;&#19982;&#26500;&#24314;&#25490;&#38169;_Windows.md" TargetMode="External" Id="Rbfd4de5bf5254fb1"/><Relationship Type="http://schemas.openxmlformats.org/officeDocument/2006/relationships/notesSlide" Target="../notesSlides/lesson_10_1.xml" Id="Rc1a8221f535345df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variable/CMAKE_BUILD_TYP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cmake-build-command" TargetMode="External"/><Relationship Id="rId4" Type="http://schemas.openxmlformats.org/officeDocument/2006/relationships/hyperlink" Target="https://github.com/zephyrproject-rtos/zephyr/blob/25c8f4a23988dd3b2cfb463613622738298c2d6c/CMakeLists.txt" TargetMode="External"/></Relationships>
</file>

<file path=ppt/slides/_rels/slide39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language.7.html#variables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1-1" TargetMode="External"/><Relationship Id="rId4" Type="http://schemas.openxmlformats.org/officeDocument/2006/relationships/hyperlink" Target="https://github.com/zephyrproject-rtos/zephyr/blob/25c8f4a23988dd3b2cfb463613622738298c2d6c/cmake/modules/extensions.cmake#L4088" TargetMode="External"/></Relationships>
</file>

<file path=ppt/slides/_rels/slide40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cmake-cache-practice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1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1_CMake&#32531;&#23384;&#19982;&#26500;&#24314;&#25490;&#38169;_Windows.md#cmake-cache-practice" TargetMode="External"/><Relationship Id="rId5" Type="http://schemas.openxmlformats.org/officeDocument/2006/relationships/hyperlink" Target="../commands/P011_Windows/11.1.1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2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variable/CMAKE_MESSAGE_LOG_LEVEL.html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1_CMake&#32531;&#23384;&#19982;&#26500;&#24314;&#25490;&#38169;_Windows.md#cmake-cache-practice" TargetMode="External"/><Relationship Id="rId5" Type="http://schemas.openxmlformats.org/officeDocument/2006/relationships/hyperlink" Target="../commands/P011_Windows/11.1.1-02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3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1_CMake&#32531;&#23384;&#19982;&#26500;&#24314;&#25490;&#38169;_Windows.md#cmake-cache-practice" TargetMode="External"/><Relationship Id="rId5" Type="http://schemas.openxmlformats.org/officeDocument/2006/relationships/hyperlink" Target="../commands/P011_Windows/11.1.1-04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4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command/set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cmake-cache-practice" TargetMode="External"/><Relationship Id="rId4" Type="http://schemas.openxmlformats.org/officeDocument/2006/relationships/hyperlink" Target="https://github.com/zephyrproject-rtos/zephyr/blob/25c8f4a23988dd3b2cfb463613622738298c2d6c/cmake/modules/kernel.cmake" TargetMode="External"/></Relationships>
</file>

<file path=ppt/slides/_rels/slide45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1_CMake&#32531;&#23384;&#19982;&#26500;&#24314;&#25490;&#38169;_Windows.md#cmake-cache-practice" TargetMode="External"/><Relationship Id="rId5" Type="http://schemas.openxmlformats.org/officeDocument/2006/relationships/hyperlink" Target="../commands/P011_Windows/11.1.1-05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west/build-flash-debug.html#pristine-builds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cmake-cache-practice" TargetMode="External"/><Relationship Id="rId4" Type="http://schemas.openxmlformats.org/officeDocument/2006/relationships/hyperlink" Target="https://github.com/zephyrproject-rtos/zephyr/blob/25c8f4a23988dd3b2cfb463613622738298c2d6c/cmake/pristine.cmake" TargetMode="External"/></Relationships>
</file>

<file path=ppt/slides/_rels/slide47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presets.7.ht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1_CMake&#32531;&#23384;&#19982;&#26500;&#24314;&#25490;&#38169;_Windows.md#cmake-cache-practice" TargetMode="External"/><Relationship Id="rId5" Type="http://schemas.openxmlformats.org/officeDocument/2006/relationships/hyperlink" Target="../commands/P011_Windows/11.1.1-06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8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language.7.html#variables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1-2" TargetMode="External"/><Relationship Id="rId4" Type="http://schemas.openxmlformats.org/officeDocument/2006/relationships/hyperlink" Target="https://github.com/zephyrproject-rtos/zephyr/blob/25c8f4a23988dd3b2cfb463613622738298c2d6c/cmake/modules/extensions.cmake#L4088" TargetMode="External"/></Relationships>
</file>

<file path=ppt/slides/_rels/slide49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1-2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50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1-3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51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sysbuild/index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1-4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52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2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5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2-3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5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3-1" TargetMode="External"/><Relationship Id="rId4" Type="http://schemas.openxmlformats.org/officeDocument/2006/relationships/hyperlink" Target="https://github.com/zephyrproject-rtos/zephyr/blob/25c8f4a23988dd3b2cfb463613622738298c2d6c/doc/develop/application/index.rst#L3" TargetMode="External"/></Relationships>
</file>

<file path=ppt/slides/_rels/slide5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1_CMake&#32531;&#23384;&#19982;&#26500;&#24314;&#25490;&#38169;_Windows.md#section-11-3-2" TargetMode="External"/><Relationship Id="rId4" Type="http://schemas.openxmlformats.org/officeDocument/2006/relationships/hyperlink" Target="https://github.com/zephyrproject-rtos/zephyr/blob/25c8f4a23988dd3b2cfb463613622738298c2d6c/cmake/modules/extensions.cmake#L682" TargetMode="External"/></Relationships>
</file>

<file path=ppt/slides/gu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已经能编译的工程，为何又找不到组件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11.1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沿用成功的 hello_world 工程。现在改变 SDK 或模块路径，却发现构建仍使用旧位置——先检查这一次配置保存了什么。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本册把应用输入、终端环境和构建缓存对应起来。每次只改变一个输入，观察配置日志和生成记录。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4152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据此判断该补源码、改发现路径还是启用功能；换板目标时另建输出目录。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11.1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E92B6C1-C8A6-49A6-B642-876A22D9382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缺组件时，沿工程阶段定位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11.2.4 · 从当前任务理解工程组织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文件是否齐全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3190875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3419475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模块是否发现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600075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6229350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功能是否选入</a:t>
            </a:r>
          </a:p>
        </p:txBody>
      </p:sp>
      <p:sp>
        <p:nvSpPr>
          <p:cNvPr id="9" name="Arrow 2"/>
          <p:cNvSpPr>
            <a:spLocks noGrp="1"/>
          </p:cNvSpPr>
          <p:nvPr/>
        </p:nvSpPr>
        <p:spPr>
          <a:xfrm>
            <a:off x="8810625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10" name="Flow 3"/>
          <p:cNvSpPr>
            <a:spLocks noGrp="1"/>
          </p:cNvSpPr>
          <p:nvPr/>
        </p:nvSpPr>
        <p:spPr>
          <a:xfrm>
            <a:off x="9039225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运行是否正确</a:t>
            </a:r>
          </a:p>
        </p:txBody>
      </p:sp>
      <p:sp>
        <p:nvSpPr>
          <p:cNvPr id="11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磁盘上没有所需文件：查来源与固定版本，补下载。目录已有但模块记录没有：查列表输入和模块入口。</a:t>
            </a:r>
          </a:p>
        </p:txBody>
      </p:sp>
      <p:sp>
        <p:nvSpPr>
          <p:cNvPr id="12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模块已发现却没有目标源文件：查 Kconfig、设备树与 CMake 条件；头文件依赖还要检查编译命令中的包含路径。</a:t>
            </a:r>
          </a:p>
        </p:txBody>
      </p:sp>
      <p:sp>
        <p:nvSpPr>
          <p:cNvPr id="13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构建成功但行为不对：进入运行、驱动和板级验证。重新下载 HAL 或清空缓存不能替代这些判断。</a:t>
            </a:r>
          </a:p>
        </p:txBody>
      </p:sp>
      <p:sp>
        <p:nvSpPr>
          <p:cNvPr id="14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11.2.4</a:t>
            </a:r>
          </a:p>
        </p:txBody>
      </p:sp>
      <p:sp>
        <p:nvSpPr>
          <p:cNvPr id="1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5DBCAC9-D8DC-4E34-AED1-B5A3A8891F4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lesson_10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3CA31F-4C99-4B25-A2ED-C9B4F4B036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同一构建目录为何记住旧选择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A089877-C5FF-4341-9258-62C4A254C8C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11.1—11.3 · 缓存与排错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6DF0F5D-ED63-43CB-85DA-31303593932B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沿用 P008 的 cmake-demo，先只读缓存，再改一项日志输入。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区分缓存、生成规则、固件产物，以及 shell 与用户注册表。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遇到错误按阶段排查，不把重新 init 或全量下载当作通用修复。</a:t>
            </a:r>
          </a:p>
        </p:txBody>
      </p:sp>
      <p:sp>
        <p:nvSpPr>
          <p:cNvPr id="5" name="Model 读取状态">
            <a:extLst>
              <a:ext uri="{FF2B5EF4-FFF2-40B4-BE49-F238E27FC236}">
                <a16:creationId xmlns:a16="http://schemas.microsoft.com/office/drawing/2014/main" id="{CCC7071D-6357-4350-9EB5-69C88BED2F96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读取状态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2387D76A-DC97-4757-926B-A2CD14E93562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可撤销修改">
            <a:extLst>
              <a:ext uri="{FF2B5EF4-FFF2-40B4-BE49-F238E27FC236}">
                <a16:creationId xmlns:a16="http://schemas.microsoft.com/office/drawing/2014/main" id="{51236147-6DC4-45C9-945E-1A118502D339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可撤销修改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8E4E2BE1-EB69-41DE-8306-8AE67351A8B2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选择重配方式">
            <a:extLst>
              <a:ext uri="{FF2B5EF4-FFF2-40B4-BE49-F238E27FC236}">
                <a16:creationId xmlns:a16="http://schemas.microsoft.com/office/drawing/2014/main" id="{DFFDF947-9DDB-40DC-8BB9-B79921066F31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选择重配方式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5B920111-398B-4AF9-A3CF-3CA9452EC903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核对结果">
            <a:extLst>
              <a:ext uri="{FF2B5EF4-FFF2-40B4-BE49-F238E27FC236}">
                <a16:creationId xmlns:a16="http://schemas.microsoft.com/office/drawing/2014/main" id="{EFADF90A-29B7-4750-A77E-01A9E7E06405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核对结果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0FBFEB92-BBE7-43F4-B78C-0843A4717A2A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1fd50b8310bc4f5f"/>
              </a:rPr>
              <a:t>依据：</a:t>
            </a:r>
            <a:r>
              <a:rPr u="sng">
                <a:solidFill>
                  <a:srgbClr val="0070C0"/>
                </a:solidFill>
                <a:hlinkClick r:id="R1fd50b8310bc4f5f"/>
              </a:rPr>
              <a:t>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5436B1A4-3146-4DCC-8962-80D4492B2E5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fd4de5bf5254fb1"/>
              </a:rPr>
              <a:t>配套正文 · 11.1—11.3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67191FD-2B10-49CE-8438-3ACCA5D4980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P011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CMake缓存与构建排错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BD4575-3264-43FC-B976-B2EB90ABA95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Debug 与 Release 在 Zephyr 中的边界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986929F-01AF-4633-9A35-C60230AE1E4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 · 配置类型与缓存边界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E9C5D432-48DB-4469-9EDF-644D0CB566B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800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 CMake 的单配置工程常在配置时设置 </a:t>
            </a:r>
            <a:r>
              <a:rPr>
                <a:solidFill>
                  <a:srgbClr val="B84E00"/>
                </a:solidFill>
              </a:rPr>
              <a:t>CMAKE_BUILD_TYPE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多配置生成器通常在构建时用 </a:t>
            </a:r>
            <a:r>
              <a:rPr>
                <a:solidFill>
                  <a:srgbClr val="B84E00"/>
                </a:solidFill>
              </a:rPr>
              <a:t>--config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本系列使用 Ninja。Zephyr 的优化主要由 Kconfig 决定，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如 </a:t>
            </a:r>
            <a:r>
              <a:rPr>
                <a:solidFill>
                  <a:srgbClr val="B84E00"/>
                </a:solidFill>
              </a:rPr>
              <a:t>CONFIG_DEBUG_OPTIMIZATIONS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>
                <a:solidFill>
                  <a:srgbClr val="B84E00"/>
                </a:solidFill>
              </a:rPr>
              <a:t>CONFIG_SIZE_OPTIMIZATIONS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单独传 Debug 不等于完成 Zephyr 调试优化配置。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</a:t>
            </a:r>
            <a:r>
              <a:rPr>
                <a:solidFill>
                  <a:srgbClr val="0070C0"/>
                </a:solidFill>
              </a:rPr>
              <a:t>zephyr/.config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与实际编译参数。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A02B93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--install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是项目安装操作，也不等于烧录固件。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ADA7445F-D44D-42F5-A345-165776A1F02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构建类型说明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C4AEAF2-699C-45B5-BCB4-FAEFFDBBAF7D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CMakeLists.txt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0CAE7CE-4793-4AD2-9664-FBE204AB726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9F3C99F-BA37-451B-A447-1B200AAE02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4676425-146E-43F4-BB8B-FC6BD3FC433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输入值保存在哪一层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1CC3C91-694C-46F3-AF94-9ABC7B5F103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0ED0FC2-9AE1-4803-9A59-2DB447ACE5D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：当前终端及之后启动的子进程环境。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：所选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构建目录的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set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 普通作用域；带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CACHE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才涉及缓存。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用户预设：读者保存参数组合，选择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--preset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时读取。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注册：当前用户的包位置候选，跨终端保留。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关闭终端不会删除缓存，激活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不会重新选择 SDK。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C0360FC-4F95-482E-8B85-A768E80018A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官方说明：CMake 变量与作用域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1C68EA8-E117-4603-818E-7C88A0C283B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4088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0F299EC-BAAF-4BD6-A573-7F185E05785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2EB8DB-4841-4FD0-B7A9-12CAC71EA33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A93238-DEC0-4798-BDA5-53A819AB9A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配置缓存、任务规则与编译产物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1C76C5A-8C88-47C8-A37B-81E13BFA841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11.1.1.1 · ④ 保存与复用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4DD2881-6B61-46DC-96C5-4CA573CFC1B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保存配置值，</a:t>
            </a:r>
            <a:r>
              <a:rPr>
                <a:solidFill>
                  <a:srgbClr val="0070C0"/>
                </a:solidFill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描述执行规则。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对象文件与 </a:t>
            </a:r>
            <a:r>
              <a:rPr>
                <a:solidFill>
                  <a:srgbClr val="0070C0"/>
                </a:solidFill>
              </a:rPr>
              <a:t>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是执行结果，不能与配置缓存混为一谈。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第二次配置同一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时，CMake 读取已有缓存再生成规则。</a:t>
            </a:r>
          </a:p>
        </p:txBody>
      </p:sp>
      <p:sp>
        <p:nvSpPr>
          <p:cNvPr id="5" name="Build flow 配置输入">
            <a:extLst>
              <a:ext uri="{FF2B5EF4-FFF2-40B4-BE49-F238E27FC236}">
                <a16:creationId xmlns:a16="http://schemas.microsoft.com/office/drawing/2014/main" id="{A3833045-37F3-4349-A843-F178EAB96484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配置输入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96443D45-0980-4068-A9B1-7D339D6037F7}"/>
              </a:ext>
            </a:extLst>
          </p:cNvPr>
          <p:cNvSpPr>
            <a:spLocks noGrp="1"/>
          </p:cNvSpPr>
          <p:nvPr/>
        </p:nvSpPr>
        <p:spPr>
          <a:xfrm>
            <a:off x="258127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Build flow CMake">
            <a:extLst>
              <a:ext uri="{FF2B5EF4-FFF2-40B4-BE49-F238E27FC236}">
                <a16:creationId xmlns:a16="http://schemas.microsoft.com/office/drawing/2014/main" id="{948BB1D8-D921-4B0B-8F80-F713644389DB}"/>
              </a:ext>
            </a:extLst>
          </p:cNvPr>
          <p:cNvSpPr>
            <a:spLocks noGrp="1"/>
          </p:cNvSpPr>
          <p:nvPr/>
        </p:nvSpPr>
        <p:spPr>
          <a:xfrm>
            <a:off x="286512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4206586-AA57-4FB6-9610-FC7EFE5952A8}"/>
              </a:ext>
            </a:extLst>
          </p:cNvPr>
          <p:cNvSpPr>
            <a:spLocks noGrp="1"/>
          </p:cNvSpPr>
          <p:nvPr/>
        </p:nvSpPr>
        <p:spPr>
          <a:xfrm>
            <a:off x="483679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Build flow build.ninja">
            <a:extLst>
              <a:ext uri="{FF2B5EF4-FFF2-40B4-BE49-F238E27FC236}">
                <a16:creationId xmlns:a16="http://schemas.microsoft.com/office/drawing/2014/main" id="{A06E3B72-9FB2-4165-81B2-18A0B42CAD2D}"/>
              </a:ext>
            </a:extLst>
          </p:cNvPr>
          <p:cNvSpPr>
            <a:spLocks noGrp="1"/>
          </p:cNvSpPr>
          <p:nvPr/>
        </p:nvSpPr>
        <p:spPr>
          <a:xfrm>
            <a:off x="512064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5AE98AC-D592-4B84-96DF-1D848EC87A73}"/>
              </a:ext>
            </a:extLst>
          </p:cNvPr>
          <p:cNvSpPr>
            <a:spLocks noGrp="1"/>
          </p:cNvSpPr>
          <p:nvPr/>
        </p:nvSpPr>
        <p:spPr>
          <a:xfrm>
            <a:off x="709231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Build flow Ninja">
            <a:extLst>
              <a:ext uri="{FF2B5EF4-FFF2-40B4-BE49-F238E27FC236}">
                <a16:creationId xmlns:a16="http://schemas.microsoft.com/office/drawing/2014/main" id="{01DDEC75-5CDC-4573-87EB-9789DF08790E}"/>
              </a:ext>
            </a:extLst>
          </p:cNvPr>
          <p:cNvSpPr>
            <a:spLocks noGrp="1"/>
          </p:cNvSpPr>
          <p:nvPr/>
        </p:nvSpPr>
        <p:spPr>
          <a:xfrm>
            <a:off x="737616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</a:t>
            </a:r>
          </a:p>
        </p:txBody>
      </p:sp>
      <p:sp>
        <p:nvSpPr>
          <p:cNvPr id="12" name="Flow arrow 3">
            <a:extLst>
              <a:ext uri="{FF2B5EF4-FFF2-40B4-BE49-F238E27FC236}">
                <a16:creationId xmlns:a16="http://schemas.microsoft.com/office/drawing/2014/main" id="{AE55C1C0-5441-4083-8B32-8C4C1F3F3F5D}"/>
              </a:ext>
            </a:extLst>
          </p:cNvPr>
          <p:cNvSpPr>
            <a:spLocks noGrp="1"/>
          </p:cNvSpPr>
          <p:nvPr/>
        </p:nvSpPr>
        <p:spPr>
          <a:xfrm>
            <a:off x="934783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Build flow zephyr.elf">
            <a:extLst>
              <a:ext uri="{FF2B5EF4-FFF2-40B4-BE49-F238E27FC236}">
                <a16:creationId xmlns:a16="http://schemas.microsoft.com/office/drawing/2014/main" id="{DC107534-2922-458F-B690-E1A7DF505876}"/>
              </a:ext>
            </a:extLst>
          </p:cNvPr>
          <p:cNvSpPr>
            <a:spLocks noGrp="1"/>
          </p:cNvSpPr>
          <p:nvPr/>
        </p:nvSpPr>
        <p:spPr>
          <a:xfrm>
            <a:off x="963168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4" name="Build flow CMakeCache.txt&#10;配置值">
            <a:extLst>
              <a:ext uri="{FF2B5EF4-FFF2-40B4-BE49-F238E27FC236}">
                <a16:creationId xmlns:a16="http://schemas.microsoft.com/office/drawing/2014/main" id="{279783B6-DE8E-4457-8AFF-D97CABA93E84}"/>
              </a:ext>
            </a:extLst>
          </p:cNvPr>
          <p:cNvSpPr>
            <a:spLocks noGrp="1"/>
          </p:cNvSpPr>
          <p:nvPr/>
        </p:nvSpPr>
        <p:spPr>
          <a:xfrm>
            <a:off x="2865120" y="4838700"/>
            <a:ext cx="2381250" cy="6667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</a:p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配置值</a:t>
            </a:r>
          </a:p>
        </p:txBody>
      </p:sp>
      <p:sp>
        <p:nvSpPr>
          <p:cNvPr id="15" name="Cache both directions">
            <a:extLst>
              <a:ext uri="{FF2B5EF4-FFF2-40B4-BE49-F238E27FC236}">
                <a16:creationId xmlns:a16="http://schemas.microsoft.com/office/drawing/2014/main" id="{7401E223-F49B-4E6A-BB4F-53FADD2FD775}"/>
              </a:ext>
            </a:extLst>
          </p:cNvPr>
          <p:cNvSpPr>
            <a:spLocks noGrp="1"/>
          </p:cNvSpPr>
          <p:nvPr/>
        </p:nvSpPr>
        <p:spPr>
          <a:xfrm>
            <a:off x="3600450" y="4314825"/>
            <a:ext cx="304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↕</a:t>
            </a:r>
          </a:p>
        </p:txBody>
      </p:sp>
      <p:sp>
        <p:nvSpPr>
          <p:cNvPr id="16" name="Cache read write label">
            <a:extLst>
              <a:ext uri="{FF2B5EF4-FFF2-40B4-BE49-F238E27FC236}">
                <a16:creationId xmlns:a16="http://schemas.microsoft.com/office/drawing/2014/main" id="{A09A9095-8365-4D9C-8DC7-A33954485878}"/>
              </a:ext>
            </a:extLst>
          </p:cNvPr>
          <p:cNvSpPr>
            <a:spLocks noGrp="1"/>
          </p:cNvSpPr>
          <p:nvPr/>
        </p:nvSpPr>
        <p:spPr>
          <a:xfrm>
            <a:off x="4105275" y="4429125"/>
            <a:ext cx="390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写回 / 下次配置读取</a:t>
            </a:r>
          </a:p>
        </p:txBody>
      </p:sp>
      <p:sp>
        <p:nvSpPr>
          <p:cNvPr id="17" name="Official doc link">
            <a:extLst>
              <a:ext uri="{FF2B5EF4-FFF2-40B4-BE49-F238E27FC236}">
                <a16:creationId xmlns:a16="http://schemas.microsoft.com/office/drawing/2014/main" id="{7B16949A-88A9-404B-A8E4-69B2A177255A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18" name="Implementation link">
            <a:extLst>
              <a:ext uri="{FF2B5EF4-FFF2-40B4-BE49-F238E27FC236}">
                <a16:creationId xmlns:a16="http://schemas.microsoft.com/office/drawing/2014/main" id="{FD214BC6-1C57-4E39-A834-AFB078889637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19" name="Chapter link">
            <a:extLst>
              <a:ext uri="{FF2B5EF4-FFF2-40B4-BE49-F238E27FC236}">
                <a16:creationId xmlns:a16="http://schemas.microsoft.com/office/drawing/2014/main" id="{FC9FAE75-A27D-4BFA-9ED5-C3160207394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2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9504070-4785-4B0F-BBDF-C570C51B5B6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8715D7-E77B-4F54-B408-D432C8973DC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只读查看构建缓存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E2432BC-431B-4AF0-9064-A7EF6063350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11.1.1.2 · ④ 保存与复用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848D9B1-5058-48F3-86A8-A44438397A4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UCRT64；源码根；前提：P008 8.2 的 </a:t>
            </a:r>
            <a:r>
              <a:rPr>
                <a:solidFill>
                  <a:srgbClr val="646173"/>
                </a:solidFill>
              </a:rPr>
              <a:t>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配置成功。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test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23FB5D5-ED3E-44F3-957D-4B8CDFC7B367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只查看，不重新配置或生成。</a:t>
            </a:r>
            <a:r>
              <a:rPr>
                <a:solidFill>
                  <a:srgbClr val="B84E00"/>
                </a:solidFill>
              </a:rPr>
              <a:t>-L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列选项，</a:t>
            </a:r>
            <a:r>
              <a:rPr>
                <a:solidFill>
                  <a:srgbClr val="B84E00"/>
                </a:solidFill>
              </a:rPr>
              <a:t>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加高级项，</a:t>
            </a:r>
            <a:r>
              <a:rPr>
                <a:solidFill>
                  <a:srgbClr val="B84E00"/>
                </a:solidFill>
              </a:rPr>
              <a:t>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带帮助。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没有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调用可能重新配置。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列表不含全部 INTERNAL 条目；入口等信息可直接读缓存文件。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缓存不存在时回到首次配置，不手工创建空文件。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7BBD3309-6D92-48B7-BE7B-33521CECA0BC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3305A193-5405-4EBF-97E1-973DF81529BB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9871DDFD-33CE-473D-86FC-9DBB2A2DAC3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11.1.1-01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276C02CF-2EA7-4574-814F-9DCCD1D6653B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6CEB668-B34D-4D06-ADF7-F29C85B113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4D8F95-50C4-4763-8C24-6A381FB9356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 -D 修改，再省略同一个输入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D29E78E-144F-4123-8D68-15226B1298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11.1.1.3 · ④ 缓存操作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10970FD4-D57D-4E8F-B495-147D77F3CB0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UCRT64；源码根；本节 </a:t>
            </a:r>
            <a:r>
              <a:rPr>
                <a:solidFill>
                  <a:srgbClr val="646173"/>
                </a:solidFill>
              </a:rPr>
              <a:t>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已配置，.venv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-DCMAKE_MESSAGE_LOG_LEVEL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  <a:r>
              <a:rPr>
                <a:solidFill>
                  <a:srgbClr val="29263B"/>
                </a:solidFill>
              </a:rPr>
              <a:t>STRING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</a:t>
            </a:r>
            <a:r>
              <a:rPr>
                <a:solidFill>
                  <a:srgbClr val="29263B"/>
                </a:solidFill>
              </a:rPr>
              <a:t>VERBOSE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同一目录再次配置，特意不重复 -D。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| </a:t>
            </a:r>
            <a:r>
              <a:rPr>
                <a:solidFill>
                  <a:srgbClr val="A02B93"/>
                </a:solidFill>
              </a:rPr>
              <a:t>grep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CMAKE_MESSAGE_LOG_LEVEL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3EC0D3B-2F0A-4734-B683-5ADA945FBEA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CMAKE_MESSAGE_LOG_LEVEL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 CMake 配置日志级别，不是编译详细输出。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首次设为 VERBOSE 后，重复配置不再传它，缓存仍保留 VERBOSE。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因此“下一条命令省略参数”不会撤销前一次选择。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19251460-916E-484A-A7CC-25F20D2C3249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配置日志变量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BCCFEB6-1628-492A-ACEF-28137A82DB3B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6FF8A6A5-E8D1-4E15-8FB7-79AE1BF35C5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11.1.1-02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1A56CFDA-F942-4199-A511-A9623294F00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9D7186-F9F6-498A-BABC-586E0822A5C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173007-466B-4F27-AF73-6C73851B32D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撤销一项缓存输入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1B1CB03-CF92-45C1-B899-4A5B5F87953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11.1.1.4 · ④ 缓存操作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439AE65E-DABD-4383-BA3D-7A646162EBF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UCRT64；源码根；前提：上一页已设置日志项，.venv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-U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CMAKE_MESSAGE_LOG_LEVEL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'^</a:t>
            </a:r>
            <a:r>
              <a:rPr>
                <a:solidFill>
                  <a:srgbClr val="B84E00"/>
                </a:solidFill>
              </a:rPr>
              <a:t>CMAKE_MESSAGE_LOG_LEVEL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:'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5D67CAFA-8F55-4F43-AAFC-ACACE53A573D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-U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删除准确匹配的缓存项，再执行配置。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本例无其他来源重建该项时，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grep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无输出、返回 1 是预期结果。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显式改为 STATUS 仍保留一个值；删除条目才撤销缓存选择。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终端环境、预设和脚本不会随 </a:t>
            </a:r>
            <a:r>
              <a:rPr>
                <a:solidFill>
                  <a:srgbClr val="B84E00"/>
                </a:solidFill>
              </a:rPr>
              <a:t>-U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一起删除。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5C16B47D-717E-4C64-8BDE-7D563753E9E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2D707A02-72E2-415E-B2B8-381B03312C9C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36AE5EC-8C42-47D0-BF50-54FE82F0CE29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11.1.1-04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B572174D-0C38-4A3B-AEB1-46C66578C0E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6EA44D4-700D-4B58-A835-C91D46393FB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DBAE54A-9B9F-45F4-9A68-0314D913658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项目脚本也能写回缓存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83E2C24-D165-4F8A-8B85-60478BCDF89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11.1.1.4 · ④ 传入值与实际值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2BB6A013-4391-4151-BE6A-98BF96ED696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只读：Zephyr 原有 </a:t>
            </a:r>
            <a:r>
              <a:rPr>
                <a:solidFill>
                  <a:srgbClr val="646173"/>
                </a:solidFill>
              </a:rPr>
              <a:t>cmake/modules/kernel.cmake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，第 167 行附近。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set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>
                <a:solidFill>
                  <a:srgbClr val="B84E00"/>
                </a:solidFill>
              </a:rPr>
              <a:t>CMAKE_EXPORT_COMPILE_COMMANDS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29263B"/>
                </a:solidFill>
              </a:rPr>
              <a:t>TRUE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CACHE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BOOL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"Export CMake compile commands. Used by </a:t>
            </a:r>
            <a:r>
              <a:rPr sz="18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gen_app_partitions.py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script"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>
                <a:solidFill>
                  <a:srgbClr val="B84E00"/>
                </a:solidFill>
              </a:rPr>
              <a:t>FORCE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9A19B7F1-1BDD-43F2-A884-148ACB71A7CC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 Zephyr 强制生成编译命令数据库，供内部脚本使用。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因此把此项传成 OFF，配置脚本仍会用 </a:t>
            </a:r>
            <a:r>
              <a:rPr>
                <a:solidFill>
                  <a:srgbClr val="B84E00"/>
                </a:solidFill>
              </a:rPr>
              <a:t>FORCE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写回 TRUE。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不保证压过随后执行的所有项目规则。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普通变量、缓存与 </a:t>
            </a:r>
            <a:r>
              <a:rPr>
                <a:solidFill>
                  <a:srgbClr val="087B3D"/>
                </a:solidFill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的读取顺序也要区分。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35FB7B4B-A51F-4713-82EB-4D609151BB67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set 与 CACHE / FORCE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F6F31D3-C5B6-4933-A4A6-BF1F9D0D4C14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cmake/modules/kernel.cmake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EB0FEBDC-0593-4C0B-8E75-706F5200A211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903D10C-C621-4B1C-8C1C-997BD115C38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20D4888-A096-4082-B515-8FF3E07F594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clean 保留配置，build 再生成产物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FB0DEB9-351C-42C4-8AE4-CA3E46A5A1A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11.1.1.5 · ④ 清理范围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B909572E-64E7-490F-A299-E241D5775B5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UCRT64；源码根；本节 </a:t>
            </a:r>
            <a:r>
              <a:rPr>
                <a:solidFill>
                  <a:srgbClr val="646173"/>
                </a:solidFill>
              </a:rPr>
              <a:t>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已构建，.venv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--target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clean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ls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FA5B212-90EE-4E8C-B934-E8E0160ACC64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 clean 清除后端管理的构建产物，缓存与规则仍在。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 build 复用相同的板和工具链重新编译。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--clean-first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是先 clean 再 build，也不会重置配置选择。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日常改代码先增量构建，不必每次清理。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65D9DA59-0DC8-4D77-AB1F-C7E10F1E91D1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E1A46B5E-F5CF-402B-9D8F-09E1D875A2C9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0609ACD0-EA67-4ADB-BCB3-F85F65F71A54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11.1.1-05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47FCA681-A380-4F77-B8F3-76F834CE2FAE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F0323FF-33A5-4E11-8C3D-CD650E639B0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73390F-E404-4076-B842-91CB25AC23F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重新配置、fresh 与 pristine 的范围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B34FFCD-4546-4075-9135-C5592B032F4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11.1.1.5 · ④ 重置时的选择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3DDFC07-3A66-42C1-91CD-0E166AB0407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800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重新配置：复用已有缓存，更新本次传入项并生成规则。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--fresh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 3.24+ 重建 </a:t>
            </a:r>
            <a:r>
              <a:rPr>
                <a:solidFill>
                  <a:srgbClr val="0070C0"/>
                </a:solidFill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>
                <a:solidFill>
                  <a:srgbClr val="0070C0"/>
                </a:solidFill>
              </a:rPr>
              <a:t>CMakeFiles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它不保证删除所有 Zephyr 状态，不能等同于 pristine。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>
                <a:solidFill>
                  <a:srgbClr val="A02B93"/>
                </a:solidFill>
              </a:rPr>
              <a:t> 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>
                <a:solidFill>
                  <a:srgbClr val="B84E00"/>
                </a:solidFill>
              </a:rPr>
              <a:t>-p</a:t>
            </a:r>
            <a:r>
              <a:rPr>
                <a:solidFill>
                  <a:srgbClr val="B84E00"/>
                </a:solidFill>
              </a:rPr>
              <a:t> always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：先清空指定构建目录，再配置构建。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仅用于确认可以丢弃的输出目录，目录内手工文件也会丢失。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换板、生成器或工具链，优先使用新的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，保留旧结果。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新目录没有旧缓存，必须重新提供应用与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等输入。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34F810A-57CC-4ECC-8833-16CF5499DDC9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官方说明：Zephyr pristine 与构建状态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F7D00C8-8156-4E8F-91FE-4D1EBFF51E2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cmake/pristine.cmake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765C1D2-E974-4C68-A723-8D85326D4704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F1FE8CC-C9A4-40B8-BEEB-478158CD499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7059E25-89BE-4C24-867F-7CC41FD4C07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预设是输入方案，缓存是配置状态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C6AF720-F8D9-44BE-8E59-3B08E700C3A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11.1.1.6 · ④ 保存参数组合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CEFD119-3429-49F2-9731-4ED64105440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UCRT64；.venv 已激活；本节的 learning-mps2 预设已创建。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/g/zephyr_practice/zephyr-main/samples/hello_world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--list-presets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--preset</a:t>
            </a:r>
            <a:r>
              <a:rPr>
                <a:solidFill>
                  <a:srgbClr val="29263B"/>
                </a:solidFill>
              </a:rPr>
              <a:t> learning-mps2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--preset</a:t>
            </a:r>
            <a:r>
              <a:rPr>
                <a:solidFill>
                  <a:srgbClr val="29263B"/>
                </a:solidFill>
              </a:rPr>
              <a:t> learning-mps2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C39737B4-E25C-47D6-9309-EA82B6771CF8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先按 MD 11.1.1.6 在应用目录新建或合并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CMakeUserPresets.json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进入应用目录，选择其配置预设，再选择关联的构建预设。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先核对预设内路径；编辑 JSON 后重新配置才能更新缓存。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本节使用独立 cmake-presets 输出；完整 JSON 见配套正文。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FF944FB3-2215-4A7D-837C-84067E932558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官方预设手册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81FB21A4-A9D7-46F1-88BC-A829FB4C6C7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0F7B01DF-6A43-46A9-A21A-50DB2C44DEC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11.1.1-06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06437062-A989-43FB-98AA-74EAC364545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D02426C-6E2C-47B2-BAE5-89E1088AA40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FE21AFD-8C0C-43B0-9A65-ABDA5956B54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旧缓存为什么会挡住新 </a:t>
            </a:r>
            <a:r>
              <a:rPr sz="3000" b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00B0256-9614-4D0F-8C2F-7DFD250C0D6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11.1.2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CCB6D82-AB12-4EA0-B81B-A9ACB8706FD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第一次用 SDK-A 配置后，该构建目录记住相关选择。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第二次只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SDK-B，已有缓存仍可能选择 A。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标量通过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读取；本系列简化为缓存、环境、普通值。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这是具体函数的规则，不能套到所有 CMake 变量。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换板或工具组合优先用新的构建目录，避免关联结果残留。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不是每次出错都要重新安装 SDK 或删除工作区。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C4126F2-C9B1-43A0-B0BD-54D1FDA48B0D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官方说明：CMake 变量与作用域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F6AD34D5-9A63-4C4D-9C58-318054821E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4088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51D646D-281E-4E2F-9448-BA6AB51E57C3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CFF19FB-3C44-46DA-B084-9999B17D47A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F8426B4-5054-4D00-ADB4-3669285B542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模块列表的合并行为需要单独看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67021AB-9ED6-4F3B-AAA8-6D099BD380D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11.1.2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13704E8-CED6-4220-8FDF-940FA109C05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使用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MERGE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它还处理兼容名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ZEPHYR_EXTRA_MODULES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，并合并各来源。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因此空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不一定能清除环境里的额外路径。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排错时分别核对终端、所选预设、应用定义和构建目录。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也有自己的包入口分支。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接口说明必须指向具体读取者，不能只背一条“通用优先级”。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D6F3C0E4-9176-47EF-A017-B09F97E5582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12A2BFB-F41E-4A58-B3A6-2767E4C32A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D36B0C3-C414-4BDB-A817-155103350EA2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37C14A5-2E1F-452F-8DF1-AB191B0667F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7F02A2-F4D0-47C0-A161-37554F3671B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改变哪个对象，就选择哪类接口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9B7DAEB-C7B3-4518-9049-2D2A167E0F1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11.1.3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C7A2ABE-6380-4F47-A324-71F40EFBE75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换应用代码：修改目标源码；换功能：Kconfig 配置片段。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换硬件描述：板 / SoC / overlay；新增板目录：相应搜索根。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固定 SDK：约束包位置；换独立工具：选择类型与前缀。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更换 HAL：先核对芯片与适配，再取得源码、追加模块。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官方板的正常组合可以保留 SDK 默认发现与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每增加一个显式参数，都应能解释它改变了哪个对象。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4BE57F9A-3692-4986-8939-9FAD3F56A47F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43C87C8F-767E-46EA-91C5-0F9C7C596CC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cmake/modules/zephyr_default.cmake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CF2125C-1DFD-4648-AAC4-194CE199A6D1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8F553FD-23FB-4E1E-8F2E-A661EF10C6B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DAAE56-36EF-4BDA-BD87-93E976C7E94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更大工程的扩展仍有明确边界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B50EDA2-014D-48A7-840D-E549B5B110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11.1.4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1C023DD-111C-42BC-9F72-367372F753A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SOC_ROOT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DTS_ROOT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：硬件描述的搜索范围。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MODULE_EXT_ROOT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：模块外置接入文件所在位置。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：工具链接入规则所在位置。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snippets 组合命名配置片段；sysbuild 协调多个镜像。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各镜像仍有自己的配置和构建产物。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普通单应用先走本章主线，需要时再进入相应扩展文档。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B8F18C2F-AE68-4070-88ED-D518D7F0D27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doc/build/sysbuild/index.rst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EAC36FB-0579-4A4D-8645-DC69E6EE1CB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0F93DE6E-CC76-432B-9E9C-CF62AECB85FF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BE26B56-1D46-4AB2-950A-30720923007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4B8BC5-3957-41EC-8BD7-10B52B80FCF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从生成文件观察配置结果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2DCC4B-0F0F-4021-89E3-A3422E4C0B3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 · ⑤ 核对结果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0A32255-1822-49CC-A0A1-3BEAE2A7499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配置日志、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：入口和保存的选择。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：Kconfig 的有效功能。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zephyr/zephyr.dts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：合并后的硬件描述。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：已识别模块根和接入位置。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compile_commands.json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：实际编译器、宏、头文件和 CPU 参数。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：最终构建产物。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这些文件在相应阶段生成，不由读者预先手建。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3ED32CFF-AC39-485E-91BF-0CC3E7C180A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9C2A32B-C69B-4433-9A35-C9D60A16C55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3211BCA-1EE7-4F03-A209-E749A5088DE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DB57DBA-DABD-4589-BA03-B6E4CC02C48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8BE96F-FB0C-476A-925C-1DFCFFE9EC2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按发现、配置和构建分别排错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320DC6A-7522-47D7-9929-F75EB83FC21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11.2.3 · ⑤ 核对结果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B232C5A-F522-4F6A-ADA5-ABC95A599E8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 缺头文件：候选是否包含它，入口是否执行，条件是否启用？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仍是旧版：环境、预设或构建缓存是否固定了旧位置？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换芯片不能构建：板 / SoC / 驱动是否已实现并进入搜索范围？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每个问题都回到对应输入、读取者和产物。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包存在、模块发现、文件参与编译、固件运行是不同证据。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本册先核对 P008 的 cmake-demo，P012 再做新增板。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6076C2C2-CC1A-4940-82D6-63CC0B33FC7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doc/develop/application/index.rst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184A031-1266-417A-8163-4771C32654F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cmake/modules/zephyr_default.cmake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49B0C8A-FF05-4780-A55D-F6629BB40B9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F77C3C6-FBD3-4097-9D15-2D83CBDB04E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13436F8-3696-4AD2-8F32-4896DEABBEF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解释过的工程规则，怎样回到依据核对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CA93B05-7BF2-4836-A3FC-0BE106AF8B1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11.3.1 · ⑤ 依据入口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76A2B43-63D4-4473-85FF-6CE837EC52C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 and Configuration Systems → Build System (CMake)：阶段模型。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同组的 CMake Reference：模块、目标属性与变量分类。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Developing with Zephyr → Application Development：应用结构。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Modules (External projects)：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与源码项目接入。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Toolchains：SDK、独立编译器和自定义规则。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前面的操作已说明输入、读取者和产物；这些链接用于复核规则。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FD836664-47FA-4462-805F-58A9B1297218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6E09BA1-1904-41E0-945D-0B2C36A3295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doc/develop/application/index.rst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2AB97BC-F662-44CA-BC45-40538B2C77E0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FDC19FA-D447-4ABC-9BEF-DE01AF0B647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D0950D-23F4-4B3F-A806-2569DDD8D93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短 rst 文件怎样生成完整接口文档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7D8C5EE-2F24-4C1D-AB2F-1D96105C60C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11.3.2 · ⑤ 依据入口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D90700F-2BBA-4D85-B82D-2E38F2BE929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doc/build/cmake-ref/module/extensions.rst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使用 cmake-module 指令。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它从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extensions.cmake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.rst 注释提取接口说明。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注释解释参数与行为，下面紧接实际函数或宏实现。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变量页会继续指向读取模块，如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configuration_files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例如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决定应用配置片段，由 configuration_files 读取。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换配置片段后，核对本次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中的功能值。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B615D13-E169-4A1F-BEA2-31AD716741E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5A7A2047-82ED-4D5D-9108-184E9BEF264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682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5ABB9A2-258F-45A8-9E6F-6181EFE5402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F404B51-E116-49EF-A92A-077B1A193B1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22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