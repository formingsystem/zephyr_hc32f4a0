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build_methods_1.xml" ContentType="application/vnd.openxmlformats-officedocument.presentationml.slide+xml"/>
  <Override PartName="/ppt/notesSlides/build_methods_1.xml" ContentType="application/vnd.openxmlformats-officedocument.presentationml.notesSlide+xml"/>
  <Override PartName="/ppt/slides/build_methods_2.xml" ContentType="application/vnd.openxmlformats-officedocument.presentationml.slide+xml"/>
  <Override PartName="/ppt/notesSlides/build_methods_2.xml" ContentType="application/vnd.openxmlformats-officedocument.presentationml.notesSlide+xml"/>
  <Override PartName="/ppt/slides/build_methods_3.xml" ContentType="application/vnd.openxmlformats-officedocument.presentationml.slide+xml"/>
  <Override PartName="/ppt/notesSlides/build_methods_3.xml" ContentType="application/vnd.openxmlformats-officedocument.presentationml.notesSlide+xml"/>
  <Override PartName="/ppt/slides/build_methods_4.xml" ContentType="application/vnd.openxmlformats-officedocument.presentationml.slide+xml"/>
  <Override PartName="/ppt/notesSlides/build_methods_4.xml" ContentType="application/vnd.openxmlformats-officedocument.presentationml.notesSlide+xml"/>
  <Override PartName="/ppt/slides/build_methods_5.xml" ContentType="application/vnd.openxmlformats-officedocument.presentationml.slide+xml"/>
  <Override PartName="/ppt/notesSlides/build_methods_5.xml" ContentType="application/vnd.openxmlformats-officedocument.presentationml.notesSlide+xml"/>
  <Override PartName="/ppt/slides/build_methods_6.xml" ContentType="application/vnd.openxmlformats-officedocument.presentationml.slide+xml"/>
  <Override PartName="/ppt/notesSlides/build_methods_6.xml" ContentType="application/vnd.openxmlformats-officedocument.presentationml.notesSlide+xml"/>
  <Override PartName="/ppt/slides/build_methods_7.xml" ContentType="application/vnd.openxmlformats-officedocument.presentationml.slide+xml"/>
  <Override PartName="/ppt/notesSlides/build_methods_7.xml" ContentType="application/vnd.openxmlformats-officedocument.presentationml.notesSlide+xml"/>
  <Override PartName="/ppt/slides/build_methods_8.xml" ContentType="application/vnd.openxmlformats-officedocument.presentationml.slide+xml"/>
  <Override PartName="/ppt/notesSlides/build_methods_8.xml" ContentType="application/vnd.openxmlformats-officedocument.presentationml.notesSlide+xml"/>
  <Override PartName="/ppt/slides/build_methods_9.xml" ContentType="application/vnd.openxmlformats-officedocument.presentationml.slide+xml"/>
  <Override PartName="/ppt/notesSlides/build_methods_9.xml" ContentType="application/vnd.openxmlformats-officedocument.presentationml.notesSlide+xml"/>
  <Override PartName="/ppt/slides/build_methods_10.xml" ContentType="application/vnd.openxmlformats-officedocument.presentationml.slide+xml"/>
  <Override PartName="/ppt/notesSlides/build_methods_10.xml" ContentType="application/vnd.openxmlformats-officedocument.presentationml.notesSlide+xml"/>
  <Override PartName="/ppt/slides/build_methods_11.xml" ContentType="application/vnd.openxmlformats-officedocument.presentationml.slide+xml"/>
  <Override PartName="/ppt/notesSlides/build_methods_11.xml" ContentType="application/vnd.openxmlformats-officedocument.presentationml.notesSlide+xml"/>
  <Override PartName="/ppt/slides/build_methods_12.xml" ContentType="application/vnd.openxmlformats-officedocument.presentationml.slide+xml"/>
  <Override PartName="/ppt/notesSlides/build_methods_12.xml" ContentType="application/vnd.openxmlformats-officedocument.presentationml.notesSlide+xml"/>
  <Override PartName="/ppt/slides/build_methods_13.xml" ContentType="application/vnd.openxmlformats-officedocument.presentationml.slide+xml"/>
  <Override PartName="/ppt/notesSlides/build_methods_13.xml" ContentType="application/vnd.openxmlformats-officedocument.presentationml.notesSlide+xml"/>
  <Override PartName="/ppt/slides/build_methods_14.xml" ContentType="application/vnd.openxmlformats-officedocument.presentationml.slide+xml"/>
  <Override PartName="/ppt/notesSlides/build_methods_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53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98" r:id="rIdBuildMethods1"/>
    <p:sldId id="299" r:id="rIdBuildMethods2"/>
    <p:sldId id="300" r:id="rIdBuildMethods3"/>
    <p:sldId id="301" r:id="rIdBuildMethods4"/>
    <p:sldId id="302" r:id="rIdBuildMethods5"/>
    <p:sldId id="303" r:id="rIdBuildMethods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304" r:id="rIdBuildMethods7"/>
    <p:sldId id="305" r:id="rIdBuildMethods8"/>
    <p:sldId id="306" r:id="rIdBuildMethods9"/>
    <p:sldId id="307" r:id="rIdBuildMethods10"/>
    <p:sldId id="308" r:id="rIdBuildMethods11"/>
    <p:sldId id="309" r:id="rIdBuildMethods12"/>
    <p:sldId id="310" r:id="rIdBuildMethods13"/>
    <p:sldId id="311" r:id="rIdBuildMethods14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BuildMethods1" Type="http://schemas.openxmlformats.org/officeDocument/2006/relationships/slide" Target="slides/build_methods_1.xml"/><Relationship Id="rIdBuildMethods2" Type="http://schemas.openxmlformats.org/officeDocument/2006/relationships/slide" Target="slides/build_methods_2.xml"/><Relationship Id="rIdBuildMethods3" Type="http://schemas.openxmlformats.org/officeDocument/2006/relationships/slide" Target="slides/build_methods_3.xml"/><Relationship Id="rIdBuildMethods4" Type="http://schemas.openxmlformats.org/officeDocument/2006/relationships/slide" Target="slides/build_methods_4.xml"/><Relationship Id="rIdBuildMethods5" Type="http://schemas.openxmlformats.org/officeDocument/2006/relationships/slide" Target="slides/build_methods_5.xml"/><Relationship Id="rIdBuildMethods6" Type="http://schemas.openxmlformats.org/officeDocument/2006/relationships/slide" Target="slides/build_methods_6.xml"/><Relationship Id="rIdBuildMethods7" Type="http://schemas.openxmlformats.org/officeDocument/2006/relationships/slide" Target="slides/build_methods_7.xml"/><Relationship Id="rIdBuildMethods8" Type="http://schemas.openxmlformats.org/officeDocument/2006/relationships/slide" Target="slides/build_methods_8.xml"/><Relationship Id="rIdBuildMethods9" Type="http://schemas.openxmlformats.org/officeDocument/2006/relationships/slide" Target="slides/build_methods_9.xml"/><Relationship Id="rIdBuildMethods10" Type="http://schemas.openxmlformats.org/officeDocument/2006/relationships/slide" Target="slides/build_methods_10.xml"/><Relationship Id="rIdBuildMethods11" Type="http://schemas.openxmlformats.org/officeDocument/2006/relationships/slide" Target="slides/build_methods_11.xml"/><Relationship Id="rIdBuildMethods12" Type="http://schemas.openxmlformats.org/officeDocument/2006/relationships/slide" Target="slides/build_methods_12.xml"/><Relationship Id="rIdBuildMethods13" Type="http://schemas.openxmlformats.org/officeDocument/2006/relationships/slide" Target="slides/build_methods_13.xml"/><Relationship Id="rIdBuildMethods14" Type="http://schemas.openxmlformats.org/officeDocument/2006/relationships/slide" Target="slides/build_methods_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build_methods_1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1.xml"/><Relationship Id="rId1" Type="http://schemas.openxmlformats.org/officeDocument/2006/relationships/notesMaster" Target="../notesMasters/notesMaster1.xml"/></Relationships>
</file>

<file path=ppt/notesSlides/_rels/build_methods_2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2.xml"/><Relationship Id="rId1" Type="http://schemas.openxmlformats.org/officeDocument/2006/relationships/notesMaster" Target="../notesMasters/notesMaster1.xml"/></Relationships>
</file>

<file path=ppt/notesSlides/_rels/build_methods_3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3.xml"/><Relationship Id="rId1" Type="http://schemas.openxmlformats.org/officeDocument/2006/relationships/notesMaster" Target="../notesMasters/notesMaster1.xml"/></Relationships>
</file>

<file path=ppt/notesSlides/_rels/build_methods_4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4.xml"/><Relationship Id="rId1" Type="http://schemas.openxmlformats.org/officeDocument/2006/relationships/notesMaster" Target="../notesMasters/notesMaster1.xml"/></Relationships>
</file>

<file path=ppt/notesSlides/_rels/build_methods_5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5.xml"/><Relationship Id="rId1" Type="http://schemas.openxmlformats.org/officeDocument/2006/relationships/notesMaster" Target="../notesMasters/notesMaster1.xml"/></Relationships>
</file>

<file path=ppt/notesSlides/_rels/build_methods_6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6.xml"/><Relationship Id="rId1" Type="http://schemas.openxmlformats.org/officeDocument/2006/relationships/notesMaster" Target="../notesMasters/notesMaster1.xml"/></Relationships>
</file>

<file path=ppt/notesSlides/_rels/build_methods_7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7.xml"/><Relationship Id="rId1" Type="http://schemas.openxmlformats.org/officeDocument/2006/relationships/notesMaster" Target="../notesMasters/notesMaster1.xml"/></Relationships>
</file>

<file path=ppt/notesSlides/_rels/build_methods_8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8.xml"/><Relationship Id="rId1" Type="http://schemas.openxmlformats.org/officeDocument/2006/relationships/notesMaster" Target="../notesMasters/notesMaster1.xml"/></Relationships>
</file>

<file path=ppt/notesSlides/_rels/build_methods_9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9.xml"/><Relationship Id="rId1" Type="http://schemas.openxmlformats.org/officeDocument/2006/relationships/notesMaster" Target="../notesMasters/notesMaster1.xml"/></Relationships>
</file>

<file path=ppt/notesSlides/_rels/build_methods_10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10.xml"/><Relationship Id="rId1" Type="http://schemas.openxmlformats.org/officeDocument/2006/relationships/notesMaster" Target="../notesMasters/notesMaster1.xml"/></Relationships>
</file>

<file path=ppt/notesSlides/_rels/build_methods_11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11.xml"/><Relationship Id="rId1" Type="http://schemas.openxmlformats.org/officeDocument/2006/relationships/notesMaster" Target="../notesMasters/notesMaster1.xml"/></Relationships>
</file>

<file path=ppt/notesSlides/_rels/build_methods_12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12.xml"/><Relationship Id="rId1" Type="http://schemas.openxmlformats.org/officeDocument/2006/relationships/notesMaster" Target="../notesMasters/notesMaster1.xml"/></Relationships>
</file>

<file path=ppt/notesSlides/_rels/build_methods_13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13.xml"/><Relationship Id="rId1" Type="http://schemas.openxmlformats.org/officeDocument/2006/relationships/notesMaster" Target="../notesMasters/notesMaster1.xml"/></Relationships>
</file>

<file path=ppt/notesSlides/_rels/build_methods_14.xml.rels><?xml version='1.0' encoding='utf-8' standalone='yes'?>
<Relationships xmlns="http://schemas.openxmlformats.org/package/2006/relationships"><Relationship Id="rId2" Type="http://schemas.openxmlformats.org/officeDocument/2006/relationships/slide" Target="../slides/build_methods_14.xml"/><Relationship Id="rId1" Type="http://schemas.openxmlformats.org/officeDocument/2006/relationships/notesMaster" Target="../notesMasters/notesMaster1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build_methods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对应正文：P003_Zephyr的CMake接口体系_Windows.md#cmake-build-methods</a:t>
            </a:r>
          </a:p>
          <a:p>
            <a:r>
              <a:t>3.1.2.1 · ① 配置和构建</a:t>
            </a:r>
          </a:p>
          <a:p>
            <a:r>
              <a:t>官方 samples/hello_world，目标 BOARD=mps2/an386。</a:t>
            </a:r>
          </a:p>
          <a:p>
            <a:r>
              <a:t>MPS2 AN386 提供 Cortex-M4 模型，本节不连接实板。</a:t>
            </a:r>
          </a:p>
          <a:p>
            <a:r>
              <a:t>执行前完成 P004—P006，并通过 P007 环境检查。</a:t>
            </a:r>
          </a:p>
          <a:p>
            <a:r>
              <a:t>首次阅读可先理解关系，依赖未齐时不执行构建。</a:t>
            </a:r>
          </a:p>
          <a:p>
            <a:r>
              <a:t/>
            </a:r>
          </a:p>
          <a:p>
            <a:r>
              <a:t># Windows UCRT64；进入源码根，激活 P002 已有环境。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# Zephyr 原生源码根变量，下一页用于定位这份源码。</a:t>
            </a:r>
          </a:p>
          <a:p>
            <a:r>
              <a:t>export ZEPHYR_BASE="$(cygpath -m "$PWD")"</a:t>
            </a:r>
          </a:p>
          <a:p>
            <a:r>
              <a:t/>
            </a:r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对应正文：P003_Zephyr的CMake接口体系_Windows.md#cmake-configure-command</a:t>
            </a:r>
          </a:p>
          <a:p>
            <a:r>
              <a:t>3.1.2.2 · ① 配置和构建</a:t>
            </a:r>
          </a:p>
          <a:p>
            <a:r>
              <a:t>-S 指官方应用，-B 目录由 CMake 创建，保存本次状态。</a:t>
            </a:r>
          </a:p>
          <a:p>
            <a:r>
              <a:t>-G Ninja 选择构建后端，BOARD 由 Zephyr 选硬件。</a:t>
            </a:r>
          </a:p>
          <a:p>
            <a:r>
              <a:t>看到 Configuring done / Generating done 后，才进入编译。</a:t>
            </a:r>
          </a:p>
          <a:p>
            <a:r>
              <a:t/>
            </a:r>
          </a:p>
          <a:p>
            <a:r>
              <a:t># UCRT64；源码根；承接上一页的 .venv 与 ZEPHYR_BASE。</a:t>
            </a:r>
          </a:p>
          <a:p>
            <a:r>
              <a:t>cmake -S samples/hello_world \</a:t>
            </a:r>
          </a:p>
          <a:p>
            <a:r>
              <a:t>  -B build/learning-tools/p003/cmake-demo -G Ninja \</a:t>
            </a:r>
          </a:p>
          <a:p>
            <a:r>
              <a:t>  -DBOARD=mps2/an386 \</a:t>
            </a:r>
          </a:p>
          <a:p>
            <a:r>
              <a:t>  "-DZephyr_DIR=$ZEPHYR_BASE/share/zephyr-package/cmake" \</a:t>
            </a:r>
          </a:p>
          <a:p>
            <a:r>
              <a:t>  "-DPython3_EXECUTABLE=$(cygpath -m "$(command -v python)")"</a:t>
            </a:r>
          </a:p>
          <a:p>
            <a:r>
              <a:t/>
            </a:r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对应正文：P003_Zephyr的CMake接口体系_Windows.md#cmake-build-command</a:t>
            </a:r>
          </a:p>
          <a:p>
            <a:r>
              <a:t>3.1.2.3 · ① 配置和构建</a:t>
            </a:r>
          </a:p>
          <a:p>
            <a:r>
              <a:t>cmake --build 调用已配置的 Ninja，不再重复选板。</a:t>
            </a:r>
          </a:p>
          <a:p>
            <a:r>
              <a:t>首次构建得到 zephyr/zephyr.elf。无改动时通常无需重编译。</a:t>
            </a:r>
          </a:p>
          <a:p>
            <a:r>
              <a:t>修改 main.c 后仍用这条命令，按依赖更新对象与链接。</a:t>
            </a:r>
          </a:p>
          <a:p>
            <a:r>
              <a:t/>
            </a:r>
          </a:p>
          <a:p>
            <a:r>
              <a:t># UCRT64；源码根；前提：上一页配置成功，.venv 已激活。</a:t>
            </a:r>
          </a:p>
          <a:p>
            <a:r>
              <a:t>cmake --build build/learning-tools/p003/cmake-demo --parallel 4</a:t>
            </a:r>
          </a:p>
          <a:p>
            <a:r>
              <a:t>ls -l build/learning-tools/p003/cmake-demo/zephyr/zephyr.elf</a:t>
            </a:r>
          </a:p>
          <a:p>
            <a:r>
              <a:t># 输入未变，再次构建通常显示 ninja: no work to do.</a:t>
            </a:r>
          </a:p>
          <a:p>
            <a:r>
              <a:t>cmake --build build/learning-tools/p003/cmake-demo --parallel 4</a:t>
            </a:r>
          </a:p>
          <a:p>
            <a:r>
              <a:t/>
            </a:r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对应正文：P003_Zephyr的CMake接口体系_Windows.md#cmake-build-command</a:t>
            </a:r>
          </a:p>
          <a:p>
            <a:r>
              <a:t>3.1.2.4 · ① 常用构建方式</a:t>
            </a:r>
          </a:p>
          <a:p>
            <a:r>
              <a:t>--parallel 4 限制并行任务，--verbose 打印本次实际命令。</a:t>
            </a:r>
          </a:p>
          <a:p>
            <a:r>
              <a:t>工程已是最新状态时，详细输出不会强制重编译。</a:t>
            </a:r>
          </a:p>
          <a:p>
            <a:r>
              <a:t>--target app 只构建应用库，不能据此认定固件已链接。</a:t>
            </a:r>
          </a:p>
          <a:p>
            <a:r>
              <a:t>cmake --build 后的 -- 把参数交给后端，不接收配置 -D。</a:t>
            </a:r>
          </a:p>
          <a:p>
            <a:r>
              <a:t/>
            </a:r>
          </a:p>
          <a:p>
            <a:r>
              <a:t># UCRT64；源码根；前提：cmake-demo 已配置，.venv 已激活。</a:t>
            </a:r>
          </a:p>
          <a:p>
            <a:r>
              <a:t>cmake --build build/learning-tools/p003/cmake-demo --parallel 4 --verbose</a:t>
            </a:r>
          </a:p>
          <a:p>
            <a:r>
              <a:t># help 列出本例 Ninja 工程可用目标。</a:t>
            </a:r>
          </a:p>
          <a:p>
            <a:r>
              <a:t>cmake --build build/learning-tools/p003/cmake-demo --target help</a:t>
            </a:r>
          </a:p>
          <a:p>
            <a:r>
              <a:t/>
            </a:r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对应正文：P003_Zephyr的CMake接口体系_Windows.md#cmake-build-command</a:t>
            </a:r>
          </a:p>
          <a:p>
            <a:r>
              <a:t>3.1.2.5 · ① 两种调用入口</a:t>
            </a:r>
          </a:p>
          <a:p>
            <a:r>
              <a:t>west build 包装 CMake 与后端，读取同一份构建状态。</a:t>
            </a:r>
          </a:p>
          <a:p>
            <a:r>
              <a:t>-c 强制重跑 CMake，之后再构建。日常无需每次添加。</a:t>
            </a:r>
          </a:p>
          <a:p>
            <a:r>
              <a:t>west build 后的 -- -D 传给 CMake 配置阶段。</a:t>
            </a:r>
          </a:p>
          <a:p>
            <a:r>
              <a:t>它与 cmake --build 后的 -- 接收者不同。</a:t>
            </a:r>
          </a:p>
          <a:p>
            <a:r>
              <a:t/>
            </a:r>
          </a:p>
          <a:p>
            <a:r>
              <a:t># UCRT64；源码根；前提：本节 cmake-demo 已配置，.venv 已激活。</a:t>
            </a:r>
          </a:p>
          <a:p>
            <a:r>
              <a:t>west build -d build/learning-tools/p003/cmake-demo</a:t>
            </a:r>
          </a:p>
          <a:p>
            <a:r>
              <a:t># 需要重新配置时才选择这条，不做 west init。</a:t>
            </a:r>
          </a:p>
          <a:p>
            <a:r>
              <a:t>west build -d build/learning-tools/p003/cmake-demo -c</a:t>
            </a:r>
          </a:p>
          <a:p>
            <a:r>
              <a:t/>
            </a:r>
          </a:p>
          <a:p>
            <a:r>
              <a:t>官方说明：https://docs.zephyrproject.org/latest/develop/west/build-flash-debug.html</a:t>
            </a:r>
          </a:p>
          <a:p>
            <a:r>
              <a:t>固定源码依据：https://github.com/zephyrproject-rtos/zephyr/blob/25c8f4a23988dd3b2cfb463613622738298c2d6c/scripts/west_commands/build.py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对应正文：P003_Zephyr的CMake接口体系_Windows.md#cmake-build-command</a:t>
            </a:r>
          </a:p>
          <a:p>
            <a:r>
              <a:t>3.1.2.6 · ① 构建类型</a:t>
            </a:r>
          </a:p>
          <a:p>
            <a:r>
              <a:t>普通 CMake 的单配置工程常在配置时设置 CMAKE_BUILD_TYPE。</a:t>
            </a:r>
          </a:p>
          <a:p>
            <a:r>
              <a:t>多配置生成器通常在构建时用 --config 选择配置。</a:t>
            </a:r>
          </a:p>
          <a:p>
            <a:r>
              <a:t/>
            </a:r>
          </a:p>
          <a:p>
            <a:r>
              <a:t>本系列使用 Ninja。Zephyr 的优化主要由 Kconfig 决定，</a:t>
            </a:r>
          </a:p>
          <a:p>
            <a:r>
              <a:t>如 CONFIG_DEBUG_OPTIMIZATIONS 与 CONFIG_SIZE_OPTIMIZATIONS。</a:t>
            </a:r>
          </a:p>
          <a:p>
            <a:r>
              <a:t>单独传 Debug 不等于完成 Zephyr 调试优化配置。</a:t>
            </a:r>
          </a:p>
          <a:p>
            <a:r>
              <a:t/>
            </a:r>
          </a:p>
          <a:p>
            <a:r>
              <a:t>核对 zephyr/.config 与实际编译参数。</a:t>
            </a:r>
          </a:p>
          <a:p>
            <a:r>
              <a:t>cmake --install 是项目安装操作，也不等于烧录固件。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>官方说明：https://cmake.org/cmake/help/latest/variable/CMAKE_BUILD_TYPE.html</a:t>
            </a:r>
          </a:p>
          <a:p>
            <a:r>
              <a:t>固定源码依据：https://github.com/zephyrproject-rtos/zephyr/blob/25c8f4a23988dd3b2cfb463613622738298c2d6c/CMakeLists.txt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对应正文：P003_Zephyr的CMake接口体系_Windows.md#cmake-cache-practice</a:t>
            </a:r>
          </a:p>
          <a:p>
            <a:r>
              <a:t>3.5.1.1 · ④ 保存与复用</a:t>
            </a:r>
          </a:p>
          <a:p>
            <a:r>
              <a:t>CMakeCache.txt 保存配置值，build.ninja 描述执行规则。</a:t>
            </a:r>
          </a:p>
          <a:p>
            <a:r>
              <a:t>对象文件与 zephyr.elf 是执行结果，不能与配置缓存混为一谈。</a:t>
            </a:r>
          </a:p>
          <a:p>
            <a:r>
              <a:t>第二次配置同一 -B 时，CMake 读取已有缓存再生成规则。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对应正文：P003_Zephyr的CMake接口体系_Windows.md#cmake-cache-practice</a:t>
            </a:r>
          </a:p>
          <a:p>
            <a:r>
              <a:t>3.5.1.2 · ④ 保存与复用</a:t>
            </a:r>
          </a:p>
          <a:p>
            <a:r>
              <a:t>-N 只查看，不重新配置或生成。-L 列选项，A 加高级项，H 带帮助。</a:t>
            </a:r>
          </a:p>
          <a:p>
            <a:r>
              <a:t>没有 -N 的 -LAH 调用可能重新配置。</a:t>
            </a:r>
          </a:p>
          <a:p>
            <a:r>
              <a:t>列表不含全部 INTERNAL 条目；入口等信息可直接读缓存文件。</a:t>
            </a:r>
          </a:p>
          <a:p>
            <a:r>
              <a:t>缓存不存在时回到首次配置，不手工创建空文件。</a:t>
            </a:r>
          </a:p>
          <a:p>
            <a:r>
              <a:t/>
            </a:r>
          </a:p>
          <a:p>
            <a:r>
              <a:t># UCRT64；源码根；前提：3.1.2 的 cmake-demo 配置成功。</a:t>
            </a:r>
          </a:p>
          <a:p>
            <a:r>
              <a:t>test -f build/learning-tools/p003/cmake-demo/CMakeCache.txt &amp;&amp; \</a:t>
            </a:r>
          </a:p>
          <a:p>
            <a:r>
              <a:t>cmake -N -LAH build/learning-tools/p003/cmake-demo</a:t>
            </a:r>
          </a:p>
          <a:p>
            <a:r>
              <a:t/>
            </a:r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对应正文：P003_Zephyr的CMake接口体系_Windows.md#cmake-cache-practice</a:t>
            </a:r>
          </a:p>
          <a:p>
            <a:r>
              <a:t>3.5.1.3 · ④ 缓存操作</a:t>
            </a:r>
          </a:p>
          <a:p>
            <a:r>
              <a:t>CMAKE_MESSAGE_LOG_LEVEL 是 CMake 配置日志级别，不是编译详细输出。</a:t>
            </a:r>
          </a:p>
          <a:p>
            <a:r>
              <a:t>首次设为 VERBOSE 后，重复配置不再传它，缓存仍保留 VERBOSE。</a:t>
            </a:r>
          </a:p>
          <a:p>
            <a:r>
              <a:t>因此“下一条命令省略参数”不会撤销前一次选择。</a:t>
            </a:r>
          </a:p>
          <a:p>
            <a:r>
              <a:t/>
            </a:r>
          </a:p>
          <a:p>
            <a:r>
              <a:t># UCRT64；源码根；本节 cmake-demo 已配置，.venv 已激活。</a:t>
            </a:r>
          </a:p>
          <a:p>
            <a:r>
              <a:t>cmake -S samples/hello_world -B build/learning-tools/p003/cmake-demo \</a:t>
            </a:r>
          </a:p>
          <a:p>
            <a:r>
              <a:t>  -DCMAKE_MESSAGE_LOG_LEVEL:STRING=VERBOSE</a:t>
            </a:r>
          </a:p>
          <a:p>
            <a:r>
              <a:t># 同一目录再次配置，特意不重复 -D。</a:t>
            </a:r>
          </a:p>
          <a:p>
            <a:r>
              <a:t>cmake -S samples/hello_world -B build/learning-tools/p003/cmake-demo</a:t>
            </a:r>
          </a:p>
          <a:p>
            <a:r>
              <a:t>cmake -N -LAH build/learning-tools/p003/cmake-demo | grep CMAKE_MESSAGE_LOG_LEVEL</a:t>
            </a:r>
          </a:p>
          <a:p>
            <a:r>
              <a:t/>
            </a:r>
          </a:p>
          <a:p>
            <a:r>
              <a:t>官方说明：https://cmake.org/cmake/help/latest/variable/CMAKE_MESSAGE_LOG_LEVEL.html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对应正文：P003_Zephyr的CMake接口体系_Windows.md#cmake-cache-practice</a:t>
            </a:r>
          </a:p>
          <a:p>
            <a:r>
              <a:t>3.5.1.4 · ④ 缓存操作</a:t>
            </a:r>
          </a:p>
          <a:p>
            <a:r>
              <a:t>-U 删除准确匹配的缓存项，再执行配置。</a:t>
            </a:r>
          </a:p>
          <a:p>
            <a:r>
              <a:t>本例无其他来源重建该项时，grep 无输出、返回 1 是预期结果。</a:t>
            </a:r>
          </a:p>
          <a:p>
            <a:r>
              <a:t>显式改为 STATUS 仍保留一个值；删除条目才撤销缓存选择。</a:t>
            </a:r>
          </a:p>
          <a:p>
            <a:r>
              <a:t>终端环境、预设和脚本不会随 -U 一起删除。</a:t>
            </a:r>
          </a:p>
          <a:p>
            <a:r>
              <a:t/>
            </a:r>
          </a:p>
          <a:p>
            <a:r>
              <a:t># UCRT64；源码根；前提：上一页已设置日志项，.venv 已激活。</a:t>
            </a:r>
          </a:p>
          <a:p>
            <a:r>
              <a:t>cmake -S samples/hello_world -B build/learning-tools/p003/cmake-demo \</a:t>
            </a:r>
          </a:p>
          <a:p>
            <a:r>
              <a:t>  -U CMAKE_MESSAGE_LOG_LEVEL</a:t>
            </a:r>
          </a:p>
          <a:p>
            <a:r>
              <a:t>grep '^CMAKE_MESSAGE_LOG_LEVEL:' build/learning-tools/p003/cmake-demo/CMakeCache.txt</a:t>
            </a:r>
          </a:p>
          <a:p>
            <a:r>
              <a:t/>
            </a:r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对应正文：P003_Zephyr的CMake接口体系_Windows.md#cmake-cache-practice</a:t>
            </a:r>
          </a:p>
          <a:p>
            <a:r>
              <a:t>3.5.1.4 · ④ 传入值与实际值</a:t>
            </a:r>
          </a:p>
          <a:p>
            <a:r>
              <a:t>当前 Zephyr 强制生成编译命令数据库，供内部脚本使用。</a:t>
            </a:r>
          </a:p>
          <a:p>
            <a:r>
              <a:t>因此把此项传成 OFF，配置脚本仍会用 FORCE 写回 TRUE。</a:t>
            </a:r>
          </a:p>
          <a:p>
            <a:r>
              <a:t>-D 不保证压过随后执行的所有项目规则。</a:t>
            </a:r>
          </a:p>
          <a:p>
            <a:r>
              <a:t>普通变量、缓存与 zephyr_get 的读取顺序也要区分。</a:t>
            </a:r>
          </a:p>
          <a:p>
            <a:r>
              <a:t/>
            </a:r>
          </a:p>
          <a:p>
            <a:r>
              <a:t># 只读：Zephyr 原有 cmake/modules/kernel.cmake，第 167 行附近。</a:t>
            </a:r>
          </a:p>
          <a:p>
            <a:r>
              <a:t>set(CMAKE_EXPORT_COMPILE_COMMANDS TRUE CACHE BOOL</a:t>
            </a:r>
          </a:p>
          <a:p>
            <a:r>
              <a:t>    "Export CMake compile commands. Used by gen_app_partitions.py script"</a:t>
            </a:r>
          </a:p>
          <a:p>
            <a:r>
              <a:t>    FORCE</a:t>
            </a:r>
          </a:p>
          <a:p>
            <a:r>
              <a:t>)</a:t>
            </a:r>
          </a:p>
          <a:p>
            <a:r>
              <a:t/>
            </a:r>
          </a:p>
          <a:p>
            <a:r>
              <a:t>官方说明：https://cmake.org/cmake/help/latest/command/set.html</a:t>
            </a:r>
          </a:p>
          <a:p>
            <a:r>
              <a:t>固定源码依据：https://github.com/zephyrproject-rtos/zephyr/blob/25c8f4a23988dd3b2cfb463613622738298c2d6c/cmake/modules/kernel.cmake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对应正文：P003_Zephyr的CMake接口体系_Windows.md#cmake-cache-practice</a:t>
            </a:r>
          </a:p>
          <a:p>
            <a:r>
              <a:t>3.5.1.5 · ④ 清理范围</a:t>
            </a:r>
          </a:p>
          <a:p>
            <a:r>
              <a:t>本例 clean 清除后端管理的构建产物，缓存与规则仍在。</a:t>
            </a:r>
          </a:p>
          <a:p>
            <a:r>
              <a:t>随后 build 复用相同的板和工具链重新编译。</a:t>
            </a:r>
          </a:p>
          <a:p>
            <a:r>
              <a:t>--clean-first 是先 clean 再 build，也不会重置配置选择。</a:t>
            </a:r>
          </a:p>
          <a:p>
            <a:r>
              <a:t>日常改代码先增量构建，不必每次清理。</a:t>
            </a:r>
          </a:p>
          <a:p>
            <a:r>
              <a:t/>
            </a:r>
          </a:p>
          <a:p>
            <a:r>
              <a:t># UCRT64；源码根；本节 cmake-demo 已构建，.venv 已激活。</a:t>
            </a:r>
          </a:p>
          <a:p>
            <a:r>
              <a:t>cmake --build build/learning-tools/p003/cmake-demo --target clean</a:t>
            </a:r>
          </a:p>
          <a:p>
            <a:r>
              <a:t>ls build/learning-tools/p003/cmake-demo/CMakeCache.txt</a:t>
            </a:r>
          </a:p>
          <a:p>
            <a:r>
              <a:t>cmake --build build/learning-tools/p003/cmake-demo --parallel 4</a:t>
            </a:r>
          </a:p>
          <a:p>
            <a:r>
              <a:t/>
            </a:r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对应正文：P003_Zephyr的CMake接口体系_Windows.md#cmake-cache-practice</a:t>
            </a:r>
          </a:p>
          <a:p>
            <a:r>
              <a:t>3.5.1.5 · ④ 重置时的选择</a:t>
            </a:r>
          </a:p>
          <a:p>
            <a:r>
              <a:t>重新配置：复用已有缓存，更新本次传入项并生成规则。</a:t>
            </a:r>
          </a:p>
          <a:p>
            <a:r>
              <a:t/>
            </a:r>
          </a:p>
          <a:p>
            <a:r>
              <a:t>--fresh：CMake 3.24+ 重建 CMakeCache.txt 和 CMakeFiles。</a:t>
            </a:r>
          </a:p>
          <a:p>
            <a:r>
              <a:t>它不保证删除所有 Zephyr 状态，不能等同于 pristine。</a:t>
            </a:r>
          </a:p>
          <a:p>
            <a:r>
              <a:t/>
            </a:r>
          </a:p>
          <a:p>
            <a:r>
              <a:t>west build 的 -p always：先清空指定构建目录，再配置构建。</a:t>
            </a:r>
          </a:p>
          <a:p>
            <a:r>
              <a:t>仅用于确认可以丢弃的输出目录，目录内手工文件也会丢失。</a:t>
            </a:r>
          </a:p>
          <a:p>
            <a:r>
              <a:t/>
            </a:r>
          </a:p>
          <a:p>
            <a:r>
              <a:t>换板、生成器或工具链，优先使用新的 -B，保留旧结果。</a:t>
            </a:r>
          </a:p>
          <a:p>
            <a:r>
              <a:t>新目录没有旧缓存，必须重新提供应用与 BOARD 等输入。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>官方说明：https://docs.zephyrproject.org/latest/develop/west/build-flash-debug.html#pristine-builds</a:t>
            </a:r>
          </a:p>
          <a:p>
            <a:r>
              <a:t>固定源码依据：https://github.com/zephyrproject-rtos/zephyr/blob/25c8f4a23988dd3b2cfb463613622738298c2d6c/cmake/pristine.cmake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build_methods_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对应正文：P003_Zephyr的CMake接口体系_Windows.md#cmake-cache-practice</a:t>
            </a:r>
          </a:p>
          <a:p>
            <a:r>
              <a:t>3.5.1.6 · ④ 保存参数组合</a:t>
            </a:r>
          </a:p>
          <a:p>
            <a:r>
              <a:t>前提：已按 P007 创建或合并 CMakeUserPresets.json。</a:t>
            </a:r>
          </a:p>
          <a:p>
            <a:r>
              <a:t>进入应用目录，选择其配置预设，再选择关联的构建预设。</a:t>
            </a:r>
          </a:p>
          <a:p>
            <a:r>
              <a:t>先核对预设内路径；编辑 JSON 后重新配置才能更新缓存。</a:t>
            </a:r>
          </a:p>
          <a:p>
            <a:r>
              <a:t>该预设使用 P007 的输出目录，与本节 cmake-demo 分开。</a:t>
            </a:r>
          </a:p>
          <a:p>
            <a:r>
              <a:t/>
            </a:r>
          </a:p>
          <a:p>
            <a:r>
              <a:t># UCRT64；.venv 已激活；P007 的 mps2-west-local 预设已存在。</a:t>
            </a:r>
          </a:p>
          <a:p>
            <a:r>
              <a:t>cd /g/zephyr_practice/zephyr-main/samples/hello_world</a:t>
            </a:r>
          </a:p>
          <a:p>
            <a:r>
              <a:t>cmake --list-presets</a:t>
            </a:r>
          </a:p>
          <a:p>
            <a:r>
              <a:t>cmake --preset mps2-west-local</a:t>
            </a:r>
          </a:p>
          <a:p>
            <a:r>
              <a:t>cmake --build --preset mps2-west-local</a:t>
            </a:r>
          </a:p>
          <a:p>
            <a:r>
              <a:t/>
            </a:r>
          </a:p>
          <a:p>
            <a:r>
              <a:t>官方说明：https://cmake.org/cmake/help/latest/manual/cmake-presets.7.html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P004—P006 并通过 P007 环境检查。应用、板与依赖均使用已有内容，本节只新增单独的构建输出目录。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P004—P007 回顾各自接口，并讲解本模块的结构与完整实验。</a:t>
            </a:r>
          </a:p>
          <a:p>
            <a:r>
              <a:t>配套正文：learning/P01_zephyr_make_project/P003_Zephyr的CMake接口体系_Windows.md。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</a:t>
            </a:r>
          </a:p>
          <a:p>
            <a:r>
              <a:t>3.1 · ① 应用与构建</a:t>
            </a:r>
          </a:p>
          <a:p>
            <a:r>
              <a:t>贯穿实例是官方 samples/hello_world，目标为 mps2/an386。</a:t>
            </a:r>
          </a:p>
          <a:p>
            <a:r>
              <a:t>先看谁执行工作，再看应用如何调用 Zephyr。</a:t>
            </a:r>
          </a:p>
          <a:p>
            <a:r>
              <a:t>读懂入口后，再解释板、SDK、模块和变量的作用。</a:t>
            </a:r>
          </a:p>
          <a:p>
            <a:endParaRPr/>
          </a:p>
          <a:p>
            <a:r>
              <a:t>本章补齐构建与缓存操作，依赖准备齐全后再执行。</a:t>
            </a:r>
          </a:p>
          <a:p>
            <a:endParaRPr/>
          </a:p>
          <a:p>
            <a:r>
              <a:t>讲解展开：</a:t>
            </a:r>
          </a:p>
          <a:p>
            <a:r>
              <a:t>## 3.1\_先看一个应用如何变成固件</a:t>
            </a:r>
          </a:p>
          <a:p>
            <a:endParaRPr/>
          </a:p>
          <a:p>
            <a:r>
              <a:t>&lt;a id="section-3-1-1"&gt;&lt;/a&gt;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配套正文：P003_Zephyr的CMake接口体系_Windows.md#section-3-1-5</a:t>
            </a:r>
          </a:p>
          <a:p>
            <a:r>
              <a:t>3.1.5 · ① 应用与构建</a:t>
            </a:r>
          </a:p>
          <a:p>
            <a:r>
              <a:t>应用提供 main.c，内核与驱动来自 Zephyr，</a:t>
            </a:r>
          </a:p>
          <a:p>
            <a:r>
              <a:t>板和 SoC 提供硬件描述，CMSIS 来自依赖项目，</a:t>
            </a:r>
          </a:p>
          <a:p>
            <a:r>
              <a:t>编译器安装在源码之外。</a:t>
            </a:r>
          </a:p>
          <a:p>
            <a:endParaRPr/>
          </a:p>
          <a:p>
            <a:r>
              <a:t>Zephyr 用 CMake 把这些对象组织为目标和依赖关系。</a:t>
            </a:r>
          </a:p>
          <a:p>
            <a:r>
              <a:t>应用不用复制内核的全部构建规则，换板也能复用应用。</a:t>
            </a:r>
          </a:p>
          <a:p>
            <a:endParaRPr/>
          </a:p>
          <a:p>
            <a:r>
              <a:t>讲解展开：</a:t>
            </a:r>
          </a:p>
          <a:p>
            <a:r>
              <a:t>### 3.1.5\_这套设计解决什么问题</a:t>
            </a:r>
          </a:p>
          <a:p>
            <a:endParaRPr/>
          </a:p>
          <a:p>
            <a:r>
              <a:t>从上面的分工可以理解设计意图：应用描述“我要加入什么代码”，板/SoC 描述“代码面对什么硬件”，Kconfig 描述“启用什么能力”，工具链规则描述“怎样调用某类编译器”，模块元数据描述“外部项目怎样参加这些步骤”。CMake 把它们组合成同一个构建模型。</a:t>
            </a:r>
          </a:p>
          <a:p>
            <a:endParaRPr/>
          </a:p>
          <a:p>
            <a:r>
              <a:t>这种解释是对官方配置流程和实现边界的归纳，不是官方逐字宣言。它带来的实际效果是：换板时可以复用应用源码；增加一个 HAL 项目可以通过模块入口接入；采用已有工具链类型时不需要修改每个应用的编译器命令；每个构建目录独立保存本次组合。扩展仍须满足接口约定，不是给文件夹起一个名字就自动生效。</a:t>
            </a:r>
          </a:p>
          <a:p>
            <a:endParaRPr/>
          </a:p>
          <a:p>
            <a:r>
              <a:t>下面用思维导图看职责分区。它表示“有哪些部分”，不表示执行顺序；实际先后关系仍看上一节流程图。</a:t>
            </a:r>
          </a:p>
          <a:p>
            <a:endParaRPr/>
          </a:p>
          <a:p>
            <a:r>
              <a:t>```mermaid</a:t>
            </a:r>
          </a:p>
          <a:p>
            <a:r>
              <a:t>%%{init: {"theme": "base", "themeVariables": {"primaryColor": "#344B70", "primaryTextColor": "#FFFFFF", "primaryBorderColor": "#AAB4C5", "lineColor": "#8591A5", "cScale0": "#344B70", "cScaleLabel0": "#FFFFFF", "cScale1": "#435C3A", "cScaleLabel1": "#FFFFFF", "cScale2": "#654778", "cScaleLabel2": "#FFFFFF", "cScale3": "#6D493D", "cScaleLabel3": "#FFFFFF", "cScale4": "#245D63", "cScaleLabel4": "#FFFFFF", "cScale5": "#574D72", "cScaleLabel5": "#FFFFFF", "cScale6": "#344B70", "cScaleLabel6": "#FFFFFF", "cScale7": "#435C3A", "cScaleLabel7": "#FFFFFF", "cScale8": "#654778", "cScaleLabel8": "#FFFFFF", "cScale9": "#6D493D", "cScaleLabel9": "#FFFFFF", "cScale10": "#245D63", "cScaleLabel10": "#FFFFFF", "cScale11": "#574D72", "cScaleLabel11": "#FFFFFF"}}}%%</a:t>
            </a:r>
          </a:p>
          <a:p>
            <a:r>
              <a:t>mindmap</a:t>
            </a:r>
          </a:p>
          <a:p>
            <a:r>
              <a:t>  root((应用的 Zephyr 构建))</a:t>
            </a:r>
          </a:p>
          <a:p>
            <a:r>
              <a:t>    入口与执行者</a:t>
            </a:r>
          </a:p>
          <a:p>
            <a:r>
              <a:t>      应用 CMakeLists</a:t>
            </a:r>
          </a:p>
          <a:p>
            <a:r>
              <a:t>      CMake 与 Ninja</a:t>
            </a:r>
          </a:p>
          <a:p>
            <a:r>
              <a:t>      编译器和生成脚本</a:t>
            </a:r>
          </a:p>
          <a:p>
            <a:r>
              <a:t>    硬件与功能输入</a:t>
            </a:r>
          </a:p>
          <a:p>
            <a:r>
              <a:t>      BOARD 和 SoC</a:t>
            </a:r>
          </a:p>
          <a:p>
            <a:r>
              <a:t>      Kconfig 配置片段</a:t>
            </a:r>
          </a:p>
          <a:p>
            <a:r>
              <a:t>      DTS 和 overlay</a:t>
            </a:r>
          </a:p>
          <a:p>
            <a:r>
              <a:t>    工具来源</a:t>
            </a:r>
          </a:p>
          <a:p>
            <a:r>
              <a:t>      SDK 包发现</a:t>
            </a:r>
          </a:p>
          <a:p>
            <a:r>
              <a:t>      工具链适配规则</a:t>
            </a:r>
          </a:p>
          <a:p>
            <a:r>
              <a:t>    外部源码</a:t>
            </a:r>
          </a:p>
          <a:p>
            <a:r>
              <a:t>      west 项目候选</a:t>
            </a:r>
          </a:p>
          <a:p>
            <a:r>
              <a:t>      模块元数据与入口</a:t>
            </a:r>
          </a:p>
          <a:p>
            <a:r>
              <a:t>    构建结果</a:t>
            </a:r>
          </a:p>
          <a:p>
            <a:r>
              <a:t>      配置与模块记录</a:t>
            </a:r>
          </a:p>
          <a:p>
            <a:r>
              <a:t>      目标和依赖关系</a:t>
            </a:r>
          </a:p>
          <a:p>
            <a:r>
              <a:t>      最终固件</a:t>
            </a:r>
          </a:p>
          <a:p>
            <a:r>
              <a:t>```</a:t>
            </a:r>
          </a:p>
          <a:p>
            <a:endParaRPr/>
          </a:p>
          <a:p>
            <a:r>
              <a:t>&lt;a id="section-3-2"&gt;&lt;/a&gt;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配套正文：P003_Zephyr的CMake接口体系_Windows.md#section-3-1-5</a:t>
            </a:r>
          </a:p>
          <a:p>
            <a:r>
              <a:t>3.1.5 · ① 整体职责图</a:t>
            </a:r>
          </a:p>
          <a:p>
            <a:endParaRPr/>
          </a:p>
          <a:p>
            <a:endParaRPr/>
          </a:p>
          <a:p>
            <a:r>
              <a:t>讲解展开：</a:t>
            </a:r>
          </a:p>
          <a:p>
            <a:r>
              <a:t>### 3.1.5\_这套设计解决什么问题</a:t>
            </a:r>
          </a:p>
          <a:p>
            <a:endParaRPr/>
          </a:p>
          <a:p>
            <a:r>
              <a:t>从上面的分工可以理解设计意图：应用描述“我要加入什么代码”，板/SoC 描述“代码面对什么硬件”，Kconfig 描述“启用什么能力”，工具链规则描述“怎样调用某类编译器”，模块元数据描述“外部项目怎样参加这些步骤”。CMake 把它们组合成同一个构建模型。</a:t>
            </a:r>
          </a:p>
          <a:p>
            <a:endParaRPr/>
          </a:p>
          <a:p>
            <a:r>
              <a:t>这种解释是对官方配置流程和实现边界的归纳，不是官方逐字宣言。它带来的实际效果是：换板时可以复用应用源码；增加一个 HAL 项目可以通过模块入口接入；采用已有工具链类型时不需要修改每个应用的编译器命令；每个构建目录独立保存本次组合。扩展仍须满足接口约定，不是给文件夹起一个名字就自动生效。</a:t>
            </a:r>
          </a:p>
          <a:p>
            <a:endParaRPr/>
          </a:p>
          <a:p>
            <a:r>
              <a:t>下面用思维导图看职责分区。它表示“有哪些部分”，不表示执行顺序；实际先后关系仍看上一节流程图。</a:t>
            </a:r>
          </a:p>
          <a:p>
            <a:endParaRPr/>
          </a:p>
          <a:p>
            <a:r>
              <a:t>```mermaid</a:t>
            </a:r>
          </a:p>
          <a:p>
            <a:r>
              <a:t>%%{init: {"theme": "base", "themeVariables": {"primaryColor": "#344B70", "primaryTextColor": "#FFFFFF", "primaryBorderColor": "#AAB4C5", "lineColor": "#8591A5", "cScale0": "#344B70", "cScaleLabel0": "#FFFFFF", "cScale1": "#435C3A", "cScaleLabel1": "#FFFFFF", "cScale2": "#654778", "cScaleLabel2": "#FFFFFF", "cScale3": "#6D493D", "cScaleLabel3": "#FFFFFF", "cScale4": "#245D63", "cScaleLabel4": "#FFFFFF", "cScale5": "#574D72", "cScaleLabel5": "#FFFFFF", "cScale6": "#344B70", "cScaleLabel6": "#FFFFFF", "cScale7": "#435C3A", "cScaleLabel7": "#FFFFFF", "cScale8": "#654778", "cScaleLabel8": "#FFFFFF", "cScale9": "#6D493D", "cScaleLabel9": "#FFFFFF", "cScale10": "#245D63", "cScaleLabel10": "#FFFFFF", "cScale11": "#574D72", "cScaleLabel11": "#FFFFFF"}}}%%</a:t>
            </a:r>
          </a:p>
          <a:p>
            <a:r>
              <a:t>mindmap</a:t>
            </a:r>
          </a:p>
          <a:p>
            <a:r>
              <a:t>  root((应用的 Zephyr 构建))</a:t>
            </a:r>
          </a:p>
          <a:p>
            <a:r>
              <a:t>    入口与执行者</a:t>
            </a:r>
          </a:p>
          <a:p>
            <a:r>
              <a:t>      应用 CMakeLists</a:t>
            </a:r>
          </a:p>
          <a:p>
            <a:r>
              <a:t>      CMake 与 Ninja</a:t>
            </a:r>
          </a:p>
          <a:p>
            <a:r>
              <a:t>      编译器和生成脚本</a:t>
            </a:r>
          </a:p>
          <a:p>
            <a:r>
              <a:t>    硬件与功能输入</a:t>
            </a:r>
          </a:p>
          <a:p>
            <a:r>
              <a:t>      BOARD 和 SoC</a:t>
            </a:r>
          </a:p>
          <a:p>
            <a:r>
              <a:t>      Kconfig 配置片段</a:t>
            </a:r>
          </a:p>
          <a:p>
            <a:r>
              <a:t>      DTS 和 overlay</a:t>
            </a:r>
          </a:p>
          <a:p>
            <a:r>
              <a:t>    工具来源</a:t>
            </a:r>
          </a:p>
          <a:p>
            <a:r>
              <a:t>      SDK 包发现</a:t>
            </a:r>
          </a:p>
          <a:p>
            <a:r>
              <a:t>      工具链适配规则</a:t>
            </a:r>
          </a:p>
          <a:p>
            <a:r>
              <a:t>    外部源码</a:t>
            </a:r>
          </a:p>
          <a:p>
            <a:r>
              <a:t>      west 项目候选</a:t>
            </a:r>
          </a:p>
          <a:p>
            <a:r>
              <a:t>      模块元数据与入口</a:t>
            </a:r>
          </a:p>
          <a:p>
            <a:r>
              <a:t>    构建结果</a:t>
            </a:r>
          </a:p>
          <a:p>
            <a:r>
              <a:t>      配置与模块记录</a:t>
            </a:r>
          </a:p>
          <a:p>
            <a:r>
              <a:t>      目标和依赖关系</a:t>
            </a:r>
          </a:p>
          <a:p>
            <a:r>
              <a:t>      最终固件</a:t>
            </a:r>
          </a:p>
          <a:p>
            <a:r>
              <a:t>```</a:t>
            </a:r>
          </a:p>
          <a:p>
            <a:endParaRPr/>
          </a:p>
          <a:p>
            <a:r>
              <a:t>&lt;a id="section-3-2"&gt;&lt;/a&gt;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配套正文：P003_Zephyr的CMake接口体系_Windows.md#section-3-1-1</a:t>
            </a:r>
          </a:p>
          <a:p>
            <a:r>
              <a:t>3.1.1 · ① 应用与构建</a:t>
            </a:r>
          </a:p>
          <a:p>
            <a:r>
              <a:t>CMake 程序执行 CMakeLists.txt 和 .cmake 脚本，生成规则。</a:t>
            </a:r>
          </a:p>
          <a:p>
            <a:r>
              <a:t>Zephyr 提供自己的 CMake 脚本，规定如何组成固件。</a:t>
            </a:r>
          </a:p>
          <a:p>
            <a:r>
              <a:t>Ninja / Make 按规则调用编译器、链接器与生成脚本。</a:t>
            </a:r>
          </a:p>
          <a:p>
            <a:endParaRPr/>
          </a:p>
          <a:p>
            <a:r>
              <a:t>west update 下载依赖；west build 帮助调用构建流程。</a:t>
            </a:r>
          </a:p>
          <a:p>
            <a:r>
              <a:t>直接运行 CMake 也能配置，west 不是另一种编译器。</a:t>
            </a:r>
          </a:p>
          <a:p>
            <a:r>
              <a:t>Python 则运行模块识别、Kconfig、设备树等处理脚本。</a:t>
            </a:r>
          </a:p>
          <a:p>
            <a:endParaRPr/>
          </a:p>
          <a:p>
            <a:r>
              <a:t>讲解展开：</a:t>
            </a:r>
          </a:p>
          <a:p>
            <a:r>
              <a:t>### 3.1.1\_先认识参与工作的程序</a:t>
            </a:r>
          </a:p>
          <a:p>
            <a:endParaRPr/>
          </a:p>
          <a:p>
            <a:r>
              <a:t>电脑上安装的 CMake 是一个程序，读取 `CMakeLists.txt` 和 `.cmake` 脚本。Zephyr 随源码提供自己的 CMake 脚本，这些脚本描述内核、驱动、模块和板怎样参加构建。它们使用 CMake 的语言，并增加 Zephyr 专用函数与输入约定。**“Zephyr 的 CMake 扩展”指这层构建规则及其接口，不是另一款 CMake 程序。**</a:t>
            </a:r>
          </a:p>
          <a:p>
            <a:endParaRPr/>
          </a:p>
          <a:p>
            <a:r>
              <a:t>这里有几个紧密配合、但职责不同的工具。先沿一次构建认识它们，后面再解释变量。</a:t>
            </a:r>
          </a:p>
          <a:p>
            <a:endParaRPr/>
          </a:p>
          <a:p>
            <a:r>
              <a:t>| 对象 | 在这个应用中的工作 | 读者能看到的结果 |</a:t>
            </a:r>
          </a:p>
          <a:p>
            <a:r>
              <a:t>| --- | --- | --- |</a:t>
            </a:r>
          </a:p>
          <a:p>
            <a:r>
              <a:t>| west | `update` 按清单取得依赖源码；`build` 是调用 CMake 和构建工具的便捷入口 | 下载目录、配置日志和构建输出 |</a:t>
            </a:r>
          </a:p>
          <a:p>
            <a:r>
              <a:t>| CMake 程序与 Zephyr 的 CMake 脚本 | 选择板、工具链和模块，运行配置脚本，建立目标及依赖关系 | `CMakeCache.txt`、`build.ninja` 和各种配置产物 |</a:t>
            </a:r>
          </a:p>
          <a:p>
            <a:r>
              <a:t>| Kconfig 工具 | 根据配置项定义、板默认值和应用配置片段，计算有效功能开关 | `zephyr/.config`、生成的 `autoconf.h` |</a:t>
            </a:r>
          </a:p>
          <a:p>
            <a:r>
              <a:t>| Devicetree 处理工具 | 合并板、SoC 和应用硬件描述，并按 bindings 解析 | `zephyr/zephyr.dts`、生成的 `devicetree_generated.h` |</a:t>
            </a:r>
          </a:p>
          <a:p>
            <a:r>
              <a:t>| Ninja 或 Make | 按 CMake 生成的规则，运行到期的编译、生成和链接任务 | 对象文件、库以及最终固件 |</a:t>
            </a:r>
          </a:p>
          <a:p>
            <a:r>
              <a:t>| GCC 等编译器、链接器和二进制工具 | 把 C/汇编编成目标机器代码，链接并转换文件格式 | `.obj`、`.a`、`.elf`，以及配置启用的其他格式 |</a:t>
            </a:r>
          </a:p>
          <a:p>
            <a:endParaRPr/>
          </a:p>
          <a:p>
            <a:r>
              <a:t>Python 是若干脚本的运行环境，例如模块识别、Kconfig 与 Devicetree 处理。`.venv` 决定这些 Python 工具从哪里运行；它不会替应用选板，也不会自动下载 SDK。Devicetree 的头文件主要由 Zephyr 的 Python 脚本生成，不能把这一过程全部说成“dtc 编译”。当前文档说明 dtc 可补充检查诊断。</a:t>
            </a:r>
          </a:p>
          <a:p>
            <a:endParaRPr/>
          </a:p>
          <a:p>
            <a:r>
              <a:t>因此，直接运行 CMake 仍能配置 Zephyr 应用；使用 `west build` 时，west 帮读者组织调用，底下还是 CMake 和 Ninja/Make。构建过程中 Zephyr 的模块发现脚本也可以读取 west 工作区的项目列表，这与“必须通过 west build 启动”是两件事。依据：[构建阶段说明](https://docs.zephyrproject.org/latest/build/cmake/index.html#build-and-configuration-phases)（原件 `doc/build/cmake/index.rst`，第 52 行附近）；[west 构建命令说明](https://docs.zephyrproject.org/latest/develop/west/build-flash-debug.html)（原件 `doc/develop/west/build-flash-debug.rst`，第 3 行附近）。</a:t>
            </a:r>
          </a:p>
          <a:p>
            <a:endParaRPr/>
          </a:p>
          <a:p>
            <a:r>
              <a:t>&lt;a id="section-3-1-2"&gt;&lt;/a&gt;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官方说明：https://docs.zephyrproject.org/latest/develop/west/build-flash-debug.html</a:t>
            </a:r>
          </a:p>
          <a:p>
            <a:r>
              <a:t>仓库原件：https://github.com/zephyrproject-rtos/zephyr/blob/25c8f4a23988dd3b2cfb463613622738298c2d6c/doc/develop/west/build-flash-debug.rst#L3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配套正文：P003_Zephyr的CMake接口体系_Windows.md#section-3-1-2</a:t>
            </a:r>
          </a:p>
          <a:p>
            <a:r>
              <a:t>3.1.2 · ① 应用与构建</a:t>
            </a:r>
          </a:p>
          <a:p>
            <a:r>
              <a:t>配置先确定板、源码、工具、参数与生成顺序。</a:t>
            </a:r>
          </a:p>
          <a:p>
            <a:r>
              <a:t>CMake 据此生成 build.ninja 等规则文件。</a:t>
            </a:r>
          </a:p>
          <a:p>
            <a:r>
              <a:t>构建时 Ninja 执行到期任务，得到对象文件和固件。</a:t>
            </a:r>
          </a:p>
          <a:p>
            <a:r>
              <a:t>普通源码改动可增量构建，配置变化可能触发重新配置。</a:t>
            </a:r>
          </a:p>
          <a:p>
            <a:endParaRPr/>
          </a:p>
          <a:p>
            <a:r>
              <a:t>讲解展开：</a:t>
            </a:r>
          </a:p>
          <a:p>
            <a:r>
              <a:t>### 3.1.2\_配置阶段和构建阶段为什么分开</a:t>
            </a:r>
          </a:p>
          <a:p>
            <a:endParaRPr/>
          </a:p>
          <a:p>
            <a:r>
              <a:t>假设现在要编译官方 `hello_world`，目标为 `mps2/an386`。配置阶段先回答：应用在哪里、选哪块板、有哪些源码、需要什么编译器和参数、哪些文件必须先生成。CMake 执行脚本得到这些关系，再为 Ninja 生成任务规则。</a:t>
            </a:r>
          </a:p>
          <a:p>
            <a:endParaRPr/>
          </a:p>
          <a:p>
            <a:r>
              <a:t>构建阶段由 Ninja 执行这些规则。普通修改 `main.c` 后，通常只需重新编译受影响对象并链接；改变板、模块或构建配置，可能需要重新运行 CMake。构建规则能够检测一部分变化并自动重新配置，所以日志中偶尔重新出现 CMake 输出是正常的。</a:t>
            </a:r>
          </a:p>
          <a:p>
            <a:endParaRPr/>
          </a:p>
          <a:p>
            <a:r>
              <a:t>```mermaid</a:t>
            </a:r>
          </a:p>
          <a:p>
            <a:r>
              <a:t>flowchart LR</a:t>
            </a:r>
          </a:p>
          <a:p>
            <a:r>
              <a:t>    A["应用与板等输入"] --&gt; B["CMake 配置并生成规则"]</a:t>
            </a:r>
          </a:p>
          <a:p>
            <a:r>
              <a:t>    B --&gt; C["Ninja 执行规则"]</a:t>
            </a:r>
          </a:p>
          <a:p>
            <a:r>
              <a:t>    C --&gt; D["编译器、链接器及生成脚本"]</a:t>
            </a:r>
          </a:p>
          <a:p>
            <a:r>
              <a:t>    D --&gt; E["zephyr.elf"]</a:t>
            </a:r>
          </a:p>
          <a:p>
            <a:r>
              <a:t>```</a:t>
            </a:r>
          </a:p>
          <a:p>
            <a:endParaRPr/>
          </a:p>
          <a:p>
            <a:r>
              <a:t>`cmake -S` 指应用源码目录，`-B` 指本次构建目录，`-G Ninja` 选择规则格式。这三项是 CMake 原生选项。`cmake --build` 则调用所选构建工具。这些命令形式由 CMake 定义；Zephyr 通过脚本决定规则里包含哪些工作。完整可执行构建命令在 P007，本章不要求提前安装尚未介绍的依赖。依据：[构建阶段说明](https://docs.zephyrproject.org/latest/build/cmake/index.html#build-and-configuration-phases)（原件 `doc/build/cmake/index.rst`，第 52 行附近）；[CMake 原生命令索引](https://cmake.org/cmake/help/latest/manual/cmake-commands.7.html)（原件 `CMake 原生命令手册`）。</a:t>
            </a:r>
          </a:p>
          <a:p>
            <a:endParaRPr/>
          </a:p>
          <a:p>
            <a:r>
              <a:t>&lt;a id="section-3-1-3"&gt;&lt;/a&gt;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实现定位：https://github.com/zephyrproject-rtos/zephyr/blob/25c8f4a23988dd3b2cfb463613622738298c2d6c/cmake/modules/kernel.cmake#L236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配套正文：P003_Zephyr的CMake接口体系_Windows.md#section-3-1-3</a:t>
            </a:r>
          </a:p>
          <a:p>
            <a:r>
              <a:t>3.1.3 · ① 应用与构建</a:t>
            </a:r>
          </a:p>
          <a:p>
            <a:r>
              <a:t>samples/hello_world/CMakeLists.txt：官方原有，描述构建入口。</a:t>
            </a:r>
          </a:p>
          <a:p>
            <a:r>
              <a:t>src/main.c：官方原有，应用代码。</a:t>
            </a:r>
          </a:p>
          <a:p>
            <a:r>
              <a:t>prj.conf：官方原有，应用提出的 Kconfig 配置请求。</a:t>
            </a:r>
          </a:p>
          <a:p>
            <a:endParaRPr/>
          </a:p>
          <a:p>
            <a:r>
              <a:t>构建目录的 CMakeCache.txt、build.ninja、zephyr.elf</a:t>
            </a:r>
          </a:p>
          <a:p>
            <a:r>
              <a:t>由工具在后续生成；现在没有它们，不必手动创建。</a:t>
            </a:r>
          </a:p>
          <a:p>
            <a:r>
              <a:t>本章路径相对实验源码根 G:/zephyr_practice/zephyr-main。</a:t>
            </a:r>
          </a:p>
          <a:p>
            <a:endParaRPr/>
          </a:p>
          <a:p>
            <a:r>
              <a:t>讲解展开：</a:t>
            </a:r>
          </a:p>
          <a:p>
            <a:r>
              <a:t>### 3.1.3\_从官方应用入口逐行理解</a:t>
            </a:r>
          </a:p>
          <a:p>
            <a:endParaRPr/>
          </a:p>
          <a:p>
            <a:r>
              <a:t>`samples/hello_world/CMakeLists.txt` 是**官方原有文件**，不是要求读者新建的文件。下面是去掉许可证行后的原有主体，仅供阅读，不要粘贴进终端：</a:t>
            </a:r>
          </a:p>
          <a:p>
            <a:endParaRPr/>
          </a:p>
          <a:p>
            <a:r>
              <a:t>```cmake</a:t>
            </a:r>
          </a:p>
          <a:p>
            <a:r>
              <a:t># 只读：zephyr-main/samples/hello_world/CMakeLists.txt 原有主体。</a:t>
            </a:r>
          </a:p>
          <a:p>
            <a:r>
              <a:t>cmake_minimum_required(VERSION 3.28.0)</a:t>
            </a:r>
          </a:p>
          <a:p>
            <a:endParaRPr/>
          </a:p>
          <a:p>
            <a:r>
              <a:t>find_package(Zephyr REQUIRED HINTS $ENV{ZEPHYR_BASE})</a:t>
            </a:r>
          </a:p>
          <a:p>
            <a:r>
              <a:t>project(hello_world)</a:t>
            </a:r>
          </a:p>
          <a:p>
            <a:endParaRPr/>
          </a:p>
          <a:p>
            <a:r>
              <a:t>target_sources(app PRIVATE src/main.c)</a:t>
            </a:r>
          </a:p>
          <a:p>
            <a:r>
              <a:t>```</a:t>
            </a:r>
          </a:p>
          <a:p>
            <a:endParaRPr/>
          </a:p>
          <a:p>
            <a:r>
              <a:t>第一行要求 CMake 版本满足本源码。第二条命令请求加载名为 Zephyr 的 CMake 包，`REQUIRED` 表示找不到就停止，`HINTS` 给搜索提供线索，`$ENV{ZEPHYR_BASE}` 读取启动 CMake 的进程环境。找到的入口是 `share/zephyr-package/cmake/ZephyrConfig.cmake`，不是 SDK 的包配置。</a:t>
            </a:r>
          </a:p>
          <a:p>
            <a:endParaRPr/>
          </a:p>
          <a:p>
            <a:r>
              <a:t>`project(hello_world)` 给应用工程命名。它位于 `find_package(Zephyr)` 后面，是因为 Zephyr 需要先建立交叉编译和配置环境。最后一行把当前应用目录下的 `src/main.c` 加到已有的 `app` 库目标里。`target_sources` 是 CMake 原生命令；`app` 则是 Zephyr 初始化时创建的目标名。`PRIVATE` 表示该源文件用于 app 自身构建，不把这份源码作为使用要求继续传播给链接它的其他目标。</a:t>
            </a:r>
          </a:p>
          <a:p>
            <a:endParaRPr/>
          </a:p>
          <a:p>
            <a:r>
              <a:t>这里的 target 是 CMake 构建模型中的对象，例如库、可执行文件或生成任务；它不是开发板。一个板上运行的固件可以由很多库目标组成。Zephyr 把应用、内核、驱动等先组织为目标，才能统一继承头文件目录、编译参数和生成顺序，而不必让每个应用复制内核的构建脚本。依据：[hello_world 原有入口](https://github.com/zephyrproject-rtos/zephyr/blob/25c8f4a23988dd3b2cfb463613622738298c2d6c/samples/hello_world/CMakeLists.txt#L3)（原件 `samples/hello_world/CMakeLists.txt`，第 3 行附近）；[app 目标创建处](https://github.com/zephyrproject-rtos/zephyr/blob/25c8f4a23988dd3b2cfb463613622738298c2d6c/cmake/modules/kernel.cmake#L236)（原件 `cmake/modules/kernel.cmake`，第 236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读者可以执行下面的**只读操作**定位原件。这只需要已经下载源码和安装 UCRT64，不需要 SDK，不新建任何文件：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UCRT64；从任意目录进入实验源码根。</a:t>
            </a:r>
          </a:p>
          <a:p>
            <a:r>
              <a:t>cd /g/zephyr_practice/zephyr-main</a:t>
            </a:r>
          </a:p>
          <a:p>
            <a:r>
              <a:t># 读取官方原有的应用入口，应该看到上面五行核心语句。</a:t>
            </a:r>
          </a:p>
          <a:p>
            <a:r>
              <a:t>sed -n '1,30p' samples/hello_world/CMakeLists.txt</a:t>
            </a:r>
          </a:p>
          <a:p>
            <a:r>
              <a:t>```</a:t>
            </a:r>
          </a:p>
          <a:p>
            <a:endParaRPr/>
          </a:p>
          <a:p>
            <a:r>
              <a:t>若提示文件不存在，返回 P001 核对下载是否完整及当前位置；不要为了让命令通过手工补一个同名文件。可复制原件见 [3.1.3 命令](commands/P003_Windows/3.1.3-01.txt)。</a:t>
            </a:r>
          </a:p>
          <a:p>
            <a:endParaRPr/>
          </a:p>
          <a:p>
            <a:r>
              <a:t>&lt;a id="section-3-1-4"&gt;&lt;/a&gt;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配套正文：P003_Zephyr的CMake接口体系_Windows.md#section-3-1-3</a:t>
            </a:r>
          </a:p>
          <a:p>
            <a:r>
              <a:t>3.1.3 · ① 应用与构建</a:t>
            </a:r>
          </a:p>
          <a:p>
            <a:r>
              <a:t>先找到并执行 Zephyr 包，建立构建环境，</a:t>
            </a:r>
          </a:p>
          <a:p>
            <a:r>
              <a:t>再给应用命名，把 main.c 放进已创建的 app 目标。</a:t>
            </a:r>
          </a:p>
          <a:p>
            <a:r>
              <a:t>HINTS 中的 $ENV{ZEPHYR_BASE} 读取进程环境提供搜索线索。</a:t>
            </a:r>
          </a:p>
          <a:p>
            <a:endParaRPr/>
          </a:p>
          <a:p>
            <a:r>
              <a:t>讲解展开：</a:t>
            </a:r>
          </a:p>
          <a:p>
            <a:r>
              <a:t>### 3.1.3\_从官方应用入口逐行理解</a:t>
            </a:r>
          </a:p>
          <a:p>
            <a:endParaRPr/>
          </a:p>
          <a:p>
            <a:r>
              <a:t>`samples/hello_world/CMakeLists.txt` 是**官方原有文件**，不是要求读者新建的文件。下面是去掉许可证行后的原有主体，仅供阅读，不要粘贴进终端：</a:t>
            </a:r>
          </a:p>
          <a:p>
            <a:endParaRPr/>
          </a:p>
          <a:p>
            <a:r>
              <a:t>```cmake</a:t>
            </a:r>
          </a:p>
          <a:p>
            <a:r>
              <a:t># 只读：zephyr-main/samples/hello_world/CMakeLists.txt 原有主体。</a:t>
            </a:r>
          </a:p>
          <a:p>
            <a:r>
              <a:t>cmake_minimum_required(VERSION 3.28.0)</a:t>
            </a:r>
          </a:p>
          <a:p>
            <a:endParaRPr/>
          </a:p>
          <a:p>
            <a:r>
              <a:t>find_package(Zephyr REQUIRED HINTS $ENV{ZEPHYR_BASE})</a:t>
            </a:r>
          </a:p>
          <a:p>
            <a:r>
              <a:t>project(hello_world)</a:t>
            </a:r>
          </a:p>
          <a:p>
            <a:endParaRPr/>
          </a:p>
          <a:p>
            <a:r>
              <a:t>target_sources(app PRIVATE src/main.c)</a:t>
            </a:r>
          </a:p>
          <a:p>
            <a:r>
              <a:t>```</a:t>
            </a:r>
          </a:p>
          <a:p>
            <a:endParaRPr/>
          </a:p>
          <a:p>
            <a:r>
              <a:t>第一行要求 CMake 版本满足本源码。第二条命令请求加载名为 Zephyr 的 CMake 包，`REQUIRED` 表示找不到就停止，`HINTS` 给搜索提供线索，`$ENV{ZEPHYR_BASE}` 读取启动 CMake 的进程环境。找到的入口是 `share/zephyr-package/cmake/ZephyrConfig.cmake`，不是 SDK 的包配置。</a:t>
            </a:r>
          </a:p>
          <a:p>
            <a:endParaRPr/>
          </a:p>
          <a:p>
            <a:r>
              <a:t>`project(hello_world)` 给应用工程命名。它位于 `find_package(Zephyr)` 后面，是因为 Zephyr 需要先建立交叉编译和配置环境。最后一行把当前应用目录下的 `src/main.c` 加到已有的 `app` 库目标里。`target_sources` 是 CMake 原生命令；`app` 则是 Zephyr 初始化时创建的目标名。`PRIVATE` 表示该源文件用于 app 自身构建，不把这份源码作为使用要求继续传播给链接它的其他目标。</a:t>
            </a:r>
          </a:p>
          <a:p>
            <a:endParaRPr/>
          </a:p>
          <a:p>
            <a:r>
              <a:t>这里的 target 是 CMake 构建模型中的对象，例如库、可执行文件或生成任务；它不是开发板。一个板上运行的固件可以由很多库目标组成。Zephyr 把应用、内核、驱动等先组织为目标，才能统一继承头文件目录、编译参数和生成顺序，而不必让每个应用复制内核的构建脚本。依据：[hello_world 原有入口](https://github.com/zephyrproject-rtos/zephyr/blob/25c8f4a23988dd3b2cfb463613622738298c2d6c/samples/hello_world/CMakeLists.txt#L3)（原件 `samples/hello_world/CMakeLists.txt`，第 3 行附近）；[app 目标创建处](https://github.com/zephyrproject-rtos/zephyr/blob/25c8f4a23988dd3b2cfb463613622738298c2d6c/cmake/modules/kernel.cmake#L236)（原件 `cmake/modules/kernel.cmake`，第 236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读者可以执行下面的**只读操作**定位原件。这只需要已经下载源码和安装 UCRT64，不需要 SDK，不新建任何文件：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UCRT64；从任意目录进入实验源码根。</a:t>
            </a:r>
          </a:p>
          <a:p>
            <a:r>
              <a:t>cd /g/zephyr_practice/zephyr-main</a:t>
            </a:r>
          </a:p>
          <a:p>
            <a:r>
              <a:t># 读取官方原有的应用入口，应该看到上面五行核心语句。</a:t>
            </a:r>
          </a:p>
          <a:p>
            <a:r>
              <a:t>sed -n '1,30p' samples/hello_world/CMakeLists.txt</a:t>
            </a:r>
          </a:p>
          <a:p>
            <a:r>
              <a:t>```</a:t>
            </a:r>
          </a:p>
          <a:p>
            <a:endParaRPr/>
          </a:p>
          <a:p>
            <a:r>
              <a:t>若提示文件不存在，返回 P001 核对下载是否完整及当前位置；不要为了让命令通过手工补一个同名文件。可复制原件见 [3.1.3 命令](commands/P003_Windows/3.1.3-01.txt)。</a:t>
            </a:r>
          </a:p>
          <a:p>
            <a:endParaRPr/>
          </a:p>
          <a:p>
            <a:r>
              <a:t>&lt;a id="section-3-1-4"&gt;&lt;/a&gt;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配套正文：P003_Zephyr的CMake接口体系_Windows.md#section-3-1-3</a:t>
            </a:r>
          </a:p>
          <a:p>
            <a:r>
              <a:t>3.1.3 · ① 应用与构建</a:t>
            </a:r>
          </a:p>
          <a:p>
            <a:r>
              <a:t>CMake target 可以表示库、可执行文件或生成任务。</a:t>
            </a:r>
          </a:p>
          <a:p>
            <a:r>
              <a:t>Zephyr 在 kernel.cmake 中创建名为 app 的库。</a:t>
            </a:r>
          </a:p>
          <a:p>
            <a:r>
              <a:t>应用的 target_sources(app PRIVATE src/main.c) 给它添加源码。</a:t>
            </a:r>
          </a:p>
          <a:p>
            <a:endParaRPr/>
          </a:p>
          <a:p>
            <a:r>
              <a:t>PRIVATE 表示该源码用于 app 自身，不继续传播给其他目标。</a:t>
            </a:r>
          </a:p>
          <a:p>
            <a:r>
              <a:t>内核和驱动也形成目标，最终共同链接成固件。</a:t>
            </a:r>
          </a:p>
          <a:p>
            <a:r>
              <a:t>因此文件在目录里存在，不等于它已经加入构建。</a:t>
            </a:r>
          </a:p>
          <a:p>
            <a:endParaRPr/>
          </a:p>
          <a:p>
            <a:r>
              <a:t>讲解展开：</a:t>
            </a:r>
          </a:p>
          <a:p>
            <a:r>
              <a:t>### 3.1.3\_从官方应用入口逐行理解</a:t>
            </a:r>
          </a:p>
          <a:p>
            <a:endParaRPr/>
          </a:p>
          <a:p>
            <a:r>
              <a:t>`samples/hello_world/CMakeLists.txt` 是**官方原有文件**，不是要求读者新建的文件。下面是去掉许可证行后的原有主体，仅供阅读，不要粘贴进终端：</a:t>
            </a:r>
          </a:p>
          <a:p>
            <a:endParaRPr/>
          </a:p>
          <a:p>
            <a:r>
              <a:t>```cmake</a:t>
            </a:r>
          </a:p>
          <a:p>
            <a:r>
              <a:t># 只读：zephyr-main/samples/hello_world/CMakeLists.txt 原有主体。</a:t>
            </a:r>
          </a:p>
          <a:p>
            <a:r>
              <a:t>cmake_minimum_required(VERSION 3.28.0)</a:t>
            </a:r>
          </a:p>
          <a:p>
            <a:endParaRPr/>
          </a:p>
          <a:p>
            <a:r>
              <a:t>find_package(Zephyr REQUIRED HINTS $ENV{ZEPHYR_BASE})</a:t>
            </a:r>
          </a:p>
          <a:p>
            <a:r>
              <a:t>project(hello_world)</a:t>
            </a:r>
          </a:p>
          <a:p>
            <a:endParaRPr/>
          </a:p>
          <a:p>
            <a:r>
              <a:t>target_sources(app PRIVATE src/main.c)</a:t>
            </a:r>
          </a:p>
          <a:p>
            <a:r>
              <a:t>```</a:t>
            </a:r>
          </a:p>
          <a:p>
            <a:endParaRPr/>
          </a:p>
          <a:p>
            <a:r>
              <a:t>第一行要求 CMake 版本满足本源码。第二条命令请求加载名为 Zephyr 的 CMake 包，`REQUIRED` 表示找不到就停止，`HINTS` 给搜索提供线索，`$ENV{ZEPHYR_BASE}` 读取启动 CMake 的进程环境。找到的入口是 `share/zephyr-package/cmake/ZephyrConfig.cmake`，不是 SDK 的包配置。</a:t>
            </a:r>
          </a:p>
          <a:p>
            <a:endParaRPr/>
          </a:p>
          <a:p>
            <a:r>
              <a:t>`project(hello_world)` 给应用工程命名。它位于 `find_package(Zephyr)` 后面，是因为 Zephyr 需要先建立交叉编译和配置环境。最后一行把当前应用目录下的 `src/main.c` 加到已有的 `app` 库目标里。`target_sources` 是 CMake 原生命令；`app` 则是 Zephyr 初始化时创建的目标名。`PRIVATE` 表示该源文件用于 app 自身构建，不把这份源码作为使用要求继续传播给链接它的其他目标。</a:t>
            </a:r>
          </a:p>
          <a:p>
            <a:endParaRPr/>
          </a:p>
          <a:p>
            <a:r>
              <a:t>这里的 target 是 CMake 构建模型中的对象，例如库、可执行文件或生成任务；它不是开发板。一个板上运行的固件可以由很多库目标组成。Zephyr 把应用、内核、驱动等先组织为目标，才能统一继承头文件目录、编译参数和生成顺序，而不必让每个应用复制内核的构建脚本。依据：[hello_world 原有入口](https://github.com/zephyrproject-rtos/zephyr/blob/25c8f4a23988dd3b2cfb463613622738298c2d6c/samples/hello_world/CMakeLists.txt#L3)（原件 `samples/hello_world/CMakeLists.txt`，第 3 行附近）；[app 目标创建处](https://github.com/zephyrproject-rtos/zephyr/blob/25c8f4a23988dd3b2cfb463613622738298c2d6c/cmake/modules/kernel.cmake#L236)（原件 `cmake/modules/kernel.cmake`，第 236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读者可以执行下面的**只读操作**定位原件。这只需要已经下载源码和安装 UCRT64，不需要 SDK，不新建任何文件：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UCRT64；从任意目录进入实验源码根。</a:t>
            </a:r>
          </a:p>
          <a:p>
            <a:r>
              <a:t>cd /g/zephyr_practice/zephyr-main</a:t>
            </a:r>
          </a:p>
          <a:p>
            <a:r>
              <a:t># 读取官方原有的应用入口，应该看到上面五行核心语句。</a:t>
            </a:r>
          </a:p>
          <a:p>
            <a:r>
              <a:t>sed -n '1,30p' samples/hello_world/CMakeLists.txt</a:t>
            </a:r>
          </a:p>
          <a:p>
            <a:r>
              <a:t>```</a:t>
            </a:r>
          </a:p>
          <a:p>
            <a:endParaRPr/>
          </a:p>
          <a:p>
            <a:r>
              <a:t>若提示文件不存在，返回 P001 核对下载是否完整及当前位置；不要为了让命令通过手工补一个同名文件。可复制原件见 [3.1.3 命令](commands/P003_Windows/3.1.3-01.txt)。</a:t>
            </a:r>
          </a:p>
          <a:p>
            <a:endParaRPr/>
          </a:p>
          <a:p>
            <a:r>
              <a:t>&lt;a id="section-3-1-4"&gt;&lt;/a&gt;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实现定位：https://github.com/zephyrproject-rtos/zephyr/blob/25c8f4a23988dd3b2cfb463613622738298c2d6c/cmake/modules/kernel.cmake#L236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配套正文：P003_Zephyr的CMake接口体系_Windows.md#section-3-1-4</a:t>
            </a:r>
          </a:p>
          <a:p>
            <a:r>
              <a:t>3.1.4 · ① 应用与构建</a:t>
            </a:r>
          </a:p>
          <a:p>
            <a:r>
              <a:t>ZephyrConfig.cmake 确定源码根，并让 CMake 找到 Zephyr 脚本。</a:t>
            </a:r>
          </a:p>
          <a:p>
            <a:r>
              <a:t>zephyr_default.cmake 按规定顺序执行初始化。</a:t>
            </a:r>
          </a:p>
          <a:p>
            <a:r>
              <a:t>kernel.cmake 创建 app，再进入 Zephyr 根 CMakeLists.txt。</a:t>
            </a:r>
          </a:p>
          <a:p>
            <a:r>
              <a:t>完成后返回应用，继续执行 target_sources。</a:t>
            </a:r>
          </a:p>
          <a:p>
            <a:endParaRPr/>
          </a:p>
          <a:p>
            <a:r>
              <a:t>讲解展开：</a:t>
            </a:r>
          </a:p>
          <a:p>
            <a:r>
              <a:t>### 3.1.4\_find_package 里面实际走了哪条路</a:t>
            </a:r>
          </a:p>
          <a:p>
            <a:endParaRPr/>
          </a:p>
          <a:p>
            <a:r>
              <a:t>不要把 `find_package(Zephyr)` 理解为只保存一个路径。它会执行包配置里的初始化代码。在本章版本中，普通单应用、未指定特殊 COMPONENTS 时，主线是：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A["应用 CMakeLists.txt"] --&gt; B["ZephyrConfig.cmake：确定源码根"]</a:t>
            </a:r>
          </a:p>
          <a:p>
            <a:r>
              <a:t>    B --&gt; C["zephyr_default.cmake：按顺序加载构建模块"]</a:t>
            </a:r>
          </a:p>
          <a:p>
            <a:r>
              <a:t>    C --&gt; D["先识别外部模块与额外搜索根"]</a:t>
            </a:r>
          </a:p>
          <a:p>
            <a:r>
              <a:t>    D --&gt; E["选板、配置文件、设备树和 Kconfig"]</a:t>
            </a:r>
          </a:p>
          <a:p>
            <a:r>
              <a:t>    E --&gt; F["kernel.cmake：目标工具与 app 库"]</a:t>
            </a:r>
          </a:p>
          <a:p>
            <a:r>
              <a:t>    F --&gt; G["Zephyr 根 CMakeLists.txt：内核、驱动和外部模块目标"]</a:t>
            </a:r>
          </a:p>
          <a:p>
            <a:r>
              <a:t>    G --&gt; H["返回应用，target_sources 添加 main.c"]</a:t>
            </a:r>
          </a:p>
          <a:p>
            <a:r>
              <a:t>```</a:t>
            </a:r>
          </a:p>
          <a:p>
            <a:endParaRPr/>
          </a:p>
          <a:p>
            <a:r>
              <a:t>包入口把 Zephyr 的 `cmake/modules` 加入 `CMAKE_MODULE_PATH`，所以随后 `include(zephyr_default)` 能找到 Zephyr 自己的脚本。这里 CMake module 指 `.cmake` 脚本；下一节所说的外部 Zephyr module 则是符合接入约定的源码项目。两者都叫 module，但不是同一种对象。</a:t>
            </a:r>
          </a:p>
          <a:p>
            <a:endParaRPr/>
          </a:p>
          <a:p>
            <a:r>
              <a:t>默认顺序不是随意安排。外部源码模块可能提供新的 `board_root`、`soc_root` 或 `dts_root`，必须先取得这些位置，才能找板；Kconfig 可以使用设备树信息，所以先处理设备树，再计算功能配置；有了硬件与功能配置，才确定目标参数、建立库和链接关系。处理设备树已经需要 C 预处理器，因此工具发现也不是全部等到最后：`dts.cmake` 会先请求 HostTools，`kernel.cmake` 随后请求 TargetTools 完成目标工具设置。</a:t>
            </a:r>
          </a:p>
          <a:p>
            <a:endParaRPr/>
          </a:p>
          <a:p>
            <a:r>
              <a:t>最后 Zephyr 根 `CMakeLists.txt` 收集各部分目标，之后返回应用继续执行 `project` 和 `target_sources`。这也解释了为什么正常应用构建的 `-S` 应指向 `samples/hello_world` 等**应用目录**，不能仅因源码根也有 CMakeLists.txt 就指向根目录。依据：[包入口 include_boilerplate](https://github.com/zephyrproject-rtos/zephyr/blob/25c8f4a23988dd3b2cfb463613622738298c2d6c/share/zephyr-package/cmake/ZephyrConfig.cmake#L28)（原件 `share/zephyr-package/cmake/ZephyrConfig.cmake`，第 28 行附近）；[默认初始化顺序](https://github.com/zephyrproject-rtos/zephyr/blob/25c8f4a23988dd3b2cfb463613622738298c2d6c/cmake/modules/zephyr_default.cmake#L71)（原件 `cmake/modules/zephyr_default.cmake`，第 71 行附近）；[设备树配置入口](https://github.com/zephyrproject-rtos/zephyr/blob/25c8f4a23988dd3b2cfb463613622738298c2d6c/cmake/modules/dts.cmake#L9)（原件 `cmake/modules/dts.cmake`，第 9 行附近）；[app 目标创建处](https://github.com/zephyrproject-rtos/zephyr/blob/25c8f4a23988dd3b2cfb463613622738298c2d6c/cmake/modules/kernel.cmake#L236)（原件 `cmake/modules/kernel.cmake`，第 236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id="section-3-1-5"&gt;&lt;/a&gt;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官方说明：https://docs.zephyrproject.org/latest/build/zephyr_cmake_package.html</a:t>
            </a:r>
          </a:p>
          <a:p>
            <a:r>
              <a:t>仓库原件：https://github.com/zephyrproject-rtos/zephyr/blob/25c8f4a23988dd3b2cfb463613622738298c2d6c/doc/build/zephyr_cmake_package.rst#L3</a:t>
            </a:r>
          </a:p>
          <a:p>
            <a:r>
              <a:t>实现定位：https://github.com/zephyrproject-rtos/zephyr/blob/25c8f4a23988dd3b2cfb463613622738298c2d6c/share/zephyr-package/cmake/ZephyrConfig.cmake#L28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配套正文：P003_Zephyr的CMake接口体系_Windows.md#section-3-1-4</a:t>
            </a:r>
          </a:p>
          <a:p>
            <a:r>
              <a:t>3.1.4 · ① 应用与构建</a:t>
            </a:r>
          </a:p>
          <a:p>
            <a:r>
              <a:t>模块可提供额外板、SoC 和设备树目录，所以先发现模块。</a:t>
            </a:r>
          </a:p>
          <a:p>
            <a:r>
              <a:t>知道搜索根后才能选板，再选配置文件。</a:t>
            </a:r>
          </a:p>
          <a:p>
            <a:r>
              <a:t>设备树信息可供 Kconfig 使用，因此先设备树、后 Kconfig。</a:t>
            </a:r>
          </a:p>
          <a:p>
            <a:endParaRPr/>
          </a:p>
          <a:p>
            <a:r>
              <a:t>设备树预处理已需要工具，dts.cmake 会请求 HostTools。</a:t>
            </a:r>
          </a:p>
          <a:p>
            <a:r>
              <a:t>硬件配置形成后，TargetTools 完成目标工具与参数设置。</a:t>
            </a:r>
          </a:p>
          <a:p>
            <a:r>
              <a:t>这个顺序直接列在 zephyr_default.cmake 中。</a:t>
            </a:r>
          </a:p>
          <a:p>
            <a:endParaRPr/>
          </a:p>
          <a:p>
            <a:r>
              <a:t>讲解展开：</a:t>
            </a:r>
          </a:p>
          <a:p>
            <a:r>
              <a:t>### 3.1.4\_find_package 里面实际走了哪条路</a:t>
            </a:r>
          </a:p>
          <a:p>
            <a:endParaRPr/>
          </a:p>
          <a:p>
            <a:r>
              <a:t>不要把 `find_package(Zephyr)` 理解为只保存一个路径。它会执行包配置里的初始化代码。在本章版本中，普通单应用、未指定特殊 COMPONENTS 时，主线是：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A["应用 CMakeLists.txt"] --&gt; B["ZephyrConfig.cmake：确定源码根"]</a:t>
            </a:r>
          </a:p>
          <a:p>
            <a:r>
              <a:t>    B --&gt; C["zephyr_default.cmake：按顺序加载构建模块"]</a:t>
            </a:r>
          </a:p>
          <a:p>
            <a:r>
              <a:t>    C --&gt; D["先识别外部模块与额外搜索根"]</a:t>
            </a:r>
          </a:p>
          <a:p>
            <a:r>
              <a:t>    D --&gt; E["选板、配置文件、设备树和 Kconfig"]</a:t>
            </a:r>
          </a:p>
          <a:p>
            <a:r>
              <a:t>    E --&gt; F["kernel.cmake：目标工具与 app 库"]</a:t>
            </a:r>
          </a:p>
          <a:p>
            <a:r>
              <a:t>    F --&gt; G["Zephyr 根 CMakeLists.txt：内核、驱动和外部模块目标"]</a:t>
            </a:r>
          </a:p>
          <a:p>
            <a:r>
              <a:t>    G --&gt; H["返回应用，target_sources 添加 main.c"]</a:t>
            </a:r>
          </a:p>
          <a:p>
            <a:r>
              <a:t>```</a:t>
            </a:r>
          </a:p>
          <a:p>
            <a:endParaRPr/>
          </a:p>
          <a:p>
            <a:r>
              <a:t>包入口把 Zephyr 的 `cmake/modules` 加入 `CMAKE_MODULE_PATH`，所以随后 `include(zephyr_default)` 能找到 Zephyr 自己的脚本。这里 CMake module 指 `.cmake` 脚本；下一节所说的外部 Zephyr module 则是符合接入约定的源码项目。两者都叫 module，但不是同一种对象。</a:t>
            </a:r>
          </a:p>
          <a:p>
            <a:endParaRPr/>
          </a:p>
          <a:p>
            <a:r>
              <a:t>默认顺序不是随意安排。外部源码模块可能提供新的 `board_root`、`soc_root` 或 `dts_root`，必须先取得这些位置，才能找板；Kconfig 可以使用设备树信息，所以先处理设备树，再计算功能配置；有了硬件与功能配置，才确定目标参数、建立库和链接关系。处理设备树已经需要 C 预处理器，因此工具发现也不是全部等到最后：`dts.cmake` 会先请求 HostTools，`kernel.cmake` 随后请求 TargetTools 完成目标工具设置。</a:t>
            </a:r>
          </a:p>
          <a:p>
            <a:endParaRPr/>
          </a:p>
          <a:p>
            <a:r>
              <a:t>最后 Zephyr 根 `CMakeLists.txt` 收集各部分目标，之后返回应用继续执行 `project` 和 `target_sources`。这也解释了为什么正常应用构建的 `-S` 应指向 `samples/hello_world` 等**应用目录**，不能仅因源码根也有 CMakeLists.txt 就指向根目录。依据：[包入口 include_boilerplate](https://github.com/zephyrproject-rtos/zephyr/blob/25c8f4a23988dd3b2cfb463613622738298c2d6c/share/zephyr-package/cmake/ZephyrConfig.cmake#L28)（原件 `share/zephyr-package/cmake/ZephyrConfig.cmake`，第 28 行附近）；[默认初始化顺序](https://github.com/zephyrproject-rtos/zephyr/blob/25c8f4a23988dd3b2cfb463613622738298c2d6c/cmake/modules/zephyr_default.cmake#L71)（原件 `cmake/modules/zephyr_default.cmake`，第 71 行附近）；[设备树配置入口](https://github.com/zephyrproject-rtos/zephyr/blob/25c8f4a23988dd3b2cfb463613622738298c2d6c/cmake/modules/dts.cmake#L9)（原件 `cmake/modules/dts.cmake`，第 9 行附近）；[app 目标创建处](https://github.com/zephyrproject-rtos/zephyr/blob/25c8f4a23988dd3b2cfb463613622738298c2d6c/cmake/modules/kernel.cmake#L236)（原件 `cmake/modules/kernel.cmake`，第 236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id="section-3-1-5"&gt;&lt;/a&gt;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配套正文：P003_Zephyr的CMake接口体系_Windows.md#section-3-2-1</a:t>
            </a:r>
          </a:p>
          <a:p>
            <a:r>
              <a:t>3.2.1 · ② 各类输入</a:t>
            </a:r>
          </a:p>
          <a:p>
            <a:r>
              <a:t>find_package、target_sources：CMake 原生命令。</a:t>
            </a:r>
          </a:p>
          <a:p>
            <a:r>
              <a:t>zephyr_library：Zephyr 定义的 CMake 宏。</a:t>
            </a:r>
          </a:p>
          <a:p>
            <a:r>
              <a:t>BOARD、CONF_FILE：Zephyr 脚本读取的输入。</a:t>
            </a:r>
          </a:p>
          <a:p>
            <a:r>
              <a:t>Zephyr_DIR：CMake 的包目录命名约定。</a:t>
            </a:r>
          </a:p>
          <a:p>
            <a:r>
              <a:t>CONFIG_GPIO：Kconfig 计算后的功能值。</a:t>
            </a:r>
          </a:p>
          <a:p>
            <a:r>
              <a:t>ZEPHYR_HAL_XHSC_MODULE_DIR：模块发现后的目录结果。</a:t>
            </a:r>
          </a:p>
          <a:p>
            <a:endParaRPr/>
          </a:p>
          <a:p>
            <a:r>
              <a:t>-D 只是传值语法；没人读取的自造变量不会产生接入效果。</a:t>
            </a:r>
          </a:p>
          <a:p>
            <a:endParaRPr/>
          </a:p>
          <a:p>
            <a:r>
              <a:t>讲解展开：</a:t>
            </a:r>
          </a:p>
          <a:p>
            <a:r>
              <a:t>### 3.2.1\_先区分命令、输入和结果</a:t>
            </a:r>
          </a:p>
          <a:p>
            <a:endParaRPr/>
          </a:p>
          <a:p>
            <a:r>
              <a:t>所谓接口，是调用者与读取者之间的约定：传什么、在哪里传、何时读取、返回什么。Zephyr 的 CMake 接口不只有变量，也包括包入口、函数、目标、属性以及模块元数据。</a:t>
            </a:r>
          </a:p>
          <a:p>
            <a:endParaRPr/>
          </a:p>
          <a:p>
            <a:r>
              <a:t>| 看到的写法 | 属于谁 | 在这里的用途 |</a:t>
            </a:r>
          </a:p>
          <a:p>
            <a:r>
              <a:t>| --- | --- | --- |</a:t>
            </a:r>
          </a:p>
          <a:p>
            <a:r>
              <a:t>| `find_package`、`target_sources`、`add_subdirectory` | CMake 原生命令 | 查包、修改目标、执行子目录构建脚本 |</a:t>
            </a:r>
          </a:p>
          <a:p>
            <a:r>
              <a:t>| `zephyr_library()`、`zephyr_library_sources_ifdef()` | Zephyr 在 extensions.cmake 定义的宏/函数 | 按 Zephyr 的库约定创建目标并按配置加入源码 |</a:t>
            </a:r>
          </a:p>
          <a:p>
            <a:r>
              <a:t>| `BOARD`、`CONF_FILE`、`EXTRA_ZEPHYR_MODULES` | Zephyr 构建脚本接受的输入 | 选硬件、选配置片段、追加模块 |</a:t>
            </a:r>
          </a:p>
          <a:p>
            <a:r>
              <a:t>| `Zephyr_DIR` | CMake 的 `&lt;Package&gt;_DIR` 约定 | 定位名为 Zephyr 的包配置目录 |</a:t>
            </a:r>
          </a:p>
          <a:p>
            <a:r>
              <a:t>| `CONFIG_GPIO` | Kconfig 配置结果 | 供 CMake 和 C 代码决定是否启用相应功能 |</a:t>
            </a:r>
          </a:p>
          <a:p>
            <a:r>
              <a:t>| `ZEPHYR_HAL_XHSC_MODULE_DIR` | Zephyr 模块发现产生的结果 | 让后续 CMake 脚本引用已识别模块根 |</a:t>
            </a:r>
          </a:p>
          <a:p>
            <a:endParaRPr/>
          </a:p>
          <a:p>
            <a:r>
              <a:t>`-D名字=值` 是 CMake 的传入语法；它本身不会赋予某个名字功能。如果 Zephyr 没有读取 `MY_HAL_PATH`，单独添加这个自造变量不会接入 HAL。同样，结果变量通常不该由使用者提前伪造。依据：[CMake 原生命令索引](https://cmake.org/cmake/help/latest/manual/cmake-commands.7.html)（原件 `CMake 原生命令手册`）；[扩展函数参考页](https://docs.zephyrproject.org/latest/build/cmake-ref/module/extensions.html)（原件 `doc/build/cmake-ref/module/extensions.rst`，第 1 行附近）；[派生模块目录变量创建处](https://github.com/zephyrproject-rtos/zephyr/blob/25c8f4a23988dd3b2cfb463613622738298c2d6c/cmake/modules/zephyr_module.cmake#L141)（原件 `cmake/modules/zephyr_module.cmake`，第 141 行附近）。</a:t>
            </a:r>
          </a:p>
          <a:p>
            <a:endParaRPr/>
          </a:p>
          <a:p>
            <a:r>
              <a:t>&lt;a id="section-3-2-2"&gt;&lt;/a&gt;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实现定位：https://github.com/zephyrproject-rtos/zephyr/blob/25c8f4a23988dd3b2cfb463613622738298c2d6c/cmake/modules/zephyr_module.cmake#L141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配套正文：P003_Zephyr的CMake接口体系_Windows.md#section-3-2-2</a:t>
            </a:r>
          </a:p>
          <a:p>
            <a:r>
              <a:t>3.2.2 · ② 各类输入</a:t>
            </a:r>
          </a:p>
          <a:p>
            <a:r>
              <a:t>CMake 的 -S 指应用目录，例如 samples/hello_world。</a:t>
            </a:r>
          </a:p>
          <a:p>
            <a:r>
              <a:t>ZEPHYR_BASE 指 Zephyr 源码根，里面有 boards、cmake、kernel。</a:t>
            </a:r>
          </a:p>
          <a:p>
            <a:r>
              <a:t>Zephyr_DIR 指含 ZephyrConfig.cmake 的包目录。</a:t>
            </a:r>
          </a:p>
          <a:p>
            <a:r>
              <a:t>SDK 则在源码外面，是另一种包。</a:t>
            </a:r>
          </a:p>
          <a:p>
            <a:endParaRPr/>
          </a:p>
          <a:p>
            <a:r>
              <a:t>包搜索能正常定位源码时，不必重复给出所有路径。</a:t>
            </a:r>
          </a:p>
          <a:p>
            <a:r>
              <a:t>显式输入适合固定源码副本；同时提供的路径必须互相一致。</a:t>
            </a:r>
          </a:p>
          <a:p>
            <a:endParaRPr/>
          </a:p>
          <a:p>
            <a:r>
              <a:t>讲解展开：</a:t>
            </a:r>
          </a:p>
          <a:p>
            <a:r>
              <a:t>### 3.2.2\_源码包位置和应用位置是不同输入</a:t>
            </a:r>
          </a:p>
          <a:p>
            <a:endParaRPr/>
          </a:p>
          <a:p>
            <a:r>
              <a:t>应用是 `-S` 所指向的目录；Zephyr 源码根含 `boards`、`cmake`、`kernel` 等目录；SDK 则是另外安装的工具包。三者必须分清。</a:t>
            </a:r>
          </a:p>
          <a:p>
            <a:endParaRPr/>
          </a:p>
          <a:p>
            <a:r>
              <a:t>`ZEPHYR_BASE` 表示 Zephyr 源码根，例如本系列的 `G:/zephyr_practice/zephyr-main`。`Zephyr_DIR` 表示包含 `ZephyrConfig.cmake` 的包目录，在该源码中为 `share/zephyr-package/cmake`。应用可以根据包搜索规则找到 Zephyr；`west zephyr-export` 可把源码包加入当前用户的 CMake 包记录。显式指定入口适合同时存在多份源码、需要固定本次选择的情形。</a:t>
            </a:r>
          </a:p>
          <a:p>
            <a:endParaRPr/>
          </a:p>
          <a:p>
            <a:r>
              <a:t>因此并不是每个工程都必须同时设置两项。若两项同时提供，必须指向同一份源码，防止“找到了 A 的包，却要求它使用 B 的源码”。P007 为明确区分本机源码副本给出具体选择；这不会选择 SDK。依据：[Zephyr 包发现说明](https://docs.zephyrproject.org/latest/build/zephyr_cmake_package.html)（原件 `doc/build/zephyr_cmake_package.rst`，第 3 行附近）；[包入口 include_boilerplate](https://github.com/zephyrproject-rtos/zephyr/blob/25c8f4a23988dd3b2cfb463613622738298c2d6c/share/zephyr-package/cmake/ZephyrConfig.cmake#L28)（原件 `share/zephyr-package/cmake/ZephyrConfig.cmake`，第 28 行附近）。</a:t>
            </a:r>
          </a:p>
          <a:p>
            <a:endParaRPr/>
          </a:p>
          <a:p>
            <a:r>
              <a:t>&lt;a id="section-3-2-3"&gt;&lt;/a&gt;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官方说明：https://docs.zephyrproject.org/latest/build/zephyr_cmake_package.html</a:t>
            </a:r>
          </a:p>
          <a:p>
            <a:r>
              <a:t>仓库原件：https://github.com/zephyrproject-rtos/zephyr/blob/25c8f4a23988dd3b2cfb463613622738298c2d6c/doc/build/zephyr_cmake_package.rst#L3</a:t>
            </a:r>
          </a:p>
          <a:p>
            <a:r>
              <a:t>实现定位：https://github.com/zephyrproject-rtos/zephyr/blob/25c8f4a23988dd3b2cfb463613622738298c2d6c/share/zephyr-package/cmake/ZephyrConfig.cmake#L28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配套正文：P003_Zephyr的CMake接口体系_Windows.md#section-3-2-3</a:t>
            </a:r>
          </a:p>
          <a:p>
            <a:r>
              <a:t>3.2.3 · ② 各类输入</a:t>
            </a:r>
          </a:p>
          <a:p>
            <a:r>
              <a:t>mps2/an386 是板目标标识，不是磁盘目录。</a:t>
            </a:r>
          </a:p>
          <a:p>
            <a:r>
              <a:t>板选择与硬件模型关联 SoC、架构、CPU 和默认配置。</a:t>
            </a:r>
          </a:p>
          <a:p>
            <a:r>
              <a:t>树内官方板使用默认搜索范围。</a:t>
            </a:r>
          </a:p>
          <a:p>
            <a:endParaRPr/>
          </a:p>
          <a:p>
            <a:r>
              <a:t>树外新增板才需要额外搜索根或模块 settings。</a:t>
            </a:r>
          </a:p>
          <a:p>
            <a:r>
              <a:t>BOARD_ROOT 指下面包含 boards 的根，不是 board.yml 文件。</a:t>
            </a:r>
          </a:p>
          <a:p>
            <a:r>
              <a:t>添加搜索位置只解决发现问题，硬件支持文件仍须实现。</a:t>
            </a:r>
          </a:p>
          <a:p>
            <a:endParaRPr/>
          </a:p>
          <a:p>
            <a:r>
              <a:t>讲解展开：</a:t>
            </a:r>
          </a:p>
          <a:p>
            <a:r>
              <a:t>### 3.2.3\_BOARD 怎样落实到硬件</a:t>
            </a:r>
          </a:p>
          <a:p>
            <a:endParaRPr/>
          </a:p>
          <a:p>
            <a:r>
              <a:t>`BOARD=mps2/an386` 表示选择官方 MPS2 的 AN386 目标，值是板目标标识，不是路径。`boards.cmake` 等脚本解析板名和限定项，硬件模型再把它联系到 SoC、CPU 与架构。板的设备树及默认配置参与后续计算；应用不应自己把板名翻译为一串 GCC 参数。</a:t>
            </a:r>
          </a:p>
          <a:p>
            <a:endParaRPr/>
          </a:p>
          <a:p>
            <a:r>
              <a:t>官方板位于默认源码搜索范围内，通常不需要 `BOARD_ROOT`。当 P007 创建树外练习板时，`BOARD_ROOT` 才用于增加搜索根；它应指向**下面包含 boards 目录的上层目录**，而不是 `board.yml` 文件。模块的 `build.settings.board_root` 也能提供搜索根，这是前面先发现模块再找板的原因。</a:t>
            </a:r>
          </a:p>
          <a:p>
            <a:endParaRPr/>
          </a:p>
          <a:p>
            <a:r>
              <a:t>`SOC_ROOT`、`DTS_ROOT` 分别扩展 SoC 和设备树相关文件的查找范围，各有目录约定。新增驱动、板、SoC 是不同工作，不能只增加 BOARD_ROOT 就声称芯片已完成支持。依据：[BOARD 变量参考](https://docs.zephyrproject.org/latest/build/cmake-ref/variable/BOARD.html)（原件 `doc/build/cmake-ref/variable/BOARD.rst`，第 4 行附近）；[BOARD_ROOT 变量参考](https://docs.zephyrproject.org/latest/build/cmake-ref/variable/BOARD_ROOT.html)（原件 `doc/build/cmake-ref/variable/BOARD_ROOT.rst`，第 4 行附近）；[板选择的说明与实现](https://github.com/zephyrproject-rtos/zephyr/blob/25c8f4a23988dd3b2cfb463613622738298c2d6c/cmake/modules/boards.cmake#L6)（原件 `cmake/modules/boards.cmake`，第 6 行附近）；[外部项目模块说明](https://docs.zephyrproject.org/latest/develop/modules.html)（原件 `doc/develop/modules.rst`，第 3 行附近）。</a:t>
            </a:r>
          </a:p>
          <a:p>
            <a:endParaRPr/>
          </a:p>
          <a:p>
            <a:r>
              <a:t>&lt;a id="section-3-2-4"&gt;&lt;/a&gt;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官方说明：https://docs.zephyrproject.org/latest/build/cmake-ref/variable/BOARD.html</a:t>
            </a:r>
          </a:p>
          <a:p>
            <a:r>
              <a:t>仓库原件：https://github.com/zephyrproject-rtos/zephyr/blob/25c8f4a23988dd3b2cfb463613622738298c2d6c/doc/build/cmake-ref/variable/BOARD.rst#L4</a:t>
            </a:r>
          </a:p>
          <a:p>
            <a:r>
              <a:t>实现定位：https://github.com/zephyrproject-rtos/zephyr/blob/25c8f4a23988dd3b2cfb463613622738298c2d6c/cmake/modules/boards.cmake#L6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配套正文：P003_Zephyr的CMake接口体系_Windows.md#section-3-2-4</a:t>
            </a:r>
          </a:p>
          <a:p>
            <a:r>
              <a:t>3.2.4 · ② 各类输入</a:t>
            </a:r>
          </a:p>
          <a:p>
            <a:r>
              <a:t>prj.conf 是应用请求；Kconfig 定义选项及其约束。</a:t>
            </a:r>
          </a:p>
          <a:p>
            <a:r>
              <a:t>CONF_FILE 选择应用片段，EXTRA_CONF_FILE 追加片段。</a:t>
            </a:r>
          </a:p>
          <a:p>
            <a:r>
              <a:t>configuration_files.cmake 选文件，kconfig.cmake 调用处理脚本。</a:t>
            </a:r>
          </a:p>
          <a:p>
            <a:r>
              <a:t>请求不满足依赖时，应查诊断和最终 .config。</a:t>
            </a:r>
          </a:p>
          <a:p>
            <a:endParaRPr/>
          </a:p>
          <a:p>
            <a:r>
              <a:t>讲解展开：</a:t>
            </a:r>
          </a:p>
          <a:p>
            <a:r>
              <a:t>### 3.2.4\_CONF_FILE 选文件，Kconfig 决定有效值</a:t>
            </a:r>
          </a:p>
          <a:p>
            <a:endParaRPr/>
          </a:p>
          <a:p>
            <a:r>
              <a:t>应用通常用原有 `prj.conf` 提出功能配置请求，例如某功能的 `CONFIG_...=y`。`CONF_FILE` 用于选择应用配置片段，`EXTRA_CONF_FILE` 用于在基础配置之外追加片段。它们的值是文件路径或文件列表；文件名本身不是功能开关。</a:t>
            </a:r>
          </a:p>
          <a:p>
            <a:endParaRPr/>
          </a:p>
          <a:p>
            <a:r>
              <a:t>`configuration_files.cmake` 在未显式指定 CONF_FILE 时按规则查找默认应用和硬件相关片段；接着 `kconfig.cmake` 调用 Python 的 Kconfig 处理脚本，结合配置定义与依赖关系产生 `zephyr/.config`，并生成供 C 编译使用的 `zephyr/include/generated/zephyr/autoconf.h`。CMake 也读取计算后的配置来决定加入哪些源码。</a:t>
            </a:r>
          </a:p>
          <a:p>
            <a:endParaRPr/>
          </a:p>
          <a:p>
            <a:r>
              <a:t>例如请求打开某驱动但它依赖的总线没有启用，Kconfig 会处理约束并给出诊断。读者应查最终 `.config` 与配置日志，不能只凭 prj.conf 里写了 y 就认为驱动必然编译。源码中的 `Kconfig` 是配置项定义，应用 `prj.conf` 是请求，构建目录 `.config` 是计算结果；三种文件来源与作用不同。依据：[CONF_FILE 变量参考](https://docs.zephyrproject.org/latest/build/cmake-ref/variable/CONF_FILE.html)（原件 `doc/build/cmake-ref/variable/CONF_FILE.rst`，第 4 行附近）；[配置片段的选取](https://github.com/zephyrproject-rtos/zephyr/blob/25c8f4a23988dd3b2cfb463613622738298c2d6c/cmake/modules/configuration_files.cmake#L43)（原件 `cmake/modules/configuration_files.cmake`，第 43 行附近）；[Kconfig 脚本调用处](https://github.com/zephyrproject-rtos/zephyr/blob/25c8f4a23988dd3b2cfb463613622738298c2d6c/cmake/modules/kconfig.cmake#L473)（原件 `cmake/modules/kconfig.cmake`，第 473 行附近）。</a:t>
            </a:r>
          </a:p>
          <a:p>
            <a:endParaRPr/>
          </a:p>
          <a:p>
            <a:r>
              <a:t>&lt;a id="section-3-2-5"&gt;&lt;/a&gt;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官方说明：https://docs.zephyrproject.org/latest/build/cmake-ref/variable/CONF_FILE.html</a:t>
            </a:r>
          </a:p>
          <a:p>
            <a:r>
              <a:t>仓库原件：https://github.com/zephyrproject-rtos/zephyr/blob/25c8f4a23988dd3b2cfb463613622738298c2d6c/doc/build/cmake-ref/variable/CONF_FILE.rst#L4</a:t>
            </a:r>
          </a:p>
          <a:p>
            <a:r>
              <a:t>实现定位：https://github.com/zephyrproject-rtos/zephyr/blob/25c8f4a23988dd3b2cfb463613622738298c2d6c/cmake/modules/configuration_files.cmake#L43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配套正文：P003_Zephyr的CMake接口体系_Windows.md#section-3-2-5</a:t>
            </a:r>
          </a:p>
          <a:p>
            <a:r>
              <a:t>3.2.5 · ② 各类输入</a:t>
            </a:r>
          </a:p>
          <a:p>
            <a:r>
              <a:t>板 DTS、SoC DTSI 与应用 overlay 共同描述硬件。</a:t>
            </a:r>
          </a:p>
          <a:p>
            <a:r>
              <a:t>DTC_OVERLAY_FILE 选 overlay，EXTRA_DTC_OVERLAY_FILE 追加。</a:t>
            </a:r>
          </a:p>
          <a:p>
            <a:r>
              <a:t>预处理器先展开包含与宏，Zephyr Python 脚本再解析。</a:t>
            </a:r>
          </a:p>
          <a:p>
            <a:endParaRPr/>
          </a:p>
          <a:p>
            <a:r>
              <a:t>结果是 zephyr.dts 和 devicetree_generated.h。</a:t>
            </a:r>
          </a:p>
          <a:p>
            <a:r>
              <a:t>Kconfig 还要选中驱动，节点启用本身不等于驱动已编译。</a:t>
            </a:r>
          </a:p>
          <a:p>
            <a:r>
              <a:t>dtc 可提供补充诊断；不要把全部生成工作都归给 dtc。</a:t>
            </a:r>
          </a:p>
          <a:p>
            <a:endParaRPr/>
          </a:p>
          <a:p>
            <a:r>
              <a:t>讲解展开：</a:t>
            </a:r>
          </a:p>
          <a:p>
            <a:r>
              <a:t>### 3.2.5\_设备树输入怎样成为编译信息</a:t>
            </a:r>
          </a:p>
          <a:p>
            <a:endParaRPr/>
          </a:p>
          <a:p>
            <a:r>
              <a:t>板的 `.dts` 和 SoC 的 `.dtsi` 描述硬件。应用的 overlay 可以覆盖相应节点属性。`DTC_OVERLAY_FILE` 指定应用 overlay 列表；`EXTRA_DTC_OVERLAY_FILE` 追加在基础 overlay 后处理的文件。不显式指定时有默认文件查找规则，不能把“追加”和“完全换掉选择”当成同一种动作。</a:t>
            </a:r>
          </a:p>
          <a:p>
            <a:endParaRPr/>
          </a:p>
          <a:p>
            <a:r>
              <a:t>`dts.cmake` 先用预处理器处理包含关系与宏，再调用 Zephyr 的 Python 工具解析设备树和 bindings。输出的 `zephyr/zephyr.dts` 用于查看最终硬件描述；`zephyr/include/generated/zephyr/devicetree_generated.h` 提供编译所需宏。C 源码通常通过 `zephyr/devicetree.h` 使用这些信息。</a:t>
            </a:r>
          </a:p>
          <a:p>
            <a:endParaRPr/>
          </a:p>
          <a:p>
            <a:r>
              <a:t>启用外设一般还涉及 Kconfig 选择驱动，所以“设备树节点 okay”与“驱动功能启用”需要分别成立。这正是 Zephyr 没有把所有配置都混进一个 CMake 变量的原因：硬件数据、功能依赖和目标构建关系由各自工具处理，再共同进入固件。依据：[设备树配置入口](https://github.com/zephyrproject-rtos/zephyr/blob/25c8f4a23988dd3b2cfb463613622738298c2d6c/cmake/modules/dts.cmake#L9)（原件 `cmake/modules/dts.cmake`，第 9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&lt;a id="toolchain-contract"&gt;&lt;/a&gt;</a:t>
            </a:r>
          </a:p>
          <a:p>
            <a:endParaRPr/>
          </a:p>
          <a:p>
            <a:r>
              <a:t>&lt;a id="section-3-3"&gt;&lt;/a&gt;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实现定位：https://github.com/zephyrproject-rtos/zephyr/blob/25c8f4a23988dd3b2cfb463613622738298c2d6c/cmake/modules/dts.cmake#L9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配套正文：P003_Zephyr的CMake接口体系_Windows.md#section-3-2-3</a:t>
            </a:r>
          </a:p>
          <a:p>
            <a:r>
              <a:t>3.2.3 · ② 各类输入</a:t>
            </a:r>
          </a:p>
          <a:p>
            <a:r>
              <a:t>官方 CMake Reference → Variables → BOARD。</a:t>
            </a:r>
          </a:p>
          <a:p>
            <a:r>
              <a:t>原件：doc/build/cmake-ref/variable/BOARD.rst。</a:t>
            </a:r>
          </a:p>
          <a:p>
            <a:r>
              <a:t>该页分别说明它作为 boards 模块输入和输出的含义。</a:t>
            </a:r>
          </a:p>
          <a:p>
            <a:endParaRPr/>
          </a:p>
          <a:p>
            <a:r>
              <a:t>接着看 boards 模块页，再读 cmake/modules/boards.cmake。</a:t>
            </a:r>
          </a:p>
          <a:p>
            <a:r>
              <a:t>这是从接口说明到实现的定向路线，不需要全仓库搜索。</a:t>
            </a:r>
          </a:p>
          <a:p>
            <a:r>
              <a:t>CONF_FILE 页面同样会指向 configuration_files 模块。</a:t>
            </a:r>
          </a:p>
          <a:p>
            <a:endParaRPr/>
          </a:p>
          <a:p>
            <a:r>
              <a:t>讲解展开：</a:t>
            </a:r>
          </a:p>
          <a:p>
            <a:r>
              <a:t>### 3.2.3\_BOARD 怎样落实到硬件</a:t>
            </a:r>
          </a:p>
          <a:p>
            <a:endParaRPr/>
          </a:p>
          <a:p>
            <a:r>
              <a:t>`BOARD=mps2/an386` 表示选择官方 MPS2 的 AN386 目标，值是板目标标识，不是路径。`boards.cmake` 等脚本解析板名和限定项，硬件模型再把它联系到 SoC、CPU 与架构。板的设备树及默认配置参与后续计算；应用不应自己把板名翻译为一串 GCC 参数。</a:t>
            </a:r>
          </a:p>
          <a:p>
            <a:endParaRPr/>
          </a:p>
          <a:p>
            <a:r>
              <a:t>官方板位于默认源码搜索范围内，通常不需要 `BOARD_ROOT`。当 P007 创建树外练习板时，`BOARD_ROOT` 才用于增加搜索根；它应指向**下面包含 boards 目录的上层目录**，而不是 `board.yml` 文件。模块的 `build.settings.board_root` 也能提供搜索根，这是前面先发现模块再找板的原因。</a:t>
            </a:r>
          </a:p>
          <a:p>
            <a:endParaRPr/>
          </a:p>
          <a:p>
            <a:r>
              <a:t>`SOC_ROOT`、`DTS_ROOT` 分别扩展 SoC 和设备树相关文件的查找范围，各有目录约定。新增驱动、板、SoC 是不同工作，不能只增加 BOARD_ROOT 就声称芯片已完成支持。依据：[BOARD 变量参考](https://docs.zephyrproject.org/latest/build/cmake-ref/variable/BOARD.html)（原件 `doc/build/cmake-ref/variable/BOARD.rst`，第 4 行附近）；[BOARD_ROOT 变量参考](https://docs.zephyrproject.org/latest/build/cmake-ref/variable/BOARD_ROOT.html)（原件 `doc/build/cmake-ref/variable/BOARD_ROOT.rst`，第 4 行附近）；[板选择的说明与实现](https://github.com/zephyrproject-rtos/zephyr/blob/25c8f4a23988dd3b2cfb463613622738298c2d6c/cmake/modules/boards.cmake#L6)（原件 `cmake/modules/boards.cmake`，第 6 行附近）；[外部项目模块说明](https://docs.zephyrproject.org/latest/develop/modules.html)（原件 `doc/develop/modules.rst`，第 3 行附近）。</a:t>
            </a:r>
          </a:p>
          <a:p>
            <a:endParaRPr/>
          </a:p>
          <a:p>
            <a:r>
              <a:t>&lt;a id="section-3-2-4"&gt;&lt;/a&gt;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官方说明：https://docs.zephyrproject.org/latest/build/cmake-ref/variable/BOARD.html</a:t>
            </a:r>
          </a:p>
          <a:p>
            <a:r>
              <a:t>仓库原件：https://github.com/zephyrproject-rtos/zephyr/blob/25c8f4a23988dd3b2cfb463613622738298c2d6c/doc/build/cmake-ref/variable/BOARD.rst#L4</a:t>
            </a:r>
          </a:p>
          <a:p>
            <a:r>
              <a:t>实现定位：https://github.com/zephyrproject-rtos/zephyr/blob/25c8f4a23988dd3b2cfb463613622738298c2d6c/cmake/modules/boards.cmake#L6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配套正文：P003_Zephyr的CMake接口体系_Windows.md#section-3-3-1</a:t>
            </a:r>
          </a:p>
          <a:p>
            <a:r>
              <a:t>3.3.1 · ③ 工具链接入</a:t>
            </a:r>
          </a:p>
          <a:p>
            <a:r>
              <a:t>find_package(Zephyr) 进入源码构建规则。</a:t>
            </a:r>
          </a:p>
          <a:p>
            <a:r>
              <a:t>规则需要工具时，FindHostTools 请求查找 Zephyr-sdk。</a:t>
            </a:r>
          </a:p>
          <a:p>
            <a:r>
              <a:t>SDK 的 Zephyr-sdkConfig.cmake 提供工具包位置和默认选择。</a:t>
            </a:r>
          </a:p>
          <a:p>
            <a:endParaRPr/>
          </a:p>
          <a:p>
            <a:r>
              <a:t>west zephyr-export 处理源码包的位置记录。</a:t>
            </a:r>
          </a:p>
          <a:p>
            <a:r>
              <a:t>SDK 的 setup.cmd /c 处理 SDK 包的位置记录。</a:t>
            </a:r>
          </a:p>
          <a:p>
            <a:r>
              <a:t>两者面向不同的包，不把 SDK 复制进应用。</a:t>
            </a:r>
          </a:p>
          <a:p>
            <a:endParaRPr/>
          </a:p>
          <a:p>
            <a:r>
              <a:t>讲解展开：</a:t>
            </a:r>
          </a:p>
          <a:p>
            <a:r>
              <a:t>### 3.3.1\_先区分两个 CMake 包</a:t>
            </a:r>
          </a:p>
          <a:p>
            <a:endParaRPr/>
          </a:p>
          <a:p>
            <a:r>
              <a:t>`find_package(Zephyr)` 找的是**源码构建规则**；这些规则需要工具时，通过 `FindHostTools.cmake` 请求 `find_package(Zephyr-sdk ...)`。后者才寻找 **SDK 工具包**。两个包各有入口，也各有当前用户的包记录。</a:t>
            </a:r>
          </a:p>
          <a:p>
            <a:endParaRPr/>
          </a:p>
          <a:p>
            <a:r>
              <a:t>SDK 安装根的 `cmake/Zephyr-sdkConfig.cmake` 说明 SDK 在哪里，并在没有其他选择时提供默认工具链类型。Windows 的 `setup.cmd /c` 把 SDK 包位置写入当前用户的 CMake 包注册表，供之后不同工程的包搜索使用；它不把 SDK 复制到应用中，也不改应用 CMakeLists。该记录跨终端保留，Python venv 的启停不会删除它。</a:t>
            </a:r>
          </a:p>
          <a:p>
            <a:endParaRPr/>
          </a:p>
          <a:p>
            <a:r>
              <a:t>没有显式选择其他工具链，且有效包记录可访问时，普通主线让 Zephyr 查找兼容 SDK 即可。**不要求再重复填写默认类型 `zephyr` 和 SDK 根。** 如果已有环境或缓存设置，默认分支可能被覆盖，3.5 再解释怎样定位。依据：[SDK 输入与默认查找分支](https://github.com/zephyrproject-rtos/zephyr/blob/25c8f4a23988dd3b2cfb463613622738298c2d6c/cmake/modules/FindZephyr-sdk.cmake#L44)（原件 `cmake/modules/FindZephyr-sdk.cmake`，第 44 行附近）；[SDK 文档](https://docs.zephyrproject.org/latest/develop/toolchains/zephyr_sdk.html)（原件 `doc/develop/toolchains/zephyr_sdk.rst`，第 3 行附近）；[SDK 1.0.1 的默认类型实现（安装包内）](https://github.com/zephyrproject-rtos/sdk-ng/releases/tag/v1.0.1)（原件 `cmake/Zephyr-sdkConfig.cmake`，第 15 行附近）。</a:t>
            </a:r>
          </a:p>
          <a:p>
            <a:endParaRPr/>
          </a:p>
          <a:p>
            <a:r>
              <a:t>&lt;a id="section-3-3-2"&gt;&lt;/a&gt;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官方说明：https://docs.zephyrproject.org/latest/develop/toolchains/zephyr_sdk.html</a:t>
            </a:r>
          </a:p>
          <a:p>
            <a:r>
              <a:t>仓库原件：https://github.com/zephyrproject-rtos/zephyr/blob/25c8f4a23988dd3b2cfb463613622738298c2d6c/doc/develop/toolchains/zephyr_sdk.rst#L3</a:t>
            </a:r>
          </a:p>
          <a:p>
            <a:r>
              <a:t>实现定位：https://github.com/zephyrproject-rtos/zephyr/blob/25c8f4a23988dd3b2cfb463613622738298c2d6c/cmake/modules/FindHostTools.cmake#L51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配套正文：P003_Zephyr的CMake接口体系_Windows.md#section-3-3-1</a:t>
            </a:r>
          </a:p>
          <a:p>
            <a:r>
              <a:t>3.3.1 · ③ 工具链接入</a:t>
            </a:r>
          </a:p>
          <a:p>
            <a:r>
              <a:t>当前用户的 SDK 包记录为 CMake 提供搜索候选。</a:t>
            </a:r>
          </a:p>
          <a:p>
            <a:r>
              <a:t>没有其他类型或旧位置覆盖时，Zephyr 尝试找兼容 SDK。</a:t>
            </a:r>
          </a:p>
          <a:p>
            <a:r>
              <a:t>有效注册后，主线省略默认类型和 SDK 根即可。</a:t>
            </a:r>
          </a:p>
          <a:p>
            <a:r>
              <a:t>注册跨终端保留，.venv 的启停不会删除它。</a:t>
            </a:r>
          </a:p>
          <a:p>
            <a:endParaRPr/>
          </a:p>
          <a:p>
            <a:r>
              <a:t>讲解展开：</a:t>
            </a:r>
          </a:p>
          <a:p>
            <a:r>
              <a:t>### 3.3.1\_先区分两个 CMake 包</a:t>
            </a:r>
          </a:p>
          <a:p>
            <a:endParaRPr/>
          </a:p>
          <a:p>
            <a:r>
              <a:t>`find_package(Zephyr)` 找的是**源码构建规则**；这些规则需要工具时，通过 `FindHostTools.cmake` 请求 `find_package(Zephyr-sdk ...)`。后者才寻找 **SDK 工具包**。两个包各有入口，也各有当前用户的包记录。</a:t>
            </a:r>
          </a:p>
          <a:p>
            <a:endParaRPr/>
          </a:p>
          <a:p>
            <a:r>
              <a:t>SDK 安装根的 `cmake/Zephyr-sdkConfig.cmake` 说明 SDK 在哪里，并在没有其他选择时提供默认工具链类型。Windows 的 `setup.cmd /c` 把 SDK 包位置写入当前用户的 CMake 包注册表，供之后不同工程的包搜索使用；它不把 SDK 复制到应用中，也不改应用 CMakeLists。该记录跨终端保留，Python venv 的启停不会删除它。</a:t>
            </a:r>
          </a:p>
          <a:p>
            <a:endParaRPr/>
          </a:p>
          <a:p>
            <a:r>
              <a:t>没有显式选择其他工具链，且有效包记录可访问时，普通主线让 Zephyr 查找兼容 SDK 即可。**不要求再重复填写默认类型 `zephyr` 和 SDK 根。** 如果已有环境或缓存设置，默认分支可能被覆盖，3.5 再解释怎样定位。依据：[SDK 输入与默认查找分支](https://github.com/zephyrproject-rtos/zephyr/blob/25c8f4a23988dd3b2cfb463613622738298c2d6c/cmake/modules/FindZephyr-sdk.cmake#L44)（原件 `cmake/modules/FindZephyr-sdk.cmake`，第 44 行附近）；[SDK 文档](https://docs.zephyrproject.org/latest/develop/toolchains/zephyr_sdk.html)（原件 `doc/develop/toolchains/zephyr_sdk.rst`，第 3 行附近）；[SDK 1.0.1 的默认类型实现（安装包内）](https://github.com/zephyrproject-rtos/sdk-ng/releases/tag/v1.0.1)（原件 `cmake/Zephyr-sdkConfig.cmake`，第 15 行附近）。</a:t>
            </a:r>
          </a:p>
          <a:p>
            <a:endParaRPr/>
          </a:p>
          <a:p>
            <a:r>
              <a:t>&lt;a id="section-3-3-2"&gt;&lt;/a&gt;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官方说明：https://docs.zephyrproject.org/latest/develop/toolchains/zephyr_sdk.html</a:t>
            </a:r>
          </a:p>
          <a:p>
            <a:r>
              <a:t>仓库原件：https://github.com/zephyrproject-rtos/zephyr/blob/25c8f4a23988dd3b2cfb463613622738298c2d6c/doc/develop/toolchains/zephyr_sdk.rst#L3</a:t>
            </a:r>
          </a:p>
          <a:p>
            <a:r>
              <a:t>实现定位：https://github.com/zephyrproject-rtos/zephyr/blob/25c8f4a23988dd3b2cfb463613622738298c2d6c/cmake/modules/FindZephyr-sdk.cmake#L44</a:t>
            </a:r>
          </a:p>
          <a:p>
            <a:r>
              <a:t>本章依据源码提交 25c8f4a23988dd3b2cfb463613622738298c2d6c 与 SDK 1.0.1；网页 latest 可能随上游变化。</a:t>
            </a:r>
          </a:p>
          <a:p>
            <a:r>
              <a:t>沿用原第 8 页补充说明：setup.cmd 的操作为 SDK 接入作准备。具体区分 /t 安装工具与 /c 保存当前用户的包位置，安装步骤详见 P004。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配套正文：P003_Zephyr的CMake接口体系_Windows.md#section-3-3-2</a:t>
            </a:r>
          </a:p>
          <a:p>
            <a:r>
              <a:t>3.3.2 · ③ 工具链接入</a:t>
            </a:r>
          </a:p>
          <a:p>
            <a:r>
              <a:t>编译器路径之外，还需预处理、汇编、链接、库和工具规则。</a:t>
            </a:r>
          </a:p>
          <a:p>
            <a:r>
              <a:t>ZEPHYR_TOOLCHAIN_VARIANT 选择这组接入规则。</a:t>
            </a:r>
          </a:p>
          <a:p>
            <a:r>
              <a:t>zephyr 使用 SDK 接入；cross-compile 使用独立 GNU 前缀。</a:t>
            </a:r>
          </a:p>
          <a:p>
            <a:endParaRPr/>
          </a:p>
          <a:p>
            <a:r>
              <a:t>generic.cmake 先准备通用处理，例如设备树预处理。</a:t>
            </a:r>
          </a:p>
          <a:p>
            <a:r>
              <a:t>target.cmake 再完成目标编译与目标库设置。</a:t>
            </a:r>
          </a:p>
          <a:p>
            <a:r>
              <a:t>仅换一个类型名，不会自动实现新的编译器支持。</a:t>
            </a:r>
          </a:p>
          <a:p>
            <a:endParaRPr/>
          </a:p>
          <a:p>
            <a:r>
              <a:t>讲解展开：</a:t>
            </a:r>
          </a:p>
          <a:p>
            <a:r>
              <a:t>### 3.3.2\_为什么有工具链类型，而不只填 gcc.exe</a:t>
            </a:r>
          </a:p>
          <a:p>
            <a:endParaRPr/>
          </a:p>
          <a:p>
            <a:r>
              <a:t>编译器可执行文件只是工具链的一部分。构建还需要预处理方式、汇编器、链接器、目标库、参数检测、链接脚本处理以及二进制工具。Zephyr 用一个类型名选择一组知道这些规则的 CMake 脚本。</a:t>
            </a:r>
          </a:p>
          <a:p>
            <a:endParaRPr/>
          </a:p>
          <a:p>
            <a:r>
              <a:t>`ZEPHYR_TOOLCHAIN_VARIANT` 就是该类型输入。`zephyr` 路线使用 SDK 的接入规则；`cross-compile` 路线接受独立 GNU 工具的共同前缀。其他类型须遵循各自文档，不能只替换名字继续套用 SDK 参数。</a:t>
            </a:r>
          </a:p>
          <a:p>
            <a:endParaRPr/>
          </a:p>
          <a:p>
            <a:r>
              <a:t>`FindHostTools.cmake` 加载 `cmake/toolchain/&lt;类型&gt;/generic.cmake`，先准备通用处理所需工具，例如设备树预处理器。`FindTargetTools.cmake` 再加载 `target.cmake`，建立目标编译、链接和库相关设置。目标 CPU 配置并不会由“工具链名字包含 arm”完整推出。</a:t>
            </a:r>
          </a:p>
          <a:p>
            <a:endParaRPr/>
          </a:p>
          <a:p>
            <a:r>
              <a:t>```mermaid</a:t>
            </a:r>
          </a:p>
          <a:p>
            <a:r>
              <a:t>flowchart LR</a:t>
            </a:r>
          </a:p>
          <a:p>
            <a:r>
              <a:t>    A["选择工具链类型"] --&gt; B["generic.cmake：通用工具"]</a:t>
            </a:r>
          </a:p>
          <a:p>
            <a:r>
              <a:t>    B --&gt; C["处理硬件与功能配置"]</a:t>
            </a:r>
          </a:p>
          <a:p>
            <a:r>
              <a:t>    C --&gt; D["target.cmake：目标工具与库"]</a:t>
            </a:r>
          </a:p>
          <a:p>
            <a:r>
              <a:t>    D --&gt; E["目标参数与编译任务"]</a:t>
            </a:r>
          </a:p>
          <a:p>
            <a:r>
              <a:t>```</a:t>
            </a:r>
          </a:p>
          <a:p>
            <a:endParaRPr/>
          </a:p>
          <a:p>
            <a:r>
              <a:t>注意 HostTools 中的 generic 不是要求先用 Windows 的本机 GCC 编一份固件。此阶段需要的是运行在主机上的工具及通用能力，可以使用交叉编译器做预处理。依据：[树外工具链设计说明](https://docs.zephyrproject.org/latest/develop/toolchains/custom_cmake.html)（原件 `doc/develop/toolchains/custom_cmake.rst`，第 3 行附近）；[SDK 请求与通用工具规则](https://github.com/zephyrproject-rtos/zephyr/blob/25c8f4a23988dd3b2cfb463613622738298c2d6c/cmake/modules/FindHostTools.cmake#L51)（原件 `cmake/modules/FindHostTools.cmake`，第 51 行附近）；[目标工具链规则](https://github.com/zephyrproject-rtos/zephyr/blob/25c8f4a23988dd3b2cfb463613622738298c2d6c/cmake/modules/FindTargetTools.cmake#L30)（原件 `cmake/modules/FindTargetTools.cmake`，第 30 行附近）。</a:t>
            </a:r>
          </a:p>
          <a:p>
            <a:endParaRPr/>
          </a:p>
          <a:p>
            <a:r>
              <a:t>&lt;a id="section-3-3-3"&gt;&lt;/a&gt;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官方说明：https://docs.zephyrproject.org/latest/develop/toolchains/custom_cmake.html</a:t>
            </a:r>
          </a:p>
          <a:p>
            <a:r>
              <a:t>仓库原件：https://github.com/zephyrproject-rtos/zephyr/blob/25c8f4a23988dd3b2cfb463613622738298c2d6c/doc/develop/toolchains/custom_cmake.rst#L3</a:t>
            </a:r>
          </a:p>
          <a:p>
            <a:r>
              <a:t>实现定位：https://github.com/zephyrproject-rtos/zephyr/blob/25c8f4a23988dd3b2cfb463613622738298c2d6c/cmake/modules/FindHostTools.cmake#L51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配套正文：P003_Zephyr的CMake接口体系_Windows.md#section-3-3-3</a:t>
            </a:r>
          </a:p>
          <a:p>
            <a:r>
              <a:t>3.3.3 · ③ 工具链接入</a:t>
            </a:r>
          </a:p>
          <a:p>
            <a:r>
              <a:t>板与 SoC 给出架构、CPU 和 FPU 等配置。</a:t>
            </a:r>
          </a:p>
          <a:p>
            <a:r>
              <a:t>SDK 的 GNU target.cmake 把 ARM 32 位映射到 arm-zephyr-eabi。</a:t>
            </a:r>
          </a:p>
          <a:p>
            <a:r>
              <a:t>Zephyr 的 target_arm.cmake 再给出适用的 CPU 与浮点参数。</a:t>
            </a:r>
          </a:p>
          <a:p>
            <a:r>
              <a:t>HC32 和其他 Cortex-M 板可复用 ARM 工具链，硬件支持仍各自实现。</a:t>
            </a:r>
          </a:p>
          <a:p>
            <a:endParaRPr/>
          </a:p>
          <a:p>
            <a:r>
              <a:t>讲解展开：</a:t>
            </a:r>
          </a:p>
          <a:p>
            <a:r>
              <a:t>### 3.3.3\_BOARD 与 SDK 怎样共同决定 ARM 编译</a:t>
            </a:r>
          </a:p>
          <a:p>
            <a:endParaRPr/>
          </a:p>
          <a:p>
            <a:r>
              <a:t>以 Cortex-M 目标为例，板与 SoC 的配置确定 ARM 架构和具体 CPU/FPU 需求。SDK 1.0.1 的 GNU `target.cmake` 把 ARM 32 位架构映射到 `arm-zephyr-eabi`，据 SDK 根拼出 `gnu/arm-zephyr-eabi/bin/arm-zephyr-eabi-` 前缀；Zephyr 的 `cmake/compiler/gcc/target_arm.cmake` 再根据配置确定 `-mcpu`、指令集和适用的浮点选项。</a:t>
            </a:r>
          </a:p>
          <a:p>
            <a:endParaRPr/>
          </a:p>
          <a:p>
            <a:r>
              <a:t>所以同一 ARM 工具链可以服务多个 Cortex-M 芯片。给 HC32F4A0 增加板与 SoC 支持时，主要补硬件和驱动适配；不能因为换了厂商就凭空新增 `hc32` 工具链类型。反过来，选择 arm 工具链也不会替读者创建 HC32 的寄存器描述、启动、时钟和驱动。</a:t>
            </a:r>
          </a:p>
          <a:p>
            <a:endParaRPr/>
          </a:p>
          <a:p>
            <a:r>
              <a:t>这条链中，BOARD 是读者输入；ARCH 与 CPU/FPU 配置是硬件选择产生的信息；编译器完整路径和参数是工具规则的结果。P007 最后通过 `compile_commands.json` 核对它们，而不是只看终端的 `gcc --version`。依据：[SDK 1.0.1 的 ARM 映射（安装包内）](https://github.com/zephyrproject-rtos/sdk-ng/releases/tag/v1.0.1)（原件 `cmake/zephyr/gnu/target.cmake`，第 5 行附近）；[ARM CPU 参数实现](https://github.com/zephyrproject-rtos/zephyr/blob/25c8f4a23988dd3b2cfb463613622738298c2d6c/cmake/compiler/gcc/target_arm.cmake#L5)（原件 `cmake/compiler/gcc/target_arm.cmake`，第 5 行附近）。</a:t>
            </a:r>
          </a:p>
          <a:p>
            <a:endParaRPr/>
          </a:p>
          <a:p>
            <a:r>
              <a:t>&lt;a id="section-3-3-4"&gt;&lt;/a&gt;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官方说明：https://docs.zephyrproject.org/latest/develop/toolchains/zephyr_sdk.html</a:t>
            </a:r>
          </a:p>
          <a:p>
            <a:r>
              <a:t>仓库原件：https://github.com/zephyrproject-rtos/zephyr/blob/25c8f4a23988dd3b2cfb463613622738298c2d6c/doc/develop/toolchains/zephyr_sdk.rst#L3</a:t>
            </a:r>
          </a:p>
          <a:p>
            <a:r>
              <a:t>实现定位：https://github.com/zephyrproject-rtos/zephyr/blob/25c8f4a23988dd3b2cfb463613622738298c2d6c/cmake/compiler/gcc/target_arm.cmake#L5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配套正文：P003_Zephyr的CMake接口体系_Windows.md#section-3-3-4</a:t>
            </a:r>
          </a:p>
          <a:p>
            <a:r>
              <a:t>3.3.4 · ③ 工具链接入</a:t>
            </a:r>
          </a:p>
          <a:p>
            <a:r>
              <a:t>完整 GNU SDK：接入层和多个目标工具链已经一起提供。</a:t>
            </a:r>
          </a:p>
          <a:p>
            <a:r>
              <a:t>Minimal SDK：保留 SDK 接入层，另外补目标工具组件。</a:t>
            </a:r>
          </a:p>
          <a:p>
            <a:r>
              <a:t>两者准备齐全后，都作为 SDK 被工程发现。</a:t>
            </a:r>
          </a:p>
          <a:p>
            <a:endParaRPr/>
          </a:p>
          <a:p>
            <a:r>
              <a:t>独立 ARM 组件：可以没有 SDK 包配置。</a:t>
            </a:r>
          </a:p>
          <a:p>
            <a:r>
              <a:t>直接使用时走 Zephyr 的 cross-compile 接口并核对目标库。</a:t>
            </a:r>
          </a:p>
          <a:p>
            <a:r>
              <a:t>它不是 Minimal SDK，也不要求读者手建 SDK CMake 包。</a:t>
            </a:r>
          </a:p>
          <a:p>
            <a:endParaRPr/>
          </a:p>
          <a:p>
            <a:r>
              <a:t>讲解展开：</a:t>
            </a:r>
          </a:p>
          <a:p>
            <a:r>
              <a:t>### 3.3.4\_完整 SDK、Minimal 与独立工具链共用哪些接口</a:t>
            </a:r>
          </a:p>
          <a:p>
            <a:endParaRPr/>
          </a:p>
          <a:p>
            <a:r>
              <a:t>完整 GNU SDK 带 SDK 的 CMake 接入层和多个目标工具链；Minimal SDK 仍带 SDK 接入层，但需要另装目标组件。Minimal 补齐 ARM 组件后，两者都作为 SDK 被发现，**工程接口没有另起一套 Minimal 体系**。</a:t>
            </a:r>
          </a:p>
          <a:p>
            <a:endParaRPr/>
          </a:p>
          <a:p>
            <a:r>
              <a:t>`G:/zephyr_practice/arm-zephyr-eabi` 是本机独立 ARM 工具组件目录。单组件可以只有 bin、库和目标头文件，没有 SDK 的包配置。选择直接使用它时，走 Zephyr 源码已提供的 `cross-compile` 接口，给 `CROSS_COMPILE` 提供共同前缀；不是在该目录手建一个 SDK CMake 包。</a:t>
            </a:r>
          </a:p>
          <a:p>
            <a:endParaRPr/>
          </a:p>
          <a:p>
            <a:r>
              <a:t>| 场景 | 读者需要表达什么 | 为什么 |</a:t>
            </a:r>
          </a:p>
          <a:p>
            <a:r>
              <a:t>| --- | --- | --- |</a:t>
            </a:r>
          </a:p>
          <a:p>
            <a:r>
              <a:t>| 已注册的完整 SDK 或补齐后的 Minimal | 默认可省略类型与 SDK 根 | 包发现给出工具位置及默认规则 |</a:t>
            </a:r>
          </a:p>
          <a:p>
            <a:r>
              <a:t>| 多套 SDK 中固定一套 | 按需给 `ZEPHYR_SDK_INSTALL_DIR` 指定 SDK 根 | 约束本次工具来源，路径下应有 SDK 包配置 |</a:t>
            </a:r>
          </a:p>
          <a:p>
            <a:r>
              <a:t>| 独立 GNU 工具组件 | `cross-compile` 配合 `CROSS_COMPILE` | 告诉已有 GNU 规则如何定位程序 |</a:t>
            </a:r>
          </a:p>
          <a:p>
            <a:r>
              <a:t>| 维护尚无接入规则的新工具链 | 自定义类型与 `TOOLCHAIN_ROOT`，并实现所需规则 | 这是扩展构建系统，不是普通 SDK 安装 |</a:t>
            </a:r>
          </a:p>
          <a:p>
            <a:endParaRPr/>
          </a:p>
          <a:p>
            <a:r>
              <a:t>`CROSS_COMPILE` 的值由程序目录加共同文件名前缀组成，包含末尾横线，例如 `G:/zephyr_practice/arm-zephyr-eabi/bin/arm-zephyr-eabi-`。它不是仅到 bin 的目录，也不是 gcc.exe 的完整文件名。目标库还须匹配，必要时根据该路线文档设置 `SYSROOT_DIR`；程序可运行并不等于目标库齐全。具体包准备见 P004，完整构建见 P007。依据：[独立 GNU 接入说明](https://docs.zephyrproject.org/latest/develop/toolchains/other_x_compilers.html)（原件 `doc/develop/toolchains/other_x_compilers.rst`，第 3 行附近）；[树外工具链设计说明](https://docs.zephyrproject.org/latest/develop/toolchains/custom_cmake.html)（原件 `doc/develop/toolchains/custom_cmake.rst`，第 3 行附近）；[SDK 文档](https://docs.zephyrproject.org/latest/develop/toolchains/zephyr_sdk.html)（原件 `doc/develop/toolchains/zephyr_sdk.rst`，第 3 行附近）。</a:t>
            </a:r>
          </a:p>
          <a:p>
            <a:endParaRPr/>
          </a:p>
          <a:p>
            <a:r>
              <a:t>`TOOLCHAIN_ROOT` 指 Zephyr 工具链接入规则所在根，默认使用 Zephyr 源码；它不等于 SDK 安装根。树外规则按官方约定提供 `cmake/toolchain/&lt;类型&gt;/generic.cmake` 和 `target.cmake`，并满足其依赖的 compiler/linker/bintools 规则。SDK 工具、树外规则与源码模块三类目录不能互换。</a:t>
            </a:r>
          </a:p>
          <a:p>
            <a:endParaRPr/>
          </a:p>
          <a:p>
            <a:r>
              <a:t>&lt;a id="module-contract"&gt;&lt;/a&gt;</a:t>
            </a:r>
          </a:p>
          <a:p>
            <a:endParaRPr/>
          </a:p>
          <a:p>
            <a:r>
              <a:t>&lt;a id="section-3-4"&gt;&lt;/a&gt;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官方说明：https://docs.zephyrproject.org/latest/develop/toolchains/other_x_compilers.html</a:t>
            </a:r>
          </a:p>
          <a:p>
            <a:r>
              <a:t>仓库原件：https://github.com/zephyrproject-rtos/zephyr/blob/25c8f4a23988dd3b2cfb463613622738298c2d6c/doc/develop/toolchains/other_x_compilers.rst#L3</a:t>
            </a:r>
          </a:p>
          <a:p>
            <a:r>
              <a:t>实现定位：https://github.com/zephyrproject-rtos/zephyr/blob/25c8f4a23988dd3b2cfb463613622738298c2d6c/cmake/modules/FindZephyr-sdk.cmake#L44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配套正文：P003_Zephyr的CMake接口体系_Windows.md#section-3-3-4</a:t>
            </a:r>
          </a:p>
          <a:p>
            <a:r>
              <a:t>3.3.4 · ③ 工具链接入</a:t>
            </a:r>
          </a:p>
          <a:p>
            <a:r>
              <a:t>ZEPHYR_SDK_INSTALL_DIR：SDK 根，包含 SDK 的 cmake 接入层。</a:t>
            </a:r>
          </a:p>
          <a:p>
            <a:r>
              <a:t>CROSS_COMPILE：工具目录加共同前缀，末尾保留横线。</a:t>
            </a:r>
          </a:p>
          <a:p>
            <a:r>
              <a:t>TOOLCHAIN_ROOT：Zephyr 工具链接入脚本的根。</a:t>
            </a:r>
          </a:p>
          <a:p>
            <a:endParaRPr/>
          </a:p>
          <a:p>
            <a:r>
              <a:t>TOOLCHAIN_ROOT 默认使用 Zephyr 源码，不是编译器 bin。</a:t>
            </a:r>
          </a:p>
          <a:p>
            <a:r>
              <a:t>只有维护树外新规则时才更改它，并提供 generic / target 等规则。</a:t>
            </a:r>
          </a:p>
          <a:p>
            <a:r>
              <a:t>普通使用 SDK 无须实现这些规则。</a:t>
            </a:r>
          </a:p>
          <a:p>
            <a:endParaRPr/>
          </a:p>
          <a:p>
            <a:r>
              <a:t>讲解展开：</a:t>
            </a:r>
          </a:p>
          <a:p>
            <a:r>
              <a:t>### 3.3.4\_完整 SDK、Minimal 与独立工具链共用哪些接口</a:t>
            </a:r>
          </a:p>
          <a:p>
            <a:endParaRPr/>
          </a:p>
          <a:p>
            <a:r>
              <a:t>完整 GNU SDK 带 SDK 的 CMake 接入层和多个目标工具链；Minimal SDK 仍带 SDK 接入层，但需要另装目标组件。Minimal 补齐 ARM 组件后，两者都作为 SDK 被发现，**工程接口没有另起一套 Minimal 体系**。</a:t>
            </a:r>
          </a:p>
          <a:p>
            <a:endParaRPr/>
          </a:p>
          <a:p>
            <a:r>
              <a:t>`G:/zephyr_practice/arm-zephyr-eabi` 是本机独立 ARM 工具组件目录。单组件可以只有 bin、库和目标头文件，没有 SDK 的包配置。选择直接使用它时，走 Zephyr 源码已提供的 `cross-compile` 接口，给 `CROSS_COMPILE` 提供共同前缀；不是在该目录手建一个 SDK CMake 包。</a:t>
            </a:r>
          </a:p>
          <a:p>
            <a:endParaRPr/>
          </a:p>
          <a:p>
            <a:r>
              <a:t>| 场景 | 读者需要表达什么 | 为什么 |</a:t>
            </a:r>
          </a:p>
          <a:p>
            <a:r>
              <a:t>| --- | --- | --- |</a:t>
            </a:r>
          </a:p>
          <a:p>
            <a:r>
              <a:t>| 已注册的完整 SDK 或补齐后的 Minimal | 默认可省略类型与 SDK 根 | 包发现给出工具位置及默认规则 |</a:t>
            </a:r>
          </a:p>
          <a:p>
            <a:r>
              <a:t>| 多套 SDK 中固定一套 | 按需给 `ZEPHYR_SDK_INSTALL_DIR` 指定 SDK 根 | 约束本次工具来源，路径下应有 SDK 包配置 |</a:t>
            </a:r>
          </a:p>
          <a:p>
            <a:r>
              <a:t>| 独立 GNU 工具组件 | `cross-compile` 配合 `CROSS_COMPILE` | 告诉已有 GNU 规则如何定位程序 |</a:t>
            </a:r>
          </a:p>
          <a:p>
            <a:r>
              <a:t>| 维护尚无接入规则的新工具链 | 自定义类型与 `TOOLCHAIN_ROOT`，并实现所需规则 | 这是扩展构建系统，不是普通 SDK 安装 |</a:t>
            </a:r>
          </a:p>
          <a:p>
            <a:endParaRPr/>
          </a:p>
          <a:p>
            <a:r>
              <a:t>`CROSS_COMPILE` 的值由程序目录加共同文件名前缀组成，包含末尾横线，例如 `G:/zephyr_practice/arm-zephyr-eabi/bin/arm-zephyr-eabi-`。它不是仅到 bin 的目录，也不是 gcc.exe 的完整文件名。目标库还须匹配，必要时根据该路线文档设置 `SYSROOT_DIR`；程序可运行并不等于目标库齐全。具体包准备见 P004，完整构建见 P007。依据：[独立 GNU 接入说明](https://docs.zephyrproject.org/latest/develop/toolchains/other_x_compilers.html)（原件 `doc/develop/toolchains/other_x_compilers.rst`，第 3 行附近）；[树外工具链设计说明](https://docs.zephyrproject.org/latest/develop/toolchains/custom_cmake.html)（原件 `doc/develop/toolchains/custom_cmake.rst`，第 3 行附近）；[SDK 文档](https://docs.zephyrproject.org/latest/develop/toolchains/zephyr_sdk.html)（原件 `doc/develop/toolchains/zephyr_sdk.rst`，第 3 行附近）。</a:t>
            </a:r>
          </a:p>
          <a:p>
            <a:endParaRPr/>
          </a:p>
          <a:p>
            <a:r>
              <a:t>`TOOLCHAIN_ROOT` 指 Zephyr 工具链接入规则所在根，默认使用 Zephyr 源码；它不等于 SDK 安装根。树外规则按官方约定提供 `cmake/toolchain/&lt;类型&gt;/generic.cmake` 和 `target.cmake`，并满足其依赖的 compiler/linker/bintools 规则。SDK 工具、树外规则与源码模块三类目录不能互换。</a:t>
            </a:r>
          </a:p>
          <a:p>
            <a:endParaRPr/>
          </a:p>
          <a:p>
            <a:r>
              <a:t>&lt;a id="module-contract"&gt;&lt;/a&gt;</a:t>
            </a:r>
          </a:p>
          <a:p>
            <a:endParaRPr/>
          </a:p>
          <a:p>
            <a:r>
              <a:t>&lt;a id="section-3-4"&gt;&lt;/a&gt;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官方说明：https://docs.zephyrproject.org/latest/develop/toolchains/custom_cmake.html</a:t>
            </a:r>
          </a:p>
          <a:p>
            <a:r>
              <a:t>仓库原件：https://github.com/zephyrproject-rtos/zephyr/blob/25c8f4a23988dd3b2cfb463613622738298c2d6c/doc/develop/toolchains/custom_cmake.rst#L3</a:t>
            </a:r>
          </a:p>
          <a:p>
            <a:r>
              <a:t>实现定位：https://github.com/zephyrproject-rtos/zephyr/blob/25c8f4a23988dd3b2cfb463613622738298c2d6c/cmake/modules/FindTargetTools.cmake#L30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配套正文：P003_Zephyr的CMake接口体系_Windows.md#section-3-4-1</a:t>
            </a:r>
          </a:p>
          <a:p>
            <a:r>
              <a:t>3.4.1 · ③ 源码模块接入</a:t>
            </a:r>
          </a:p>
          <a:p>
            <a:r>
              <a:t>west 清单确定下载来源、修订与目录。</a:t>
            </a:r>
          </a:p>
          <a:p>
            <a:r>
              <a:t>CMake 配置时还要取得候选项目，识别其 Zephyr 接口。</a:t>
            </a:r>
          </a:p>
          <a:p>
            <a:r>
              <a:t>zephyr_module.cmake 调用 Python 的模块发现脚本。</a:t>
            </a:r>
          </a:p>
          <a:p>
            <a:endParaRPr/>
          </a:p>
          <a:p>
            <a:r>
              <a:t>默认候选来自 west 工作区，显式追加来自配置输入。</a:t>
            </a:r>
          </a:p>
          <a:p>
            <a:r>
              <a:t>它不会扫描整块磁盘寻找 module.yml。</a:t>
            </a:r>
          </a:p>
          <a:p>
            <a:r>
              <a:t>因此“下载了目录”不能直接跳到“变量自动存在”。</a:t>
            </a:r>
          </a:p>
          <a:p>
            <a:endParaRPr/>
          </a:p>
          <a:p>
            <a:r>
              <a:t>讲解展开：</a:t>
            </a:r>
          </a:p>
          <a:p>
            <a:r>
              <a:t>### 3.4.1\_下载完成之后，还缺一个接入动作</a:t>
            </a:r>
          </a:p>
          <a:p>
            <a:endParaRPr/>
          </a:p>
          <a:p>
            <a:r>
              <a:t>west 清单告诉 west 去哪里、按哪个修订取得项目。下载到磁盘只完成了“文件存在”。CMake 还需要知道候选项目有哪些、哪些具有 Zephyr 接口，以及每个项目的 CMake/Kconfig 入口在哪里。这才是模块发现阶段的工作。</a:t>
            </a:r>
          </a:p>
          <a:p>
            <a:endParaRPr/>
          </a:p>
          <a:p>
            <a:r>
              <a:t>默认情况下，`zephyr_module.cmake` 调用 `scripts/zephyr_module.py`，由脚本通过 west API 得到工作区候选项目。脚本识别项目的 `zephyr/module.yml`，或兼容的约定入口；不是递归扫描整块磁盘。目录不在候选列表里，单凭其内部有 module.yml，不会使它自动参与当前工程。</a:t>
            </a:r>
          </a:p>
          <a:p>
            <a:endParaRPr/>
          </a:p>
          <a:p>
            <a:r>
              <a:t>已在官方清单中的 CMSIS 先按 P005 交给 west 下载。清单之外的新增 HAL，可通过 `EXTRA_ZEPHYR_MODULES` 给**这次 CMake 配置**追加模块根。该变量接受以分号分隔的路径列表，指模块根，不是 module.yml 文件。`ZEPHYR_MODULES` 则可以显式取代默认基础候选列表，容易漏掉 CMSIS 等原依赖；单加一个 HAL 时通常使用追加接口。依据：[外部项目模块说明](https://docs.zephyrproject.org/latest/develop/modules.html)（原件 `doc/develop/modules.rst`，第 3 行附近）；[模块输入与发现脚本调用](https://github.com/zephyrproject-rtos/zephyr/blob/25c8f4a23988dd3b2cfb463613622738298c2d6c/cmake/modules/zephyr_module.cmake#L34)（原件 `cmake/modules/zephyr_module.cmake`，第 34 行附近）；[候选项目解析实现](https://github.com/zephyrproject-rtos/zephyr/blob/25c8f4a23988dd3b2cfb463613622738298c2d6c/scripts/zephyr_module.py#L627)（原件 `scripts/zephyr_module.py`，第 627 行附近）。</a:t>
            </a:r>
          </a:p>
          <a:p>
            <a:endParaRPr/>
          </a:p>
          <a:p>
            <a:r>
              <a:t>&lt;a id="section-3-4-2"&gt;&lt;/a&gt;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配套正文：P003_Zephyr的CMake接口体系_Windows.md#section-3-4-1</a:t>
            </a:r>
          </a:p>
          <a:p>
            <a:r>
              <a:t>3.4.1 · ③ 源码模块接入</a:t>
            </a:r>
          </a:p>
          <a:p>
            <a:r>
              <a:t>默认：从 west 工作区项目取得候选，再识别模块。</a:t>
            </a:r>
          </a:p>
          <a:p>
            <a:r>
              <a:t>EXTRA_ZEPHYR_MODULES：为本次 CMake 配置追加模块根。</a:t>
            </a:r>
          </a:p>
          <a:p>
            <a:r>
              <a:t>ZEPHYR_MODULES：显式提供基础候选，可能替换掉默认依赖。</a:t>
            </a:r>
          </a:p>
          <a:p>
            <a:endParaRPr/>
          </a:p>
          <a:p>
            <a:r>
              <a:t>CMSIS 已由清单管理时沿用默认来源。</a:t>
            </a:r>
          </a:p>
          <a:p>
            <a:r>
              <a:t>清单外新增 HAL 通常使用追加，不丢掉已有 CMSIS。</a:t>
            </a:r>
          </a:p>
          <a:p>
            <a:r>
              <a:t>值为根目录列表，用分号分隔，并为整项加引号。</a:t>
            </a:r>
          </a:p>
          <a:p>
            <a:endParaRPr/>
          </a:p>
          <a:p>
            <a:r>
              <a:t>讲解展开：</a:t>
            </a:r>
          </a:p>
          <a:p>
            <a:r>
              <a:t>### 3.4.1\_下载完成之后，还缺一个接入动作</a:t>
            </a:r>
          </a:p>
          <a:p>
            <a:endParaRPr/>
          </a:p>
          <a:p>
            <a:r>
              <a:t>west 清单告诉 west 去哪里、按哪个修订取得项目。下载到磁盘只完成了“文件存在”。CMake 还需要知道候选项目有哪些、哪些具有 Zephyr 接口，以及每个项目的 CMake/Kconfig 入口在哪里。这才是模块发现阶段的工作。</a:t>
            </a:r>
          </a:p>
          <a:p>
            <a:endParaRPr/>
          </a:p>
          <a:p>
            <a:r>
              <a:t>默认情况下，`zephyr_module.cmake` 调用 `scripts/zephyr_module.py`，由脚本通过 west API 得到工作区候选项目。脚本识别项目的 `zephyr/module.yml`，或兼容的约定入口；不是递归扫描整块磁盘。目录不在候选列表里，单凭其内部有 module.yml，不会使它自动参与当前工程。</a:t>
            </a:r>
          </a:p>
          <a:p>
            <a:endParaRPr/>
          </a:p>
          <a:p>
            <a:r>
              <a:t>已在官方清单中的 CMSIS 先按 P005 交给 west 下载。清单之外的新增 HAL，可通过 `EXTRA_ZEPHYR_MODULES` 给**这次 CMake 配置**追加模块根。该变量接受以分号分隔的路径列表，指模块根，不是 module.yml 文件。`ZEPHYR_MODULES` 则可以显式取代默认基础候选列表，容易漏掉 CMSIS 等原依赖；单加一个 HAL 时通常使用追加接口。依据：[外部项目模块说明](https://docs.zephyrproject.org/latest/develop/modules.html)（原件 `doc/develop/modules.rst`，第 3 行附近）；[模块输入与发现脚本调用](https://github.com/zephyrproject-rtos/zephyr/blob/25c8f4a23988dd3b2cfb463613622738298c2d6c/cmake/modules/zephyr_module.cmake#L34)（原件 `cmake/modules/zephyr_module.cmake`，第 34 行附近）；[候选项目解析实现](https://github.com/zephyrproject-rtos/zephyr/blob/25c8f4a23988dd3b2cfb463613622738298c2d6c/scripts/zephyr_module.py#L627)（原件 `scripts/zephyr_module.py`，第 627 行附近）。</a:t>
            </a:r>
          </a:p>
          <a:p>
            <a:endParaRPr/>
          </a:p>
          <a:p>
            <a:r>
              <a:t>&lt;a id="section-3-4-2"&gt;&lt;/a&gt;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配套正文：P003_Zephyr的CMake接口体系_Windows.md#section-3-4-2</a:t>
            </a:r>
          </a:p>
          <a:p>
            <a:r>
              <a:t>3.4.2 · ③ 源码模块接入</a:t>
            </a:r>
          </a:p>
          <a:p>
            <a:r>
              <a:t>这是 west 下载的官方文件，不由读者新建。</a:t>
            </a:r>
          </a:p>
          <a:p>
            <a:r>
              <a:t>cmake-ext / kconfig-ext 表示接入脚本在模块外部。</a:t>
            </a:r>
          </a:p>
          <a:p>
            <a:r>
              <a:t>库文件留在下载目录，Zephyr 自己提供相应的构建适配。</a:t>
            </a:r>
          </a:p>
          <a:p>
            <a:endParaRPr/>
          </a:p>
          <a:p>
            <a:r>
              <a:t>讲解展开：</a:t>
            </a:r>
          </a:p>
          <a:p>
            <a:r>
              <a:t>### 3.4.2\_用已下载的 CMSIS 看真实的两端</a:t>
            </a:r>
          </a:p>
          <a:p>
            <a:endParaRPr/>
          </a:p>
          <a:p>
            <a:r>
              <a:t>本系列 west 下载的 `../modules/hal/cmsis_6/zephyr/module.yml` 是**官方外部下载文件**，当前内容如下，仅供阅读：</a:t>
            </a:r>
          </a:p>
          <a:p>
            <a:endParaRPr/>
          </a:p>
          <a:p>
            <a:r>
              <a:t>```yaml</a:t>
            </a:r>
          </a:p>
          <a:p>
            <a:r>
              <a:t># 只读：工作区 modules/hal/cmsis_6/zephyr/module.yml。</a:t>
            </a:r>
          </a:p>
          <a:p>
            <a:r>
              <a:t>name: cmsis_6</a:t>
            </a:r>
          </a:p>
          <a:p>
            <a:r>
              <a:t>build:</a:t>
            </a:r>
          </a:p>
          <a:p>
            <a:r>
              <a:t>  cmake-ext: true</a:t>
            </a:r>
          </a:p>
          <a:p>
            <a:r>
              <a:t>  kconfig-ext: true</a:t>
            </a:r>
          </a:p>
          <a:p>
            <a:r>
              <a:t>```</a:t>
            </a:r>
          </a:p>
          <a:p>
            <a:endParaRPr/>
          </a:p>
          <a:p>
            <a:r>
              <a:t>名字说明该模块以 `cmsis_6` 被识别；`cmake-ext` 和 `kconfig-ext` 表示接入文件放在模块外部。对于本源码，接入脚本位于**官方原有** `zephyr-main/modules/cmsis_6/CMakeLists.txt` 和同目录 Kconfig。CMSIS 的头文件留在工作区下载目录，接入代码留在 Zephyr 源码里，两边由规则关联起来。这种布局让上游库文件和 Zephyr 的构建适配可以分别维护。</a:t>
            </a:r>
          </a:p>
          <a:p>
            <a:endParaRPr/>
          </a:p>
          <a:p>
            <a:r>
              <a:t>`modules/modules.cmake` 为这些外置接入目录设置相应 CMake/Kconfig 位置。模块发现记录和后续调用最终把 CMSIS 库根交给接入脚本；其中按 `CONFIG_CPU_CORTEX_M` 条件加入 `${ZEPHYR_CURRENT_MODULE_DIR}/CMSIS/Core/Include`。因此没有必要把下载的 CMSIS 整包复制进应用，或把两处同名 modules 目录混为一谈。</a:t>
            </a:r>
          </a:p>
          <a:p>
            <a:endParaRPr/>
          </a:p>
          <a:p>
            <a:r>
              <a:t>另外一种模块会在 module.yml 写 `build.cmake: zephyr` 和 `build.kconfig: zephyr/Kconfig`，含义是入口位于模块自身；这些路径相对模块根。P006 再用厂商 HAL 讲完整目录，不能把一个项目的内部布局猜成所有模块的固定布局。依据：[外部项目模块说明](https://docs.zephyrproject.org/latest/develop/modules.html)（原件 `doc/develop/modules.rst`，第 3 行附近）；[外置模块接入文件选择](https://github.com/zephyrproject-rtos/zephyr/blob/25c8f4a23988dd3b2cfb463613622738298c2d6c/modules/modules.cmake#L5)（原件 `modules/modules.cmake`，第 5 行附近）；[CMSIS 头文件接入实现](https://github.com/zephyrproject-rtos/zephyr/blob/25c8f4a23988dd3b2cfb463613622738298c2d6c/modules/cmsis_6/CMakeLists.txt#L4)（原件 `modules/cmsis_6/CMakeLists.txt`，第 4 行附近）。</a:t>
            </a:r>
          </a:p>
          <a:p>
            <a:endParaRPr/>
          </a:p>
          <a:p>
            <a:r>
              <a:t>&lt;a id="section-3-4-3"&gt;&lt;/a&gt;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实现定位：https://github.com/zephyrproject-rtos/zephyr/blob/25c8f4a23988dd3b2cfb463613622738298c2d6c/modules/modules.cmake#L5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配套正文：P003_Zephyr的CMake接口体系_Windows.md#section-3-4-2</a:t>
            </a:r>
          </a:p>
          <a:p>
            <a:r>
              <a:t>3.4.2 · ③ 源码模块接入</a:t>
            </a:r>
          </a:p>
          <a:p>
            <a:r>
              <a:t>下载目录：工作区 modules/hal/cmsis_6，存放 CMSIS 源文件。</a:t>
            </a:r>
          </a:p>
          <a:p>
            <a:r>
              <a:t>接入目录：zephyr-main/modules/cmsis_6，存放官方接入脚本。</a:t>
            </a:r>
          </a:p>
          <a:p>
            <a:r>
              <a:t>modules/modules.cmake 提供外置 CMake / Kconfig 入口位置。</a:t>
            </a:r>
          </a:p>
          <a:p>
            <a:endParaRPr/>
          </a:p>
          <a:p>
            <a:r>
              <a:t>入口脚本在 Cortex-M 配置下加入库内 CMSIS/Core/Include。</a:t>
            </a:r>
          </a:p>
          <a:p>
            <a:r>
              <a:t>它用 ZEPHYR_CURRENT_MODULE_DIR 指向本轮模块根。</a:t>
            </a:r>
          </a:p>
          <a:p>
            <a:r>
              <a:t>两处 modules 不是同一目录，也不需要把库整包复制到应用。</a:t>
            </a:r>
          </a:p>
          <a:p>
            <a:endParaRPr/>
          </a:p>
          <a:p>
            <a:r>
              <a:t>讲解展开：</a:t>
            </a:r>
          </a:p>
          <a:p>
            <a:r>
              <a:t>### 3.4.2\_用已下载的 CMSIS 看真实的两端</a:t>
            </a:r>
          </a:p>
          <a:p>
            <a:endParaRPr/>
          </a:p>
          <a:p>
            <a:r>
              <a:t>本系列 west 下载的 `../modules/hal/cmsis_6/zephyr/module.yml` 是**官方外部下载文件**，当前内容如下，仅供阅读：</a:t>
            </a:r>
          </a:p>
          <a:p>
            <a:endParaRPr/>
          </a:p>
          <a:p>
            <a:r>
              <a:t>```yaml</a:t>
            </a:r>
          </a:p>
          <a:p>
            <a:r>
              <a:t># 只读：工作区 modules/hal/cmsis_6/zephyr/module.yml。</a:t>
            </a:r>
          </a:p>
          <a:p>
            <a:r>
              <a:t>name: cmsis_6</a:t>
            </a:r>
          </a:p>
          <a:p>
            <a:r>
              <a:t>build:</a:t>
            </a:r>
          </a:p>
          <a:p>
            <a:r>
              <a:t>  cmake-ext: true</a:t>
            </a:r>
          </a:p>
          <a:p>
            <a:r>
              <a:t>  kconfig-ext: true</a:t>
            </a:r>
          </a:p>
          <a:p>
            <a:r>
              <a:t>```</a:t>
            </a:r>
          </a:p>
          <a:p>
            <a:endParaRPr/>
          </a:p>
          <a:p>
            <a:r>
              <a:t>名字说明该模块以 `cmsis_6` 被识别；`cmake-ext` 和 `kconfig-ext` 表示接入文件放在模块外部。对于本源码，接入脚本位于**官方原有** `zephyr-main/modules/cmsis_6/CMakeLists.txt` 和同目录 Kconfig。CMSIS 的头文件留在工作区下载目录，接入代码留在 Zephyr 源码里，两边由规则关联起来。这种布局让上游库文件和 Zephyr 的构建适配可以分别维护。</a:t>
            </a:r>
          </a:p>
          <a:p>
            <a:endParaRPr/>
          </a:p>
          <a:p>
            <a:r>
              <a:t>`modules/modules.cmake` 为这些外置接入目录设置相应 CMake/Kconfig 位置。模块发现记录和后续调用最终把 CMSIS 库根交给接入脚本；其中按 `CONFIG_CPU_CORTEX_M` 条件加入 `${ZEPHYR_CURRENT_MODULE_DIR}/CMSIS/Core/Include`。因此没有必要把下载的 CMSIS 整包复制进应用，或把两处同名 modules 目录混为一谈。</a:t>
            </a:r>
          </a:p>
          <a:p>
            <a:endParaRPr/>
          </a:p>
          <a:p>
            <a:r>
              <a:t>另外一种模块会在 module.yml 写 `build.cmake: zephyr` 和 `build.kconfig: zephyr/Kconfig`，含义是入口位于模块自身；这些路径相对模块根。P006 再用厂商 HAL 讲完整目录，不能把一个项目的内部布局猜成所有模块的固定布局。依据：[外部项目模块说明](https://docs.zephyrproject.org/latest/develop/modules.html)（原件 `doc/develop/modules.rst`，第 3 行附近）；[外置模块接入文件选择](https://github.com/zephyrproject-rtos/zephyr/blob/25c8f4a23988dd3b2cfb463613622738298c2d6c/modules/modules.cmake#L5)（原件 `modules/modules.cmake`，第 5 行附近）；[CMSIS 头文件接入实现](https://github.com/zephyrproject-rtos/zephyr/blob/25c8f4a23988dd3b2cfb463613622738298c2d6c/modules/cmsis_6/CMakeLists.txt#L4)（原件 `modules/cmsis_6/CMakeLists.txt`，第 4 行附近）。</a:t>
            </a:r>
          </a:p>
          <a:p>
            <a:endParaRPr/>
          </a:p>
          <a:p>
            <a:r>
              <a:t>&lt;a id="section-3-4-3"&gt;&lt;/a&gt;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实现定位：https://github.com/zephyrproject-rtos/zephyr/blob/25c8f4a23988dd3b2cfb463613622738298c2d6c/modules/cmsis_6/CMakeLists.txt#L4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配套正文：P003_Zephyr的CMake接口体系_Windows.md#section-3-4-3</a:t>
            </a:r>
          </a:p>
          <a:p>
            <a:r>
              <a:t>3.4.3 · ③ 源码模块接入</a:t>
            </a:r>
          </a:p>
          <a:p>
            <a:r>
              <a:t>Python 识别元数据后生成 zephyr_modules.txt。</a:t>
            </a:r>
          </a:p>
          <a:p>
            <a:r>
              <a:t>zephyr_module.cmake 读取记录，规范化名字并设置目录变量。</a:t>
            </a:r>
          </a:p>
          <a:p>
            <a:r>
              <a:t>根 CMakeLists 再加载每个已识别模块的 CMake 入口。</a:t>
            </a:r>
          </a:p>
          <a:p>
            <a:r>
              <a:t>MODULE_DIR 是结果；提前伪造它不会代替这些步骤。</a:t>
            </a:r>
          </a:p>
          <a:p>
            <a:endParaRPr/>
          </a:p>
          <a:p>
            <a:r>
              <a:t>讲解展开：</a:t>
            </a:r>
          </a:p>
          <a:p>
            <a:r>
              <a:t>### 3.4.3\_派生变量究竟是谁建立的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A["CMake：west 候选与显式追加路径"] --&gt; B["zephyr_module.py：读取模块元数据"]</a:t>
            </a:r>
          </a:p>
          <a:p>
            <a:r>
              <a:t>    B --&gt; C["生成 zephyr_modules.txt 与 Kconfig 接入记录"]</a:t>
            </a:r>
          </a:p>
          <a:p>
            <a:r>
              <a:t>    C --&gt; D["zephyr_module.cmake：设置模块目录变量"]</a:t>
            </a:r>
          </a:p>
          <a:p>
            <a:r>
              <a:t>    D --&gt; E["根 CMakeLists：add_subdirectory 加载入口"]</a:t>
            </a:r>
          </a:p>
          <a:p>
            <a:r>
              <a:t>    E --&gt; F["模块脚本：加入头文件、源码和库"]</a:t>
            </a:r>
          </a:p>
          <a:p>
            <a:r>
              <a:t>```</a:t>
            </a:r>
          </a:p>
          <a:p>
            <a:endParaRPr/>
          </a:p>
          <a:p>
            <a:r>
              <a:t>`zephyr_modules.txt` 是**工具生成文件**，位于所选构建目录。它不是读者必须提前创建的清单，也不是 west.yml。`zephyr_module.cmake` 读取其中名字、模块根和 CMake 入口，把名字规范化为大写后设置变量；例如模块名 `hal_xhsc` 对应 `ZEPHYR_HAL_XHSC_MODULE_DIR`。</a:t>
            </a:r>
          </a:p>
          <a:p>
            <a:endParaRPr/>
          </a:p>
          <a:p>
            <a:r>
              <a:t>接着 Zephyr 根 CMakeLists 遍历已识别模块，设置本轮 `ZEPHYR_CURRENT_MODULE_DIR` 等上下文，再调用 `add_subdirectory` 执行该模块的 CMake 入口。只有走过候选识别、元数据解析和记录读取，才有这个派生变量。**预先手填同名 MODULE_DIR 不会代替模块注册与入口执行。**</a:t>
            </a:r>
          </a:p>
          <a:p>
            <a:endParaRPr/>
          </a:p>
          <a:p>
            <a:r>
              <a:t>再换成时序图看“谁先调用谁”。图中的 Zephyr CMake 和模块入口实际都由同一个 CMake 进程执行，分列只是区分脚本的职责；Python 发现脚本由 CMake 启动。</a:t>
            </a:r>
          </a:p>
          <a:p>
            <a:endParaRPr/>
          </a:p>
          <a:p>
            <a:r>
              <a:t>```mermaid</a:t>
            </a:r>
          </a:p>
          <a:p>
            <a:r>
              <a:t>sequenceDiagram</a:t>
            </a:r>
          </a:p>
          <a:p>
            <a:r>
              <a:t>    participant A as 应用配置调用者</a:t>
            </a:r>
          </a:p>
          <a:p>
            <a:r>
              <a:t>    participant C as Zephyr CMake 脚本</a:t>
            </a:r>
          </a:p>
          <a:p>
            <a:r>
              <a:t>    participant P as Python 模块发现脚本</a:t>
            </a:r>
          </a:p>
          <a:p>
            <a:r>
              <a:t>    participant M as 模块 CMake 入口</a:t>
            </a:r>
          </a:p>
          <a:p>
            <a:r>
              <a:t>    A-&gt;&gt;C: 发起配置，提供追加模块根</a:t>
            </a:r>
          </a:p>
          <a:p>
            <a:r>
              <a:t>    C-&gt;&gt;P: 传入候选列表与追加路径</a:t>
            </a:r>
          </a:p>
          <a:p>
            <a:r>
              <a:t>    Note over P: 读取 module.yml 并写出模块记录</a:t>
            </a:r>
          </a:p>
          <a:p>
            <a:r>
              <a:t>    P--&gt;&gt;C: 完成识别，返回状态</a:t>
            </a:r>
          </a:p>
          <a:p>
            <a:r>
              <a:t>    C-&gt;&gt;C: 读取记录并设置模块目录变量</a:t>
            </a:r>
          </a:p>
          <a:p>
            <a:r>
              <a:t>    C-&gt;&gt;M: add_subdirectory 加载接入入口</a:t>
            </a:r>
          </a:p>
          <a:p>
            <a:r>
              <a:t>    M-&gt;&gt;C: 添加库、源码与头文件目录</a:t>
            </a:r>
          </a:p>
          <a:p>
            <a:r>
              <a:t>```</a:t>
            </a:r>
          </a:p>
          <a:p>
            <a:endParaRPr/>
          </a:p>
          <a:p>
            <a:r>
              <a:t>发现成功也不保证模块里所有源文件都编译。模块 CMake 还会受 CONFIG 条件限制；芯片、板和驱动是否已经适配是更后面的事实。P006 验证接入，P007 验证实际构建。依据：[模块输入与发现脚本调用](https://github.com/zephyrproject-rtos/zephyr/blob/25c8f4a23988dd3b2cfb463613622738298c2d6c/cmake/modules/zephyr_module.cmake#L34)（原件 `cmake/modules/zephyr_module.cmake`，第 34 行附近）；[派生模块目录变量创建处](https://github.com/zephyrproject-rtos/zephyr/blob/25c8f4a23988dd3b2cfb463613622738298c2d6c/cmake/modules/zephyr_module.cmake#L141)（原件 `cmake/modules/zephyr_module.cmake`，第 141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id="section-3-4-4"&gt;&lt;/a&gt;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实现定位：https://github.com/zephyrproject-rtos/zephyr/blob/25c8f4a23988dd3b2cfb463613622738298c2d6c/cmake/modules/zephyr_module.cmake#L141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配套正文：P003_Zephyr的CMake接口体系_Windows.md#section-3-4-3</a:t>
            </a:r>
          </a:p>
          <a:p>
            <a:r>
              <a:t>3.4.3 · ③ 调用者与读取者</a:t>
            </a:r>
          </a:p>
          <a:p>
            <a:r>
              <a:t>Zephyr CMake 与模块入口同属 CMake 进程；Python 发现脚本由它启动。</a:t>
            </a:r>
          </a:p>
          <a:p>
            <a:endParaRPr/>
          </a:p>
          <a:p>
            <a:r>
              <a:t>讲解展开：</a:t>
            </a:r>
          </a:p>
          <a:p>
            <a:r>
              <a:t>### 3.4.3\_派生变量究竟是谁建立的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A["CMake：west 候选与显式追加路径"] --&gt; B["zephyr_module.py：读取模块元数据"]</a:t>
            </a:r>
          </a:p>
          <a:p>
            <a:r>
              <a:t>    B --&gt; C["生成 zephyr_modules.txt 与 Kconfig 接入记录"]</a:t>
            </a:r>
          </a:p>
          <a:p>
            <a:r>
              <a:t>    C --&gt; D["zephyr_module.cmake：设置模块目录变量"]</a:t>
            </a:r>
          </a:p>
          <a:p>
            <a:r>
              <a:t>    D --&gt; E["根 CMakeLists：add_subdirectory 加载入口"]</a:t>
            </a:r>
          </a:p>
          <a:p>
            <a:r>
              <a:t>    E --&gt; F["模块脚本：加入头文件、源码和库"]</a:t>
            </a:r>
          </a:p>
          <a:p>
            <a:r>
              <a:t>```</a:t>
            </a:r>
          </a:p>
          <a:p>
            <a:endParaRPr/>
          </a:p>
          <a:p>
            <a:r>
              <a:t>`zephyr_modules.txt` 是**工具生成文件**，位于所选构建目录。它不是读者必须提前创建的清单，也不是 west.yml。`zephyr_module.cmake` 读取其中名字、模块根和 CMake 入口，把名字规范化为大写后设置变量；例如模块名 `hal_xhsc` 对应 `ZEPHYR_HAL_XHSC_MODULE_DIR`。</a:t>
            </a:r>
          </a:p>
          <a:p>
            <a:endParaRPr/>
          </a:p>
          <a:p>
            <a:r>
              <a:t>接着 Zephyr 根 CMakeLists 遍历已识别模块，设置本轮 `ZEPHYR_CURRENT_MODULE_DIR` 等上下文，再调用 `add_subdirectory` 执行该模块的 CMake 入口。只有走过候选识别、元数据解析和记录读取，才有这个派生变量。**预先手填同名 MODULE_DIR 不会代替模块注册与入口执行。**</a:t>
            </a:r>
          </a:p>
          <a:p>
            <a:endParaRPr/>
          </a:p>
          <a:p>
            <a:r>
              <a:t>再换成时序图看“谁先调用谁”。图中的 Zephyr CMake 和模块入口实际都由同一个 CMake 进程执行，分列只是区分脚本的职责；Python 发现脚本由 CMake 启动。</a:t>
            </a:r>
          </a:p>
          <a:p>
            <a:endParaRPr/>
          </a:p>
          <a:p>
            <a:r>
              <a:t>```mermaid</a:t>
            </a:r>
          </a:p>
          <a:p>
            <a:r>
              <a:t>sequenceDiagram</a:t>
            </a:r>
          </a:p>
          <a:p>
            <a:r>
              <a:t>    participant A as 应用配置调用者</a:t>
            </a:r>
          </a:p>
          <a:p>
            <a:r>
              <a:t>    participant C as Zephyr CMake 脚本</a:t>
            </a:r>
          </a:p>
          <a:p>
            <a:r>
              <a:t>    participant P as Python 模块发现脚本</a:t>
            </a:r>
          </a:p>
          <a:p>
            <a:r>
              <a:t>    participant M as 模块 CMake 入口</a:t>
            </a:r>
          </a:p>
          <a:p>
            <a:r>
              <a:t>    A-&gt;&gt;C: 发起配置，提供追加模块根</a:t>
            </a:r>
          </a:p>
          <a:p>
            <a:r>
              <a:t>    C-&gt;&gt;P: 传入候选列表与追加路径</a:t>
            </a:r>
          </a:p>
          <a:p>
            <a:r>
              <a:t>    Note over P: 读取 module.yml 并写出模块记录</a:t>
            </a:r>
          </a:p>
          <a:p>
            <a:r>
              <a:t>    P--&gt;&gt;C: 完成识别，返回状态</a:t>
            </a:r>
          </a:p>
          <a:p>
            <a:r>
              <a:t>    C-&gt;&gt;C: 读取记录并设置模块目录变量</a:t>
            </a:r>
          </a:p>
          <a:p>
            <a:r>
              <a:t>    C-&gt;&gt;M: add_subdirectory 加载接入入口</a:t>
            </a:r>
          </a:p>
          <a:p>
            <a:r>
              <a:t>    M-&gt;&gt;C: 添加库、源码与头文件目录</a:t>
            </a:r>
          </a:p>
          <a:p>
            <a:r>
              <a:t>```</a:t>
            </a:r>
          </a:p>
          <a:p>
            <a:endParaRPr/>
          </a:p>
          <a:p>
            <a:r>
              <a:t>发现成功也不保证模块里所有源文件都编译。模块 CMake 还会受 CONFIG 条件限制；芯片、板和驱动是否已经适配是更后面的事实。P006 验证接入，P007 验证实际构建。依据：[模块输入与发现脚本调用](https://github.com/zephyrproject-rtos/zephyr/blob/25c8f4a23988dd3b2cfb463613622738298c2d6c/cmake/modules/zephyr_module.cmake#L34)（原件 `cmake/modules/zephyr_module.cmake`，第 34 行附近）；[派生模块目录变量创建处](https://github.com/zephyrproject-rtos/zephyr/blob/25c8f4a23988dd3b2cfb463613622738298c2d6c/cmake/modules/zephyr_module.cmake#L141)（原件 `cmake/modules/zephyr_module.cmake`，第 141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id="section-3-4-4"&gt;&lt;/a&gt;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配套正文：P003_Zephyr的CMake接口体系_Windows.md#section-3-4-4</a:t>
            </a:r>
          </a:p>
          <a:p>
            <a:r>
              <a:t>3.4.4 · ③ 源码模块接入</a:t>
            </a:r>
          </a:p>
          <a:p>
            <a:r>
              <a:t>应用已有 app，可用 CMake 的 target_sources 加入实现。</a:t>
            </a:r>
          </a:p>
          <a:p>
            <a:r>
              <a:t>子系统或驱动可用 zephyr_library 创建自己的库。</a:t>
            </a:r>
          </a:p>
          <a:p>
            <a:r>
              <a:t>zephyr_library_sources 把源码加入当前库。</a:t>
            </a:r>
          </a:p>
          <a:p>
            <a:endParaRPr/>
          </a:p>
          <a:p>
            <a:r>
              <a:t>zephyr_library_sources_ifdef 按 CONFIG 条件决定是否加入。</a:t>
            </a:r>
          </a:p>
          <a:p>
            <a:r>
              <a:t>这些是 Zephyr 在 extensions.cmake 定义的接口，</a:t>
            </a:r>
          </a:p>
          <a:p>
            <a:r>
              <a:t>底层仍调用 CMake 目标操作，并纳入 Zephyr 的库关系。</a:t>
            </a:r>
          </a:p>
          <a:p>
            <a:endParaRPr/>
          </a:p>
          <a:p>
            <a:r>
              <a:t>讲解展开：</a:t>
            </a:r>
          </a:p>
          <a:p>
            <a:r>
              <a:t>### 3.4.4\_进入模块后，CMake 函数怎样组织源码</a:t>
            </a:r>
          </a:p>
          <a:p>
            <a:endParaRPr/>
          </a:p>
          <a:p>
            <a:r>
              <a:t>应用使用 `target_sources(app PRIVATE ...)`，是因为 app 已由 Zephyr 建好。独立子系统或驱动常用 `zephyr_library()` 创建属于自己目录的库，再用 `zephyr_library_sources()` 加入实现。它们由 `extensions.cmake` 定义，底层仍调用 CMake 的库与目标接口，并把库纳入 Zephyr 的全局构建关系。</a:t>
            </a:r>
          </a:p>
          <a:p>
            <a:endParaRPr/>
          </a:p>
          <a:p>
            <a:r>
              <a:t>`zephyr_library_sources_ifdef(CONFIG_某功能 文件.c)` 先检查功能条件，再给当前库加源码。这里的条件来自前面 Kconfig 的结果；名字不是预处理器的 `#ifdef` 指令，而是一个 Zephyr CMake 函数的参数。</a:t>
            </a:r>
          </a:p>
          <a:p>
            <a:endParaRPr/>
          </a:p>
          <a:p>
            <a:r>
              <a:t>头文件目录也有范围。`target_include_directories(app PRIVATE ...)` 只修改 app；`zephyr_library_include_directories(...)` 作用于当前 Zephyr 库；`zephyr_include_directories(...)` 则作用于 Zephyr 的公共接口目标，使参加构建的相应目标继承。应按真正需要的可见范围选择，不能为解决一个库的 include 问题把所有路径无条件变成公共输入。</a:t>
            </a:r>
          </a:p>
          <a:p>
            <a:endParaRPr/>
          </a:p>
          <a:p>
            <a:r>
              <a:t>因此“外部模块接入接口”和“模块内部构建接口”是连续的两层：前者使入口被执行，后者使源码真正进入目标。把一个路径传给 CMake，只完成前者所需的信息，并不会自动扫描所有 `.c` 文件。依据：[Zephyr 库创建接口](https://github.com/zephyrproject-rtos/zephyr/blob/25c8f4a23988dd3b2cfb463613622738298c2d6c/cmake/modules/extensions.cmake#L682)（原件 `cmake/modules/extensions.cmake`，第 682 行附近）；[Zephyr 库源码接口](https://github.com/zephyrproject-rtos/zephyr/blob/25c8f4a23988dd3b2cfb463613622738298c2d6c/cmake/modules/extensions.cmake#L769)（原件 `cmake/modules/extensions.cmake`，第 769 行附近）；[按配置加入源码](https://github.com/zephyrproject-rtos/zephyr/blob/25c8f4a23988dd3b2cfb463613622738298c2d6c/cmake/modules/extensions.cmake#L2831)（原件 `cmake/modules/extensions.cmake`，第 2831 行附近）；[扩展函数参考页](https://docs.zephyrproject.org/latest/build/cmake-ref/module/extensions.html)（原件 `doc/build/cmake-ref/module/extensions.rst`，第 1 行附近）。</a:t>
            </a:r>
          </a:p>
          <a:p>
            <a:endParaRPr/>
          </a:p>
          <a:p>
            <a:r>
              <a:t>&lt;a id="input-lifetime"&gt;&lt;/a&gt;</a:t>
            </a:r>
          </a:p>
          <a:p>
            <a:endParaRPr/>
          </a:p>
          <a:p>
            <a:r>
              <a:t>&lt;a id="section-3-5"&gt;&lt;/a&gt;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官方说明：https://docs.zephyrproject.org/latest/build/cmake-ref/module/extensions.html</a:t>
            </a:r>
          </a:p>
          <a:p>
            <a:r>
              <a:t>仓库原件：https://github.com/zephyrproject-rtos/zephyr/blob/25c8f4a23988dd3b2cfb463613622738298c2d6c/doc/build/cmake-ref/module/extensions.rst#L1</a:t>
            </a:r>
          </a:p>
          <a:p>
            <a:r>
              <a:t>实现定位：https://github.com/zephyrproject-rtos/zephyr/blob/25c8f4a23988dd3b2cfb463613622738298c2d6c/cmake/modules/extensions.cmake#L682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配套正文：P003_Zephyr的CMake接口体系_Windows.md#section-3-4-4</a:t>
            </a:r>
          </a:p>
          <a:p>
            <a:r>
              <a:t>3.4.4 · ③ 源码模块接入</a:t>
            </a:r>
          </a:p>
          <a:p>
            <a:r>
              <a:t>target_include_directories(app PRIVATE ...) 作用于 app 自身。</a:t>
            </a:r>
          </a:p>
          <a:p>
            <a:r>
              <a:t>zephyr_library_include_directories(...) 作用于当前 Zephyr 库。</a:t>
            </a:r>
          </a:p>
          <a:p>
            <a:r>
              <a:t>zephyr_include_directories(...) 修改共享接口，供相应目标继承。</a:t>
            </a:r>
          </a:p>
          <a:p>
            <a:endParaRPr/>
          </a:p>
          <a:p>
            <a:r>
              <a:t>本页括号中的省略号是接口形态示意，不是可执行代码。</a:t>
            </a:r>
          </a:p>
          <a:p>
            <a:r>
              <a:t>先确保模块入口被执行，再选择真正需要的可见范围。</a:t>
            </a:r>
          </a:p>
          <a:p>
            <a:r>
              <a:t>不要为一个库缺头文件，把所有路径都变成公共输入。</a:t>
            </a:r>
          </a:p>
          <a:p>
            <a:endParaRPr/>
          </a:p>
          <a:p>
            <a:r>
              <a:t>讲解展开：</a:t>
            </a:r>
          </a:p>
          <a:p>
            <a:r>
              <a:t>### 3.4.4\_进入模块后，CMake 函数怎样组织源码</a:t>
            </a:r>
          </a:p>
          <a:p>
            <a:endParaRPr/>
          </a:p>
          <a:p>
            <a:r>
              <a:t>应用使用 `target_sources(app PRIVATE ...)`，是因为 app 已由 Zephyr 建好。独立子系统或驱动常用 `zephyr_library()` 创建属于自己目录的库，再用 `zephyr_library_sources()` 加入实现。它们由 `extensions.cmake` 定义，底层仍调用 CMake 的库与目标接口，并把库纳入 Zephyr 的全局构建关系。</a:t>
            </a:r>
          </a:p>
          <a:p>
            <a:endParaRPr/>
          </a:p>
          <a:p>
            <a:r>
              <a:t>`zephyr_library_sources_ifdef(CONFIG_某功能 文件.c)` 先检查功能条件，再给当前库加源码。这里的条件来自前面 Kconfig 的结果；名字不是预处理器的 `#ifdef` 指令，而是一个 Zephyr CMake 函数的参数。</a:t>
            </a:r>
          </a:p>
          <a:p>
            <a:endParaRPr/>
          </a:p>
          <a:p>
            <a:r>
              <a:t>头文件目录也有范围。`target_include_directories(app PRIVATE ...)` 只修改 app；`zephyr_library_include_directories(...)` 作用于当前 Zephyr 库；`zephyr_include_directories(...)` 则作用于 Zephyr 的公共接口目标，使参加构建的相应目标继承。应按真正需要的可见范围选择，不能为解决一个库的 include 问题把所有路径无条件变成公共输入。</a:t>
            </a:r>
          </a:p>
          <a:p>
            <a:endParaRPr/>
          </a:p>
          <a:p>
            <a:r>
              <a:t>因此“外部模块接入接口”和“模块内部构建接口”是连续的两层：前者使入口被执行，后者使源码真正进入目标。把一个路径传给 CMake，只完成前者所需的信息，并不会自动扫描所有 `.c` 文件。依据：[Zephyr 库创建接口](https://github.com/zephyrproject-rtos/zephyr/blob/25c8f4a23988dd3b2cfb463613622738298c2d6c/cmake/modules/extensions.cmake#L682)（原件 `cmake/modules/extensions.cmake`，第 682 行附近）；[Zephyr 库源码接口](https://github.com/zephyrproject-rtos/zephyr/blob/25c8f4a23988dd3b2cfb463613622738298c2d6c/cmake/modules/extensions.cmake#L769)（原件 `cmake/modules/extensions.cmake`，第 769 行附近）；[按配置加入源码](https://github.com/zephyrproject-rtos/zephyr/blob/25c8f4a23988dd3b2cfb463613622738298c2d6c/cmake/modules/extensions.cmake#L2831)（原件 `cmake/modules/extensions.cmake`，第 2831 行附近）；[扩展函数参考页](https://docs.zephyrproject.org/latest/build/cmake-ref/module/extensions.html)（原件 `doc/build/cmake-ref/module/extensions.rst`，第 1 行附近）。</a:t>
            </a:r>
          </a:p>
          <a:p>
            <a:endParaRPr/>
          </a:p>
          <a:p>
            <a:r>
              <a:t>&lt;a id="input-lifetime"&gt;&lt;/a&gt;</a:t>
            </a:r>
          </a:p>
          <a:p>
            <a:endParaRPr/>
          </a:p>
          <a:p>
            <a:r>
              <a:t>&lt;a id="section-3-5"&gt;&lt;/a&gt;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官方说明：https://docs.zephyrproject.org/latest/build/cmake-ref/module/extensions.html</a:t>
            </a:r>
          </a:p>
          <a:p>
            <a:r>
              <a:t>仓库原件：https://github.com/zephyrproject-rtos/zephyr/blob/25c8f4a23988dd3b2cfb463613622738298c2d6c/doc/build/cmake-ref/module/extensions.rst#L1</a:t>
            </a:r>
          </a:p>
          <a:p>
            <a:r>
              <a:t>实现定位：https://github.com/zephyrproject-rtos/zephyr/blob/25c8f4a23988dd3b2cfb463613622738298c2d6c/cmake/modules/extensions.cmake#L769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配套正文：P003_Zephyr的CMake接口体系_Windows.md#section-3-5-1</a:t>
            </a:r>
          </a:p>
          <a:p>
            <a:r>
              <a:t>3.5.1 · ④ 保存与组合</a:t>
            </a:r>
          </a:p>
          <a:p>
            <a:r>
              <a:t>export：当前终端及之后启动的子进程环境。</a:t>
            </a:r>
          </a:p>
          <a:p>
            <a:r>
              <a:t>-D：所选 -B 构建目录的 CMakeCache.txt。</a:t>
            </a:r>
          </a:p>
          <a:p>
            <a:r>
              <a:t>set：CMake 普通作用域；带 CACHE 才涉及缓存。</a:t>
            </a:r>
          </a:p>
          <a:p>
            <a:r>
              <a:t>用户预设：读者保存参数组合，选择 --preset 时读取。</a:t>
            </a:r>
          </a:p>
          <a:p>
            <a:r>
              <a:t>SDK 注册：当前用户的包位置候选，跨终端保留。</a:t>
            </a:r>
          </a:p>
          <a:p>
            <a:endParaRPr/>
          </a:p>
          <a:p>
            <a:r>
              <a:t>关闭终端不会删除缓存，激活 .venv 不会重新选择 SDK。</a:t>
            </a:r>
          </a:p>
          <a:p>
            <a:endParaRPr/>
          </a:p>
          <a:p>
            <a:r>
              <a:t>讲解展开：</a:t>
            </a:r>
          </a:p>
          <a:p>
            <a:r>
              <a:t>### 3.5.1\_同一个名字为什么会有不同的保存范围</a:t>
            </a:r>
          </a:p>
          <a:p>
            <a:endParaRPr/>
          </a:p>
          <a:p>
            <a:r>
              <a:t>现在才讨论范围，是因为已经知道 BOARD、SDK 根和模块列表各自交给谁。以固定 SDK 根为例，Bash 的 `export` 把值放进当前进程环境，后续启动的 CMake 可以读取；命令行 `-D` 把值交给某一个构建目录的 CMake 缓存；CMake 文件中的 `set` 默认创建普通变量。这三种容器互相独立。</a:t>
            </a:r>
          </a:p>
          <a:p>
            <a:endParaRPr/>
          </a:p>
          <a:p>
            <a:r>
              <a:t>| 选择方式 | 保存在哪里 | 对哪些操作有效 | 改变或退出的方法 |</a:t>
            </a:r>
          </a:p>
          <a:p>
            <a:r>
              <a:t>| --- | --- | --- | --- |</a:t>
            </a:r>
          </a:p>
          <a:p>
            <a:r>
              <a:t>| 当前 Bash `export` | 当前终端及后续子进程的环境 | 由这个终端启动、且会读取该环境的程序 | 当前终端 `unset` 或关闭；已经形成的构建缓存仍存在 |</a:t>
            </a:r>
          </a:p>
          <a:p>
            <a:r>
              <a:t>| CMake `-D` | 对应 `-B` 目录的 `CMakeCache.txt` | 这个构建目录后续配置 | 对允许变更的项重传；换板/工具组合优先用新构建目录 |</a:t>
            </a:r>
          </a:p>
          <a:p>
            <a:r>
              <a:t>| CMake `set` | 普通变量作用域；带 CACHE 时涉及缓存 | 当前执行的目录/函数等作用域 | 修改定义者；普通 set 不自动成为全局永久设置 |</a:t>
            </a:r>
          </a:p>
          <a:p>
            <a:r>
              <a:t>| `CMakeUserPresets.json` | 应用旁由读者自行创建的用户文件 | 选择相应 `cmake --preset` 时 | 修改所选预设；存在文件时合并，不覆盖个人配置 |</a:t>
            </a:r>
          </a:p>
          <a:p>
            <a:r>
              <a:t>| SDK 包注册 | 当前用户的 CMake 包位置记录 | 使用包搜索的工程 | SDK 移动后重新注册并核对实际发现结果 |</a:t>
            </a:r>
          </a:p>
          <a:p>
            <a:endParaRPr/>
          </a:p>
          <a:p>
            <a:r>
              <a:t>预设属于 CMake 功能，是保存参数组合的方式，不是另一套 Zephyr 工具链。`.venv` 解决 Python 包隔离，不能称为 SDK 的永久工程配置；本系列不修改自动生成的 activate 脚本来暗中固定 SDK。依据：[CMake 变量读取规则](https://cmake.org/cmake/help/latest/manual/cmake-language.7.html#variables)（原件 `CMake 变量与作用域`）；[CMake 工程预设](https://cmake.org/cmake/help/latest/manual/cmake-presets.7.html)（原件 `CMakePresets.json / CMakeUserPresets.json`）；[SDK 输入与默认查找分支](https://github.com/zephyrproject-rtos/zephyr/blob/25c8f4a23988dd3b2cfb463613622738298c2d6c/cmake/modules/FindZephyr-sdk.cmake#L44)（原件 `cmake/modules/FindZephyr-sdk.cmake`，第 44 行附近）。</a:t>
            </a:r>
          </a:p>
          <a:p>
            <a:endParaRPr/>
          </a:p>
          <a:p>
            <a:r>
              <a:t>&lt;a id="section-3-5-2"&gt;&lt;/a&gt;</a:t>
            </a:r>
          </a:p>
          <a:p>
            <a:endParaRPr/>
          </a:p>
          <a:p>
            <a:endParaRPr/>
          </a:p>
          <a:p>
            <a:r>
              <a:t>官方说明：https://cmake.org/cmake/help/latest/manual/cmake-language.7.html#variables</a:t>
            </a:r>
          </a:p>
          <a:p>
            <a:r>
              <a:t>仓库原件：https://cmake.org/cmake/help/latest/manual/cmake-language.7.html#variables</a:t>
            </a:r>
          </a:p>
          <a:p>
            <a:r>
              <a:t>实现定位：https://github.com/zephyrproject-rtos/zephyr/blob/25c8f4a23988dd3b2cfb463613622738298c2d6c/cmake/modules/extensions.cmake#L4088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配套正文：P003_Zephyr的CMake接口体系_Windows.md#section-3-5-2</a:t>
            </a:r>
          </a:p>
          <a:p>
            <a:r>
              <a:t>3.5.2 · ④ 保存与组合</a:t>
            </a:r>
          </a:p>
          <a:p>
            <a:r>
              <a:t>第一次用 SDK-A 配置后，该构建目录记住相关选择。</a:t>
            </a:r>
          </a:p>
          <a:p>
            <a:r>
              <a:t>第二次只 export SDK-B，已有缓存仍可能选择 A。</a:t>
            </a:r>
          </a:p>
          <a:p>
            <a:r>
              <a:t>SDK 标量通过 zephyr_get 读取；本系列简化为缓存、环境、普通值。</a:t>
            </a:r>
          </a:p>
          <a:p>
            <a:endParaRPr/>
          </a:p>
          <a:p>
            <a:r>
              <a:t>这是具体函数的规则，不能套到所有 CMake 变量。</a:t>
            </a:r>
          </a:p>
          <a:p>
            <a:r>
              <a:t>换板或工具组合优先用新的构建目录，避免关联结果残留。</a:t>
            </a:r>
          </a:p>
          <a:p>
            <a:r>
              <a:t>不是每次出错都要重新安装 SDK 或删除工作区。</a:t>
            </a:r>
          </a:p>
          <a:p>
            <a:endParaRPr/>
          </a:p>
          <a:p>
            <a:r>
              <a:t>讲解展开：</a:t>
            </a:r>
          </a:p>
          <a:p>
            <a:r>
              <a:t>### 3.5.2\_缓存为什么能挡住新 export</a:t>
            </a:r>
          </a:p>
          <a:p>
            <a:endParaRPr/>
          </a:p>
          <a:p>
            <a:r>
              <a:t>CMake 的 `${名字}` 通常先找普通变量、再找缓存；`$ENV{名字}` 明确读进程环境。Zephyr 的辅助函数还能自行规定读取顺序。SDK 相关输入调用 `zephyr_get`；本系列普通单应用、不使用 snippets 的情况，相关标量按**缓存、环境、当前普通值**寻找已定义输入。</a:t>
            </a:r>
          </a:p>
          <a:p>
            <a:endParaRPr/>
          </a:p>
          <a:p>
            <a:r>
              <a:t>因此，第一次用 SDK-A 配置构建目录后，第二次只在终端 export SDK-B，旧缓存可能仍使 A 生效。这是同一构建目录在保留选择，不是“注册失败”。换工具组合时使用新的构建目录，可以避免关联编译器和库配置残留；不能仅修改一个缓存路径就假定全部状态同步。</a:t>
            </a:r>
          </a:p>
          <a:p>
            <a:endParaRPr/>
          </a:p>
          <a:p>
            <a:r>
              <a:t>完整函数还考虑 sysbuild 与 snippets 作用域，不能把这个简化顺序说成所有 CMake 变量的通用规则。`ZEPHYR_BASE` 有自己的包入口分支；额外模块也不同：`EXTRA_ZEPHYR_MODULES` 与兼容名 `ZEPHYR_EXTRA_MODULES` 使用 MERGE 合并来源，所以只给空 `-D` 不一定清除环境里追加的路径。P007 的恢复分支分别处理旧环境和新构建目录。依据：[Zephyr 输入读取与优先级](https://github.com/zephyrproject-rtos/zephyr/blob/25c8f4a23988dd3b2cfb463613622738298c2d6c/cmake/modules/extensions.cmake#L4088)（原件 `cmake/modules/extensions.cmake`，第 4088 行附近）；[模块输入与发现脚本调用](https://github.com/zephyrproject-rtos/zephyr/blob/25c8f4a23988dd3b2cfb463613622738298c2d6c/cmake/modules/zephyr_module.cmake#L34)（原件 `cmake/modules/zephyr_module.cmake`，第 34 行附近）；[包入口 include_boilerplate](https://github.com/zephyrproject-rtos/zephyr/blob/25c8f4a23988dd3b2cfb463613622738298c2d6c/share/zephyr-package/cmake/ZephyrConfig.cmake#L28)（原件 `share/zephyr-package/cmake/ZephyrConfig.cmake`，第 28 行附近）。</a:t>
            </a:r>
          </a:p>
          <a:p>
            <a:endParaRPr/>
          </a:p>
          <a:p>
            <a:r>
              <a:t>&lt;a id="interface-combinations"&gt;&lt;/a&gt;</a:t>
            </a:r>
          </a:p>
          <a:p>
            <a:endParaRPr/>
          </a:p>
          <a:p>
            <a:r>
              <a:t>&lt;a id="section-3-5-3"&gt;&lt;/a&gt;</a:t>
            </a:r>
          </a:p>
          <a:p>
            <a:endParaRPr/>
          </a:p>
          <a:p>
            <a:endParaRPr/>
          </a:p>
          <a:p>
            <a:r>
              <a:t>官方说明：https://cmake.org/cmake/help/latest/manual/cmake-language.7.html#variables</a:t>
            </a:r>
          </a:p>
          <a:p>
            <a:r>
              <a:t>仓库原件：https://cmake.org/cmake/help/latest/manual/cmake-language.7.html#variables</a:t>
            </a:r>
          </a:p>
          <a:p>
            <a:r>
              <a:t>实现定位：https://github.com/zephyrproject-rtos/zephyr/blob/25c8f4a23988dd3b2cfb463613622738298c2d6c/cmake/modules/extensions.cmake#L4088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配套正文：P003_Zephyr的CMake接口体系_Windows.md#section-3-5-2</a:t>
            </a:r>
          </a:p>
          <a:p>
            <a:r>
              <a:t>3.5.2 · ④ 保存与组合</a:t>
            </a:r>
          </a:p>
          <a:p>
            <a:r>
              <a:t>EXTRA_ZEPHYR_MODULES 使用 zephyr_get 的 MERGE 模式。</a:t>
            </a:r>
          </a:p>
          <a:p>
            <a:r>
              <a:t>它还处理兼容名 ZEPHYR_EXTRA_MODULES，并合并各来源。</a:t>
            </a:r>
          </a:p>
          <a:p>
            <a:r>
              <a:t>因此空 -D 不一定能清除环境里的额外路径。</a:t>
            </a:r>
          </a:p>
          <a:p>
            <a:endParaRPr/>
          </a:p>
          <a:p>
            <a:r>
              <a:t>排错时分别核对终端、所选预设、应用定义和构建目录。</a:t>
            </a:r>
          </a:p>
          <a:p>
            <a:r>
              <a:t>ZEPHYR_BASE 也有自己的包入口分支。</a:t>
            </a:r>
          </a:p>
          <a:p>
            <a:r>
              <a:t>接口说明必须指向具体读取者，不能只背一条“通用优先级”。</a:t>
            </a:r>
          </a:p>
          <a:p>
            <a:endParaRPr/>
          </a:p>
          <a:p>
            <a:r>
              <a:t>讲解展开：</a:t>
            </a:r>
          </a:p>
          <a:p>
            <a:r>
              <a:t>### 3.5.2\_缓存为什么能挡住新 export</a:t>
            </a:r>
          </a:p>
          <a:p>
            <a:endParaRPr/>
          </a:p>
          <a:p>
            <a:r>
              <a:t>CMake 的 `${名字}` 通常先找普通变量、再找缓存；`$ENV{名字}` 明确读进程环境。Zephyr 的辅助函数还能自行规定读取顺序。SDK 相关输入调用 `zephyr_get`；本系列普通单应用、不使用 snippets 的情况，相关标量按**缓存、环境、当前普通值**寻找已定义输入。</a:t>
            </a:r>
          </a:p>
          <a:p>
            <a:endParaRPr/>
          </a:p>
          <a:p>
            <a:r>
              <a:t>因此，第一次用 SDK-A 配置构建目录后，第二次只在终端 export SDK-B，旧缓存可能仍使 A 生效。这是同一构建目录在保留选择，不是“注册失败”。换工具组合时使用新的构建目录，可以避免关联编译器和库配置残留；不能仅修改一个缓存路径就假定全部状态同步。</a:t>
            </a:r>
          </a:p>
          <a:p>
            <a:endParaRPr/>
          </a:p>
          <a:p>
            <a:r>
              <a:t>完整函数还考虑 sysbuild 与 snippets 作用域，不能把这个简化顺序说成所有 CMake 变量的通用规则。`ZEPHYR_BASE` 有自己的包入口分支；额外模块也不同：`EXTRA_ZEPHYR_MODULES` 与兼容名 `ZEPHYR_EXTRA_MODULES` 使用 MERGE 合并来源，所以只给空 `-D` 不一定清除环境里追加的路径。P007 的恢复分支分别处理旧环境和新构建目录。依据：[Zephyr 输入读取与优先级](https://github.com/zephyrproject-rtos/zephyr/blob/25c8f4a23988dd3b2cfb463613622738298c2d6c/cmake/modules/extensions.cmake#L4088)（原件 `cmake/modules/extensions.cmake`，第 4088 行附近）；[模块输入与发现脚本调用](https://github.com/zephyrproject-rtos/zephyr/blob/25c8f4a23988dd3b2cfb463613622738298c2d6c/cmake/modules/zephyr_module.cmake#L34)（原件 `cmake/modules/zephyr_module.cmake`，第 34 行附近）；[包入口 include_boilerplate](https://github.com/zephyrproject-rtos/zephyr/blob/25c8f4a23988dd3b2cfb463613622738298c2d6c/share/zephyr-package/cmake/ZephyrConfig.cmake#L28)（原件 `share/zephyr-package/cmake/ZephyrConfig.cmake`，第 28 行附近）。</a:t>
            </a:r>
          </a:p>
          <a:p>
            <a:endParaRPr/>
          </a:p>
          <a:p>
            <a:r>
              <a:t>&lt;a id="interface-combinations"&gt;&lt;/a&gt;</a:t>
            </a:r>
          </a:p>
          <a:p>
            <a:endParaRPr/>
          </a:p>
          <a:p>
            <a:r>
              <a:t>&lt;a id="section-3-5-3"&gt;&lt;/a&gt;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配套正文：P003_Zephyr的CMake接口体系_Windows.md#section-3-5-3</a:t>
            </a:r>
          </a:p>
          <a:p>
            <a:r>
              <a:t>3.5.3 · ④ 保存与组合</a:t>
            </a:r>
          </a:p>
          <a:p>
            <a:r>
              <a:t>换应用代码：修改目标源码；换功能：Kconfig 配置片段。</a:t>
            </a:r>
          </a:p>
          <a:p>
            <a:r>
              <a:t>换硬件描述：板 / SoC / overlay；新增板目录：相应搜索根。</a:t>
            </a:r>
          </a:p>
          <a:p>
            <a:r>
              <a:t>固定 SDK：约束包位置；换独立工具：选择类型与前缀。</a:t>
            </a:r>
          </a:p>
          <a:p>
            <a:r>
              <a:t>新增 HAL：下载并追加模块，执行其构建入口。</a:t>
            </a:r>
          </a:p>
          <a:p>
            <a:endParaRPr/>
          </a:p>
          <a:p>
            <a:r>
              <a:t>官方板的正常组合可以保留 SDK 默认发现与 west 模块。</a:t>
            </a:r>
          </a:p>
          <a:p>
            <a:r>
              <a:t>每增加一个显式参数，都应能解释它改变了哪个对象。</a:t>
            </a:r>
          </a:p>
          <a:p>
            <a:endParaRPr/>
          </a:p>
          <a:p>
            <a:r>
              <a:t>讲解展开：</a:t>
            </a:r>
          </a:p>
          <a:p>
            <a:r>
              <a:t>### 3.5.3\_按要改变的对象选择接口</a:t>
            </a:r>
          </a:p>
          <a:p>
            <a:endParaRPr/>
          </a:p>
          <a:p>
            <a:r>
              <a:t>| 本次要改变什么 | 使用或保留的接口 | 不应误做的事情 |</a:t>
            </a:r>
          </a:p>
          <a:p>
            <a:r>
              <a:t>| --- | --- | --- |</a:t>
            </a:r>
          </a:p>
          <a:p>
            <a:r>
              <a:t>| 编译已支持的官方板 | 选择应用和 BOARD，默认 SDK 与 west 模块可继续使用 | 为了表示“用 Zephyr”重复设置默认类型 |</a:t>
            </a:r>
          </a:p>
          <a:p>
            <a:r>
              <a:t>| 多套 SDK 固定一套 | 按需固定 SDK 根 | 把 SDK 根填成 TOOLCHAIN_ROOT |</a:t>
            </a:r>
          </a:p>
          <a:p>
            <a:r>
              <a:t>| 改用独立 GNU 编译器组件 | 选择 cross-compile 与程序前缀，核对目标库 | 把独立组件称作 Minimal SDK |</a:t>
            </a:r>
          </a:p>
          <a:p>
            <a:r>
              <a:t>| 加一个 HAL 项目 | 下载后通过追加模块接口提供根路径 | 替换整份默认模块列表或直接伪造 MODULE_DIR |</a:t>
            </a:r>
          </a:p>
          <a:p>
            <a:r>
              <a:t>| 增加树外板/SoC | 提供相应搜索根或模块 settings，并实现硬件文件 | 只换 BOARD 名称就宣称硬件存在 |</a:t>
            </a:r>
          </a:p>
          <a:p>
            <a:r>
              <a:t>| 改应用功能或硬件属性 | 分别提供 Kconfig 片段或 overlay | 把 CONF_FILE 当布尔开关，或把 overlay 当 CMake 脚本 |</a:t>
            </a:r>
          </a:p>
          <a:p>
            <a:r>
              <a:t>| 给库增加一个实现文件 | 执行到该 CMake 入口后，用目标/库函数加源码 | 只把文件复制进目录便期待自动构建 |</a:t>
            </a:r>
          </a:p>
          <a:p>
            <a:endParaRPr/>
          </a:p>
          <a:p>
            <a:r>
              <a:t>这张表的作用是让输入与工作相对应。正常选择一个已支持的 Cortex-M 板，通常不涉及自定义工具链规则；新增一个源码模块也不要求重写应用加载 Zephyr 的包入口。</a:t>
            </a:r>
          </a:p>
          <a:p>
            <a:endParaRPr/>
          </a:p>
          <a:p>
            <a:r>
              <a:t>&lt;a id="section-3-5-4"&gt;&lt;/a&gt;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配套正文：P003_Zephyr的CMake接口体系_Windows.md#section-3-5-4</a:t>
            </a:r>
          </a:p>
          <a:p>
            <a:r>
              <a:t>3.5.4 · ④ 保存与组合</a:t>
            </a:r>
          </a:p>
          <a:p>
            <a:r>
              <a:t>BOARD_ROOT / SOC_ROOT / DTS_ROOT：硬件描述的搜索范围。</a:t>
            </a:r>
          </a:p>
          <a:p>
            <a:r>
              <a:t>MODULE_EXT_ROOT：模块外置接入文件所在位置。</a:t>
            </a:r>
          </a:p>
          <a:p>
            <a:r>
              <a:t>TOOLCHAIN_ROOT：工具链接入规则所在位置。</a:t>
            </a:r>
          </a:p>
          <a:p>
            <a:endParaRPr/>
          </a:p>
          <a:p>
            <a:r>
              <a:t>snippets 组合命名配置片段；sysbuild 协调多个镜像。</a:t>
            </a:r>
          </a:p>
          <a:p>
            <a:r>
              <a:t>各镜像仍有自己的配置和构建产物。</a:t>
            </a:r>
          </a:p>
          <a:p>
            <a:r>
              <a:t>普通单应用先走本章主线，需要时再进入相应扩展文档。</a:t>
            </a:r>
          </a:p>
          <a:p>
            <a:endParaRPr/>
          </a:p>
          <a:p>
            <a:r>
              <a:t>讲解展开：</a:t>
            </a:r>
          </a:p>
          <a:p>
            <a:r>
              <a:t>### 3.5.4\_更大工程还有哪些扩展入口</a:t>
            </a:r>
          </a:p>
          <a:p>
            <a:endParaRPr/>
          </a:p>
          <a:p>
            <a:r>
              <a:t>`BOARD_ROOT`、`SOC_ROOT`、`DTS_ROOT` 扩展硬件描述查找范围；`MODULE_EXT_ROOT` 用于模块接入文件放在外部的位置；`TOOLCHAIN_ROOT` 扩展工具链接入规则。它们虽然都带 ROOT，所寻找的目录结构和读取者不同。</a:t>
            </a:r>
          </a:p>
          <a:p>
            <a:endParaRPr/>
          </a:p>
          <a:p>
            <a:r>
              <a:t>snippets 用于给构建添加命名的配置片段；sysbuild 在外层协调多个镜像，各镜像仍有自己的 Zephyr 配置与产物。初学单应用时先理解本章主线，遇到多镜像需求再进入 sysbuild，而不是在普通命令里预先堆上这些变量。相关官方说明已在 3.7 提供直接入口。依据：[外部项目模块说明](https://docs.zephyrproject.org/latest/develop/modules.html)（原件 `doc/develop/modules.rst`，第 3 行附近）；[树外工具链设计说明](https://docs.zephyrproject.org/latest/develop/toolchains/custom_cmake.html)（原件 `doc/develop/toolchains/custom_cmake.rst`，第 3 行附近）；[配置片段组合入口](https://docs.zephyrproject.org/latest/build/snippets/index.html)（原件 `doc/build/snippets/index.rst`，第 3 行附近）；[多镜像构建入口](https://docs.zephyrproject.org/latest/build/sysbuild/index.html)（原件 `doc/build/sysbuild/index.rst`，第 3 行附近）。</a:t>
            </a:r>
          </a:p>
          <a:p>
            <a:endParaRPr/>
          </a:p>
          <a:p>
            <a:r>
              <a:t>&lt;a id="section-3-6"&gt;&lt;/a&gt;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官方说明：https://docs.zephyrproject.org/latest/build/sysbuild/index.html</a:t>
            </a:r>
          </a:p>
          <a:p>
            <a:r>
              <a:t>仓库原件：https://github.com/zephyrproject-rtos/zephyr/blob/25c8f4a23988dd3b2cfb463613622738298c2d6c/doc/build/sysbuild/index.rst#L3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配套正文：P003_Zephyr的CMake接口体系_Windows.md#section-3-6-1</a:t>
            </a:r>
          </a:p>
          <a:p>
            <a:r>
              <a:t>3.6.1 · ⑤ 核对结果</a:t>
            </a:r>
          </a:p>
          <a:p>
            <a:r>
              <a:t>配置日志、CMakeCache.txt：入口和保存的选择。</a:t>
            </a:r>
          </a:p>
          <a:p>
            <a:r>
              <a:t>zephyr/.config：Kconfig 的有效功能。</a:t>
            </a:r>
          </a:p>
          <a:p>
            <a:r>
              <a:t>zephyr/zephyr.dts：合并后的硬件描述。</a:t>
            </a:r>
          </a:p>
          <a:p>
            <a:r>
              <a:t>zephyr_modules.txt：已识别模块根和接入位置。</a:t>
            </a:r>
          </a:p>
          <a:p>
            <a:r>
              <a:t>compile_commands.json：实际编译器、宏、头文件和 CPU 参数。</a:t>
            </a:r>
          </a:p>
          <a:p>
            <a:r>
              <a:t>zephyr.elf：最终构建产物。</a:t>
            </a:r>
          </a:p>
          <a:p>
            <a:endParaRPr/>
          </a:p>
          <a:p>
            <a:r>
              <a:t>这些文件在相应阶段生成，不由读者预先手建。</a:t>
            </a:r>
          </a:p>
          <a:p>
            <a:endParaRPr/>
          </a:p>
          <a:p>
            <a:r>
              <a:t>讲解展开：</a:t>
            </a:r>
          </a:p>
          <a:p>
            <a:r>
              <a:t>### 3.6.1\_按阶段读产物</a:t>
            </a:r>
          </a:p>
          <a:p>
            <a:endParaRPr/>
          </a:p>
          <a:p>
            <a:r>
              <a:t>源码中的脚本说明机制，实际构建的产物说明本次选择。它们需要互相对应。</a:t>
            </a:r>
          </a:p>
          <a:p>
            <a:endParaRPr/>
          </a:p>
          <a:p>
            <a:r>
              <a:t>| 要回答的问题 | 在所选构建目录里看什么 | 能证明到哪一步 |</a:t>
            </a:r>
          </a:p>
          <a:p>
            <a:r>
              <a:t>| --- | --- | --- |</a:t>
            </a:r>
          </a:p>
          <a:p>
            <a:r>
              <a:t>| 选中了哪个应用、源码、板和 SDK | 配置日志及 `CMakeCache.txt` | 配置采用的入口与保存值；不代表实板运行成功 |</a:t>
            </a:r>
          </a:p>
          <a:p>
            <a:r>
              <a:t>| 功能最终启用了什么 | `zephyr/.config` | Kconfig 计算结果 |</a:t>
            </a:r>
          </a:p>
          <a:p>
            <a:r>
              <a:t>| 硬件描述合并后是什么 | `zephyr/zephyr.dts` | DTS/overlay 处理结果 |</a:t>
            </a:r>
          </a:p>
          <a:p>
            <a:r>
              <a:t>| CMake 识别了哪些模块 | `zephyr_modules.txt` | 模块根与 CMake 入口记录；不代表每个文件都编译 |</a:t>
            </a:r>
          </a:p>
          <a:p>
            <a:r>
              <a:t>| 某个 C 文件实际怎么编译 | 启用导出后的 `compile_commands.json` | 编译器、CPU 参数、宏与头文件目录 |</a:t>
            </a:r>
          </a:p>
          <a:p>
            <a:r>
              <a:t>| 最终有没有生成固件 | `zephyr/zephyr.elf` 和构建日志 | 构建完成；运行和烧录另验 |</a:t>
            </a:r>
          </a:p>
          <a:p>
            <a:endParaRPr/>
          </a:p>
          <a:p>
            <a:r>
              <a:t>这些都是**工具生成文件**，应在成功执行对应阶段后出现；第一次只读 P003 时没有它们是正常的，不需要提前手建。P007 的官方 MPS2 实验负责生成并检查它们。</a:t>
            </a:r>
          </a:p>
          <a:p>
            <a:endParaRPr/>
          </a:p>
          <a:p>
            <a:r>
              <a:t>&lt;a id="section-3-6-2"&gt;&lt;/a&gt;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配套正文：P003_Zephyr的CMake接口体系_Windows.md#section-3-6-2</a:t>
            </a:r>
          </a:p>
          <a:p>
            <a:r>
              <a:t>3.6.2 · ⑤ 核对结果</a:t>
            </a:r>
          </a:p>
          <a:p>
            <a:r>
              <a:t>完成 P007 后，回到所选 -B 目录查看上述产物。</a:t>
            </a:r>
          </a:p>
          <a:p>
            <a:r>
              <a:t>本系列 SDK 实验保留 build/learning-tools/p003/ 下的目录。</a:t>
            </a:r>
          </a:p>
          <a:p>
            <a:r>
              <a:t>核对选择的板、实际 SDK、CMSIS 根及一条真实编译命令。</a:t>
            </a:r>
          </a:p>
          <a:p>
            <a:endParaRPr/>
          </a:p>
          <a:p>
            <a:r>
              <a:t>终端 gcc --version 只证明那个程序可运行。</a:t>
            </a:r>
          </a:p>
          <a:p>
            <a:r>
              <a:t>工程的配置日志和编译命令才能证明本次实际用了谁。</a:t>
            </a:r>
          </a:p>
          <a:p>
            <a:r>
              <a:t>本页沿用 P007 的产物检查，勿与本章 cmake-demo 混读。</a:t>
            </a:r>
          </a:p>
          <a:p>
            <a:endParaRPr/>
          </a:p>
          <a:p>
            <a:r>
              <a:t>讲解展开：</a:t>
            </a:r>
          </a:p>
          <a:p>
            <a:r>
              <a:t>### 3.6.2\_贯穿实例的最后一次自查</a:t>
            </a:r>
          </a:p>
          <a:p>
            <a:endParaRPr/>
          </a:p>
          <a:p>
            <a:r>
              <a:t>读完 P007 官方板构建后，再回本节查看 `build/learning-tools/p003/build-mps2-sdk-auto`。目录中的 p003 是保留的实验产物标识，不是本章要求提前编译；文件编号调整不搬动已有构建目录。以下操作仅在该实验已成功时执行，不会重新配置或编译：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UCRT64；前提：已完成 P007 的官方 MPS2 SDK 构建。</a:t>
            </a:r>
          </a:p>
          <a:p>
            <a:r>
              <a:t>cd /g/zephyr_practice/zephyr-main</a:t>
            </a:r>
          </a:p>
          <a:p>
            <a:r>
              <a:t># 确认产物存在；失败则返回 P007 完成构建，不创建空文件。</a:t>
            </a:r>
          </a:p>
          <a:p>
            <a:r>
              <a:t>if test -f build/learning-tools/p003/build-mps2-sdk-auto/CMakeCache.txt; then</a:t>
            </a:r>
          </a:p>
          <a:p>
            <a:r>
              <a:t>  # 本系列保存的板与工具来源。</a:t>
            </a:r>
          </a:p>
          <a:p>
            <a:r>
              <a:t>  grep -E '^(BOARD|ZEPHYR_BASE|ZEPHYR_SDK_INSTALL_DIR|ZEPHYR_TOOLCHAIN_VARIANT):' \</a:t>
            </a:r>
          </a:p>
          <a:p>
            <a:r>
              <a:t>    build/learning-tools/p003/build-mps2-sdk-auto/CMakeCache.txt</a:t>
            </a:r>
          </a:p>
          <a:p>
            <a:r>
              <a:t>  # 已识别的源码模块根和 CMake 入口。</a:t>
            </a:r>
          </a:p>
          <a:p>
            <a:r>
              <a:t>  cat build/learning-tools/p003/build-mps2-sdk-auto/zephyr_modules.txt</a:t>
            </a:r>
          </a:p>
          <a:p>
            <a:r>
              <a:t>else</a:t>
            </a:r>
          </a:p>
          <a:p>
            <a:r>
              <a:t>  printf '%s\n' '尚无 P007 构建产物，请先完成对应实验。'</a:t>
            </a:r>
          </a:p>
          <a:p>
            <a:r>
              <a:t>fi</a:t>
            </a:r>
          </a:p>
          <a:p>
            <a:r>
              <a:t>```</a:t>
            </a:r>
          </a:p>
          <a:p>
            <a:endParaRPr/>
          </a:p>
          <a:p>
            <a:r>
              <a:t>这里应能关联到 MPS2 的板选择、实际 Zephyr 源码与 SDK，以及 CMSIS 模块记录。BOARD 的输入可以被规范化，限定项可能另外保存，不能要求缓存某一行逐字符等于最初输入。可复制原件见 [3.6.2 命令](commands/P003_Windows/3.6.2-01.txt)。其他构建路线使用各自的 -B 目录，不混读这些结果。</a:t>
            </a:r>
          </a:p>
          <a:p>
            <a:endParaRPr/>
          </a:p>
          <a:p>
            <a:r>
              <a:t>&lt;a id="section-3-6-3"&gt;&lt;/a&gt;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配套正文：P003_Zephyr的CMake接口体系_Windows.md#section-3-6-3</a:t>
            </a:r>
          </a:p>
          <a:p>
            <a:r>
              <a:t>3.6.3 · ⑤ 核对结果</a:t>
            </a:r>
          </a:p>
          <a:p>
            <a:r>
              <a:t>HAL 缺头文件：候选是否包含它，入口是否执行，条件是否启用？</a:t>
            </a:r>
          </a:p>
          <a:p>
            <a:r>
              <a:t>SDK 仍是旧版：环境、预设或构建缓存是否固定了旧位置？</a:t>
            </a:r>
          </a:p>
          <a:p>
            <a:r>
              <a:t>换芯片不能构建：板 / SoC / 驱动是否已实现并进入搜索范围？</a:t>
            </a:r>
          </a:p>
          <a:p>
            <a:endParaRPr/>
          </a:p>
          <a:p>
            <a:r>
              <a:t>每个问题都回到对应输入、读取者和产物。</a:t>
            </a:r>
          </a:p>
          <a:p>
            <a:r>
              <a:t>包存在、模块发现、文件参与编译、固件运行是不同证据。</a:t>
            </a:r>
          </a:p>
          <a:p>
            <a:r>
              <a:t>P007 再做完整构建与分阶段验证。</a:t>
            </a:r>
          </a:p>
          <a:p>
            <a:endParaRPr/>
          </a:p>
          <a:p>
            <a:r>
              <a:t>讲解展开：</a:t>
            </a:r>
          </a:p>
          <a:p>
            <a:r>
              <a:t>### 3.6.3\_三个问题检查是否理解模型</a:t>
            </a:r>
          </a:p>
          <a:p>
            <a:endParaRPr/>
          </a:p>
          <a:p>
            <a:r>
              <a:t>**下载了一个 HAL，目录里有 module.yml，为什么编译器仍找不到头文件？** 先查项目是否成为模块候选，再查 zephyr_modules.txt、CMake 入口是否执行、配置条件与头文件目录设置。单凭下载成功无法跳过这些层。</a:t>
            </a:r>
          </a:p>
          <a:p>
            <a:endParaRPr/>
          </a:p>
          <a:p>
            <a:r>
              <a:t>**SDK 已注册，为什么还会用旧 SDK？** 注册提供包搜索候选；旧环境、所选预设或构建缓存可能明确约束了另一套位置。先看实际配置输入和保存范围，不要反复 reinstall 或为每个终端重新注册。</a:t>
            </a:r>
          </a:p>
          <a:p>
            <a:endParaRPr/>
          </a:p>
          <a:p>
            <a:r>
              <a:t>**从 MPS2 换到 HC32，为什么不能只改工具链变量？** 工具链规则负责如何编译；板/SoC、设备树、Kconfig 和驱动负责该芯片上的硬件与功能。后者需要按 P007 新增并接入，ARM 编译器通常可以复用。</a:t>
            </a:r>
          </a:p>
          <a:p>
            <a:endParaRPr/>
          </a:p>
          <a:p>
            <a:r>
              <a:t>&lt;a id="section-3-7"&gt;&lt;/a&gt;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配套正文：P003_Zephyr的CMake接口体系_Windows.md#section-3-7-1</a:t>
            </a:r>
          </a:p>
          <a:p>
            <a:r>
              <a:t>3.7.1 · ⑤ 依据入口</a:t>
            </a:r>
          </a:p>
          <a:p>
            <a:r>
              <a:t>Build and Configuration Systems → Build System (CMake)：阶段模型。</a:t>
            </a:r>
          </a:p>
          <a:p>
            <a:r>
              <a:t>同组的 CMake Reference：模块、目标属性与变量分类。</a:t>
            </a:r>
          </a:p>
          <a:p>
            <a:r>
              <a:t>Developing with Zephyr → Application Development：应用结构。</a:t>
            </a:r>
          </a:p>
          <a:p>
            <a:r>
              <a:t>Modules (External projects)：module.yml 与源码项目接入。</a:t>
            </a:r>
          </a:p>
          <a:p>
            <a:r>
              <a:t>Toolchains：SDK、独立编译器和自定义规则。</a:t>
            </a:r>
          </a:p>
          <a:p>
            <a:endParaRPr/>
          </a:p>
          <a:p>
            <a:r>
              <a:t>本页与正文提供直接链接；网页用于阅读，固定提交用于核对。</a:t>
            </a:r>
          </a:p>
          <a:p>
            <a:endParaRPr/>
          </a:p>
          <a:p>
            <a:r>
              <a:t>讲解展开：</a:t>
            </a:r>
          </a:p>
          <a:p>
            <a:r>
              <a:t>### 3.7.1\_从网页到仓库原件的路线</a:t>
            </a:r>
          </a:p>
          <a:p>
            <a:endParaRPr/>
          </a:p>
          <a:p>
            <a:r>
              <a:t>在 Zephyr 文档网站进入 **Build and Configuration Systems**，先看 **Build System (CMake)** 的阶段图，再看 **CMake Reference** 的模块、目标属性与变量分类。需要理解应用文件时进入 **Developing with Zephyr → Application Development**；源码模块进入 **Modules (External projects)**；工具链进入 **Toolchains**。下面给出直接链接，不要求先全仓库搜索。</a:t>
            </a:r>
          </a:p>
          <a:p>
            <a:endParaRPr/>
          </a:p>
          <a:p>
            <a:r>
              <a:t>| 当前想理解什么 | 直接阅读的官方页面与仓库原件 | 本章位置 |</a:t>
            </a:r>
          </a:p>
          <a:p>
            <a:r>
              <a:t>| --- | --- | --- |</a:t>
            </a:r>
          </a:p>
          <a:p>
            <a:r>
              <a:t>| CMake、Ninja、配置和构建阶段 | [构建阶段说明](https://docs.zephyrproject.org/latest/build/cmake/index.html#build-and-configuration-phases)（原件 `doc/build/cmake/index.rst`，第 52 行附近） | 3.1.1—3.1.2 |</a:t>
            </a:r>
          </a:p>
          <a:p>
            <a:r>
              <a:t>| 应用入口怎样组织 | [应用开发说明](https://docs.zephyrproject.org/latest/develop/application/index.html)（原件 `doc/develop/application/index.rst`，第 3 行附近） | 3.1.3 |</a:t>
            </a:r>
          </a:p>
          <a:p>
            <a:r>
              <a:t>| 包入口选择哪份源码 | [Zephyr 包发现说明](https://docs.zephyrproject.org/latest/build/zephyr_cmake_package.html)（原件 `doc/build/zephyr_cmake_package.rst`，第 3 行附近） | 3.1.4、3.2.2 |</a:t>
            </a:r>
          </a:p>
          <a:p>
            <a:r>
              <a:t>| 命令、变量、模块的分类说明 | [CMake Reference 分类入口](https://docs.zephyrproject.org/latest/build/cmake-ref/index.html)（原件 `doc/build/cmake-ref/index.rst`，第 3 行附近） | 3.2、3.7.2 |</a:t>
            </a:r>
          </a:p>
          <a:p>
            <a:r>
              <a:t>| 板目标与配置片段输入 | [BOARD 变量参考](https://docs.zephyrproject.org/latest/build/cmake-ref/variable/BOARD.html)（原件 `doc/build/cmake-ref/variable/BOARD.rst`，第 4 行附近）；[CONF_FILE 变量参考](https://docs.zephyrproject.org/latest/build/cmake-ref/variable/CONF_FILE.html)（原件 `doc/build/cmake-ref/variable/CONF_FILE.rst`，第 4 行附近） | 3.2.3—3.2.4 |</a:t>
            </a:r>
          </a:p>
          <a:p>
            <a:r>
              <a:t>| SDK、独立编译器与自定义规则 | [SDK 文档](https://docs.zephyrproject.org/latest/develop/toolchains/zephyr_sdk.html)（原件 `doc/develop/toolchains/zephyr_sdk.rst`，第 3 行附近）；[独立 GNU 接入说明](https://docs.zephyrproject.org/latest/develop/toolchains/other_x_compilers.html)（原件 `doc/develop/toolchains/other_x_compilers.rst`，第 3 行附近）；[树外工具链设计说明](https://docs.zephyrproject.org/latest/develop/toolchains/custom_cmake.html)（原件 `doc/develop/toolchains/custom_cmake.rst`，第 3 行附近） | 3.3 |</a:t>
            </a:r>
          </a:p>
          <a:p>
            <a:r>
              <a:t>| module.yml 与外部源码接入 | [外部项目模块说明](https://docs.zephyrproject.org/latest/develop/modules.html)（原件 `doc/develop/modules.rst`，第 3 行附近） | 3.4 |</a:t>
            </a:r>
          </a:p>
          <a:p>
            <a:r>
              <a:t>| west build 的职责 | [west 构建命令说明](https://docs.zephyrproject.org/latest/develop/west/build-flash-debug.html)（原件 `doc/develop/west/build-flash-debug.rst`，第 3 行附近） | 3.1.1 |</a:t>
            </a:r>
          </a:p>
          <a:p>
            <a:r>
              <a:t>| 多镜像与配置组合 | [多镜像构建入口](https://docs.zephyrproject.org/latest/build/sysbuild/index.html)（原件 `doc/build/sysbuild/index.rst`，第 3 行附近）；[配置片段组合入口](https://docs.zephyrproject.org/latest/build/snippets/index.html)（原件 `doc/build/snippets/index.rst`，第 3 行附近） | 3.5.4 |</a:t>
            </a:r>
          </a:p>
          <a:p>
            <a:endParaRPr/>
          </a:p>
          <a:p>
            <a:r>
              <a:t>&lt;a id="section-3-7-2"&gt;&lt;/a&gt;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实现定位：https://github.com/zephyrproject-rtos/zephyr/blob/25c8f4a23988dd3b2cfb463613622738298c2d6c/doc/develop/application/index.rst#L3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配套正文：P003_Zephyr的CMake接口体系_Windows.md#section-3-7-2</a:t>
            </a:r>
          </a:p>
          <a:p>
            <a:r>
              <a:t>3.7.2 · ⑤ 依据入口</a:t>
            </a:r>
          </a:p>
          <a:p>
            <a:r>
              <a:t>doc/build/cmake-ref/module/extensions.rst 使用 cmake-module 指令。</a:t>
            </a:r>
          </a:p>
          <a:p>
            <a:r>
              <a:t>它从 extensions.cmake 的 .rst 注释提取接口说明。</a:t>
            </a:r>
          </a:p>
          <a:p>
            <a:r>
              <a:t>注释解释参数与行为，下面紧接实际函数或宏实现。</a:t>
            </a:r>
          </a:p>
          <a:p>
            <a:endParaRPr/>
          </a:p>
          <a:p>
            <a:r>
              <a:t>变量页会继续指向读取模块，如 CONF_FILE → configuration_files。</a:t>
            </a:r>
          </a:p>
          <a:p>
            <a:r>
              <a:t>先读接口说明，再按本章给定文件和定位核对分支。</a:t>
            </a:r>
          </a:p>
          <a:p>
            <a:r>
              <a:t>不要求读者通过全仓库搜索才能补齐本章讲解。</a:t>
            </a:r>
          </a:p>
          <a:p>
            <a:endParaRPr/>
          </a:p>
          <a:p>
            <a:r>
              <a:t>讲解展开：</a:t>
            </a:r>
          </a:p>
          <a:p>
            <a:r>
              <a:t>### 3.7.2\_有些接口文档为什么藏在 CMake 文件的注释里</a:t>
            </a:r>
          </a:p>
          <a:p>
            <a:endParaRPr/>
          </a:p>
          <a:p>
            <a:r>
              <a:t>`doc/build/cmake-ref/module/extensions.rst` 很短，其中的 `cmake-module` 指令从 `cmake/modules/extensions.cmake` 提取文档。后者的 `.rst` 注释描述函数的参数、返回值或行为，随后就是实现。因此短 `.rst` 不代表接口没有文档，也不应让读者盲目搜索变量名。先按 Reference 分类找到函数所属模块，再读网页说明；需要核查边界时，直接打开本章给出的固定实现链接。</a:t>
            </a:r>
          </a:p>
          <a:p>
            <a:endParaRPr/>
          </a:p>
          <a:p>
            <a:r>
              <a:t>变量页如 `doc/build/cmake-ref/variable/CONF_FILE.rst` 会把读取者指向 `configuration_files` 模块。下一步应读该模块的说明与实现，而不是把 CONF_FILE 当成 CMake 程序自身内置的参数。SDK 接口中一部分行为在独立 SDK 安装包，须到已标注的安装根查验。</a:t>
            </a:r>
          </a:p>
          <a:p>
            <a:endParaRPr/>
          </a:p>
          <a:p>
            <a:r>
              <a:t>本章的实现定位清单如下。每项链接固定到本章源码提交；SDK 两项明确指向安装包文件，发行链接用于取得同版原件。</a:t>
            </a:r>
          </a:p>
          <a:p>
            <a:endParaRPr/>
          </a:p>
          <a:p>
            <a:r>
              <a:t>- [构建阶段说明](https://github.com/zephyrproject-rtos/zephyr/blob/25c8f4a23988dd3b2cfb463613622738298c2d6c/doc/build/cmake/index.rst#L52)：`doc/build/cmake/index.rst`，第 52 行附近。</a:t>
            </a:r>
          </a:p>
          <a:p>
            <a:r>
              <a:t>- [扩展函数参考页](https://github.com/zephyrproject-rtos/zephyr/blob/25c8f4a23988dd3b2cfb463613622738298c2d6c/doc/build/cmake-ref/module/extensions.rst#L1)：`doc/build/cmake-ref/module/extensions.rst`，第 1 行附近。</a:t>
            </a:r>
          </a:p>
          <a:p>
            <a:r>
              <a:t>- [Zephyr 包发现说明](https://github.com/zephyrproject-rtos/zephyr/blob/25c8f4a23988dd3b2cfb463613622738298c2d6c/doc/build/zephyr_cmake_package.rst#L3)：`doc/build/zephyr_cmake_package.rst`，第 3 行附近。</a:t>
            </a:r>
          </a:p>
          <a:p>
            <a:r>
              <a:t>- [hello_world 原有入口](https://github.com/zephyrproject-rtos/zephyr/blob/25c8f4a23988dd3b2cfb463613622738298c2d6c/samples/hello_world/CMakeLists.txt#L3)：`samples/hello_world/CMakeLists.txt`，第 3 行附近。</a:t>
            </a:r>
          </a:p>
          <a:p>
            <a:r>
              <a:t>- [包入口 include_boilerplate](https://github.com/zephyrproject-rtos/zephyr/blob/25c8f4a23988dd3b2cfb463613622738298c2d6c/share/zephyr-package/cmake/ZephyrConfig.cmake#L28)：`share/zephyr-package/cmake/ZephyrConfig.cmake`，第 28 行附近。</a:t>
            </a:r>
          </a:p>
          <a:p>
            <a:r>
              <a:t>- [默认初始化顺序](https://github.com/zephyrproject-rtos/zephyr/blob/25c8f4a23988dd3b2cfb463613622738298c2d6c/cmake/modules/zephyr_default.cmake#L71)：`cmake/modules/zephyr_default.cmake`，第 71 行附近。</a:t>
            </a:r>
          </a:p>
          <a:p>
            <a:r>
              <a:t>- [app 目标创建处](https://github.com/zephyrproject-rtos/zephyr/blob/25c8f4a23988dd3b2cfb463613622738298c2d6c/cmake/modules/kernel.cmake#L236)：`cmake/modules/kernel.cmake`，第 236 行附近。</a:t>
            </a:r>
          </a:p>
          <a:p>
            <a:r>
              <a:t>- [外部模块 CMake 入口加载处](https://github.com/zephyrproject-rtos/zephyr/blob/25c8f4a23988dd3b2cfb463613622738298c2d6c/CMakeLists.txt#L778)：`CMakeLists.txt`，第 778 行附近。</a:t>
            </a:r>
          </a:p>
          <a:p>
            <a:r>
              <a:t>- [板选择的说明与实现](https://github.com/zephyrproject-rtos/zephyr/blob/25c8f4a23988dd3b2cfb463613622738298c2d6c/cmake/modules/boards.cmake#L6)：`cmake/modules/boards.cmake`，第 6 行附近。</a:t>
            </a:r>
          </a:p>
          <a:p>
            <a:r>
              <a:t>- [BOARD 变量参考](https://github.com/zephyrproject-rtos/zephyr/blob/25c8f4a23988dd3b2cfb463613622738298c2d6c/doc/build/cmake-ref/variable/BOARD.rst#L4)：`doc/build/cmake-ref/variable/BOARD.rst`，第 4 行附近。</a:t>
            </a:r>
          </a:p>
          <a:p>
            <a:r>
              <a:t>- [BOARD_ROOT 变量参考](https://github.com/zephyrproject-rtos/zephyr/blob/25c8f4a23988dd3b2cfb463613622738298c2d6c/doc/build/cmake-ref/variable/BOARD_ROOT.rst#L4)：`doc/build/cmake-ref/variable/BOARD_ROOT.rst`，第 4 行附近。</a:t>
            </a:r>
          </a:p>
          <a:p>
            <a:r>
              <a:t>- [配置片段的选取](https://github.com/zephyrproject-rtos/zephyr/blob/25c8f4a23988dd3b2cfb463613622738298c2d6c/cmake/modules/configuration_files.cmake#L43)：`cmake/modules/configuration_files.cmake`，第 43 行附近。</a:t>
            </a:r>
          </a:p>
          <a:p>
            <a:r>
              <a:t>- [CONF_FILE 变量参考](https://github.com/zephyrproject-rtos/zephyr/blob/25c8f4a23988dd3b2cfb463613622738298c2d6c/doc/build/cmake-ref/variable/CONF_FILE.rst#L4)：`doc/build/cmake-ref/variable/CONF_FILE.rst`，第 4 行附近。</a:t>
            </a:r>
          </a:p>
          <a:p>
            <a:r>
              <a:t>- [设备树配置入口](https://github.com/zephyrproject-rtos/zephyr/blob/25c8f4a23988dd3b2cfb463613622738298c2d6c/cmake/modules/dts.cmake#L9)：`cmake/modules/dts.cmake`，第 9 行附近。</a:t>
            </a:r>
          </a:p>
          <a:p>
            <a:r>
              <a:t>- [Kconfig 脚本调用处](https://github.com/zephyrproject-rtos/zephyr/blob/25c8f4a23988dd3b2cfb463613622738298c2d6c/cmake/modules/kconfig.cmake#L473)：`cmake/modules/kconfig.cmake`，第 473 行附近。</a:t>
            </a:r>
          </a:p>
          <a:p>
            <a:r>
              <a:t>- [SDK 请求与通用工具规则](https://github.com/zephyrproject-rtos/zephyr/blob/25c8f4a23988dd3b2cfb463613622738298c2d6c/cmake/modules/FindHostTools.cmake#L51)：`cmake/modules/FindHostTools.cmake`，第 51 行附近。</a:t>
            </a:r>
          </a:p>
          <a:p>
            <a:r>
              <a:t>- [SDK 输入与默认查找分支](https://github.com/zephyrproject-rtos/zephyr/blob/25c8f4a23988dd3b2cfb463613622738298c2d6c/cmake/modules/FindZephyr-sdk.cmake#L44)：`cmake/modules/FindZephyr-sdk.cmake`，第 44 行附近。</a:t>
            </a:r>
          </a:p>
          <a:p>
            <a:r>
              <a:t>- [目标工具链规则](https://github.com/zephyrproject-rtos/zephyr/blob/25c8f4a23988dd3b2cfb463613622738298c2d6c/cmake/modules/FindTargetTools.cmake#L30)：`cmake/modules/FindTargetTools.cmake`，第 30 行附近。</a:t>
            </a:r>
          </a:p>
          <a:p>
            <a:r>
              <a:t>- [树外工具链设计说明](https://github.com/zephyrproject-rtos/zephyr/blob/25c8f4a23988dd3b2cfb463613622738298c2d6c/doc/develop/toolchains/custom_cmake.rst#L3)：`doc/develop/toolchains/custom_cmake.rst`，第 3 行附近。</a:t>
            </a:r>
          </a:p>
          <a:p>
            <a:r>
              <a:t>- [ARM CPU 参数实现](https://github.com/zephyrproject-rtos/zephyr/blob/25c8f4a23988dd3b2cfb463613622738298c2d6c/cmake/compiler/gcc/target_arm.cmake#L5)：`cmake/compiler/gcc/target_arm.cmake`，第 5 行附近。</a:t>
            </a:r>
          </a:p>
          <a:p>
            <a:r>
              <a:t>- [模块输入与发现脚本调用](https://github.com/zephyrproject-rtos/zephyr/blob/25c8f4a23988dd3b2cfb463613622738298c2d6c/cmake/modules/zephyr_module.cmake#L34)：`cmake/modules/zephyr_module.cmake`，第 34 行附近。</a:t>
            </a:r>
          </a:p>
          <a:p>
            <a:r>
              <a:t>- [派生模块目录变量创建处](https://github.com/zephyrproject-rtos/zephyr/blob/25c8f4a23988dd3b2cfb463613622738298c2d6c/cmake/modules/zephyr_module.cmake#L141)：`cmake/modules/zephyr_module.cmake`，第 141 行附近。</a:t>
            </a:r>
          </a:p>
          <a:p>
            <a:r>
              <a:t>- [候选项目解析实现](https://github.com/zephyrproject-rtos/zephyr/blob/25c8f4a23988dd3b2cfb463613622738298c2d6c/scripts/zephyr_module.py#L627)：`scripts/zephyr_module.py`，第 627 行附近。</a:t>
            </a:r>
          </a:p>
          <a:p>
            <a:r>
              <a:t>- [外置模块接入文件选择](https://github.com/zephyrproject-rtos/zephyr/blob/25c8f4a23988dd3b2cfb463613622738298c2d6c/modules/modules.cmake#L5)：`modules/modules.cmake`，第 5 行附近。</a:t>
            </a:r>
          </a:p>
          <a:p>
            <a:r>
              <a:t>- [CMSIS 头文件接入实现](https://github.com/zephyrproject-rtos/zephyr/blob/25c8f4a23988dd3b2cfb463613622738298c2d6c/modules/cmsis_6/CMakeLists.txt#L4)：`modules/cmsis_6/CMakeLists.txt`，第 4 行附近。</a:t>
            </a:r>
          </a:p>
          <a:p>
            <a:r>
              <a:t>- [Zephyr 库创建接口](https://github.com/zephyrproject-rtos/zephyr/blob/25c8f4a23988dd3b2cfb463613622738298c2d6c/cmake/modules/extensions.cmake#L682)：`cmake/modules/extensions.cmake`，第 682 行附近。</a:t>
            </a:r>
          </a:p>
          <a:p>
            <a:r>
              <a:t>- [Zephyr 库源码接口](https://github.com/zephyrproject-rtos/zephyr/blob/25c8f4a23988dd3b2cfb463613622738298c2d6c/cmake/modules/extensions.cmake#L769)：`cmake/modules/extensions.cmake`，第 769 行附近。</a:t>
            </a:r>
          </a:p>
          <a:p>
            <a:r>
              <a:t>- [按配置加入源码](https://github.com/zephyrproject-rtos/zephyr/blob/25c8f4a23988dd3b2cfb463613622738298c2d6c/cmake/modules/extensions.cmake#L2831)：`cmake/modules/extensions.cmake`，第 2831 行附近。</a:t>
            </a:r>
          </a:p>
          <a:p>
            <a:r>
              <a:t>- [Zephyr 输入读取与优先级](https://github.com/zephyrproject-rtos/zephyr/blob/25c8f4a23988dd3b2cfb463613622738298c2d6c/cmake/modules/extensions.cmake#L4088)：`cmake/modules/extensions.cmake`，第 4088 行附近。</a:t>
            </a:r>
          </a:p>
          <a:p>
            <a:r>
              <a:t>- [Python 选择模块](https://github.com/zephyrproject-rtos/zephyr/blob/25c8f4a23988dd3b2cfb463613622738298c2d6c/cmake/modules/python.cmake#L4)：`cmake/modules/python.cmake`，第 4 行附近。</a:t>
            </a:r>
          </a:p>
          <a:p>
            <a:r>
              <a:t>- [west 构建命令说明](https://github.com/zephyrproject-rtos/zephyr/blob/25c8f4a23988dd3b2cfb463613622738298c2d6c/doc/develop/west/build-flash-debug.rst#L3)：`doc/develop/west/build-flash-debug.rst`，第 3 行附近。</a:t>
            </a:r>
          </a:p>
          <a:p>
            <a:r>
              <a:t>- [多镜像构建入口](https://github.com/zephyrproject-rtos/zephyr/blob/25c8f4a23988dd3b2cfb463613622738298c2d6c/doc/build/sysbuild/index.rst#L3)：`doc/build/sysbuild/index.rst`，第 3 行附近。</a:t>
            </a:r>
          </a:p>
          <a:p>
            <a:r>
              <a:t>- [配置片段组合入口](https://github.com/zephyrproject-rtos/zephyr/blob/25c8f4a23988dd3b2cfb463613622738298c2d6c/doc/build/snippets/index.rst#L3)：`doc/build/snippets/index.rst`，第 3 行附近。</a:t>
            </a:r>
          </a:p>
          <a:p>
            <a:r>
              <a:t>- [SDK 1.0.1 的默认类型实现（安装包内）](https://github.com/zephyrproject-rtos/sdk-ng/releases/tag/v1.0.1)：`cmake/Zephyr-sdkConfig.cmake`，第 15 行附近。</a:t>
            </a:r>
          </a:p>
          <a:p>
            <a:r>
              <a:t>- [SDK 1.0.1 的 ARM 映射（安装包内）](https://github.com/zephyrproject-rtos/sdk-ng/releases/tag/v1.0.1)：`cmake/zephyr/gnu/target.cmake`，第 5 行附近。</a:t>
            </a:r>
          </a:p>
          <a:p>
            <a:endParaRPr/>
          </a:p>
          <a:p>
            <a:r>
              <a:t>下一步：[P004 SDK 准备与编译器选型](P004_SDK准备与编译器选型_Windows.md)回顾工具链接口，再讲包的实际组成和安装；P005 下载依赖；P006 从调用方完成模块接入；P007 把接口组合成完整构建实验。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官方说明：https://docs.zephyrproject.org/latest/build/cmake-ref/module/extensions.html</a:t>
            </a:r>
          </a:p>
          <a:p>
            <a:r>
              <a:t>仓库原件：https://github.com/zephyrproject-rtos/zephyr/blob/25c8f4a23988dd3b2cfb463613622738298c2d6c/doc/build/cmake-ref/module/extensions.rst#L1</a:t>
            </a:r>
          </a:p>
          <a:p>
            <a:r>
              <a:t>实现定位：https://github.com/zephyrproject-rtos/zephyr/blob/25c8f4a23988dd3b2cfb463613622738298c2d6c/cmake/modules/extensions.cmake#L682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配套正文：P003_Zephyr的CMake接口体系_Windows.md#section-3-7</a:t>
            </a:r>
          </a:p>
          <a:p>
            <a:r>
              <a:t>3.7 · 各模块的衔接</a:t>
            </a:r>
          </a:p>
          <a:p>
            <a:r>
              <a:t>P004 回顾工具链规则，再区分 SDK 包组成与安装。</a:t>
            </a:r>
          </a:p>
          <a:p>
            <a:r>
              <a:t>P005 按芯片、清单和固定修订取得 CMSIS / HAL。</a:t>
            </a:r>
          </a:p>
          <a:p>
            <a:r>
              <a:t>P006 回顾候选与模块入口，再完成实际源码接入。</a:t>
            </a:r>
          </a:p>
          <a:p>
            <a:r>
              <a:t>P007 从官方板开始组合接口，新增板与芯片并核对构建结果。</a:t>
            </a:r>
          </a:p>
          <a:p>
            <a:endParaRPr/>
          </a:p>
          <a:p>
            <a:r>
              <a:t>每章继续回答：交给谁、如何发现、得到什么、怎样验证。</a:t>
            </a:r>
          </a:p>
          <a:p>
            <a:r>
              <a:t>本章先懂构建与缓存，安装和新增支持在后续逐步完成。</a:t>
            </a:r>
          </a:p>
          <a:p>
            <a:endParaRPr/>
          </a:p>
          <a:p>
            <a:r>
              <a:t>讲解展开：</a:t>
            </a:r>
          </a:p>
          <a:p>
            <a:r>
              <a:t>## 3.7\_官方文档与实现的定向阅读入口</a:t>
            </a:r>
          </a:p>
          <a:p>
            <a:endParaRPr/>
          </a:p>
          <a:p>
            <a:r>
              <a:t>&lt;a id="section-3-7-1"&gt;&lt;/a&gt;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build_methods_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73814ebcab654ca3"/><Relationship Type="http://schemas.openxmlformats.org/officeDocument/2006/relationships/hyperlink" Target="https://cmake.org/cmake/help/latest/manual/cmake.1.html" TargetMode="External" Id="Rbba866abfc3c4ccc"/><Relationship Type="http://schemas.openxmlformats.org/officeDocument/2006/relationships/hyperlink" Target="https://github.com/zephyrproject-rtos/zephyr/blob/25c8f4a23988dd3b2cfb463613622738298c2d6c/doc/develop/application/index.rst" TargetMode="External" Id="Ra29844a51c6f4c20"/><Relationship Type="http://schemas.openxmlformats.org/officeDocument/2006/relationships/hyperlink" Target="../commands/P003_Windows/3.1.2-01.txt" TargetMode="External" Id="R5d400659d53b4f6f"/><Relationship Type="http://schemas.openxmlformats.org/officeDocument/2006/relationships/hyperlink" Target="../P003_Zephyr&#30340;CMake&#25509;&#21475;&#20307;&#31995;_Windows.md#cmake-build-methods" TargetMode="External" Id="Rc7bc6477bf1a4e5e"/><Relationship Type="http://schemas.openxmlformats.org/officeDocument/2006/relationships/notesSlide" Target="../notesSlides/build_methods_1.xml" Id="R582853fd65e0443b"/></Relationships>
</file>

<file path=ppt/slides/_rels/build_methods_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5f171c30038e416d"/><Relationship Type="http://schemas.openxmlformats.org/officeDocument/2006/relationships/hyperlink" Target="https://cmake.org/cmake/help/latest/manual/cmake.1.html" TargetMode="External" Id="Re978812b998d4134"/><Relationship Type="http://schemas.openxmlformats.org/officeDocument/2006/relationships/hyperlink" Target="https://github.com/zephyrproject-rtos/zephyr/blob/25c8f4a23988dd3b2cfb463613622738298c2d6c/doc/develop/application/index.rst" TargetMode="External" Id="R494198ea327e4bb5"/><Relationship Type="http://schemas.openxmlformats.org/officeDocument/2006/relationships/hyperlink" Target="../commands/P003_Windows/3.1.2-01.txt" TargetMode="External" Id="Ra29a43e94dcb431d"/><Relationship Type="http://schemas.openxmlformats.org/officeDocument/2006/relationships/hyperlink" Target="../P003_Zephyr&#30340;CMake&#25509;&#21475;&#20307;&#31995;_Windows.md#cmake-configure-command" TargetMode="External" Id="Rab9c92c36e3d42b7"/><Relationship Type="http://schemas.openxmlformats.org/officeDocument/2006/relationships/notesSlide" Target="../notesSlides/build_methods_2.xml" Id="R5c33d2708b50474c"/></Relationships>
</file>

<file path=ppt/slides/_rels/build_methods_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6d09734517464b26"/><Relationship Type="http://schemas.openxmlformats.org/officeDocument/2006/relationships/hyperlink" Target="https://cmake.org/cmake/help/latest/manual/cmake.1.html" TargetMode="External" Id="R4e9e985f7a7b4243"/><Relationship Type="http://schemas.openxmlformats.org/officeDocument/2006/relationships/hyperlink" Target="https://github.com/zephyrproject-rtos/zephyr/blob/25c8f4a23988dd3b2cfb463613622738298c2d6c/doc/develop/application/index.rst" TargetMode="External" Id="R7810aacd75ba4465"/><Relationship Type="http://schemas.openxmlformats.org/officeDocument/2006/relationships/hyperlink" Target="../commands/P003_Windows/3.1.2-02.txt" TargetMode="External" Id="Ra25a28f729e34426"/><Relationship Type="http://schemas.openxmlformats.org/officeDocument/2006/relationships/hyperlink" Target="../P003_Zephyr&#30340;CMake&#25509;&#21475;&#20307;&#31995;_Windows.md#cmake-build-command" TargetMode="External" Id="Rb591e4227bb446b6"/><Relationship Type="http://schemas.openxmlformats.org/officeDocument/2006/relationships/notesSlide" Target="../notesSlides/build_methods_3.xml" Id="Rf7f1957460bc4471"/></Relationships>
</file>

<file path=ppt/slides/_rels/build_methods_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e45874f3c6214085"/><Relationship Type="http://schemas.openxmlformats.org/officeDocument/2006/relationships/hyperlink" Target="https://cmake.org/cmake/help/latest/manual/cmake.1.html" TargetMode="External" Id="R455c6a806dd54122"/><Relationship Type="http://schemas.openxmlformats.org/officeDocument/2006/relationships/hyperlink" Target="https://github.com/zephyrproject-rtos/zephyr/blob/25c8f4a23988dd3b2cfb463613622738298c2d6c/doc/develop/application/index.rst" TargetMode="External" Id="Rad9c3353d0624476"/><Relationship Type="http://schemas.openxmlformats.org/officeDocument/2006/relationships/hyperlink" Target="../commands/P003_Windows/3.1.2-03.txt" TargetMode="External" Id="Ra931c4c2688e413f"/><Relationship Type="http://schemas.openxmlformats.org/officeDocument/2006/relationships/hyperlink" Target="../P003_Zephyr&#30340;CMake&#25509;&#21475;&#20307;&#31995;_Windows.md#cmake-build-command" TargetMode="External" Id="R59093cbbced64de1"/><Relationship Type="http://schemas.openxmlformats.org/officeDocument/2006/relationships/notesSlide" Target="../notesSlides/build_methods_4.xml" Id="R4ff2b9b0818d4f81"/></Relationships>
</file>

<file path=ppt/slides/_rels/build_methods_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aab641ddaa6046dc"/><Relationship Type="http://schemas.openxmlformats.org/officeDocument/2006/relationships/hyperlink" Target="https://docs.zephyrproject.org/latest/develop/west/build-flash-debug.html" TargetMode="External" Id="R09d51187d62b4d69"/><Relationship Type="http://schemas.openxmlformats.org/officeDocument/2006/relationships/hyperlink" Target="https://github.com/zephyrproject-rtos/zephyr/blob/25c8f4a23988dd3b2cfb463613622738298c2d6c/scripts/west_commands/build.py" TargetMode="External" Id="R59812313a5a54078"/><Relationship Type="http://schemas.openxmlformats.org/officeDocument/2006/relationships/hyperlink" Target="../commands/P003_Windows/3.1.2-04.txt" TargetMode="External" Id="R0a5dc28e67bb4b83"/><Relationship Type="http://schemas.openxmlformats.org/officeDocument/2006/relationships/hyperlink" Target="../P003_Zephyr&#30340;CMake&#25509;&#21475;&#20307;&#31995;_Windows.md#cmake-build-command" TargetMode="External" Id="R61c98458e2d44f06"/><Relationship Type="http://schemas.openxmlformats.org/officeDocument/2006/relationships/notesSlide" Target="../notesSlides/build_methods_5.xml" Id="R442a7b41622f4f90"/></Relationships>
</file>

<file path=ppt/slides/_rels/build_methods_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c39c0fd655d34572"/><Relationship Type="http://schemas.openxmlformats.org/officeDocument/2006/relationships/hyperlink" Target="https://cmake.org/cmake/help/latest/variable/CMAKE_BUILD_TYPE.html" TargetMode="External" Id="Re13bb99c0b65493f"/><Relationship Type="http://schemas.openxmlformats.org/officeDocument/2006/relationships/hyperlink" Target="https://github.com/zephyrproject-rtos/zephyr/blob/25c8f4a23988dd3b2cfb463613622738298c2d6c/CMakeLists.txt" TargetMode="External" Id="R3ad691fd8ff74a0f"/><Relationship Type="http://schemas.openxmlformats.org/officeDocument/2006/relationships/hyperlink" Target="../P003_Zephyr&#30340;CMake&#25509;&#21475;&#20307;&#31995;_Windows.md#cmake-build-command" TargetMode="External" Id="R1cdf8f41afa24b00"/><Relationship Type="http://schemas.openxmlformats.org/officeDocument/2006/relationships/notesSlide" Target="../notesSlides/build_methods_6.xml" Id="R3f1de968cd854e10"/></Relationships>
</file>

<file path=ppt/slides/_rels/build_methods_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06d1fb99c2d34c40"/><Relationship Type="http://schemas.openxmlformats.org/officeDocument/2006/relationships/hyperlink" Target="https://cmake.org/cmake/help/latest/manual/cmake.1.html" TargetMode="External" Id="R6ad72f87f63d46df"/><Relationship Type="http://schemas.openxmlformats.org/officeDocument/2006/relationships/hyperlink" Target="https://github.com/zephyrproject-rtos/zephyr/blob/25c8f4a23988dd3b2cfb463613622738298c2d6c/doc/develop/application/index.rst" TargetMode="External" Id="R4399fb6318734be2"/><Relationship Type="http://schemas.openxmlformats.org/officeDocument/2006/relationships/hyperlink" Target="../P003_Zephyr&#30340;CMake&#25509;&#21475;&#20307;&#31995;_Windows.md#cmake-cache-practice" TargetMode="External" Id="R2451e5ed0cc54b46"/><Relationship Type="http://schemas.openxmlformats.org/officeDocument/2006/relationships/notesSlide" Target="../notesSlides/build_methods_7.xml" Id="R5a2130e3a4cb48ca"/></Relationships>
</file>

<file path=ppt/slides/_rels/build_methods_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10aa6da402a7481a"/><Relationship Type="http://schemas.openxmlformats.org/officeDocument/2006/relationships/hyperlink" Target="https://cmake.org/cmake/help/latest/manual/cmake.1.html" TargetMode="External" Id="Ra4611678dd56437f"/><Relationship Type="http://schemas.openxmlformats.org/officeDocument/2006/relationships/hyperlink" Target="https://github.com/zephyrproject-rtos/zephyr/blob/25c8f4a23988dd3b2cfb463613622738298c2d6c/doc/develop/application/index.rst" TargetMode="External" Id="R663b556bcbb84171"/><Relationship Type="http://schemas.openxmlformats.org/officeDocument/2006/relationships/hyperlink" Target="../commands/P003_Windows/3.5.1-01.txt" TargetMode="External" Id="Rfa3abd293fd247c8"/><Relationship Type="http://schemas.openxmlformats.org/officeDocument/2006/relationships/hyperlink" Target="../P003_Zephyr&#30340;CMake&#25509;&#21475;&#20307;&#31995;_Windows.md#cmake-cache-practice" TargetMode="External" Id="R3f4947f141984736"/><Relationship Type="http://schemas.openxmlformats.org/officeDocument/2006/relationships/notesSlide" Target="../notesSlides/build_methods_8.xml" Id="Rad06d1ffe819400d"/></Relationships>
</file>

<file path=ppt/slides/_rels/build_methods_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67ac9dc58ec24466"/><Relationship Type="http://schemas.openxmlformats.org/officeDocument/2006/relationships/hyperlink" Target="https://cmake.org/cmake/help/latest/variable/CMAKE_MESSAGE_LOG_LEVEL.html" TargetMode="External" Id="Rc21095edfd204393"/><Relationship Type="http://schemas.openxmlformats.org/officeDocument/2006/relationships/hyperlink" Target="https://github.com/zephyrproject-rtos/zephyr/blob/25c8f4a23988dd3b2cfb463613622738298c2d6c/doc/develop/application/index.rst" TargetMode="External" Id="R8f1fedc6e981438e"/><Relationship Type="http://schemas.openxmlformats.org/officeDocument/2006/relationships/hyperlink" Target="../commands/P003_Windows/3.5.1-02.txt" TargetMode="External" Id="R9adcafa91c1640e7"/><Relationship Type="http://schemas.openxmlformats.org/officeDocument/2006/relationships/hyperlink" Target="../P003_Zephyr&#30340;CMake&#25509;&#21475;&#20307;&#31995;_Windows.md#cmake-cache-practice" TargetMode="External" Id="R028a1bbc0f444f34"/><Relationship Type="http://schemas.openxmlformats.org/officeDocument/2006/relationships/notesSlide" Target="../notesSlides/build_methods_9.xml" Id="Rd456fe87bb024969"/></Relationships>
</file>

<file path=ppt/slides/_rels/build_methods_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22daaf0cf9504321"/><Relationship Type="http://schemas.openxmlformats.org/officeDocument/2006/relationships/hyperlink" Target="https://cmake.org/cmake/help/latest/manual/cmake.1.html" TargetMode="External" Id="R7f04738a85af43c3"/><Relationship Type="http://schemas.openxmlformats.org/officeDocument/2006/relationships/hyperlink" Target="https://github.com/zephyrproject-rtos/zephyr/blob/25c8f4a23988dd3b2cfb463613622738298c2d6c/doc/develop/application/index.rst" TargetMode="External" Id="Re810ce0916204b18"/><Relationship Type="http://schemas.openxmlformats.org/officeDocument/2006/relationships/hyperlink" Target="../commands/P003_Windows/3.5.1-04.txt" TargetMode="External" Id="R234f09593ae74dbf"/><Relationship Type="http://schemas.openxmlformats.org/officeDocument/2006/relationships/hyperlink" Target="../P003_Zephyr&#30340;CMake&#25509;&#21475;&#20307;&#31995;_Windows.md#cmake-cache-practice" TargetMode="External" Id="R321db4d7d0924422"/><Relationship Type="http://schemas.openxmlformats.org/officeDocument/2006/relationships/notesSlide" Target="../notesSlides/build_methods_10.xml" Id="R5a85f4a3d3494776"/></Relationships>
</file>

<file path=ppt/slides/_rels/build_methods_1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01c05bee8b5b498f"/><Relationship Type="http://schemas.openxmlformats.org/officeDocument/2006/relationships/hyperlink" Target="https://cmake.org/cmake/help/latest/command/set.html" TargetMode="External" Id="Ra2b1e40467d84d81"/><Relationship Type="http://schemas.openxmlformats.org/officeDocument/2006/relationships/hyperlink" Target="https://github.com/zephyrproject-rtos/zephyr/blob/25c8f4a23988dd3b2cfb463613622738298c2d6c/cmake/modules/kernel.cmake" TargetMode="External" Id="R77ca2b5533004e66"/><Relationship Type="http://schemas.openxmlformats.org/officeDocument/2006/relationships/hyperlink" Target="../P003_Zephyr&#30340;CMake&#25509;&#21475;&#20307;&#31995;_Windows.md#cmake-cache-practice" TargetMode="External" Id="R0c903f3e2fd74857"/><Relationship Type="http://schemas.openxmlformats.org/officeDocument/2006/relationships/notesSlide" Target="../notesSlides/build_methods_11.xml" Id="Ree539b5acf7640bd"/></Relationships>
</file>

<file path=ppt/slides/_rels/build_methods_1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9a42126aa4d341e4"/><Relationship Type="http://schemas.openxmlformats.org/officeDocument/2006/relationships/hyperlink" Target="https://cmake.org/cmake/help/latest/manual/cmake.1.html" TargetMode="External" Id="R86fc97318d264071"/><Relationship Type="http://schemas.openxmlformats.org/officeDocument/2006/relationships/hyperlink" Target="https://github.com/zephyrproject-rtos/zephyr/blob/25c8f4a23988dd3b2cfb463613622738298c2d6c/doc/develop/application/index.rst" TargetMode="External" Id="Ra53e4d5db6b24569"/><Relationship Type="http://schemas.openxmlformats.org/officeDocument/2006/relationships/hyperlink" Target="../commands/P003_Windows/3.5.1-05.txt" TargetMode="External" Id="R9ac2e588360f4d65"/><Relationship Type="http://schemas.openxmlformats.org/officeDocument/2006/relationships/hyperlink" Target="../P003_Zephyr&#30340;CMake&#25509;&#21475;&#20307;&#31995;_Windows.md#cmake-cache-practice" TargetMode="External" Id="Rb64ecc16342d4a71"/><Relationship Type="http://schemas.openxmlformats.org/officeDocument/2006/relationships/notesSlide" Target="../notesSlides/build_methods_12.xml" Id="R1ecd9d9eeb044d36"/></Relationships>
</file>

<file path=ppt/slides/_rels/build_methods_1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12d6c4acf514004"/><Relationship Type="http://schemas.openxmlformats.org/officeDocument/2006/relationships/hyperlink" Target="https://docs.zephyrproject.org/latest/develop/west/build-flash-debug.html#pristine-builds" TargetMode="External" Id="Rf0361516967c4a13"/><Relationship Type="http://schemas.openxmlformats.org/officeDocument/2006/relationships/hyperlink" Target="https://github.com/zephyrproject-rtos/zephyr/blob/25c8f4a23988dd3b2cfb463613622738298c2d6c/cmake/pristine.cmake" TargetMode="External" Id="Rb2230b77d32343f7"/><Relationship Type="http://schemas.openxmlformats.org/officeDocument/2006/relationships/hyperlink" Target="../P003_Zephyr&#30340;CMake&#25509;&#21475;&#20307;&#31995;_Windows.md#cmake-cache-practice" TargetMode="External" Id="Ra9a3b5fe215a4884"/><Relationship Type="http://schemas.openxmlformats.org/officeDocument/2006/relationships/notesSlide" Target="../notesSlides/build_methods_13.xml" Id="Rfcc015e5e293432c"/></Relationships>
</file>

<file path=ppt/slides/_rels/build_methods_1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07fc4d0179884a18"/><Relationship Type="http://schemas.openxmlformats.org/officeDocument/2006/relationships/hyperlink" Target="https://cmake.org/cmake/help/latest/manual/cmake-presets.7.html" TargetMode="External" Id="R8b4a68357bce41bf"/><Relationship Type="http://schemas.openxmlformats.org/officeDocument/2006/relationships/hyperlink" Target="https://github.com/zephyrproject-rtos/zephyr/blob/25c8f4a23988dd3b2cfb463613622738298c2d6c/doc/develop/application/index.rst" TargetMode="External" Id="R604bba71617249d5"/><Relationship Type="http://schemas.openxmlformats.org/officeDocument/2006/relationships/hyperlink" Target="../commands/P003_Windows/3.5.1-06.txt" TargetMode="External" Id="R5bb7e95d5d3a4672"/><Relationship Type="http://schemas.openxmlformats.org/officeDocument/2006/relationships/hyperlink" Target="../P003_Zephyr&#30340;CMake&#25509;&#21475;&#20307;&#31995;_Windows.md#cmake-cache-practice" TargetMode="External" Id="R1afca2eff36f4c3c"/><Relationship Type="http://schemas.openxmlformats.org/officeDocument/2006/relationships/notesSlide" Target="../notesSlides/build_methods_14.xml" Id="R8d5314ea287a4a8b"/></Relationships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" TargetMode="External"/><Relationship Id="rId4" Type="http://schemas.openxmlformats.org/officeDocument/2006/relationships/hyperlink" Target="https://github.com/zephyrproject-rtos/zephyr/blob/25c8f4a23988dd3b2cfb463613622738298c2d6c/samples/hello_world/CMakeLists.txt#L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-5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-5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west/build-flash-debug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-1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-2" TargetMode="External"/><Relationship Id="rId4" Type="http://schemas.openxmlformats.org/officeDocument/2006/relationships/hyperlink" Target="https://github.com/zephyrproject-rtos/zephyr/blob/25c8f4a23988dd3b2cfb463613622738298c2d6c/cmake/modules/kernel.cmake#L236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-3" TargetMode="External"/><Relationship Id="rId4" Type="http://schemas.openxmlformats.org/officeDocument/2006/relationships/hyperlink" Target="https://github.com/zephyrproject-rtos/zephyr/blob/25c8f4a23988dd3b2cfb463613622738298c2d6c/samples/hello_world/CMakeLists.txt#L3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-3" TargetMode="External"/><Relationship Id="rId4" Type="http://schemas.openxmlformats.org/officeDocument/2006/relationships/hyperlink" Target="https://github.com/zephyrproject-rtos/zephyr/blob/25c8f4a23988dd3b2cfb463613622738298c2d6c/samples/hello_world/CMakeLists.txt#L3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-3" TargetMode="External"/><Relationship Id="rId4" Type="http://schemas.openxmlformats.org/officeDocument/2006/relationships/hyperlink" Target="https://github.com/zephyrproject-rtos/zephyr/blob/25c8f4a23988dd3b2cfb463613622738298c2d6c/cmake/modules/kernel.cmake#L236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zephyr_cmake_package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-4" TargetMode="External"/><Relationship Id="rId4" Type="http://schemas.openxmlformats.org/officeDocument/2006/relationships/hyperlink" Target="https://github.com/zephyrproject-rtos/zephyr/blob/25c8f4a23988dd3b2cfb463613622738298c2d6c/share/zephyr-package/cmake/ZephyrConfig.cmake#L28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1-4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2-1" TargetMode="External"/><Relationship Id="rId4" Type="http://schemas.openxmlformats.org/officeDocument/2006/relationships/hyperlink" Target="https://github.com/zephyrproject-rtos/zephyr/blob/25c8f4a23988dd3b2cfb463613622738298c2d6c/cmake/modules/zephyr_module.cmake#L14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zephyr_cmake_package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2-2" TargetMode="External"/><Relationship Id="rId4" Type="http://schemas.openxmlformats.org/officeDocument/2006/relationships/hyperlink" Target="https://github.com/zephyrproject-rtos/zephyr/blob/25c8f4a23988dd3b2cfb463613622738298c2d6c/share/zephyr-package/cmake/ZephyrConfig.cmake#L28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variable/BOARD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2-3" TargetMode="External"/><Relationship Id="rId4" Type="http://schemas.openxmlformats.org/officeDocument/2006/relationships/hyperlink" Target="https://github.com/zephyrproject-rtos/zephyr/blob/25c8f4a23988dd3b2cfb463613622738298c2d6c/cmake/modules/boards.cmake#L6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variable/CONF_FILE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2-4" TargetMode="External"/><Relationship Id="rId4" Type="http://schemas.openxmlformats.org/officeDocument/2006/relationships/hyperlink" Target="https://github.com/zephyrproject-rtos/zephyr/blob/25c8f4a23988dd3b2cfb463613622738298c2d6c/cmake/modules/configuration_files.cmake#L43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2-5" TargetMode="External"/><Relationship Id="rId4" Type="http://schemas.openxmlformats.org/officeDocument/2006/relationships/hyperlink" Target="https://github.com/zephyrproject-rtos/zephyr/blob/25c8f4a23988dd3b2cfb463613622738298c2d6c/cmake/modules/dts.cmake#L9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variable/BOARD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2-3" TargetMode="External"/><Relationship Id="rId4" Type="http://schemas.openxmlformats.org/officeDocument/2006/relationships/hyperlink" Target="https://github.com/zephyrproject-rtos/zephyr/blob/25c8f4a23988dd3b2cfb463613622738298c2d6c/cmake/modules/boards.cmake#L6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3-1" TargetMode="External"/><Relationship Id="rId4" Type="http://schemas.openxmlformats.org/officeDocument/2006/relationships/hyperlink" Target="https://github.com/zephyrproject-rtos/zephyr/blob/25c8f4a23988dd3b2cfb463613622738298c2d6c/cmake/modules/FindHostTools.cmake#L51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3-1" TargetMode="External"/><Relationship Id="rId4" Type="http://schemas.openxmlformats.org/officeDocument/2006/relationships/hyperlink" Target="https://github.com/zephyrproject-rtos/zephyr/blob/25c8f4a23988dd3b2cfb463613622738298c2d6c/cmake/modules/FindZephyr-sdk.cmake#L44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toolchains/custom_cmake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3-2" TargetMode="External"/><Relationship Id="rId4" Type="http://schemas.openxmlformats.org/officeDocument/2006/relationships/hyperlink" Target="https://github.com/zephyrproject-rtos/zephyr/blob/25c8f4a23988dd3b2cfb463613622738298c2d6c/cmake/modules/FindHostTools.cmake#L51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3-3" TargetMode="External"/><Relationship Id="rId4" Type="http://schemas.openxmlformats.org/officeDocument/2006/relationships/hyperlink" Target="https://github.com/zephyrproject-rtos/zephyr/blob/25c8f4a23988dd3b2cfb463613622738298c2d6c/cmake/compiler/gcc/target_arm.cmake#L5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toolchains/other_x_compilers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3-4" TargetMode="External"/><Relationship Id="rId4" Type="http://schemas.openxmlformats.org/officeDocument/2006/relationships/hyperlink" Target="https://github.com/zephyrproject-rtos/zephyr/blob/25c8f4a23988dd3b2cfb463613622738298c2d6c/cmake/modules/FindZephyr-sdk.cmake#L44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toolchains/custom_cmake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3-4" TargetMode="External"/><Relationship Id="rId4" Type="http://schemas.openxmlformats.org/officeDocument/2006/relationships/hyperlink" Target="https://github.com/zephyrproject-rtos/zephyr/blob/25c8f4a23988dd3b2cfb463613622738298c2d6c/cmake/modules/FindTargetTools.cmake#L30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4-1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4-1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4-2" TargetMode="External"/><Relationship Id="rId4" Type="http://schemas.openxmlformats.org/officeDocument/2006/relationships/hyperlink" Target="https://github.com/zephyrproject-rtos/zephyr/blob/25c8f4a23988dd3b2cfb463613622738298c2d6c/modules/modules.cmake#L5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4-2" TargetMode="External"/><Relationship Id="rId4" Type="http://schemas.openxmlformats.org/officeDocument/2006/relationships/hyperlink" Target="https://github.com/zephyrproject-rtos/zephyr/blob/25c8f4a23988dd3b2cfb463613622738298c2d6c/modules/cmsis_6/CMakeLists.txt#L4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4-3" TargetMode="External"/><Relationship Id="rId4" Type="http://schemas.openxmlformats.org/officeDocument/2006/relationships/hyperlink" Target="https://github.com/zephyrproject-rtos/zephyr/blob/25c8f4a23988dd3b2cfb463613622738298c2d6c/cmake/modules/zephyr_module.cmake#L141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4-3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module/extensions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4-4" TargetMode="External"/><Relationship Id="rId4" Type="http://schemas.openxmlformats.org/officeDocument/2006/relationships/hyperlink" Target="https://github.com/zephyrproject-rtos/zephyr/blob/25c8f4a23988dd3b2cfb463613622738298c2d6c/cmake/modules/extensions.cmake#L682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module/extensions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4-4" TargetMode="External"/><Relationship Id="rId4" Type="http://schemas.openxmlformats.org/officeDocument/2006/relationships/hyperlink" Target="https://github.com/zephyrproject-rtos/zephyr/blob/25c8f4a23988dd3b2cfb463613622738298c2d6c/cmake/modules/extensions.cmake#L769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language.7.html#variable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5-1" TargetMode="External"/><Relationship Id="rId4" Type="http://schemas.openxmlformats.org/officeDocument/2006/relationships/hyperlink" Target="https://github.com/zephyrproject-rtos/zephyr/blob/25c8f4a23988dd3b2cfb463613622738298c2d6c/cmake/modules/extensions.cmake#L4088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language.7.html#variable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5-2" TargetMode="External"/><Relationship Id="rId4" Type="http://schemas.openxmlformats.org/officeDocument/2006/relationships/hyperlink" Target="https://github.com/zephyrproject-rtos/zephyr/blob/25c8f4a23988dd3b2cfb463613622738298c2d6c/cmake/modules/extensions.cmake#L4088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5-2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5-3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sysbuild/index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5-4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6-1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6-2" TargetMode="External"/><Relationship Id="rId4" Type="http://schemas.openxmlformats.org/officeDocument/2006/relationships/hyperlink" Target="https://github.com/zephyrproject-rtos/zephyr/blob/25c8f4a23988dd3b2cfb463613622738298c2d6c/samples/hello_world/CMakeLists.txt#L3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6-3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7-1" TargetMode="External"/><Relationship Id="rId4" Type="http://schemas.openxmlformats.org/officeDocument/2006/relationships/hyperlink" Target="https://github.com/zephyrproject-rtos/zephyr/blob/25c8f4a23988dd3b2cfb463613622738298c2d6c/doc/develop/application/index.rst#L3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module/extensions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7-2" TargetMode="External"/><Relationship Id="rId4" Type="http://schemas.openxmlformats.org/officeDocument/2006/relationships/hyperlink" Target="https://github.com/zephyrproject-rtos/zephyr/blob/25c8f4a23988dd3b2cfb463613622738298c2d6c/cmake/modules/extensions.cmake#L682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Zephyr&#30340;CMake&#25509;&#21475;&#20307;&#31995;_Windows.md#section-3-7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build_methods_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051367-DCC3-4F90-93CB-B40E8FF683E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构建实例的输入与执行前提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9477E9C-26A9-4DC9-A967-470E043AA35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3.1.2.1 · ① 配置和构建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9F50196-2EF4-428E-9C0F-C38D4419E42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10972800" cy="16002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，目标 </a:t>
            </a:r>
            <a:r>
              <a:rPr>
                <a:solidFill>
                  <a:srgbClr val="B84E00"/>
                </a:solidFill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=mps2/an386。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AN386 提供 Cortex-M4 模型，本节不连接实板。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执行前完成 P004—P006，并通过 P007 环境检查。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首次阅读可先理解关系，依赖未齐时不执行构建。</a:t>
            </a:r>
          </a:p>
        </p:txBody>
      </p:sp>
      <p:sp>
        <p:nvSpPr>
          <p:cNvPr id="5" name="Copyable command">
            <a:extLst>
              <a:ext uri="{FF2B5EF4-FFF2-40B4-BE49-F238E27FC236}">
                <a16:creationId xmlns:a16="http://schemas.microsoft.com/office/drawing/2014/main" id="{648BD0A9-6ACC-4304-9D54-112F8D760FDB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Windows UCRT64；进入源码根，激活 P002 已有环境。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.venv/Scripts/activate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Zephyr 原生源码根变量，下一页用于定位这份源码。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export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ZEPHYR_BASE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="$(</a:t>
            </a:r>
            <a:r>
              <a:rPr>
                <a:solidFill>
                  <a:srgbClr val="A02B93"/>
                </a:solidFill>
              </a:rPr>
              <a:t>cygpath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-m "$PWD")"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4810DF50-8328-45FF-B7D6-0ECFF973A9FB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ba866abfc3c4ccc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DEEB29AA-6A44-4C1F-B475-6442C5CD13E1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29844a51c6f4c20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D4540E97-1BE0-4286-8CC7-A9A77A6A71A6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5d400659d53b4f6f"/>
              </a:rPr>
              <a:t>完整命令 3.1.2-01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6CFB15D7-52F3-4F9D-9011-41A6CD01A82B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7bc6477bf1a4e5e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B947405-1832-45C2-B64F-596D5E594E0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首次配置与规则生成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E7B328-5C37-4613-8B31-A6DD08BA10D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3.1.2.2 · ① 配置和构建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75E440E0-0C8A-4E3E-AA3E-11532E2D495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UCRT64；源码根；承接上一页的 .venv 与 </a:t>
            </a:r>
            <a:r>
              <a:rPr>
                <a:solidFill>
                  <a:srgbClr val="B84E00"/>
                </a:solidFill>
              </a:rPr>
              <a:t>ZEPHYR_BASE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-G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Ninja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B84E00"/>
                </a:solidFill>
              </a:rPr>
              <a:t>-D</a:t>
            </a:r>
            <a:r>
              <a:rPr>
                <a:solidFill>
                  <a:srgbClr val="B84E00"/>
                </a:solidFill>
              </a:rPr>
              <a:t>BOARD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mps2/an386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"</a:t>
            </a:r>
            <a:r>
              <a:rPr>
                <a:solidFill>
                  <a:srgbClr val="B84E00"/>
                </a:solidFill>
              </a:rPr>
              <a:t>-D</a:t>
            </a:r>
            <a:r>
              <a:rPr>
                <a:solidFill>
                  <a:srgbClr val="B84E00"/>
                </a:solidFill>
              </a:rPr>
              <a:t>Zephyr_DIR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=$</a:t>
            </a:r>
            <a:r>
              <a:rPr>
                <a:solidFill>
                  <a:srgbClr val="B84E00"/>
                </a:solidFill>
              </a:rPr>
              <a:t>ZEPHYR_BASE</a:t>
            </a:r>
            <a:r>
              <a:rPr>
                <a:solidFill>
                  <a:srgbClr val="0070C0"/>
                </a:solidFill>
              </a:rPr>
              <a:t>/share/zephyr-package/cmake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"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"</a:t>
            </a:r>
            <a:r>
              <a:rPr>
                <a:solidFill>
                  <a:srgbClr val="B84E00"/>
                </a:solidFill>
              </a:rPr>
              <a:t>-D</a:t>
            </a:r>
            <a:r>
              <a:rPr>
                <a:solidFill>
                  <a:srgbClr val="B84E00"/>
                </a:solidFill>
              </a:rPr>
              <a:t>Python3_EXECUTABLE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=$(</a:t>
            </a:r>
            <a:r>
              <a:rPr>
                <a:solidFill>
                  <a:srgbClr val="A02B93"/>
                </a:solidFill>
              </a:rPr>
              <a:t>cygpath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-m "$(command -v python)")"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E488FBF7-8BF2-4430-B9A2-9596289E3A92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12382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指官方应用，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目录由 CMake 创建，保存本次状态。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-G 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选择构建后端，</a:t>
            </a:r>
            <a:r>
              <a:rPr>
                <a:solidFill>
                  <a:srgbClr val="B84E00"/>
                </a:solidFill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由 Zephyr 选硬件。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看到 Configuring done / Generating done 后，才进入编译。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6E989194-5B80-4DC2-B087-A122F902C37E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e978812b998d4134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8F7F853A-C71A-4AD2-99B5-45CF8A01C722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94198ea327e4bb5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B8E35B89-3716-4FDA-A6A4-B30C50E21B58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29a43e94dcb431d"/>
              </a:rPr>
              <a:t>完整命令 3.1.2-01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EAA6828E-04EC-421B-A39A-8A306878DE3A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b9c92c36e3d42b7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1ABD51-CA7E-4F85-A0F8-E6134EAA95D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编译与增量构建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E976A9D-B880-4571-BB5A-09B13DB19EE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3.1.2.3 · ① 配置和构建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FB08065D-0DD1-4A34-BFCA-04CD2ADF8F1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UCRT64；源码根；前提：上一页配置成功，.venv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ls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-l </a:t>
            </a:r>
            <a:r>
              <a:rPr>
                <a:solidFill>
                  <a:srgbClr val="0070C0"/>
                </a:solidFill>
              </a:rPr>
              <a:t>build/learning-tools/p003/cmake-demo/zephyr/zephyr.elf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输入未变，再次构建通常显示 ninja: no work to do.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380A353-D010-4677-BF45-31CFBED9405A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 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调用已配置的 Ninja，不再重复选板。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首次构建得到 </a:t>
            </a:r>
            <a:r>
              <a:rPr>
                <a:solidFill>
                  <a:srgbClr val="0070C0"/>
                </a:solidFill>
              </a:rPr>
              <a:t>zephyr/zephyr.elf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。无改动时通常无需重编译。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修改 </a:t>
            </a:r>
            <a:r>
              <a:rPr>
                <a:solidFill>
                  <a:srgbClr val="0070C0"/>
                </a:solidFill>
              </a:rPr>
              <a:t>main.c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后仍用这条命令，按依赖更新对象与链接。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9D03A7BD-5433-4A96-9307-6300DBF13B6F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e9e985f7a7b424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4AC590AF-014C-45D2-810D-0CE20F661380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810aacd75ba4465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5B976304-8D65-4FB8-9B30-5C44109FE42E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25a28f729e34426"/>
              </a:rPr>
              <a:t>完整命令 3.1.2-02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282DFC75-21BE-4413-8A7A-0672C09F5D9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591e4227bb446b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58C979-C879-4A4F-9C02-41A4D1C8263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并行、详细输出与指定目标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3CCEFDF-EB05-43F3-8C9B-1700C87E6CC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3.1.2.4 · ① 常用构建方式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3E06BD91-635B-4BD4-A28F-67406A6FD03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UCRT64；源码根；前提：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-demo 已配置，.venv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 </a:t>
            </a:r>
            <a:r>
              <a:rPr>
                <a:solidFill>
                  <a:srgbClr val="B84E00"/>
                </a:solidFill>
              </a:rPr>
              <a:t>--verbose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help 列出本例 Ninja 工程可用目标。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--target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help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4159FC9B-FFDD-44CF-A5EC-0CAC4649312A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--parallel 4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限制并行任务，</a:t>
            </a:r>
            <a:r>
              <a:rPr>
                <a:solidFill>
                  <a:srgbClr val="B84E00"/>
                </a:solidFill>
              </a:rPr>
              <a:t>--verbose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打印本次实际命令。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工程已是最新状态时，详细输出不会强制重编译。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--target app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只构建应用库，不能据此认定固件已链接。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 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后的 </a:t>
            </a:r>
            <a:r>
              <a:rPr>
                <a:solidFill>
                  <a:srgbClr val="B84E00"/>
                </a:solidFill>
              </a:rPr>
              <a:t>--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把参数交给后端，不接收配置 </a:t>
            </a:r>
            <a:r>
              <a:rPr>
                <a:solidFill>
                  <a:srgbClr val="B84E00"/>
                </a:solidFill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A4FFF865-5AE4-41AE-9A55-19BCE4509666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55c6a806dd54122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00B0AC1-EAE1-4D04-B4AC-E63D01DB0D4A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d9c3353d0624476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B3C5F1CB-561F-498A-8B55-E8BDBEEF20FA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931c4c2688e413f"/>
              </a:rPr>
              <a:t>完整命令 3.1.2-03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8641ECEA-5634-4C81-9A85-413EE0BF5C2F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59093cbbced64de1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744B82-5A73-4BDD-BBC8-CE1E62F5EC6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build 复用同一个构建目录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88160AB-BA48-4420-9A9F-D14E97F2B48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3.1.2.5 · ① 两种调用入口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36A30590-82C7-4872-B661-6707258113F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UCRT64；源码根；前提：本节 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-demo 已配置，.venv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build </a:t>
            </a:r>
            <a:r>
              <a:rPr>
                <a:solidFill>
                  <a:srgbClr val="B84E00"/>
                </a:solidFill>
              </a:rPr>
              <a:t>-d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需要重新配置时才选择这条，不做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init。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build </a:t>
            </a:r>
            <a:r>
              <a:rPr>
                <a:solidFill>
                  <a:srgbClr val="B84E00"/>
                </a:solidFill>
              </a:rPr>
              <a:t>-d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-c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27805A1B-FD20-44FB-AFCD-323C875261D6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west 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包装 CMake 与后端，读取同一份构建状态。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强制重跑 CMake，之后再构建。日常无需每次添加。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west 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后的 </a:t>
            </a:r>
            <a:r>
              <a:rPr>
                <a:solidFill>
                  <a:srgbClr val="B84E00"/>
                </a:solidFill>
              </a:rPr>
              <a:t>-- 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传给 CMake 配置阶段。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它与 </a:t>
            </a:r>
            <a:r>
              <a:rPr>
                <a:solidFill>
                  <a:srgbClr val="A02B93"/>
                </a:solidFill>
              </a:rPr>
              <a:t>cmake 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后的 </a:t>
            </a:r>
            <a:r>
              <a:rPr>
                <a:solidFill>
                  <a:srgbClr val="B84E00"/>
                </a:solidFill>
              </a:rPr>
              <a:t>--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接收者不同。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0EE7E5D9-1E39-439F-A34F-F9481452A384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9d51187d62b4d69"/>
              </a:rPr>
              <a:t>官方说明：Zephyr 官方 west 构建说明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9EDBE4C-CB73-4FAB-A73C-E1B28F257078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59812313a5a54078"/>
              </a:rPr>
              <a:t>源码定位：scripts/west_commands/build.py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46DBE04C-C6D5-4D59-9B0B-EAA7125183C1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a5dc28e67bb4b83"/>
              </a:rPr>
              <a:t>完整命令 3.1.2-04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733EE3F1-2F0B-492F-8761-6F694AB61741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1c98458e2d44f0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1BD4575-3264-43FC-B976-B2EB90ABA95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Debug 与 Release 在 Zephyr 中的边界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986929F-01AF-4633-9A35-C60230AE1E4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3.1.2.6 · ① 构建类型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E9C5D432-48DB-4469-9EDF-644D0CB566B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8004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 CMake 的单配置工程常在配置时设置 </a:t>
            </a:r>
            <a:r>
              <a:rPr>
                <a:solidFill>
                  <a:srgbClr val="B84E00"/>
                </a:solidFill>
              </a:rPr>
              <a:t>CMAKE_BUILD_TYPE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多配置生成器通常在构建时用 </a:t>
            </a:r>
            <a:r>
              <a:rPr>
                <a:solidFill>
                  <a:srgbClr val="B84E00"/>
                </a:solidFill>
              </a:rPr>
              <a:t>--config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本系列使用 Ninja。Zephyr 的优化主要由 Kconfig 决定，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如 </a:t>
            </a:r>
            <a:r>
              <a:rPr>
                <a:solidFill>
                  <a:srgbClr val="B84E00"/>
                </a:solidFill>
              </a:rPr>
              <a:t>CONFIG_DEBUG_OPTIMIZATIONS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>
                <a:solidFill>
                  <a:srgbClr val="B84E00"/>
                </a:solidFill>
              </a:rPr>
              <a:t>CONFIG_SIZE_OPTIMIZATIONS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单独传 Debug 不等于完成 Zephyr 调试优化配置。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</a:t>
            </a:r>
            <a:r>
              <a:rPr>
                <a:solidFill>
                  <a:srgbClr val="0070C0"/>
                </a:solidFill>
              </a:rPr>
              <a:t>zephyr/.config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与实际编译参数。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 --install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是项目安装操作，也不等于烧录固件。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ADA7445F-D44D-42F5-A345-165776A1F02E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e13bb99c0b65493f"/>
              </a:rPr>
              <a:t>官方说明：CMake 构建类型说明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C4AEAF2-699C-45B5-BCB4-FAEFFDBBAF7D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ad691fd8ff74a0f"/>
              </a:rPr>
              <a:t>源码定位：CMakeLists.txt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0CAE7CE-4793-4AD2-9664-FBE204AB726F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1cdf8f41afa24b00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A93238-DEC0-4798-BDA5-53A819AB9A3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配置缓存、任务规则与编译产物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1C76C5A-8C88-47C8-A37B-81E13BFA841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3.5.1.1 · ④ 保存与复用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4DD2881-6B61-46DC-96C5-4CA573CFC1B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1524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保存配置值，</a:t>
            </a:r>
            <a:r>
              <a:rPr>
                <a:solidFill>
                  <a:srgbClr val="0070C0"/>
                </a:solidFill>
              </a:rPr>
              <a:t>build.ninja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描述执行规则。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对象文件与 </a:t>
            </a:r>
            <a:r>
              <a:rPr>
                <a:solidFill>
                  <a:srgbClr val="0070C0"/>
                </a:solidFill>
              </a:rPr>
              <a:t>zephyr.elf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是执行结果，不能与配置缓存混为一谈。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第二次配置同一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时，CMake 读取已有缓存再生成规则。</a:t>
            </a:r>
          </a:p>
        </p:txBody>
      </p:sp>
      <p:sp>
        <p:nvSpPr>
          <p:cNvPr id="5" name="Build flow 配置输入">
            <a:extLst>
              <a:ext uri="{FF2B5EF4-FFF2-40B4-BE49-F238E27FC236}">
                <a16:creationId xmlns:a16="http://schemas.microsoft.com/office/drawing/2014/main" id="{A3833045-37F3-4349-A843-F178EAB96484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配置输入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96443D45-0980-4068-A9B1-7D339D6037F7}"/>
              </a:ext>
            </a:extLst>
          </p:cNvPr>
          <p:cNvSpPr>
            <a:spLocks noGrp="1"/>
          </p:cNvSpPr>
          <p:nvPr/>
        </p:nvSpPr>
        <p:spPr>
          <a:xfrm>
            <a:off x="258127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Build flow CMake">
            <a:extLst>
              <a:ext uri="{FF2B5EF4-FFF2-40B4-BE49-F238E27FC236}">
                <a16:creationId xmlns:a16="http://schemas.microsoft.com/office/drawing/2014/main" id="{948BB1D8-D921-4B0B-8F80-F713644389DB}"/>
              </a:ext>
            </a:extLst>
          </p:cNvPr>
          <p:cNvSpPr>
            <a:spLocks noGrp="1"/>
          </p:cNvSpPr>
          <p:nvPr/>
        </p:nvSpPr>
        <p:spPr>
          <a:xfrm>
            <a:off x="286512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B4206586-AA57-4FB6-9610-FC7EFE5952A8}"/>
              </a:ext>
            </a:extLst>
          </p:cNvPr>
          <p:cNvSpPr>
            <a:spLocks noGrp="1"/>
          </p:cNvSpPr>
          <p:nvPr/>
        </p:nvSpPr>
        <p:spPr>
          <a:xfrm>
            <a:off x="483679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Build flow build.ninja">
            <a:extLst>
              <a:ext uri="{FF2B5EF4-FFF2-40B4-BE49-F238E27FC236}">
                <a16:creationId xmlns:a16="http://schemas.microsoft.com/office/drawing/2014/main" id="{A06E3B72-9FB2-4165-81B2-18A0B42CAD2D}"/>
              </a:ext>
            </a:extLst>
          </p:cNvPr>
          <p:cNvSpPr>
            <a:spLocks noGrp="1"/>
          </p:cNvSpPr>
          <p:nvPr/>
        </p:nvSpPr>
        <p:spPr>
          <a:xfrm>
            <a:off x="512064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05AE98AC-D592-4B84-96DF-1D848EC87A73}"/>
              </a:ext>
            </a:extLst>
          </p:cNvPr>
          <p:cNvSpPr>
            <a:spLocks noGrp="1"/>
          </p:cNvSpPr>
          <p:nvPr/>
        </p:nvSpPr>
        <p:spPr>
          <a:xfrm>
            <a:off x="709231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Build flow Ninja">
            <a:extLst>
              <a:ext uri="{FF2B5EF4-FFF2-40B4-BE49-F238E27FC236}">
                <a16:creationId xmlns:a16="http://schemas.microsoft.com/office/drawing/2014/main" id="{01DDEC75-5CDC-4573-87EB-9789DF08790E}"/>
              </a:ext>
            </a:extLst>
          </p:cNvPr>
          <p:cNvSpPr>
            <a:spLocks noGrp="1"/>
          </p:cNvSpPr>
          <p:nvPr/>
        </p:nvSpPr>
        <p:spPr>
          <a:xfrm>
            <a:off x="737616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</a:t>
            </a:r>
          </a:p>
        </p:txBody>
      </p:sp>
      <p:sp>
        <p:nvSpPr>
          <p:cNvPr id="12" name="Flow arrow 3">
            <a:extLst>
              <a:ext uri="{FF2B5EF4-FFF2-40B4-BE49-F238E27FC236}">
                <a16:creationId xmlns:a16="http://schemas.microsoft.com/office/drawing/2014/main" id="{AE55C1C0-5441-4083-8B32-8C4C1F3F3F5D}"/>
              </a:ext>
            </a:extLst>
          </p:cNvPr>
          <p:cNvSpPr>
            <a:spLocks noGrp="1"/>
          </p:cNvSpPr>
          <p:nvPr/>
        </p:nvSpPr>
        <p:spPr>
          <a:xfrm>
            <a:off x="934783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Build flow zephyr.elf">
            <a:extLst>
              <a:ext uri="{FF2B5EF4-FFF2-40B4-BE49-F238E27FC236}">
                <a16:creationId xmlns:a16="http://schemas.microsoft.com/office/drawing/2014/main" id="{DC107534-2922-458F-B690-E1A7DF505876}"/>
              </a:ext>
            </a:extLst>
          </p:cNvPr>
          <p:cNvSpPr>
            <a:spLocks noGrp="1"/>
          </p:cNvSpPr>
          <p:nvPr/>
        </p:nvSpPr>
        <p:spPr>
          <a:xfrm>
            <a:off x="963168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</p:txBody>
      </p:sp>
      <p:sp>
        <p:nvSpPr>
          <p:cNvPr id="14" name="Build flow CMakeCache.txt&#10;配置值">
            <a:extLst>
              <a:ext uri="{FF2B5EF4-FFF2-40B4-BE49-F238E27FC236}">
                <a16:creationId xmlns:a16="http://schemas.microsoft.com/office/drawing/2014/main" id="{279783B6-DE8E-4457-8AFF-D97CABA93E84}"/>
              </a:ext>
            </a:extLst>
          </p:cNvPr>
          <p:cNvSpPr>
            <a:spLocks noGrp="1"/>
          </p:cNvSpPr>
          <p:nvPr/>
        </p:nvSpPr>
        <p:spPr>
          <a:xfrm>
            <a:off x="2865120" y="4838700"/>
            <a:ext cx="2381250" cy="6667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</a:p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配置值</a:t>
            </a:r>
          </a:p>
        </p:txBody>
      </p:sp>
      <p:sp>
        <p:nvSpPr>
          <p:cNvPr id="15" name="Cache both directions">
            <a:extLst>
              <a:ext uri="{FF2B5EF4-FFF2-40B4-BE49-F238E27FC236}">
                <a16:creationId xmlns:a16="http://schemas.microsoft.com/office/drawing/2014/main" id="{7401E223-F49B-4E6A-BB4F-53FADD2FD775}"/>
              </a:ext>
            </a:extLst>
          </p:cNvPr>
          <p:cNvSpPr>
            <a:spLocks noGrp="1"/>
          </p:cNvSpPr>
          <p:nvPr/>
        </p:nvSpPr>
        <p:spPr>
          <a:xfrm>
            <a:off x="3600450" y="4314825"/>
            <a:ext cx="304800" cy="4762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24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24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↕</a:t>
            </a:r>
          </a:p>
        </p:txBody>
      </p:sp>
      <p:sp>
        <p:nvSpPr>
          <p:cNvPr id="16" name="Cache read write label">
            <a:extLst>
              <a:ext uri="{FF2B5EF4-FFF2-40B4-BE49-F238E27FC236}">
                <a16:creationId xmlns:a16="http://schemas.microsoft.com/office/drawing/2014/main" id="{A09A9095-8365-4D9C-8DC7-A33954485878}"/>
              </a:ext>
            </a:extLst>
          </p:cNvPr>
          <p:cNvSpPr>
            <a:spLocks noGrp="1"/>
          </p:cNvSpPr>
          <p:nvPr/>
        </p:nvSpPr>
        <p:spPr>
          <a:xfrm>
            <a:off x="4105275" y="4429125"/>
            <a:ext cx="3905250" cy="333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6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6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写回 / 下次配置读取</a:t>
            </a:r>
          </a:p>
        </p:txBody>
      </p:sp>
      <p:sp>
        <p:nvSpPr>
          <p:cNvPr id="17" name="Official doc link">
            <a:extLst>
              <a:ext uri="{FF2B5EF4-FFF2-40B4-BE49-F238E27FC236}">
                <a16:creationId xmlns:a16="http://schemas.microsoft.com/office/drawing/2014/main" id="{7B16949A-88A9-404B-A8E4-69B2A177255A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ad72f87f63d46df"/>
              </a:rPr>
              <a:t>官方说明：CMake 官方命令行手册</a:t>
            </a:r>
          </a:p>
        </p:txBody>
      </p:sp>
      <p:sp>
        <p:nvSpPr>
          <p:cNvPr id="18" name="Implementation link">
            <a:extLst>
              <a:ext uri="{FF2B5EF4-FFF2-40B4-BE49-F238E27FC236}">
                <a16:creationId xmlns:a16="http://schemas.microsoft.com/office/drawing/2014/main" id="{FD214BC6-1C57-4E39-A834-AFB078889637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399fb6318734be2"/>
              </a:rPr>
              <a:t>源码定位：doc/develop/application/index.rst</a:t>
            </a:r>
          </a:p>
        </p:txBody>
      </p:sp>
      <p:sp>
        <p:nvSpPr>
          <p:cNvPr id="19" name="Chapter link">
            <a:extLst>
              <a:ext uri="{FF2B5EF4-FFF2-40B4-BE49-F238E27FC236}">
                <a16:creationId xmlns:a16="http://schemas.microsoft.com/office/drawing/2014/main" id="{FC9FAE75-A27D-4BFA-9ED5-C3160207394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451e5ed0cc54b46"/>
              </a:rPr>
              <a:t>配套正文</a:t>
            </a:r>
          </a:p>
        </p:txBody>
      </p:sp>
      <p:sp>
        <p:nvSpPr>
          <p:cNvPr id="2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8715D7-E77B-4F54-B408-D432C8973DC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只读查看构建缓存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E2432BC-431B-4AF0-9064-A7EF6063350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3.5.1.2 · ④ 保存与复用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7848D9B1-5058-48F3-86A8-A44438397A4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UCRT64；源码根；前提：3.1.2 的 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-demo 配置成功。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test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-f </a:t>
            </a:r>
            <a:r>
              <a:rPr>
                <a:solidFill>
                  <a:srgbClr val="0070C0"/>
                </a:solidFill>
              </a:rPr>
              <a:t>build/learning-tools/p003/cmake-demo/CMakeCache.txt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-N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-LAH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23FB5D5-ED3E-44F3-957D-4B8CDFC7B367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只查看，不重新配置或生成。</a:t>
            </a:r>
            <a:r>
              <a:rPr>
                <a:solidFill>
                  <a:srgbClr val="B84E00"/>
                </a:solidFill>
              </a:rPr>
              <a:t>-L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列选项，</a:t>
            </a:r>
            <a:r>
              <a:rPr>
                <a:solidFill>
                  <a:srgbClr val="B84E00"/>
                </a:solidFill>
              </a:rPr>
              <a:t>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加高级项，</a:t>
            </a:r>
            <a:r>
              <a:rPr>
                <a:solidFill>
                  <a:srgbClr val="B84E00"/>
                </a:solidFill>
              </a:rPr>
              <a:t>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带帮助。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没有 </a:t>
            </a:r>
            <a:r>
              <a:rPr>
                <a:solidFill>
                  <a:srgbClr val="B84E00"/>
                </a:solidFill>
              </a:rPr>
              <a:t>-N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>
                <a:solidFill>
                  <a:srgbClr val="B84E00"/>
                </a:solidFill>
              </a:rPr>
              <a:t>-LAH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调用可能重新配置。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列表不含全部 INTERNAL 条目；入口等信息可直接读缓存文件。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缓存不存在时回到首次配置，不手工创建空文件。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7BBD3309-6D92-48B7-BE7B-33521CECA0BC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4611678dd56437f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3305A193-5405-4EBF-97E1-973DF81529BB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63b556bcbb84171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9871DDFD-33CE-473D-86FC-9DBB2A2DAC3F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a3abd293fd247c8"/>
              </a:rPr>
              <a:t>完整命令 3.5.1-01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276C02CF-2EA7-4574-814F-9DCCD1D6653B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f4947f14198473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04D8F95-50C4-4763-8C24-6A381FB9356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 -D 修改，再省略同一个输入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D29E78E-144F-4123-8D68-15226B1298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3.5.1.3 · ④ 缓存操作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10970FD4-D57D-4E8F-B495-147D77F3CB0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UCRT64；源码根；本节 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-demo 已配置，.venv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B84E00"/>
                </a:solidFill>
              </a:rPr>
              <a:t>-D</a:t>
            </a:r>
            <a:r>
              <a:rPr>
                <a:solidFill>
                  <a:srgbClr val="B84E00"/>
                </a:solidFill>
              </a:rPr>
              <a:t>CMAKE_MESSAGE_LOG_LEVEL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  <a:r>
              <a:rPr>
                <a:solidFill>
                  <a:srgbClr val="B84E00"/>
                </a:solidFill>
              </a:rPr>
              <a:t>STRING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</a:t>
            </a:r>
            <a:r>
              <a:rPr>
                <a:solidFill>
                  <a:srgbClr val="B84E00"/>
                </a:solidFill>
              </a:rPr>
              <a:t>VERBOSE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同一目录再次配置，特意不重复 -D。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-N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-LAH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| </a:t>
            </a:r>
            <a:r>
              <a:rPr>
                <a:solidFill>
                  <a:srgbClr val="A02B93"/>
                </a:solidFill>
              </a:rPr>
              <a:t>grep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CMAKE_MESSAGE_LOG_LEVEL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23EC0D3B-2F0A-4734-B683-5ADA945FBEA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12382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CMAKE_MESSAGE_LOG_LEVEL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 CMake 配置日志级别，不是编译详细输出。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首次设为 VERBOSE 后，重复配置不再传它，缓存仍保留 VERBOSE。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因此“下一条命令省略参数”不会撤销前一次选择。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19251460-916E-484A-A7CC-25F20D2C3249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21095edfd204393"/>
              </a:rPr>
              <a:t>官方说明：CMake 配置日志变量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BCCFEB6-1628-492A-ACEF-28137A82DB3B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f1fedc6e981438e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6FF8A6A5-E8D1-4E15-8FB7-79AE1BF35C5F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9adcafa91c1640e7"/>
              </a:rPr>
              <a:t>完整命令 3.5.1-02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1A56CFDA-F942-4199-A511-A9623294F00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28a1bbc0f444f34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B173007-466B-4F27-AF73-6C73851B32D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撤销一项缓存输入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1B1CB03-CF92-45C1-B899-4A5B5F87953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3.5.1.4 · ④ 缓存操作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439AE65E-DABD-4383-BA3D-7A646162EBF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UCRT64；源码根；前提：上一页已设置日志项，.venv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B84E00"/>
                </a:solidFill>
              </a:rPr>
              <a:t>-U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CMAKE_MESSAGE_LOG_LEVEL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'^</a:t>
            </a:r>
            <a:r>
              <a:rPr>
                <a:solidFill>
                  <a:srgbClr val="B84E00"/>
                </a:solidFill>
              </a:rPr>
              <a:t>CMAKE_MESSAGE_LOG_LEVEL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:' </a:t>
            </a:r>
            <a:r>
              <a:rPr>
                <a:solidFill>
                  <a:srgbClr val="0070C0"/>
                </a:solidFill>
              </a:rPr>
              <a:t>build/learning-tools/p003/cmake-demo/CMakeCache.txt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5D67CAFA-8F55-4F43-AAFC-ACACE53A573D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-U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删除准确匹配的缓存项，再执行配置。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本例无其他来源重建该项时，grep 无输出、返回 1 是预期结果。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显式改为 STATUS 仍保留一个值；删除条目才撤销缓存选择。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终端环境、预设和脚本不会随 </a:t>
            </a:r>
            <a:r>
              <a:rPr>
                <a:solidFill>
                  <a:srgbClr val="B84E00"/>
                </a:solidFill>
              </a:rPr>
              <a:t>-U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一起删除。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5C16B47D-717E-4C64-8BDE-7D563753E9EE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f04738a85af43c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2D707A02-72E2-415E-B2B8-381B03312C9C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e810ce0916204b18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B36AE5EC-8C42-47D0-BF50-54FE82F0CE29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34f09593ae74dbf"/>
              </a:rPr>
              <a:t>完整命令 3.5.1-04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B572174D-0C38-4A3B-AEB1-46C66578C0EF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21db4d7d0924422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DBAE54A-9B9F-45F4-9A68-0314D913658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项目脚本也能写回缓存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83E2C24-D165-4F8A-8B85-60478BCDF89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3.5.1.4 · ④ 传入值与实际值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2BB6A013-4391-4151-BE6A-98BF96ED696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只读：Zephyr 原有 </a:t>
            </a:r>
            <a:r>
              <a:rPr>
                <a:solidFill>
                  <a:srgbClr val="0070C0"/>
                </a:solidFill>
              </a:rPr>
              <a:t>cmake/modules/kernel.cmake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，第 167 行附近。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set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>
                <a:solidFill>
                  <a:srgbClr val="B84E00"/>
                </a:solidFill>
              </a:rPr>
              <a:t>CMAKE_EXPORT_COMPILE_COMMANDS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TRUE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CACHE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BOOL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"Export CMake compile commands. Used by gen_app_partitions.py script"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>
                <a:solidFill>
                  <a:srgbClr val="B84E00"/>
                </a:solidFill>
              </a:rPr>
              <a:t>FORCE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9A19B7F1-1BDD-43F2-A884-148ACB71A7CC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 Zephyr 强制生成编译命令数据库，供内部脚本使用。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因此把此项传成 OFF，配置脚本仍会用 </a:t>
            </a:r>
            <a:r>
              <a:rPr>
                <a:solidFill>
                  <a:srgbClr val="B84E00"/>
                </a:solidFill>
              </a:rPr>
              <a:t>FORCE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写回 TRUE。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不保证压过随后执行的所有项目规则。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普通变量、缓存与 </a:t>
            </a:r>
            <a:r>
              <a:rPr>
                <a:solidFill>
                  <a:srgbClr val="087B3D"/>
                </a:solidFill>
              </a:rPr>
              <a:t>zephyr_get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的读取顺序也要区分。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35FB7B4B-A51F-4713-82EB-4D609151BB67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2b1e40467d84d81"/>
              </a:rPr>
              <a:t>官方说明：CMake set 与 CACHE / FORCE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F6F31D3-C5B6-4933-A4A6-BF1F9D0D4C14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7ca2b5533004e66"/>
              </a:rPr>
              <a:t>源码定位：cmake/modules/kernel.cmake</a:t>
            </a:r>
          </a:p>
        </p:txBody>
      </p:sp>
      <p:sp>
        <p:nvSpPr>
          <p:cNvPr id="8" name="Chapter link">
            <a:extLst>
              <a:ext uri="{FF2B5EF4-FFF2-40B4-BE49-F238E27FC236}">
                <a16:creationId xmlns:a16="http://schemas.microsoft.com/office/drawing/2014/main" id="{EB0FEBDC-0593-4C0B-8E75-706F5200A211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c903f3e2fd74857"/>
              </a:rPr>
              <a:t>配套正文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20D4888-A096-4082-B515-8FF3E07F594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clean 保留配置，build 再生成产物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FB0DEB9-351C-42C4-8AE4-CA3E46A5A1A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3.5.1.5 · ④ 清理范围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B909572E-64E7-490F-A299-E241D5775B5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UCRT64；源码根；本节 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-demo 已构建，.venv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--target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clean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ls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build/learning-tools/p003/cmake-demo/CMakeCache.txt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FA5B212-90EE-4E8C-B934-E8E0160ACC64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 clean 清除后端管理的构建产物，缓存与规则仍在。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随后 build 复用相同的板和工具链重新编译。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--clean-first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是先 clean 再 build，也不会重置配置选择。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日常改代码先增量构建，不必每次清理。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65D9DA59-0DC8-4D77-AB1F-C7E10F1E91D1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6fc97318d264071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E1A46B5E-F5CF-402B-9D8F-09E1D875A2C9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53e4d5db6b24569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0609ACD0-EA67-4ADB-BCB3-F85F65F71A54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9ac2e588360f4d65"/>
              </a:rPr>
              <a:t>完整命令 3.5.1-05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47FCA681-A380-4F77-B8F3-76F834CE2FAE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64ecc16342d4a71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73390F-E404-4076-B842-91CB25AC23F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重新配置、fresh 与 pristine 的范围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B34FFCD-4546-4075-9135-C5592B032F4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3.5.1.5 · ④ 重置时的选择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3DDFC07-3A66-42C1-91CD-0E166AB0407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8004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重新配置：复用已有缓存，更新本次传入项并生成规则。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--fresh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 3.24+ 重建 </a:t>
            </a:r>
            <a:r>
              <a:rPr>
                <a:solidFill>
                  <a:srgbClr val="0070C0"/>
                </a:solidFill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>
                <a:solidFill>
                  <a:srgbClr val="0070C0"/>
                </a:solidFill>
              </a:rPr>
              <a:t>CMakeFiles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它不保证删除所有 Zephyr 状态，不能等同于 pristine。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west 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>
                <a:solidFill>
                  <a:srgbClr val="B84E00"/>
                </a:solidFill>
              </a:rPr>
              <a:t>-p always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：先清空指定构建目录，再配置构建。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仅用于确认可以丢弃的输出目录，目录内手工文件也会丢失。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换板、生成器或工具链，优先使用新的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，保留旧结果。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新目录没有旧缓存，必须重新提供应用与 BOARD 等输入。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34F810A-57CC-4ECC-8833-16CF5499DDC9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0361516967c4a13"/>
              </a:rPr>
              <a:t>官方说明：Zephyr pristine 与构建状态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8F7D00C8-8156-4E8F-91FE-4D1EBFF51E28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2230b77d32343f7"/>
              </a:rPr>
              <a:t>源码定位：cmake/pristine.cmake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765C1D2-E974-4C68-A723-8D85326D4704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9a3b5fe215a4884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build_methods_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7059E25-89BE-4C24-867F-7CC41FD4C07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预设是输入方案，缓存是配置状态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C6AF720-F8D9-44BE-8E59-3B08E700C3A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3.5.1.6 · ④ 保存参数组合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7CEFD119-3429-49F2-9731-4ED64105440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UCRT64；.venv 已激活；P007 的 mps2-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-local 预设已存在。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/g/zephyr_practice/zephyr-main/samples/hello_world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--list-presets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--preset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mps2-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-local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--preset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mps2-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-local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C39737B4-E25C-47D6-9309-EA82B6771CF8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前提：已按 P007 创建或合并 </a:t>
            </a:r>
            <a:r>
              <a:rPr>
                <a:solidFill>
                  <a:srgbClr val="0070C0"/>
                </a:solidFill>
              </a:rPr>
              <a:t>CMakeUserPresets.json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进入应用目录，选择其配置预设，再选择关联的构建预设。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先核对预设内路径；编辑 JSON 后重新配置才能更新缓存。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该预设使用 P007 的输出目录，与本节 </a:t>
            </a:r>
            <a:r>
              <a:rPr>
                <a:solidFill>
                  <a:srgbClr val="0070C0"/>
                </a:solidFill>
              </a:rPr>
              <a:t>cmake-demo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分开。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FF944FB3-2215-4A7D-837C-84067E932558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b4a68357bce41bf"/>
              </a:rPr>
              <a:t>官方说明：CMake 官方预设手册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81FB21A4-A9D7-46F1-88BC-A829FB4C6C78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04bba71617249d5"/>
              </a:rPr>
              <a:t>源码定位：doc/develop/application/index.rst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0F7B01DF-6A43-46A9-A21A-50DB2C44DECF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5bb7e95d5d3a4672"/>
              </a:rPr>
              <a:t>完整命令 3.5.1-06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06437062-A989-43FB-98AA-74EAC364545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1afca2eff36f4c3c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 的 CMake 接口体系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EA08B89-C8DA-4C5D-BE79-8E4170CCF43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本章沿着一个应用理解构建体系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433C8A0-804C-4FC1-AF99-07B5AEB4B2E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362F0DC-BC8F-4BF4-BAA4-9F9C61B026B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贯穿实例是官方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hello_world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，目标为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mps2/an386。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先看谁执行工作，再看应用如何调用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读懂入口后，再解释板、SDK、模块和变量的作用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本章补齐构建与缓存操作，依赖准备齐全后再执行。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6BD737F8-B63B-4EEC-84AF-529613B58957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认识工具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21C595F2-02C2-4791-A21A-3EFFEE0D26E8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62DC1CD9-98BC-45E1-BE49-917893D959DA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跟随入口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00A9C716-21C3-482B-958F-CD34366CC665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E48386D8-85B8-45E5-BFF8-387F6A46194F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理解接入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C65396E0-913D-4EA2-BA8D-C45D23E4FE8D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24DD3484-42D1-4C6D-8C75-B72E7197ADEA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核对结果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EB0192A9-979C-48DA-9F31-207ACCF7E45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官方说明：doc/develop/application/index.rst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5B491009-1751-4B02-B180-3808288E919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实现定位：samples/hello_world/CMakeLists.txt · 3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054861A9-62E9-4700-8DCE-1659FD207DE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Semantic color legend">
            <a:extLst>
              <a:ext uri="{FF2B5EF4-FFF2-40B4-BE49-F238E27FC236}">
                <a16:creationId xmlns:a16="http://schemas.microsoft.com/office/drawing/2014/main" id="{CF05FB53-CE80-4B97-B543-509AA24C6093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425"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颜色提示：</a:t>
            </a:r>
            <a:r>
              <a:rPr sz="14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变量 / 参数</a:t>
            </a:r>
            <a:r>
              <a:rPr sz="1425">
                <a:latin typeface="Microsoft YaHei"/>
                <a:ea typeface="Microsoft YaHei"/>
                <a:cs typeface="Microsoft YaHei"/>
              </a:rPr>
              <a:t>    </a:t>
            </a:r>
            <a:r>
              <a:rPr sz="14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文件 / 路径</a:t>
            </a:r>
            <a:r>
              <a:rPr sz="1425">
                <a:latin typeface="Microsoft YaHei"/>
                <a:ea typeface="Microsoft YaHei"/>
                <a:cs typeface="Microsoft YaHei"/>
              </a:rPr>
              <a:t>    </a:t>
            </a:r>
            <a:r>
              <a:rPr sz="1425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接口函数</a:t>
            </a:r>
            <a:r>
              <a:rPr sz="1425">
                <a:latin typeface="Microsoft YaHei"/>
                <a:ea typeface="Microsoft YaHei"/>
                <a:cs typeface="Microsoft YaHei"/>
              </a:rPr>
              <a:t>    </a:t>
            </a:r>
            <a:r>
              <a:rPr sz="14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416F39-258F-4666-924B-127CD8EDF06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少量应用文件怎样组成一份固件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387957-D6B9-49C1-91F5-0C6EDA19A3B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3.1.5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E918BFF-FC88-4305-8B9D-7F963D502DEE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应用提供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，内核与驱动来自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Zephyr，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SoC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提供硬件描述，CMSIS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来自依赖项目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编译器安装在源码之外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用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把这些对象组织为目标和依赖关系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应用不用复制内核的全部构建规则，换板也能复用应用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D4375138-268B-429E-AE07-4628F48614B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B7415FE-A590-4500-8A33-8BFBCF86419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961DC2F-375F-4A38-BA46-803CAF90BEB5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4373AD7-DFCE-427E-8AD2-63867D2000E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应用构建体系的思维导图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135DCFF-E32F-4E42-8857-72940419C41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3.1.5 · ① 整体职责图</a:t>
            </a:r>
          </a:p>
        </p:txBody>
      </p:sp>
      <p:sp>
        <p:nvSpPr>
          <p:cNvPr id="4" name="Mindmap root">
            <a:extLst>
              <a:ext uri="{FF2B5EF4-FFF2-40B4-BE49-F238E27FC236}">
                <a16:creationId xmlns:a16="http://schemas.microsoft.com/office/drawing/2014/main" id="{DE398D43-E47D-4135-AB44-DE7A756E6028}"/>
              </a:ext>
            </a:extLst>
          </p:cNvPr>
          <p:cNvSpPr>
            <a:spLocks noGrp="1"/>
          </p:cNvSpPr>
          <p:nvPr/>
        </p:nvSpPr>
        <p:spPr>
          <a:xfrm>
            <a:off x="890881" y="3207544"/>
            <a:ext cx="3084430" cy="3952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应用的Zephyr</a:t>
            </a:r>
            <a:r>
              <a:rPr sz="2250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构建</a:t>
            </a:r>
            <a:endParaRPr sz="2250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Diagram connector">
            <a:extLst>
              <a:ext uri="{FF2B5EF4-FFF2-40B4-BE49-F238E27FC236}">
                <a16:creationId xmlns:a16="http://schemas.microsoft.com/office/drawing/2014/main" id="{6979BDA5-4726-4A31-83FF-1ECF574523A0}"/>
              </a:ext>
            </a:extLst>
          </p:cNvPr>
          <p:cNvSpPr>
            <a:spLocks noGrp="1"/>
          </p:cNvSpPr>
          <p:nvPr/>
        </p:nvSpPr>
        <p:spPr>
          <a:xfrm>
            <a:off x="3651461" y="3390900"/>
            <a:ext cx="40005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6" name="Diagram connector">
            <a:extLst>
              <a:ext uri="{FF2B5EF4-FFF2-40B4-BE49-F238E27FC236}">
                <a16:creationId xmlns:a16="http://schemas.microsoft.com/office/drawing/2014/main" id="{AD281B5C-FA6D-4CFC-A26C-FEF2BEC872B6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19050" cy="3048000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7" name="Diagram connector">
            <a:extLst>
              <a:ext uri="{FF2B5EF4-FFF2-40B4-BE49-F238E27FC236}">
                <a16:creationId xmlns:a16="http://schemas.microsoft.com/office/drawing/2014/main" id="{954D7964-C23D-4485-BB19-C65F554DCDF4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8" name="Mindmap branch 0">
            <a:extLst>
              <a:ext uri="{FF2B5EF4-FFF2-40B4-BE49-F238E27FC236}">
                <a16:creationId xmlns:a16="http://schemas.microsoft.com/office/drawing/2014/main" id="{24B71A19-75FC-457C-9B33-40A1AB7FDB7E}"/>
              </a:ext>
            </a:extLst>
          </p:cNvPr>
          <p:cNvSpPr>
            <a:spLocks noGrp="1"/>
          </p:cNvSpPr>
          <p:nvPr/>
        </p:nvSpPr>
        <p:spPr>
          <a:xfrm>
            <a:off x="4603961" y="1676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入口与执行者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Mindmap details 0">
            <a:extLst>
              <a:ext uri="{FF2B5EF4-FFF2-40B4-BE49-F238E27FC236}">
                <a16:creationId xmlns:a16="http://schemas.microsoft.com/office/drawing/2014/main" id="{95C0837C-2D5F-4F42-9B2C-C570DD89CDF3}"/>
              </a:ext>
            </a:extLst>
          </p:cNvPr>
          <p:cNvSpPr>
            <a:spLocks noGrp="1"/>
          </p:cNvSpPr>
          <p:nvPr/>
        </p:nvSpPr>
        <p:spPr>
          <a:xfrm>
            <a:off x="4603961" y="1990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Ninja →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Diagram connector">
            <a:extLst>
              <a:ext uri="{FF2B5EF4-FFF2-40B4-BE49-F238E27FC236}">
                <a16:creationId xmlns:a16="http://schemas.microsoft.com/office/drawing/2014/main" id="{5EA8DC38-9D8C-44D6-9ACA-0F257C6D880A}"/>
              </a:ext>
            </a:extLst>
          </p:cNvPr>
          <p:cNvSpPr>
            <a:spLocks noGrp="1"/>
          </p:cNvSpPr>
          <p:nvPr/>
        </p:nvSpPr>
        <p:spPr>
          <a:xfrm>
            <a:off x="4032461" y="2809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1" name="Mindmap branch 1">
            <a:extLst>
              <a:ext uri="{FF2B5EF4-FFF2-40B4-BE49-F238E27FC236}">
                <a16:creationId xmlns:a16="http://schemas.microsoft.com/office/drawing/2014/main" id="{29B21E4F-903A-4F06-9A4D-EED2CE09A285}"/>
              </a:ext>
            </a:extLst>
          </p:cNvPr>
          <p:cNvSpPr>
            <a:spLocks noGrp="1"/>
          </p:cNvSpPr>
          <p:nvPr/>
        </p:nvSpPr>
        <p:spPr>
          <a:xfrm>
            <a:off x="4603962" y="2438400"/>
            <a:ext cx="624839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硬件与功能输入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Mindmap details 1">
            <a:extLst>
              <a:ext uri="{FF2B5EF4-FFF2-40B4-BE49-F238E27FC236}">
                <a16:creationId xmlns:a16="http://schemas.microsoft.com/office/drawing/2014/main" id="{41B75448-447F-46DE-94FF-FDC1BEBFFFBC}"/>
              </a:ext>
            </a:extLst>
          </p:cNvPr>
          <p:cNvSpPr>
            <a:spLocks noGrp="1"/>
          </p:cNvSpPr>
          <p:nvPr/>
        </p:nvSpPr>
        <p:spPr>
          <a:xfrm>
            <a:off x="4603961" y="2752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SoC、Kconfig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片段、DTS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overlay</a:t>
            </a:r>
          </a:p>
        </p:txBody>
      </p:sp>
      <p:sp>
        <p:nvSpPr>
          <p:cNvPr id="13" name="Diagram connector">
            <a:extLst>
              <a:ext uri="{FF2B5EF4-FFF2-40B4-BE49-F238E27FC236}">
                <a16:creationId xmlns:a16="http://schemas.microsoft.com/office/drawing/2014/main" id="{71C33E1E-11F9-4102-A5A1-60581BF91C67}"/>
              </a:ext>
            </a:extLst>
          </p:cNvPr>
          <p:cNvSpPr>
            <a:spLocks noGrp="1"/>
          </p:cNvSpPr>
          <p:nvPr/>
        </p:nvSpPr>
        <p:spPr>
          <a:xfrm>
            <a:off x="4032461" y="3571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4" name="Mindmap branch 2">
            <a:extLst>
              <a:ext uri="{FF2B5EF4-FFF2-40B4-BE49-F238E27FC236}">
                <a16:creationId xmlns:a16="http://schemas.microsoft.com/office/drawing/2014/main" id="{968542F9-F4A2-4239-A17B-60023A4F8419}"/>
              </a:ext>
            </a:extLst>
          </p:cNvPr>
          <p:cNvSpPr>
            <a:spLocks noGrp="1"/>
          </p:cNvSpPr>
          <p:nvPr/>
        </p:nvSpPr>
        <p:spPr>
          <a:xfrm>
            <a:off x="4603961" y="3200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工具来源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Mindmap details 2">
            <a:extLst>
              <a:ext uri="{FF2B5EF4-FFF2-40B4-BE49-F238E27FC236}">
                <a16:creationId xmlns:a16="http://schemas.microsoft.com/office/drawing/2014/main" id="{041D7D88-9FC7-4CDE-9D77-131F6B25CDBB}"/>
              </a:ext>
            </a:extLst>
          </p:cNvPr>
          <p:cNvSpPr>
            <a:spLocks noGrp="1"/>
          </p:cNvSpPr>
          <p:nvPr/>
        </p:nvSpPr>
        <p:spPr>
          <a:xfrm>
            <a:off x="4603961" y="3514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包发现、工具链接入规则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Diagram connector">
            <a:extLst>
              <a:ext uri="{FF2B5EF4-FFF2-40B4-BE49-F238E27FC236}">
                <a16:creationId xmlns:a16="http://schemas.microsoft.com/office/drawing/2014/main" id="{A0C7FDAD-56A0-480F-B329-BB7D4053C06F}"/>
              </a:ext>
            </a:extLst>
          </p:cNvPr>
          <p:cNvSpPr>
            <a:spLocks noGrp="1"/>
          </p:cNvSpPr>
          <p:nvPr/>
        </p:nvSpPr>
        <p:spPr>
          <a:xfrm>
            <a:off x="4032461" y="4333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7" name="Mindmap branch 3">
            <a:extLst>
              <a:ext uri="{FF2B5EF4-FFF2-40B4-BE49-F238E27FC236}">
                <a16:creationId xmlns:a16="http://schemas.microsoft.com/office/drawing/2014/main" id="{673A3666-97C9-4493-A27A-BB8CA03C912A}"/>
              </a:ext>
            </a:extLst>
          </p:cNvPr>
          <p:cNvSpPr>
            <a:spLocks noGrp="1"/>
          </p:cNvSpPr>
          <p:nvPr/>
        </p:nvSpPr>
        <p:spPr>
          <a:xfrm>
            <a:off x="4603961" y="3962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外部源码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Mindmap details 3">
            <a:extLst>
              <a:ext uri="{FF2B5EF4-FFF2-40B4-BE49-F238E27FC236}">
                <a16:creationId xmlns:a16="http://schemas.microsoft.com/office/drawing/2014/main" id="{224A9AFF-6BAB-44BB-9169-099CD42AE1FB}"/>
              </a:ext>
            </a:extLst>
          </p:cNvPr>
          <p:cNvSpPr>
            <a:spLocks noGrp="1"/>
          </p:cNvSpPr>
          <p:nvPr/>
        </p:nvSpPr>
        <p:spPr>
          <a:xfrm>
            <a:off x="4603961" y="4276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候选、模块元数据、模块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入口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Diagram connector">
            <a:extLst>
              <a:ext uri="{FF2B5EF4-FFF2-40B4-BE49-F238E27FC236}">
                <a16:creationId xmlns:a16="http://schemas.microsoft.com/office/drawing/2014/main" id="{9123B2D2-5E1C-4B58-A03A-6B95193CC5BA}"/>
              </a:ext>
            </a:extLst>
          </p:cNvPr>
          <p:cNvSpPr>
            <a:spLocks noGrp="1"/>
          </p:cNvSpPr>
          <p:nvPr/>
        </p:nvSpPr>
        <p:spPr>
          <a:xfrm>
            <a:off x="4032461" y="5095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0" name="Mindmap branch 4">
            <a:extLst>
              <a:ext uri="{FF2B5EF4-FFF2-40B4-BE49-F238E27FC236}">
                <a16:creationId xmlns:a16="http://schemas.microsoft.com/office/drawing/2014/main" id="{61C77432-FB8A-4B2B-A9E7-EFC995356F49}"/>
              </a:ext>
            </a:extLst>
          </p:cNvPr>
          <p:cNvSpPr>
            <a:spLocks noGrp="1"/>
          </p:cNvSpPr>
          <p:nvPr/>
        </p:nvSpPr>
        <p:spPr>
          <a:xfrm>
            <a:off x="4603961" y="4724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构建结果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Mindmap details 4">
            <a:extLst>
              <a:ext uri="{FF2B5EF4-FFF2-40B4-BE49-F238E27FC236}">
                <a16:creationId xmlns:a16="http://schemas.microsoft.com/office/drawing/2014/main" id="{5E779FD1-1ED2-4A18-85B3-432C03F5C0AF}"/>
              </a:ext>
            </a:extLst>
          </p:cNvPr>
          <p:cNvSpPr>
            <a:spLocks noGrp="1"/>
          </p:cNvSpPr>
          <p:nvPr/>
        </p:nvSpPr>
        <p:spPr>
          <a:xfrm>
            <a:off x="4603961" y="5038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配置记录、目标与依赖、最终固件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Official doc link">
            <a:extLst>
              <a:ext uri="{FF2B5EF4-FFF2-40B4-BE49-F238E27FC236}">
                <a16:creationId xmlns:a16="http://schemas.microsoft.com/office/drawing/2014/main" id="{65FA4F7F-A608-43C7-8233-FAEF36BDD0CA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23" name="Implementation link">
            <a:extLst>
              <a:ext uri="{FF2B5EF4-FFF2-40B4-BE49-F238E27FC236}">
                <a16:creationId xmlns:a16="http://schemas.microsoft.com/office/drawing/2014/main" id="{2C92CC91-0404-46A3-9229-1855C11B7E3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24" name="Chapter link">
            <a:extLst>
              <a:ext uri="{FF2B5EF4-FFF2-40B4-BE49-F238E27FC236}">
                <a16:creationId xmlns:a16="http://schemas.microsoft.com/office/drawing/2014/main" id="{801C391A-EFB9-493C-915D-4C95D310D92D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2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A59D2EC-809B-470C-98E7-D0245F8DC7E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CMake、</a:t>
            </a:r>
            <a:r>
              <a:rPr sz="3000" b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Ninja 的职责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1E9E66F-D705-43ED-86B1-C200C2E2BD7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3.1.1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3CE3AD8-B5AE-4F85-9189-24796BC69E7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程序执行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脚本，生成规则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提供自己的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脚本，规定如何组成固件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/ Make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按规则调用编译器、链接器与生成脚本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update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下载依赖；</a:t>
            </a:r>
            <a:r>
              <a:rPr sz="1950" b="0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build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帮助调用构建流程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直接运行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也能配置，</a:t>
            </a:r>
            <a:r>
              <a:rPr sz="1950" b="0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不是另一种编译器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Python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则运行模块识别、Kconfig、设备树等处理脚本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A8FF0EF-9FF0-44CE-AD39-5E9FE94D6BFA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官方说明：doc/develop/west/build-flash-debug.rst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CD04FD7F-26C9-4E63-870E-57D9521361F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A488BA5A-E9AF-4B37-A9F5-C4E34805D7F5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4B20BB6-7AB3-4DF9-903A-5309DF2EFAE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配置阶段与构建阶段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F29D0FA-2F1D-4FF5-86A0-6623BCC43B7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3.1.2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7175F8F-4DBF-461C-83EE-0D5EEE20497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配置先确定板、源码、工具、参数与生成顺序。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据此生成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等规则文件。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构建时 Ninja 执行到期任务，得到对象文件和固件。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普通源码改动可增量构建，配置变化可能触发重新配置。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E7ED26D5-AD21-4698-8236-B5C961D1BB50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输入文件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595A0021-2FA5-44F0-A288-77F08A8BD76E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954BF384-A26D-474A-B18A-64184F7C6578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F8920491-3F5B-4FC9-A33C-FB7AD619D28B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44AA2737-5B3E-4122-8760-D3920AE736D2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执行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07CED9F1-BD1A-4F8F-8BE3-B8C60DE49EC9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688BCBC3-BF7F-4955-BEF8-83BEE2890C81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E7C4DBC7-989C-4E0A-A8B3-734643BA1F1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F8D49C88-07BD-466C-AB89-CD752E77230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实现定位：cmake/modules/kernel.cmake · 236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211C9B2C-56BF-46C5-8B94-8745A2F21A63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3CFF0FD-8AC7-434E-938F-FBAD6EFF5AF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官方应用入口中的文件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D9FBF25-961F-42FB-9B83-250A4EB7F65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3.1.3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5403285-4382-4463-8E7D-BCB26555DB3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samples/hello_world/CMakeLists.txt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：官方原有，描述构建入口。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src/main.c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：官方原有，应用代码。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prj.conf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：官方原有，应用提出的 Kconfig 配置请求。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构建目录的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由工具在后续生成；现在没有它们，不必手动创建。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本章路径相对实验源码根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G:/zephyr_practice/zephyr-main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7A7CBD66-761F-480B-8E69-925090E28D0C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官方说明：doc/develop/application/index.rst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4261846-3FBC-4B0F-919B-7B0B195AD4A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实现定位：samples/hello_world/CMakeLists.txt · 3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50F19F64-DCF7-4165-88D3-C3CE7101E418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1AAB036-67E8-4EE9-AA77-176E0D609E3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五行入口怎样让应用使用 Zephyr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7C477CA-7F8B-415D-AF1C-CB420BC2B59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3.1.3 · ① 应用与构建</a:t>
            </a:r>
          </a:p>
        </p:txBody>
      </p:sp>
      <p:sp>
        <p:nvSpPr>
          <p:cNvPr id="4" name="Read-only source code">
            <a:extLst>
              <a:ext uri="{FF2B5EF4-FFF2-40B4-BE49-F238E27FC236}">
                <a16:creationId xmlns:a16="http://schemas.microsoft.com/office/drawing/2014/main" id="{13545568-022F-4673-B7E6-B555903F6AF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47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只读：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samples</a:t>
            </a:r>
            <a:r>
              <a:rPr sz="1800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hello_world</a:t>
            </a:r>
            <a:r>
              <a:rPr sz="1800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/CMakeLists.txt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原有主体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 err="1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cmake_minimum_required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(VERSION 3.28.0)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 err="1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find_package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(Zephyr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REQUIRED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HINTS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$ENV{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ZEPHYR_BASE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project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hello_world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 err="1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target_sources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(app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PRIVATE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src</a:t>
            </a:r>
            <a:r>
              <a:rPr sz="1800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main.c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3DAD6A9-8335-42A0-9CB0-B280E9407715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先找到并执行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包，建立构建环境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再给应用命名，把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放进已创建的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app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HINTS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中的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$ENV{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ZEPHYR_BASE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}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读取进程环境提供搜索线索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008CAF84-FE30-4E1A-9BD5-A610E1428016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官方说明：doc/develop/application/index.rst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5E5DDA30-44FA-4277-90AE-13354A215F5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实现定位：samples/hello_world/CMakeLists.txt · 3 行附近</a:t>
            </a:r>
          </a:p>
        </p:txBody>
      </p:sp>
      <p:sp>
        <p:nvSpPr>
          <p:cNvPr id="8" name="Chapter link">
            <a:extLst>
              <a:ext uri="{FF2B5EF4-FFF2-40B4-BE49-F238E27FC236}">
                <a16:creationId xmlns:a16="http://schemas.microsoft.com/office/drawing/2014/main" id="{236675D9-4AA2-4170-91E8-2D8C7B278F8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96EECE-4447-4490-A76D-998CF2C0CD5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app 是构建目标，不是开发板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A38A59F-7FB6-43D2-9E26-7ADA80FB519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3.1.3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329301E-6BF5-41F6-88C3-34EFDFE94CE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target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可以表示库、可执行文件或生成任务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在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kernel.cmake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中创建名为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app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的库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(app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src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)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给它添加源码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表示该源码用于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app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自身，不继续传播给其他目标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内核和驱动也形成目标，最终共同链接成固件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因此文件在目录里存在，不等于它已经加入构建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1B760202-E757-4A0C-8846-11CF6A18403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E79FEFB9-A702-490D-81E1-8DE5F293D3A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实现定位：cmake/modules/kernel.cmake · 236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D074DF1F-1625-4459-BFB0-ABDDA2F4F1F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50C720-B032-411B-8823-60E5C43C0FC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进入的实际调用链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E7E7F5F-8948-4416-ACDE-84D034F3F85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3.1.4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B37D756E-733E-4F7C-8AE1-B229F5C601D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ZephyrConfig.cmake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确定源码根，并让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找到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zephyr_default.cmake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按规定顺序执行初始化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kernel.cmake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app，再进入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根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完成后返回应用，继续执行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69C8DF8A-B91C-480E-91E2-434E7E643BBE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应用入口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6AF928D8-C71B-4865-9C3E-1D75FB64A415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B0E052F0-FCB3-4FC0-8D5E-65F139215B3D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ZephyrConfig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6C852093-CA0C-4D89-A2F2-DE7EFFDEDA6F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063F9A39-FDEF-401B-ACB5-D75C77D808D9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默认初始化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952603A1-BA8D-4E9D-B07F-604CAC8EC9D6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CA3B00EB-F501-49D4-A447-7B21700E7140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内核与各库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2309D9A3-57A0-427B-9E12-D4F94FA82C4F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官方说明：doc/build/zephyr_cmake_package.rst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C222BE8C-A435-4B3F-9286-F765BC70B9C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实现定位：share/zephyr-package/cmake/ZephyrConfig.cmake · 28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29B42598-FFE0-4D39-8C78-F3A2981EF687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07515FF-122F-4A78-B474-4B7C2D3A449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初始化顺序来自数据依赖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D22A6DA-C085-434F-9FDF-DAEF6E07238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3.1.4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9481179-F555-4EF0-9E2C-9A5C1D691D7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模块可提供额外板、SoC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和设备树目录，所以先发现模块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知道搜索根后才能选板，再选配置文件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设备树信息可供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使用，因此先设备树、后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设备树预处理已需要工具，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dts.cmake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会请求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HostTools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硬件配置形成后，TargetTools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完成目标工具与参数设置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这个顺序直接列在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zephyr_default.cmake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中。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E7FAB19E-AFA0-4A5C-BB2E-F9290EAA817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0D1D47E7-85C3-4798-8A3C-5F605C3AA17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A783CA89-AF28-4C6D-993F-78D7CE3EC50F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26900A9-4832-4E90-A8D9-0C16341BC94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哪些是 CMake，哪些是 Zephyr 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F0159D4-FB09-4FF3-BAFD-51E273AD7B9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3.2.1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D197B4B-81B9-4DAD-8026-AEED4F7D7E1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17575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原生命令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：Zephyr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定义的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宏。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endParaRPr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：Zephyr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脚本读取的输入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的包目录命名约定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CONFIG_GPIO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：Kconfig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计算后的功能值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ZEPHYR_HAL_XHSC_MODULE_DIR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：模块发现后的目录结果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endParaRPr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只是传值语法；没人读取的自造变量不会产生接入效果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9468ADE-621F-4C9B-98FD-B71FD29B4DB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F9E9A8B5-9AE9-4607-840A-326C78BFAC6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141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93041EB-8565-4DB8-8146-77F69B5714F6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emantic color legend">
            <a:extLst>
              <a:ext uri="{FF2B5EF4-FFF2-40B4-BE49-F238E27FC236}">
                <a16:creationId xmlns:a16="http://schemas.microsoft.com/office/drawing/2014/main" id="{6659ECDD-B91A-40B5-9C1F-B009686A670B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425"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>
                <a:latin typeface="Microsoft YaHei"/>
                <a:ea typeface="Microsoft YaHei"/>
                <a:cs typeface="Microsoft YaHei"/>
              </a:defRPr>
            </a:pPr>
            <a:r>
              <a:rPr sz="1425" dirty="0" err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颜色提示：</a:t>
            </a:r>
            <a:r>
              <a:rPr sz="1425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变量</a:t>
            </a:r>
            <a:r>
              <a:rPr sz="1425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25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参数</a:t>
            </a:r>
            <a:r>
              <a:rPr sz="1425" dirty="0">
                <a:latin typeface="Microsoft YaHei"/>
                <a:ea typeface="Microsoft YaHei"/>
                <a:cs typeface="Microsoft YaHei"/>
              </a:rPr>
              <a:t>    </a:t>
            </a:r>
            <a:r>
              <a:rPr sz="1425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文件</a:t>
            </a:r>
            <a:r>
              <a:rPr sz="1425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25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路径</a:t>
            </a:r>
            <a:r>
              <a:rPr sz="1425" dirty="0">
                <a:latin typeface="Microsoft YaHei"/>
                <a:ea typeface="Microsoft YaHei"/>
                <a:cs typeface="Microsoft YaHei"/>
              </a:rPr>
              <a:t>    </a:t>
            </a:r>
            <a:r>
              <a:rPr sz="1425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接口函数</a:t>
            </a:r>
            <a:r>
              <a:rPr sz="1425" dirty="0">
                <a:latin typeface="Microsoft YaHei"/>
                <a:ea typeface="Microsoft YaHei"/>
                <a:cs typeface="Microsoft YaHei"/>
              </a:rPr>
              <a:t>    </a:t>
            </a:r>
            <a:r>
              <a:rPr sz="1425" dirty="0" err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终端命令</a:t>
            </a:r>
            <a:endParaRPr sz="1425" dirty="0">
              <a:solidFill>
                <a:srgbClr val="A02B9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B6D8374-7832-409E-92EA-E808399794E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应用目录、源码包和 SDK 各在哪里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0CBB2EA-8785-4F8E-9D8F-4493CB334E5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3.2.2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C661463-3984-4EA4-9863-73ABD5634E9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指应用目录，例如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hello_world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ZEPHYR_BASE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源码根，里面有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boards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kernel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指含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ZephyrConfig.cmake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的包目录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则在源码外面，是另一种包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包搜索能正常定位源码时，不必重复给出所有路径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显式输入适合固定源码副本；同时提供的路径必须互相一致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559F0308-D7A7-480E-8DB9-3566B86FF6F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官方说明：doc/build/zephyr_cmake_package.rst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821D7CDF-FDB0-4EDB-B137-A966BF9D1B0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实现定位：share/zephyr-package/cmake/ZephyrConfig.cmake · 28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FBEBA11E-E3DD-4A85-830C-608F49566C7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22EBCBD-EEEE-45B4-8E80-5AB90B71CB8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把应用对应到硬件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A28DAF-30D5-4509-AE9B-5D4BA44D51B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3.2.3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14AEFB3-2641-44D2-AFB1-6674F612791D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mps2/an386 是板目标标识，不是磁盘目录。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板选择与硬件模型关联 SoC、架构、CPU 和默认配置。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树内官方板使用默认搜索范围。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树外新增板才需要额外搜索根或模块 settings。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指下面包含 boards 的根，不是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文件。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添加搜索位置只解决发现问题，硬件支持文件仍须实现。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F69CBADA-84CF-42C9-B7BA-79B549EE0E9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官方说明：doc/build/cmake-ref/variable/BOARD.rst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67496710-A409-495F-9ED2-6B112D0F01E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实现定位：cmake/modules/boards.cmake · 6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E1529B68-89A7-4727-B6B3-3DC0EE4FDE1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822ADF7-DCAC-4C27-9968-0C9E33F6152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选文件，Kconfig 计算功能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50EBA70-43EF-46A3-B9E0-8C06706E27A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3.2.4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FDE5CED-1A14-4570-BFD4-4986520E281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prj.conf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是应用请求；Kconfig 定义选项及其约束。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选择应用片段，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追加片段。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configuration_files.cmake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选文件，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kconfig.cmake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调用处理脚本。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请求不满足依赖时，应查诊断和最终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654CBFB8-78BD-4C93-84F8-9BFB6C1FC032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配置定义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9F5EAB43-8C73-4BED-9FDD-98B6599F5DCD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F76A33F2-6CF5-46EB-94CD-D3064C5E05EC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板与应用请求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CDD99A2D-003E-437C-9B3B-F1DBB1798E03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07522628-AD6B-4F07-89EA-CE3F4F37BD3C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计算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DE5A835C-1D3C-45FA-AD68-9373C71FFCD5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D85D3FBE-14E7-406E-B8B0-08E5C4164410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.config</a:t>
            </a: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头文件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6CC78E28-D947-40CF-986A-09E43ECC079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官方说明：doc/build/cmake-ref/variable/CONF_FILE.rst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F7FD6756-BABA-49D2-8D12-BD77B18C03E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实现定位：cmake/modules/configuration_files.cmake · 43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3CE29905-6B3D-42F9-8A8C-CEF500A3C2CB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E68BE74-7611-49D5-AB57-87674CCAE77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硬件描述怎样变成编译信息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FA6F546-BE84-4E4C-AD6E-130B12DDE9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3.2.5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563122C-7661-491D-8F9E-9ECCC6DE340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 DTS、SoC DTSI 与应用 overlay 共同描述硬件。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DTC_OVERLAY_FILE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 overlay，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EXTRA_DTC_OVERLAY_FILE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追加。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预处理器先展开包含与宏，Zephyr Python 脚本再解析。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结果是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zephyr.dts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devicetree_generated.h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还要选中驱动，节点启用本身不等于驱动已编译。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dtc 可提供补充诊断；不要把全部生成工作都归给 dtc。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AD08A3C7-6BB6-4B81-8737-E0BF598F19B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A06C8F2-A06D-42B1-94C8-1CF5F406687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实现定位：cmake/modules/dts.cmake · 9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8D6688EE-BFD5-46FF-9B9B-F92B5233C937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FFC5D11-A681-4EB8-933C-F2DDE46C4F3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的文档直接告诉我们读取者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E0DC89A-308B-426C-BA2F-8526ED4238B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3.2.3 · ② 各类输入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2400846-B257-4D81-97A3-0BB1C9B6DB99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Reference → Variables →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原件：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doc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/build/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-ref/variable/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BOARD.rst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该页分别说明它作为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boards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模块输入和输出的含义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接着看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boards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模块页，再读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/modules/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boards.cmake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这是从接口说明到实现的定向路线，不需要全仓库搜索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页面同样会指向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configuration_files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A2C9E97-5970-4434-93FF-65C743692A7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官方说明：doc/build/cmake-ref/variable/BOARD.rst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1AE67C80-C754-4674-9F07-C965C8FE0A0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实现定位：cmake/modules/boards.cmake · 6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0B33F96-73CD-4DA3-BE82-502F0B3F7987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5D8E2F8-C53E-4A80-BDDE-4BD73A65E65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源码包与 SDK 工具包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F4DEED9-9BE1-4FC3-87A5-E49AC6C33F2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3.3.1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1ADEFB9-0ACA-47E5-A342-0FDDCA0BE5C7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(Zephyr)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进入源码构建规则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规则需要工具时，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FindHostTools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请求查找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Zephyr-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sdkConfig.cmake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提供工具包位置和默认选择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zephyr-export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处理源码包的位置记录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setup.cmd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/c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包的位置记录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两者面向不同的包，不把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复制进应用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B9465D3B-406C-426B-BAE2-C2ECDD2EDB81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官方说明：doc/develop/toolchains/zephyr_sdk.rst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C780059-5EC9-48E3-91D9-42F0CD56307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实现定位：cmake/modules/FindHostTools.cmake · 51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A909366-0D61-4E32-BD08-97D8DB56CE80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129C392-AD89-4D5F-B82C-B4CFF94BE8A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已注册时的默认发现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5524B26-478E-401E-A0BE-EC4CAC6C548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3.3.1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EB22B46-3D62-45AD-8514-57CFB3A45BB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当前用户的 SDK 包记录为 CMake 提供搜索候选。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没有其他类型或旧位置覆盖时，Zephyr 尝试找兼容 SDK。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有效注册后，主线省略默认类型和 SDK 根即可。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注册跨终端保留，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的启停不会删除它。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DC27F2C8-8654-4030-84D8-9FBA7519914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应用加载规则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4E30E4B2-64D4-4BD2-8D28-1D0CAFBE4B84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C818589C-FB0D-48C9-AAA0-5D5A20726369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请求 SDK 包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B703CCB0-E75D-4AA6-80F6-419C45B8BDED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3ADC3165-06BD-440A-B452-55131A2FDE7E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找到包配置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E23216A0-9174-4798-BBE6-D0A52857D0BA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030334EF-8AE3-4AE7-A972-D1C07D693B2F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取得默认工具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A43E3D50-F8C0-45F7-B144-34A43941F3DD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官方说明：doc/develop/toolchains/zephyr_sdk.rst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5520E88C-C92C-49BB-BB61-2CC242C1F7A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实现定位：cmake/modules/FindZephyr-sdk.cmake · 44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CD77CD68-3846-499A-8D65-A524C565E26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55E516-5C29-4AE6-ABC1-DCC52F1E4CD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工具链类型选择一组适配规则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71C912D-A756-4233-973F-1A974E1500B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3.3.2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3658606-F564-4FF8-8F87-516B5BE3D0B2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编译器路径之外，还需预处理、汇编、链接、库和工具规则。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ZEPHYR_TOOLCHAIN_VARIANT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选择这组接入规则。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使用 SDK 接入；cross-compile 使用独立 GNU 前缀。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generic.cmake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先准备通用处理，例如设备树预处理。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target.cmake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再完成目标编译与目标库设置。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仅换一个类型名，不会自动实现新的编译器支持。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7B6AA25B-85D8-4040-B137-4B2D75971639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官方说明：doc/develop/toolchains/custom_cmake.rst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297E4C3E-DA87-44E0-91FD-AFE76314629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实现定位：cmake/modules/FindHostTools.cmake · 51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4D7B4FE9-D1A7-4E70-978B-CF5554BBBABA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6587C5-C391-4547-ABB4-8112D735233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板和 SDK 共同确定 ARM 编译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EA71B37-55A7-4806-8EDD-8C469DA1510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3.3.3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14D0BBA-07BE-4F23-BFA5-B3BB1FF7C2C2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板与 SoC 给出架构、CPU 和 FPU 等配置。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的 GNU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target.cmake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 ARM 32 位映射到 arm-zephyr-eabi。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target_arm.cmake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再给出适用的 CPU 与浮点参数。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和其他 Cortex-M 板可复用 ARM 工具链，硬件支持仍各自实现。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FA0E438B-E136-43BF-98E1-D25430EC365D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SoC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DF828C6E-4ED6-4676-B767-93D9D176BD96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D1A172F4-65C0-4A91-822E-257A46CDC403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ARM 架构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A77388A4-A668-42C7-AF1F-51F45207FB76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214958D6-42AD-4212-A666-1EF8FED7431B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ARM 工具前缀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078FC1DF-CEA6-4A71-AB9C-D5119B83AF67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B430BCCD-C35D-48C8-8E11-6CA1AD6FFF9C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CPU / FPU 参数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B2FCACB5-2B5B-4CD3-8F8E-4B6D6CB7469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官方说明：doc/develop/toolchains/zephyr_sdk.rst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BAD73E33-8EF0-4D8C-9CF9-A739FC73C06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实现定位：cmake/compiler/gcc/target_arm.cmake · 5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5A8850FE-6350-4B53-8B38-ADAAB9057E3A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68642B3-9415-4779-870F-5D71B42B278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三种包形态对应两类接入路线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513772A-F93B-47AB-AC16-314E6176E34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3.3.4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13D85D5-51D0-4E88-8C50-056ED729FD5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 GNU SDK：接入层和多个目标工具链已经一起提供。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Minimal SDK：保留 SDK 接入层，另外补目标工具组件。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两者准备齐全后，都作为 SDK 被工程发现。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ARM 组件：可以没有 SDK 包配置。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直接使用时走 Zephyr 的 cross-compile 接口并核对目标库。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它不是 Minimal SDK，也不要求读者手建 SDK CMake 包。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66F2495D-20C9-4A92-9BA3-182814454203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官方说明：doc/develop/toolchains/other_x_compilers.rst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A47858CD-658B-4E0D-8DC5-A12DF27347A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实现定位：cmake/modules/FindZephyr-sdk.cmake · 44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7C13A165-2F65-46AA-9E32-1EE9ED4BFA98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8DD1CE2-9AB6-4112-870F-C4FCBD28571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三个路径接口寻找不同的对象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8BDA72F-F7B0-488B-B33C-15D7FC5B9E1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3.3.4 · ③ 工具链接入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3FDF62E-C43E-4919-B5BA-7B11B2CAB3B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ZEPHYR_SDK_INSTALL_DIR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：SDK 根，包含 SDK 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接入层。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CROSS_COMPILE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：工具目录加共同前缀，末尾保留横线。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TOOLCHAIN_ROOT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：Zephyr 工具链接入脚本的根。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TOOLCHAIN_ROOT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默认使用 Zephyr 源码，不是编译器 bin。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只有维护树外新规则时才更改它，并提供 generic / target 等规则。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普通使用 SDK 无须实现这些规则。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34B707CB-5B84-4D3C-ACB0-7FB0A0D9C801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官方说明：doc/develop/toolchains/custom_cmake.rst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00B869AE-A53A-4566-951E-313C8C39C50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实现定位：cmake/modules/FindTargetTools.cmake · 30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E588AC7-DAA1-4ED9-BFB2-AF4C68BD914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F44AC4D-8F87-4978-9F75-0E255E8BF90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下载项目和接入工程是两个阶段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E38C83B-E10F-4422-AF85-A16707C169F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3.4.1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32F165C-0154-4FA6-BF33-12698779D7B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清单确定下载来源、修订与目录。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配置时还要取得候选项目，识别其 Zephyr 接口。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 Python 的模块发现脚本。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默认候选来自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工作区，显式追加来自配置输入。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它不会扫描整块磁盘寻找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因此“下载了目录”不能直接跳到“变量自动存在”。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18AA8A14-A176-48A0-9213-D3B1CA2F99FC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305772C-4B42-4061-A6CE-51E2DFDB073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223BF2AA-3758-430F-8C53-7B4E7C1358D2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49E8120-F63B-408A-8AE0-777F479BA9A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默认列表、追加列表与替换列表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067E98-9BD9-4376-B8E0-17F4FEFF5F1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3.4.1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A501B48-57E6-4A17-80F8-061A7BF934E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默认：从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工作区项目取得候选，再识别模块。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：为本次 CMake 配置追加模块根。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：显式提供基础候选，可能替换掉默认依赖。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已由清单管理时沿用默认来源。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清单外新增 HAL 通常使用追加，不丢掉已有 CMSIS。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值为根目录列表，用分号分隔，并为整项加引号。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2E0B83F-FB33-4E08-B50E-F94EA6D9D41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1D3AC3A5-1721-4CB2-B852-B4CC774949A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2E0EE160-1717-4C9C-9CE9-693BF883280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9BABCC-7721-46F0-97F0-E1BE1C060C3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元数据说明接入文件在外部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E2A15A2-0647-4FE8-A1AD-DA72D4F3561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3.4.2 · ③ 源码模块接入</a:t>
            </a:r>
          </a:p>
        </p:txBody>
      </p:sp>
      <p:sp>
        <p:nvSpPr>
          <p:cNvPr id="4" name="Read-only source code">
            <a:extLst>
              <a:ext uri="{FF2B5EF4-FFF2-40B4-BE49-F238E27FC236}">
                <a16:creationId xmlns:a16="http://schemas.microsoft.com/office/drawing/2014/main" id="{C8E89038-E9B0-42BA-BF80-61F70E93C5C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47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# 只读：工作区 </a:t>
            </a:r>
            <a:r>
              <a:rPr sz="18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modules/hal/cmsis_6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/zephyr/module.yml。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cmsis_6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cmake-ext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true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kconfig-ext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true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6C8D3089-3BC0-4DE7-B7E3-FB2197DDEE7D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下载的官方文件，不由读者新建。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cmake-ext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kconfig-ext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表示接入脚本在模块外部。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库文件留在下载目录，Zephyr 自己提供相应的构建适配。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D4AA994B-781B-437B-93A8-F185CFF57688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1C7BD52A-55BD-439A-B009-D6D1D339F7F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实现定位：modules/modules.cmake · 5 行附近</a:t>
            </a:r>
          </a:p>
        </p:txBody>
      </p:sp>
      <p:sp>
        <p:nvSpPr>
          <p:cNvPr id="8" name="Chapter link">
            <a:extLst>
              <a:ext uri="{FF2B5EF4-FFF2-40B4-BE49-F238E27FC236}">
                <a16:creationId xmlns:a16="http://schemas.microsoft.com/office/drawing/2014/main" id="{C39DFBF9-224C-44CD-BE1F-6E9BAE985E5D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B4A013-260F-45CD-B6AC-3BE2E13695B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库和接入脚本怎样连起来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7AD16E6-4874-4AF2-9E28-908CDD43D62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3.4.2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8975FFB-8729-4D3A-8C1D-FA2FE801CE4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下载目录：工作区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modules/hal/cmsis_6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，存放 CMSIS 源文件。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接入目录：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zephyr-main/modules/cmsis_6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，存放官方接入脚本。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modules/modules.cmake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提供外置 CMake / Kconfig 入口位置。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入口脚本在 Cortex-M 配置下加入库内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CMSIS/Core/Include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它用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ZEPHYR_CURRENT_MODULE_DIR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指向本轮模块根。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两处 modules 不是同一目录，也不需要把库整包复制到应用。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C04F8E65-F77C-4345-839F-2013A249143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E6B49F96-8C25-4E11-AF0D-5E11F8E1E70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实现定位：modules/cmsis_6/CMakeLists.txt · 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00D5EFC3-27C9-4B70-B7EE-0CB90AF0614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9499BF-DFDF-498A-B9E0-1DC0F2DE76E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模块目录变量在发现链中产生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59E1FF9-D59E-4D38-99EC-2B7EA9D4C54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3.4.3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97C710F-5556-48A8-A5DE-44ADD994A72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Python 识别元数据后生成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读取记录，规范化名字并设置目录变量。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再加载每个已识别模块的 CMake 入口。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MODULE_DIR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是结果；提前伪造它不会代替这些步骤。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C44939DA-36A0-4D24-9B32-BC6CE9BB495B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候选模块根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1EE482B1-8D73-4257-BE21-56728D0A522D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3039E60C-3A61-44F7-A420-4D13AF43010E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读取元数据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B8AD175B-14E7-4DB3-8C85-89D6E352DFCE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860DA084-A89E-4D6F-80A7-D609F6509844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生成记录与变量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BFB83D8B-DBD3-4194-B797-6A22DC6325A6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C7CD86AD-5553-42D5-A4F2-9AF102A2A86A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加载接入脚本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2AD31402-EEB8-4906-9CAA-6FD16EF062F3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7A8456E0-68A1-4B4D-AE55-52691D2C3DF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141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60CA3A1F-F813-4299-8728-473D5CB60001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D5719F1-B8D8-44DD-A1AF-C8473A48ED5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模块发现与接入的调用时序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B6A28FB-2EC3-4CCD-BFA7-EA9A5C265C2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3.4.3 · ③ 调用者与读取者</a:t>
            </a:r>
          </a:p>
        </p:txBody>
      </p:sp>
      <p:sp>
        <p:nvSpPr>
          <p:cNvPr id="4" name="Actor 0">
            <a:extLst>
              <a:ext uri="{FF2B5EF4-FFF2-40B4-BE49-F238E27FC236}">
                <a16:creationId xmlns:a16="http://schemas.microsoft.com/office/drawing/2014/main" id="{9C95E970-4F15-4519-A4BE-7A4D5F0CE4CD}"/>
              </a:ext>
            </a:extLst>
          </p:cNvPr>
          <p:cNvSpPr>
            <a:spLocks noGrp="1"/>
          </p:cNvSpPr>
          <p:nvPr/>
        </p:nvSpPr>
        <p:spPr>
          <a:xfrm>
            <a:off x="381000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应用配置调用者</a:t>
            </a:r>
          </a:p>
        </p:txBody>
      </p:sp>
      <p:sp>
        <p:nvSpPr>
          <p:cNvPr id="5" name="Diagram connector">
            <a:extLst>
              <a:ext uri="{FF2B5EF4-FFF2-40B4-BE49-F238E27FC236}">
                <a16:creationId xmlns:a16="http://schemas.microsoft.com/office/drawing/2014/main" id="{32483744-F31B-44F3-9996-6B4827CCFFE0}"/>
              </a:ext>
            </a:extLst>
          </p:cNvPr>
          <p:cNvSpPr>
            <a:spLocks noGrp="1"/>
          </p:cNvSpPr>
          <p:nvPr/>
        </p:nvSpPr>
        <p:spPr>
          <a:xfrm>
            <a:off x="1666875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6" name="Actor 1">
            <a:extLst>
              <a:ext uri="{FF2B5EF4-FFF2-40B4-BE49-F238E27FC236}">
                <a16:creationId xmlns:a16="http://schemas.microsoft.com/office/drawing/2014/main" id="{2418D43E-095C-4BC1-857B-FB11AE7EE4CE}"/>
              </a:ext>
            </a:extLst>
          </p:cNvPr>
          <p:cNvSpPr>
            <a:spLocks noGrp="1"/>
          </p:cNvSpPr>
          <p:nvPr/>
        </p:nvSpPr>
        <p:spPr>
          <a:xfrm>
            <a:off x="3333750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Zephyr CMake</a:t>
            </a:r>
          </a:p>
        </p:txBody>
      </p:sp>
      <p:sp>
        <p:nvSpPr>
          <p:cNvPr id="7" name="Diagram connector">
            <a:extLst>
              <a:ext uri="{FF2B5EF4-FFF2-40B4-BE49-F238E27FC236}">
                <a16:creationId xmlns:a16="http://schemas.microsoft.com/office/drawing/2014/main" id="{995B8E04-02C4-443A-95FF-3B4E5187A970}"/>
              </a:ext>
            </a:extLst>
          </p:cNvPr>
          <p:cNvSpPr>
            <a:spLocks noGrp="1"/>
          </p:cNvSpPr>
          <p:nvPr/>
        </p:nvSpPr>
        <p:spPr>
          <a:xfrm>
            <a:off x="4619625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8" name="Actor 2">
            <a:extLst>
              <a:ext uri="{FF2B5EF4-FFF2-40B4-BE49-F238E27FC236}">
                <a16:creationId xmlns:a16="http://schemas.microsoft.com/office/drawing/2014/main" id="{6546CA38-77BE-4136-B106-D8A2CB8EED62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Python 发现脚本</a:t>
            </a:r>
          </a:p>
        </p:txBody>
      </p:sp>
      <p:sp>
        <p:nvSpPr>
          <p:cNvPr id="9" name="Diagram connector">
            <a:extLst>
              <a:ext uri="{FF2B5EF4-FFF2-40B4-BE49-F238E27FC236}">
                <a16:creationId xmlns:a16="http://schemas.microsoft.com/office/drawing/2014/main" id="{F1265977-670B-4A5D-9913-3AB57912A919}"/>
              </a:ext>
            </a:extLst>
          </p:cNvPr>
          <p:cNvSpPr>
            <a:spLocks noGrp="1"/>
          </p:cNvSpPr>
          <p:nvPr/>
        </p:nvSpPr>
        <p:spPr>
          <a:xfrm>
            <a:off x="7524750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10" name="Actor 3">
            <a:extLst>
              <a:ext uri="{FF2B5EF4-FFF2-40B4-BE49-F238E27FC236}">
                <a16:creationId xmlns:a16="http://schemas.microsoft.com/office/drawing/2014/main" id="{E7629CD7-368A-45BC-80D6-7D14B8C84441}"/>
              </a:ext>
            </a:extLst>
          </p:cNvPr>
          <p:cNvSpPr>
            <a:spLocks noGrp="1"/>
          </p:cNvSpPr>
          <p:nvPr/>
        </p:nvSpPr>
        <p:spPr>
          <a:xfrm>
            <a:off x="9096375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模块 CMake 入口</a:t>
            </a:r>
          </a:p>
        </p:txBody>
      </p:sp>
      <p:sp>
        <p:nvSpPr>
          <p:cNvPr id="11" name="Diagram connector">
            <a:extLst>
              <a:ext uri="{FF2B5EF4-FFF2-40B4-BE49-F238E27FC236}">
                <a16:creationId xmlns:a16="http://schemas.microsoft.com/office/drawing/2014/main" id="{3E96D421-C09E-450A-9848-586E0E736CDE}"/>
              </a:ext>
            </a:extLst>
          </p:cNvPr>
          <p:cNvSpPr>
            <a:spLocks noGrp="1"/>
          </p:cNvSpPr>
          <p:nvPr/>
        </p:nvSpPr>
        <p:spPr>
          <a:xfrm>
            <a:off x="10382250" y="2133600"/>
            <a:ext cx="14288" cy="3333750"/>
          </a:xfrm>
          <a:prstGeom prst="rect">
            <a:avLst/>
          </a:prstGeom>
          <a:solidFill>
            <a:srgbClr val="B9B0C7"/>
          </a:solidFill>
          <a:ln w="0">
            <a:noFill/>
          </a:ln>
        </p:spPr>
      </p:sp>
      <p:sp>
        <p:nvSpPr>
          <p:cNvPr id="12" name="Diagram connector">
            <a:extLst>
              <a:ext uri="{FF2B5EF4-FFF2-40B4-BE49-F238E27FC236}">
                <a16:creationId xmlns:a16="http://schemas.microsoft.com/office/drawing/2014/main" id="{50EA6F85-08F2-4FFC-9B00-81C7B0356E9B}"/>
              </a:ext>
            </a:extLst>
          </p:cNvPr>
          <p:cNvSpPr>
            <a:spLocks noGrp="1"/>
          </p:cNvSpPr>
          <p:nvPr/>
        </p:nvSpPr>
        <p:spPr>
          <a:xfrm>
            <a:off x="1666875" y="2571750"/>
            <a:ext cx="295275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3" name="Message 270">
            <a:extLst>
              <a:ext uri="{FF2B5EF4-FFF2-40B4-BE49-F238E27FC236}">
                <a16:creationId xmlns:a16="http://schemas.microsoft.com/office/drawing/2014/main" id="{B722831F-9D67-46A8-98E3-E32DA1C60E36}"/>
              </a:ext>
            </a:extLst>
          </p:cNvPr>
          <p:cNvSpPr>
            <a:spLocks noGrp="1"/>
          </p:cNvSpPr>
          <p:nvPr/>
        </p:nvSpPr>
        <p:spPr>
          <a:xfrm>
            <a:off x="1714500" y="22860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发起配置，提供模块根</a:t>
            </a:r>
          </a:p>
        </p:txBody>
      </p:sp>
      <p:sp>
        <p:nvSpPr>
          <p:cNvPr id="14" name="Arrow 270">
            <a:extLst>
              <a:ext uri="{FF2B5EF4-FFF2-40B4-BE49-F238E27FC236}">
                <a16:creationId xmlns:a16="http://schemas.microsoft.com/office/drawing/2014/main" id="{7FA31708-2315-4115-BA57-BE7F66A248AC}"/>
              </a:ext>
            </a:extLst>
          </p:cNvPr>
          <p:cNvSpPr>
            <a:spLocks noGrp="1"/>
          </p:cNvSpPr>
          <p:nvPr/>
        </p:nvSpPr>
        <p:spPr>
          <a:xfrm>
            <a:off x="4476750" y="239077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Diagram connector">
            <a:extLst>
              <a:ext uri="{FF2B5EF4-FFF2-40B4-BE49-F238E27FC236}">
                <a16:creationId xmlns:a16="http://schemas.microsoft.com/office/drawing/2014/main" id="{5CDE374E-6D66-4C61-84C7-E050D16C21DD}"/>
              </a:ext>
            </a:extLst>
          </p:cNvPr>
          <p:cNvSpPr>
            <a:spLocks noGrp="1"/>
          </p:cNvSpPr>
          <p:nvPr/>
        </p:nvSpPr>
        <p:spPr>
          <a:xfrm>
            <a:off x="4619625" y="3124200"/>
            <a:ext cx="29051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6" name="Message 328">
            <a:extLst>
              <a:ext uri="{FF2B5EF4-FFF2-40B4-BE49-F238E27FC236}">
                <a16:creationId xmlns:a16="http://schemas.microsoft.com/office/drawing/2014/main" id="{8580F4BF-4955-4F18-8B84-773232EAD7A7}"/>
              </a:ext>
            </a:extLst>
          </p:cNvPr>
          <p:cNvSpPr>
            <a:spLocks noGrp="1"/>
          </p:cNvSpPr>
          <p:nvPr/>
        </p:nvSpPr>
        <p:spPr>
          <a:xfrm>
            <a:off x="4667250" y="2838450"/>
            <a:ext cx="2809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传入候选与追加路径</a:t>
            </a:r>
          </a:p>
        </p:txBody>
      </p:sp>
      <p:sp>
        <p:nvSpPr>
          <p:cNvPr id="17" name="Arrow 328">
            <a:extLst>
              <a:ext uri="{FF2B5EF4-FFF2-40B4-BE49-F238E27FC236}">
                <a16:creationId xmlns:a16="http://schemas.microsoft.com/office/drawing/2014/main" id="{736CBA24-013C-4702-A611-2662936897D9}"/>
              </a:ext>
            </a:extLst>
          </p:cNvPr>
          <p:cNvSpPr>
            <a:spLocks noGrp="1"/>
          </p:cNvSpPr>
          <p:nvPr/>
        </p:nvSpPr>
        <p:spPr>
          <a:xfrm>
            <a:off x="7381875" y="29432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Diagram connector">
            <a:extLst>
              <a:ext uri="{FF2B5EF4-FFF2-40B4-BE49-F238E27FC236}">
                <a16:creationId xmlns:a16="http://schemas.microsoft.com/office/drawing/2014/main" id="{ADD3E3F7-6FA2-45F6-86B7-70DCD0A1D3E7}"/>
              </a:ext>
            </a:extLst>
          </p:cNvPr>
          <p:cNvSpPr>
            <a:spLocks noGrp="1"/>
          </p:cNvSpPr>
          <p:nvPr/>
        </p:nvSpPr>
        <p:spPr>
          <a:xfrm>
            <a:off x="4619625" y="3810000"/>
            <a:ext cx="29051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19" name="Message 400">
            <a:extLst>
              <a:ext uri="{FF2B5EF4-FFF2-40B4-BE49-F238E27FC236}">
                <a16:creationId xmlns:a16="http://schemas.microsoft.com/office/drawing/2014/main" id="{BE0F20E6-4360-4131-9803-E88A939CFB09}"/>
              </a:ext>
            </a:extLst>
          </p:cNvPr>
          <p:cNvSpPr>
            <a:spLocks noGrp="1"/>
          </p:cNvSpPr>
          <p:nvPr/>
        </p:nvSpPr>
        <p:spPr>
          <a:xfrm>
            <a:off x="4667250" y="3524250"/>
            <a:ext cx="2809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解析元数据并写出记录</a:t>
            </a:r>
          </a:p>
        </p:txBody>
      </p:sp>
      <p:sp>
        <p:nvSpPr>
          <p:cNvPr id="20" name="Arrow 400">
            <a:extLst>
              <a:ext uri="{FF2B5EF4-FFF2-40B4-BE49-F238E27FC236}">
                <a16:creationId xmlns:a16="http://schemas.microsoft.com/office/drawing/2014/main" id="{D8482164-3E94-4D99-BA70-0BEF2C0FDC5D}"/>
              </a:ext>
            </a:extLst>
          </p:cNvPr>
          <p:cNvSpPr>
            <a:spLocks noGrp="1"/>
          </p:cNvSpPr>
          <p:nvPr/>
        </p:nvSpPr>
        <p:spPr>
          <a:xfrm>
            <a:off x="4552950" y="3629025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1" name="Diagram connector">
            <a:extLst>
              <a:ext uri="{FF2B5EF4-FFF2-40B4-BE49-F238E27FC236}">
                <a16:creationId xmlns:a16="http://schemas.microsoft.com/office/drawing/2014/main" id="{BB74F092-1F2F-433C-9D75-1393BD144F24}"/>
              </a:ext>
            </a:extLst>
          </p:cNvPr>
          <p:cNvSpPr>
            <a:spLocks noGrp="1"/>
          </p:cNvSpPr>
          <p:nvPr/>
        </p:nvSpPr>
        <p:spPr>
          <a:xfrm>
            <a:off x="4619625" y="4543425"/>
            <a:ext cx="57626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2" name="Message 477">
            <a:extLst>
              <a:ext uri="{FF2B5EF4-FFF2-40B4-BE49-F238E27FC236}">
                <a16:creationId xmlns:a16="http://schemas.microsoft.com/office/drawing/2014/main" id="{DB703E61-9DF7-40D6-8A84-5021A20A252D}"/>
              </a:ext>
            </a:extLst>
          </p:cNvPr>
          <p:cNvSpPr>
            <a:spLocks noGrp="1"/>
          </p:cNvSpPr>
          <p:nvPr/>
        </p:nvSpPr>
        <p:spPr>
          <a:xfrm>
            <a:off x="4667250" y="4257675"/>
            <a:ext cx="5667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建立目录变量后，</a:t>
            </a:r>
            <a:r>
              <a:rPr sz="1425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add_subdirectory</a:t>
            </a: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加载入口</a:t>
            </a:r>
          </a:p>
        </p:txBody>
      </p:sp>
      <p:sp>
        <p:nvSpPr>
          <p:cNvPr id="23" name="Arrow 477">
            <a:extLst>
              <a:ext uri="{FF2B5EF4-FFF2-40B4-BE49-F238E27FC236}">
                <a16:creationId xmlns:a16="http://schemas.microsoft.com/office/drawing/2014/main" id="{594CD76F-F204-4AB2-9B4B-5D38C0207594}"/>
              </a:ext>
            </a:extLst>
          </p:cNvPr>
          <p:cNvSpPr>
            <a:spLocks noGrp="1"/>
          </p:cNvSpPr>
          <p:nvPr/>
        </p:nvSpPr>
        <p:spPr>
          <a:xfrm>
            <a:off x="10239375" y="4362450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Diagram connector">
            <a:extLst>
              <a:ext uri="{FF2B5EF4-FFF2-40B4-BE49-F238E27FC236}">
                <a16:creationId xmlns:a16="http://schemas.microsoft.com/office/drawing/2014/main" id="{18E13E50-65EB-4B49-8DDE-2DF4804D9D45}"/>
              </a:ext>
            </a:extLst>
          </p:cNvPr>
          <p:cNvSpPr>
            <a:spLocks noGrp="1"/>
          </p:cNvSpPr>
          <p:nvPr/>
        </p:nvSpPr>
        <p:spPr>
          <a:xfrm>
            <a:off x="4619625" y="5210175"/>
            <a:ext cx="5762625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5" name="Message 547">
            <a:extLst>
              <a:ext uri="{FF2B5EF4-FFF2-40B4-BE49-F238E27FC236}">
                <a16:creationId xmlns:a16="http://schemas.microsoft.com/office/drawing/2014/main" id="{51AD6D69-E826-47BC-8D04-4B31180558A6}"/>
              </a:ext>
            </a:extLst>
          </p:cNvPr>
          <p:cNvSpPr>
            <a:spLocks noGrp="1"/>
          </p:cNvSpPr>
          <p:nvPr/>
        </p:nvSpPr>
        <p:spPr>
          <a:xfrm>
            <a:off x="4667250" y="4924425"/>
            <a:ext cx="5667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添加库、源码与头文件目录</a:t>
            </a:r>
          </a:p>
        </p:txBody>
      </p:sp>
      <p:sp>
        <p:nvSpPr>
          <p:cNvPr id="26" name="Arrow 547">
            <a:extLst>
              <a:ext uri="{FF2B5EF4-FFF2-40B4-BE49-F238E27FC236}">
                <a16:creationId xmlns:a16="http://schemas.microsoft.com/office/drawing/2014/main" id="{D9940264-DAB0-4197-B0D1-A68C6E381432}"/>
              </a:ext>
            </a:extLst>
          </p:cNvPr>
          <p:cNvSpPr>
            <a:spLocks noGrp="1"/>
          </p:cNvSpPr>
          <p:nvPr/>
        </p:nvSpPr>
        <p:spPr>
          <a:xfrm>
            <a:off x="4552950" y="5029200"/>
            <a:ext cx="2762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7" name="Sequence boundary">
            <a:extLst>
              <a:ext uri="{FF2B5EF4-FFF2-40B4-BE49-F238E27FC236}">
                <a16:creationId xmlns:a16="http://schemas.microsoft.com/office/drawing/2014/main" id="{BC13479B-20EA-4E15-ADF8-F777648FB036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27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Zephyr CMake 与模块入口同属 CMake 进程；Python 发现脚本由它启动。</a:t>
            </a:r>
          </a:p>
        </p:txBody>
      </p:sp>
      <p:sp>
        <p:nvSpPr>
          <p:cNvPr id="28" name="Official doc link">
            <a:extLst>
              <a:ext uri="{FF2B5EF4-FFF2-40B4-BE49-F238E27FC236}">
                <a16:creationId xmlns:a16="http://schemas.microsoft.com/office/drawing/2014/main" id="{4E2F13CF-0332-4845-AD00-550187482815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29" name="Implementation link">
            <a:extLst>
              <a:ext uri="{FF2B5EF4-FFF2-40B4-BE49-F238E27FC236}">
                <a16:creationId xmlns:a16="http://schemas.microsoft.com/office/drawing/2014/main" id="{188AA885-4AEA-49D6-A3AE-B7D2C7C0D5A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34 行附近</a:t>
            </a:r>
          </a:p>
        </p:txBody>
      </p:sp>
      <p:sp>
        <p:nvSpPr>
          <p:cNvPr id="30" name="Chapter link">
            <a:extLst>
              <a:ext uri="{FF2B5EF4-FFF2-40B4-BE49-F238E27FC236}">
                <a16:creationId xmlns:a16="http://schemas.microsoft.com/office/drawing/2014/main" id="{702A5225-B9AF-4504-AAFA-AB3029AB4BD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31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CB4CDAB-83D8-48FD-85A1-39F485406DB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模块入口执行后，源码怎样加入目标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7AD3691-E173-471F-BD22-46FCD8597F4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3.4.4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97959D0-C1A3-4D35-A87D-D3E47EDD9EF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应用已有 app，可用 CMake 的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加入实现。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子系统或驱动可用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创建自己的库。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zephyr_library_sources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把源码加入当前库。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zephyr_library_sources_ifdef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按 CONFIG 条件决定是否加入。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这些是 Zephyr 在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extensions.cmake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定义的接口，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底层仍调用 CMake 目标操作，并纳入 Zephyr 的库关系。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C1911F35-76D2-4BFF-B608-5E6AA2964B84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官方说明：doc/build/cmake-ref/module/extensions.rst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2E242A6D-432E-410F-AD28-77E6E944ADB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实现定位：cmake/modules/extensions.cmake · 682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53DBD0C0-D84E-4248-8B32-CA614887128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7FE165-B7AB-43A2-B8BA-F281AB9A2DC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头文件目录也有作用范围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0BA8655-5B9C-456C-B7B3-C25376209D1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3.4.4 · ③ 源码模块接入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28C2B9E-70D7-4CC8-AB57-9D94A6374367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target_include_directories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(app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...) 作用于 app 自身。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zephyr_library_include_directories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(...) 作用于当前 Zephyr 库。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zephyr_include_directories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(...) 修改共享接口，供相应目标继承。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本页括号中的省略号是接口形态示意，不是可执行代码。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先确保模块入口被执行，再选择真正需要的可见范围。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不要为一个库缺头文件，把所有路径都变成公共输入。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886CE6F-6F3D-4043-A3C2-BF448E442BCE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官方说明：doc/build/cmake-ref/module/extensions.rst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68F3EDD-A235-45C6-B21C-A8E86C7BFF0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实现定位：cmake/modules/extensions.cmake · 769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E9B86AC5-4AE7-4FD2-8370-DE145BBFBB59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4676425-146E-43F4-BB8B-FC6BD3FC433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输入值保存在哪一层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1CC3C91-694C-46F3-AF94-9ABC7B5F103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3.5.1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0ED0FC2-9AE1-4803-9A59-2DB447ACE5D9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：当前终端及之后启动的子进程环境。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：所选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构建目录的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set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 普通作用域；带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CACHE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才涉及缓存。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用户预设：读者保存参数组合，选择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--preset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时读取。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注册：当前用户的包位置候选，跨终端保留。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关闭终端不会删除缓存，激活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不会重新选择 SDK。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C0360FC-4F95-482E-8B85-A768E80018A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官方说明：CMake 变量与作用域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A1C68EA8-E117-4603-818E-7C88A0C283B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实现定位：cmake/modules/extensions.cmake · 4088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80F299EC-BAAF-4BD6-A573-7F185E05785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FE21AFD-8C0C-43B0-9A65-ABDA5956B54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旧缓存为什么会挡住新 </a:t>
            </a:r>
            <a:r>
              <a:rPr sz="3000" b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00B0256-9614-4D0F-8C2F-7DFD250C0D6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3.5.2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CCB6D82-AB12-4EA0-B81B-A9ACB8706FD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第一次用 SDK-A 配置后，该构建目录记住相关选择。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第二次只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SDK-B，已有缓存仍可能选择 A。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标量通过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zephyr_get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读取；本系列简化为缓存、环境、普通值。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这是具体函数的规则，不能套到所有 CMake 变量。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换板或工具组合优先用新的构建目录，避免关联结果残留。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不是每次出错都要重新安装 SDK 或删除工作区。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C4126F2-C9B1-43A0-B0BD-54D1FDA48B0D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官方说明：CMake 变量与作用域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F6AD34D5-9A63-4C4D-9C58-318054821E0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实现定位：cmake/modules/extensions.cmake · 4088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51D646D-281E-4E2F-9448-BA6AB51E57C3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F8426B4-5054-4D00-ADB4-3669285B542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模块列表的合并行为需要单独看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67021AB-9ED6-4F3B-AAA8-6D099BD380D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3.5.2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13704E8-CED6-4220-8FDF-940FA109C05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使用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zephyr_get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MERGE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模式。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它还处理兼容名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ZEPHYR_EXTRA_MODULES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，并合并各来源。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因此空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不一定能清除环境里的额外路径。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排错时分别核对终端、所选预设、应用定义和构建目录。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ZEPHYR_BASE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也有自己的包入口分支。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接口说明必须指向具体读取者，不能只背一条“通用优先级”。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D6F3C0E4-9176-47EF-A017-B09F97E5582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A12A2BFB-F41E-4A58-B3A6-2767E4C32A7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D36B0C3-C414-4BDB-A817-155103350EA2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7F02A2-F4D0-47C0-A161-37554F3671B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改变哪个对象，就选择哪类接口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9B7DAEB-C7B3-4518-9049-2D2A167E0F1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3.5.3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C7A2ABE-6380-4F47-A324-71F40EFBE75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换应用代码：修改目标源码；换功能：Kconfig 配置片段。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换硬件描述：板 / SoC / overlay；新增板目录：相应搜索根。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固定 SDK：约束包位置；换独立工具：选择类型与前缀。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新增 HAL：下载并追加模块，执行其构建入口。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官方板的正常组合可以保留 SDK 默认发现与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模块。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每增加一个显式参数，都应能解释它改变了哪个对象。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4BE57F9A-3692-4986-8939-9FAD3F56A47F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43C87C8F-767E-46EA-91C5-0F9C7C596CC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2CF2125C-1DFD-4648-AAC4-194CE199A6D1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0DAAE56-36EF-4BDA-BD87-93E976C7E94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更大工程的扩展仍有明确边界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B50EDA2-014D-48A7-840D-E549B5B110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3.5.4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1C023DD-111C-42BC-9F72-367372F753A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SOC_ROOT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DTS_ROOT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：硬件描述的搜索范围。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MODULE_EXT_ROOT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：模块外置接入文件所在位置。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TOOLCHAIN_ROOT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：工具链接入规则所在位置。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snippets 组合命名配置片段；sysbuild 协调多个镜像。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各镜像仍有自己的配置和构建产物。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普通单应用先走本章主线，需要时再进入相应扩展文档。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B8F18C2F-AE68-4070-88ED-D518D7F0D27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官方说明：doc/build/sysbuild/index.rst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EAC36FB-0579-4A4D-8645-DC69E6EE1CB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0F93DE6E-CC76-432B-9E9C-CF62AECB85FF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4B8BC5-3957-41EC-8BD7-10B52B80FCF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从生成文件观察配置结果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2DCC4B-0F0F-4021-89E3-A3422E4C0B3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3.6.1 · ⑤ 核对结果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0A32255-1822-49CC-A0A1-3BEAE2A7499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配置日志、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：入口和保存的选择。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：Kconfig 的有效功能。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zephyr/zephyr.dts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：合并后的硬件描述。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：已识别模块根和接入位置。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compile_commands.json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：实际编译器、宏、头文件和 CPU 参数。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：最终构建产物。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这些文件在相应阶段生成，不由读者预先手建。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3ED32CFF-AC39-485E-91BF-0CC3E7C180A1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89C2A32B-C69B-4433-9A35-C9D60A16C55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实现定位：cmake/modules/zephyr_module.cmake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3211BCA-1EE7-4F03-A209-E749A5088DED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05FFD8D-A572-4B1A-A0B7-EE9BDB3CD32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 hello_world 的产物闭合整条链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082D5EE-9D33-48E6-8EFC-46C3E481743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3.6.2 · ⑤ 核对结果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51BBD70-B2B1-4316-B89E-409D3A58C54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 P007 后，回到所选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目录查看上述产物。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 SDK 实验保留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build/learning-tools/p003/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下的目录。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核对选择的板、实际 SDK、CMSIS 根及一条真实编译命令。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终端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gcc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--version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只证明那个程序可运行。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工程的配置日志和编译命令才能证明本次实际用了谁。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本页沿用 P007 的产物检查，勿与本章 cmake-demo 混读。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1EA10140-EF1D-4DF6-8069-9F153A81552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C2CEC72C-D50B-49F2-9573-28904D70C62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实现定位：samples/hello_world/CMakeLists.txt · 3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70CA1D5-70B5-4628-A309-38AAD845B96B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8BE96F-FB0C-476A-925C-1DFCFFE9EC2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按发现、配置和构建分别排错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320DC6A-7522-47D7-9929-F75EB83FC21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3.6.3 · ⑤ 核对结果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B232C5A-F522-4F6A-ADA5-ABC95A599E8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 缺头文件：候选是否包含它，入口是否执行，条件是否启用？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仍是旧版：环境、预设或构建缓存是否固定了旧位置？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换芯片不能构建：板 / SoC / 驱动是否已实现并进入搜索范围？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每个问题都回到对应输入、读取者和产物。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包存在、模块发现、文件参与编译、固件运行是不同证据。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再做完整构建与分阶段验证。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6076C2C2-CC1A-4940-82D6-63CC0B33FC7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官方说明：doc/develop/application/index.rst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0184A031-1266-417A-8163-4771C32654F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549B0C8A-FF05-4780-A55D-F6629BB40B9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13436F8-3696-4AD2-8F32-4896DEABBEF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官方文档的定向阅读路线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CA93B05-7BF2-4836-A3FC-0BE106AF8B1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3.7.1 · ⑤ 依据入口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76A2B43-63D4-4473-85FF-6CE837EC52C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Build and Configuration Systems → Build System (CMake)：阶段模型。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同组的 CMake Reference：模块、目标属性与变量分类。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Developing with Zephyr → Application Development：应用结构。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Modules (External projects)：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与源码项目接入。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Toolchains：SDK、独立编译器和自定义规则。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本页与正文提供直接链接；网页用于阅读，固定提交用于核对。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FD836664-47FA-4462-805F-58A9B1297218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26E09BA1-1904-41E0-945D-0B2C36A3295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实现定位：doc/develop/application/index.rst · 3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82AB97BC-F662-44CA-BC45-40538B2C77E0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D0950D-23F4-4B3F-A806-2569DDD8D93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短 rst 文件怎样生成完整接口文档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7D8C5EE-2F24-4C1D-AB2F-1D96105C60C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3.7.2 · ⑤ 依据入口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D90700F-2BBA-4D85-B82D-2E38F2BE929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doc/build/cmake-ref/module/extensions.rst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使用 cmake-module 指令。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它从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extensions.cmake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.rst 注释提取接口说明。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注释解释参数与行为，下面紧接实际函数或宏实现。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变量页会继续指向读取模块，如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configuration_files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先读接口说明，再按本章给定文件和定位核对分支。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不要求读者通过全仓库搜索才能补齐本章讲解。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B615D13-E169-4A1F-BEA2-31AD716741E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官方说明：doc/build/cmake-ref/module/extensions.rst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5A7A2047-82ED-4D5D-9108-184E9BEF264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实现定位：cmake/modules/extensions.cmake · 682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5ABB9A2-258F-45A8-9E6F-6181EFE5402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E2575D2-9463-49BF-9C1A-A203253A1D2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后续各章回到自己的接口与模型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1C1B693-901D-4BAB-81FF-129493A8655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3.7 · 各模块的衔接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35CBF69-AC57-4913-8538-FDDF57BEDF1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P004 回顾工具链规则，再区分 SDK 包组成与安装。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P005 按芯片、清单和固定修订取得 CMSIS / HAL。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P006 回顾候选与模块入口，再完成实际源码接入。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从官方板开始组合接口，新增板与芯片并核对构建结果。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每章继续回答：交给谁、如何发现、得到什么、怎样验证。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本章先懂构建与缓存，安装和新增支持在后续逐步完成。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7D790EC5-223C-4797-AEA2-89E2076235AE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4D7C47B9-1DC9-4C5B-AFE6-D18A7B6A2DD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实现定位：cmake/modules/zephyr_default.cmake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E2E2D3C5-ACB6-4873-AAED-7C30DB452112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22853</Words>
  <Application>Microsoft Office PowerPoint</Application>
  <DocSecurity>0</DocSecurity>
  <PresentationFormat>宽屏</PresentationFormat>
  <Paragraphs>1935</Paragraphs>
  <Slides>56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42</vt:i4>
      </vt:variant>
    </vt:vector>
  </HeadingPairs>
  <TitlesOfParts>
    <vt:vector size="56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163</cp:revision>
  <dcterms:created xsi:type="dcterms:W3CDTF">2026-10-06T03:23:18Z</dcterms:created>
  <dcterms:modified xsi:type="dcterms:W3CDTF">2026-10-07T03:21:42Z</dcterms:modified>
</cp:coreProperties>
</file>