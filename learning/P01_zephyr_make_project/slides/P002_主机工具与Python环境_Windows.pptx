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guide5.xml" ContentType="application/vnd.openxmlformats-officedocument.presentationml.slide+xml"/>
  <Override PartName="/ppt/notesSlides/guide5.xml" ContentType="application/vnd.openxmlformats-officedocument.presentationml.notesSlide+xml"/>
  <Override PartName="/ppt/slides/guide6.xml" ContentType="application/vnd.openxmlformats-officedocument.presentationml.slide+xml"/>
  <Override PartName="/ppt/notesSlides/guide6.xml" ContentType="application/vnd.openxmlformats-officedocument.presentationml.notesSlide+xml"/>
  <Override PartName="/ppt/slides/git_env4.xml" ContentType="application/vnd.openxmlformats-officedocument.presentationml.slide+xml"/>
  <Override PartName="/ppt/notesSlides/git_env4.xml" ContentType="application/vnd.openxmlformats-officedocument.presentationml.notesSlide+xml"/>
  <Override PartName="/ppt/slides/git_env5.xml" ContentType="application/vnd.openxmlformats-officedocument.presentationml.slide+xml"/>
  <Override PartName="/ppt/notesSlides/git_env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62" r:id="rId3"/>
    <p:sldMasterId id="2147483669" r:id="rId4"/>
    <p:sldMasterId id="2147483676" r:id="rId5"/>
    <p:sldMasterId id="2147483683" r:id="rId6"/>
    <p:sldMasterId id="2147483690" r:id="rId7"/>
    <p:sldMasterId id="2147483697" r:id="rId8"/>
    <p:sldMasterId id="2147483704" r:id="rId9"/>
    <p:sldMasterId id="2147483712" r:id="rId10"/>
  </p:sldMasterIdLst>
  <p:notesMasterIdLst>
    <p:notesMasterId r:id="rId26"/>
  </p:notesMasterIdLst>
  <p:sldIdLst>
    <p:sldId id="801" r:id="rIdGuideOrder1"/>
    <p:sldId id="802" r:id="rIdGuideOrder2"/>
    <p:sldId id="803" r:id="rIdGuideOrder3"/>
    <p:sldId id="804" r:id="rIdGuideOrder4"/>
    <p:sldId id="805" r:id="rIdGuideOrder5"/>
    <p:sldId id="806" r:id="rIdGuideOrder6"/>
    <p:sldId id="807" r:id="rIdGuideOrder7"/>
    <p:sldId id="808" r:id="rIdGuideOrder8"/>
    <p:sldId id="818" r:id="rGitEnv4"/>
    <p:sldId id="809" r:id="rIdGuideOrder9"/>
    <p:sldId id="810" r:id="rIdGuideOrder10"/>
    <p:sldId id="811" r:id="rIdGuideOrder11"/>
    <p:sldId id="812" r:id="rIdGuideOrder12"/>
    <p:sldId id="813" r:id="rIdGuideOrder13"/>
    <p:sldId id="814" r:id="rIdGuideOrder14"/>
    <p:sldId id="815" r:id="rIdGuideOrder15"/>
    <p:sldId id="819" r:id="rGitEnv5"/>
    <p:sldId id="816" r:id="rIdGuideOrder16"/>
    <p:sldId id="817" r:id="rIdGuideOrder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79395" autoAdjust="0"/>
  </p:normalViewPr>
  <p:slideViewPr>
    <p:cSldViewPr snapToGrid="0">
      <p:cViewPr varScale="1">
        <p:scale>
          <a:sx n="106" d="100"/>
          <a:sy n="106" d="100"/>
        </p:scale>
        <p:origin x="1241" y="51"/>
      </p:cViewPr>
      <p:guideLst/>
    </p:cSldViewPr>
  </p:slideViewPr>
  <p:outlineViewPr>
    <p:cViewPr>
      <p:scale>
        <a:sx n="33" d="100"/>
        <a:sy n="33" d="100"/>
      </p:scale>
      <p:origin x="0" y="-856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138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Master" Target="slideMasters/slideMaster8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5" Type="http://schemas.openxmlformats.org/officeDocument/2006/relationships/slideMaster" Target="slideMasters/slideMaster5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GuideOrder1" Type="http://schemas.openxmlformats.org/officeDocument/2006/relationships/slide" Target="slides/slide1.xml"/><Relationship Id="rIdGuideOrder2" Type="http://schemas.openxmlformats.org/officeDocument/2006/relationships/slide" Target="slides/slide2.xml"/><Relationship Id="rIdGuideOrder3" Type="http://schemas.openxmlformats.org/officeDocument/2006/relationships/slide" Target="slides/guide5.xml"/><Relationship Id="rIdGuideOrder4" Type="http://schemas.openxmlformats.org/officeDocument/2006/relationships/slide" Target="slides/slide3.xml"/><Relationship Id="rIdGuideOrder5" Type="http://schemas.openxmlformats.org/officeDocument/2006/relationships/slide" Target="slides/slide4.xml"/><Relationship Id="rIdGuideOrder6" Type="http://schemas.openxmlformats.org/officeDocument/2006/relationships/slide" Target="slides/slide5.xml"/><Relationship Id="rIdGuideOrder7" Type="http://schemas.openxmlformats.org/officeDocument/2006/relationships/slide" Target="slides/slide6.xml"/><Relationship Id="rIdGuideOrder8" Type="http://schemas.openxmlformats.org/officeDocument/2006/relationships/slide" Target="slides/slide7.xml"/><Relationship Id="rIdGuideOrder9" Type="http://schemas.openxmlformats.org/officeDocument/2006/relationships/slide" Target="slides/slide8.xml"/><Relationship Id="rIdGuideOrder10" Type="http://schemas.openxmlformats.org/officeDocument/2006/relationships/slide" Target="slides/slide9.xml"/><Relationship Id="rIdGuideOrder11" Type="http://schemas.openxmlformats.org/officeDocument/2006/relationships/slide" Target="slides/slide10.xml"/><Relationship Id="rIdGuideOrder12" Type="http://schemas.openxmlformats.org/officeDocument/2006/relationships/slide" Target="slides/slide11.xml"/><Relationship Id="rIdGuideOrder13" Type="http://schemas.openxmlformats.org/officeDocument/2006/relationships/slide" Target="slides/slide12.xml"/><Relationship Id="rIdGuideOrder14" Type="http://schemas.openxmlformats.org/officeDocument/2006/relationships/slide" Target="slides/slide13.xml"/><Relationship Id="rIdGuideOrder15" Type="http://schemas.openxmlformats.org/officeDocument/2006/relationships/slide" Target="slides/slide14.xml"/><Relationship Id="rIdGuideOrder16" Type="http://schemas.openxmlformats.org/officeDocument/2006/relationships/slide" Target="slides/slide15.xml"/><Relationship Id="rIdGuideOrder17" Type="http://schemas.openxmlformats.org/officeDocument/2006/relationships/slide" Target="slides/guide6.xml"/><Relationship Id="rGitEnv4" Type="http://schemas.openxmlformats.org/officeDocument/2006/relationships/slide" Target="slides/git_env4.xml"/><Relationship Id="rGitEnv5" Type="http://schemas.openxmlformats.org/officeDocument/2006/relationships/slide" Target="slides/git_env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git_env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git_env4.xml"/></Relationships>
</file>

<file path=ppt/notesSlides/_rels/git_env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git_env5.xml"/></Relationships>
</file>

<file path=ppt/notesSlides/_rels/guide5.xml.rels><?xml version='1.0' encoding='UTF-8' standalone='yes'?>
<Relationships xmlns="http://schemas.openxmlformats.org/package/2006/relationships"><Relationship Id="rId2" Type="http://schemas.openxmlformats.org/officeDocument/2006/relationships/slide" Target="../slides/guide5.xml"/><Relationship Id="rId1" Type="http://schemas.openxmlformats.org/officeDocument/2006/relationships/notesMaster" Target="../notesMasters/notesMaster1.xml"/></Relationships>
</file>

<file path=ppt/notesSlides/_rels/guide6.xml.rels><?xml version='1.0' encoding='UTF-8' standalone='yes'?>
<Relationships xmlns="http://schemas.openxmlformats.org/package/2006/relationships"><Relationship Id="rId2" Type="http://schemas.openxmlformats.org/officeDocument/2006/relationships/slide" Target="../slides/guide6.xml"/><Relationship Id="rId1" Type="http://schemas.openxmlformats.org/officeDocument/2006/relationships/notesMaster" Target="../notesMasters/notesMaster1.xml"/></Relationships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git_env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回到 UCRT64，再核对原生 Git 的优先级</a:t>
            </a:r>
          </a:p>
          <a:p>
            <a:r>
              <a:t># Windows UCRT64；先确认原生 Git 文件存在。</a:t>
            </a:r>
          </a:p>
          <a:p>
            <a:r>
              <a:t>type -a git</a:t>
            </a:r>
          </a:p>
          <a:p>
            <a:r>
              <a:t>export PATH="/ucrt64/bin:$PATH"</a:t>
            </a:r>
          </a:p>
          <a:p>
            <a:r>
              <a:t>hash -r</a:t>
            </a:r>
          </a:p>
          <a:p>
            <a:r>
              <a:t>command -v git</a:t>
            </a:r>
          </a:p>
          <a:p>
            <a:r>
              <a:t>预期为 /ucrt64/bin/git（或 git.exe）；若仍落在 usr/bin，</a:t>
            </a:r>
          </a:p>
          <a:p>
            <a:r>
              <a:t>先停止下载。若有别名或函数，先查明它是否遮蔽真实程序。</a:t>
            </a:r>
          </a:p>
          <a:p>
            <a:r>
              <a:t>文件缺失才安装 mingw-w64-ucrt-x86_64-git，步骤在本节正文。</a:t>
            </a:r>
          </a:p>
          <a:p>
            <a:r>
              <a:t>PATH 调整只影响本终端和子进程；重开终端后重新检查。</a:t>
            </a:r>
          </a:p>
          <a:p>
            <a:r>
              <a:t>此页是本节正文原生 Git 操作的后半段。先用 test -f /ucrt64/bin/git.exe 判断文件是否存在，仅缺少时安装对应原生包。若 pacman 提示数据库过旧，返回 P001 完成完整系统更新，不单独 pacman -Sy 后混装。type -a 若显示 alias/function，先核对定义来源再继续；export PATH 和 hash -r 不会移除别名或函数。已有 Git for Windows 也可用，本节正文提供其 cmd 目录加入 PATH 的替代操作。激活 .venv 后仍需 Python 自己的路径验收。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git_env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 Windows Python 报出它将使用的 Git</a:t>
            </a:r>
          </a:p>
          <a:p>
            <a:r>
              <a:t># Windows UCRT64；源码根；已激活 .venv。</a:t>
            </a:r>
          </a:p>
          <a:p>
            <a:r>
              <a:t>python -c "import sys; print(sys.executable)"</a:t>
            </a:r>
          </a:p>
          <a:p>
            <a:r>
              <a:t>python -c "import shutil; print(shutil.which('git'))"</a:t>
            </a:r>
          </a:p>
          <a:p>
            <a:r>
              <a:t>第一项应指向 zephyr-main/.venv/Scripts/python.exe。</a:t>
            </a:r>
          </a:p>
          <a:p>
            <a:r>
              <a:t>第二项主线示例：E:/Msys2/ucrt64/bin/git.exe，盘符以实际安装为准。</a:t>
            </a:r>
          </a:p>
          <a:p>
            <a:r>
              <a:t>若第二项是 usr/bin/git.exe 或 None，先停止模块下载，</a:t>
            </a:r>
          </a:p>
          <a:p>
            <a:r>
              <a:t>回到 2.1.1 修正。已有 Git for Windows 原生程序也可使用。</a:t>
            </a:r>
          </a:p>
          <a:p>
            <a:r>
              <a:t>Bash 直接执行 git 与 Windows Python/west 查找并调用 Git 不是同一入口。shutil.which('git') 报告该 Python 进程依据 PATH 找到的程序，不能只看 Bash 中的 git --version。路径大小写、反斜杠和正斜杠显示可能不同；Git 版本号不一定包含 .windows.，不能用该字样判断所有原生 Git。关闭终端后，按2.2.2恢复 .venv 并重复此项检查。Windows Python 调用 MSYS2 /usr/bin/git 的已观察兼容故障在 P004 展开，本页先建立下载前提。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gu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P002 开篇与 2.2。</a:t>
            </a:r>
          </a:p>
          <a:p>
            <a:r>
              <a:t>上一册提供了 hello_world 与 MPS2 的已有支持。CMake 要读工程规则，Ninja 要执行任务，Python 要运行配置和模块工具；这些程序都运行在 Windows 主机上。</a:t>
            </a:r>
          </a:p>
          <a:p>
            <a:r>
              <a:t>本册建立并恢复源码根 .venv，让 Python 与 west 采用同一套项目依赖。Python 安装成功不会下载 CMSIS，也不会建立 west 工作区。</a:t>
            </a:r>
          </a:p>
          <a:p>
            <a:r>
              <a:t>下一册再提供 ARM 编译器。以后从 MPS2 换到 HC32，通常复用这些主机程序，新增的是所缺的目标支持。</a:t>
            </a:r>
          </a:p>
          <a:p>
            <a:r>
              <a:t>P002 开篇与 2.2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gu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P002 2.2.2。</a:t>
            </a:r>
          </a:p>
          <a:p>
            <a:r>
              <a:rPr>
                <a:solidFill>
                  <a:srgbClr val="29263B"/>
                </a:solidFill>
              </a:rPr>
              <a:t>回到同一 zephyr-main，激活 .venv，检查 Python、</a:t>
            </a:r>
            <a:r>
              <a:rPr>
                <a:solidFill>
                  <a:srgbClr val="A02B93"/>
                </a:solidFill>
              </a:rPr>
              <a:t>pip</a:t>
            </a:r>
            <a:r>
              <a:rPr>
                <a:solidFill>
                  <a:srgbClr val="29263B"/>
                </a:solidFill>
              </a:rPr>
              <a:t>、</a:t>
            </a:r>
            <a:r>
              <a:rPr>
                <a:solidFill>
                  <a:srgbClr val="A02B93"/>
                </a:solidFill>
              </a:rPr>
              <a:t>west</a:t>
            </a:r>
            <a:r>
              <a:rPr>
                <a:solidFill>
                  <a:srgbClr val="29263B"/>
                </a:solidFill>
              </a:rPr>
              <a:t> 和 Git 路径。Python 找到 usr/bin/</a:t>
            </a:r>
            <a:r>
              <a:rPr>
                <a:solidFill>
                  <a:srgbClr val="A02B93"/>
                </a:solidFill>
              </a:rPr>
              <a:t>git</a:t>
            </a:r>
            <a:r>
              <a:rPr>
                <a:solidFill>
                  <a:srgbClr val="29263B"/>
                </a:solidFill>
              </a:rPr>
              <a:t> 或 None 时，先修正再下载模块。</a:t>
            </a:r>
          </a:p>
          <a:p>
            <a:r>
              <a:t>这些检查回答主机工具是否可用，还没有回答使用哪一套 ARM GCC。P003 接收这份源码和 .venv，建立 SDK 与编译器入口。</a:t>
            </a:r>
          </a:p>
          <a:p>
            <a:r>
              <a:t>对照构建需要的 CMSIS 在 P004 取得，HC32 DDL 在 P006 说明来源并接入；不要把工具、模块和板支持当成一次安装的产物。</a:t>
            </a:r>
          </a:p>
          <a:p>
            <a:r>
              <a:t>P002 2.2.2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承接第一期的 UCRT64 与源码下载。本期从原生文件查版本，准备 SDK、主机工具、Windows Python 3.12.10、west 1.5.0 与源码根 .venv。完成标志是工具和包环境可以核验、下次可以恢复。CMake 配置、实际编译与新增板实验已独立放入 P012。</a:t>
            </a:r>
          </a:p>
          <a:p>
            <a:r>
              <a:t>配套正文：learning/P01_zephyr_make_project/P002_主机工具与Python环境_Windows.md</a:t>
            </a:r>
          </a:p>
          <a:p>
            <a:r>
              <a:t>资料分工：本PPT配合视频讲解关键关系和复习步骤；完整前提、安装分支、可复制命令、预期结果与恢复说明以同名Markdown为主。正文提供本章导航和视频与复习对照。正文：learning/P01_zephyr_make_project/P002_主机工具与Python环境_Windows.md。实验仍在G:/zephyr_practice/zephyr-main进行，Windows命令按UCRT64或PowerShell标识分别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对应正文：P002—P006 分册路线 · 完成后进入 P003。实验源码根 G:/zephyr_practice/zephyr-main。</a:t>
            </a:r>
          </a:p>
          <a:p>
            <a:r>
              <a:t>源码已含 hello_world 与 MPS2 支持；先准备读取它们的主机程序。</a:t>
            </a:r>
          </a:p>
          <a:p>
            <a:r>
              <a:t>已有 Python 按版本选择；缺少时才安装。</a:t>
            </a:r>
          </a:p>
          <a:p>
            <a:r>
              <a:t>结果：工具可运行，Python 与 west 使用同一虚拟环境。</a:t>
            </a:r>
          </a:p>
          <a:p>
            <a:r>
              <a:t>
完整正文：learning/P01_zephyr_make_project/P002_主机工具与Python环境_Windows.md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对应正文：P002_Windows，本期准备顺序与终端边界</a:t>
            </a:r>
          </a:p>
          <a:p>
            <a:r>
              <a:t>默认使用 UCRT64 Bash，保持 Linux 命令习惯；仅 Zephyr 官方指定的 PowerShell 下载/安装步骤及 setup.cmd 等 Windows 专用脚本切换到 PowerShell，其他操作保持 UCRT64。切换时重新进入指定目录，临时变量互不继承。</a:t>
            </a:r>
          </a:p>
          <a:p>
            <a:r>
              <a:t>对应正文：本期准备顺序与终端边界</a:t>
            </a:r>
          </a:p>
          <a:p>
            <a:endParaRPr/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对应正文：P002_Windows，2.1 · 工具安装在前，固件源码依赖在后</a:t>
            </a:r>
          </a:p>
          <a:p>
            <a:endParaRPr/>
          </a:p>
          <a:p>
            <a:endParaRPr/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对应正文：learning/P01_zephyr_make_project/P002_主机工具与Python环境_Windows.md</a:t>
            </a:r>
          </a:p>
          <a:p>
            <a:r>
              <a:t>2.1.1 · 先准备电脑上的工具</a:t>
            </a:r>
          </a:p>
          <a:p>
            <a:r>
              <a:t>来源：https://docs.zephyrproject.org/latest/develop/getting_started/index.html 。以当前实验源码对应文档为准。Windows 安装命令在 PowerShell 或 cmd.exe 运行，后续回到 UCRT64。</a:t>
            </a:r>
          </a:p>
          <a:p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安装本阶段还缺少的 Windows 主机工具</a:t>
            </a:r>
          </a:p>
          <a:p>
            <a:r>
              <a:rPr/>
              <a:t># Windows PowerShell；本教程的分步安装路线。</a:t>
            </a:r>
          </a:p>
          <a:p>
            <a:r>
              <a:rPr/>
              <a:t>winget --version</a:t>
            </a:r>
          </a:p>
          <a:p>
            <a:r>
              <a:rPr/>
              <a:t>winget install Kitware.CMake Ninja-build.Ninja oss-winget.gperf `</a:t>
            </a:r>
          </a:p>
          <a:p>
            <a:r>
              <a:rPr/>
              <a:t xml:space="preserve">  oss-winget.dtc wget 7zip.7zip</a:t>
            </a:r>
          </a:p>
          <a:p>
            <a:r>
              <a:rPr/>
              <a:t>P001 已准备 UCRT64 原生 Git，这里不再追加另一套 Git。</a:t>
            </a:r>
          </a:p>
          <a:p>
            <a:r>
              <a:rPr/>
              <a:t>Python 3.12.10 单独安装；官方完整清单在正文保留作来源对照。</a:t>
            </a:r>
          </a:p>
          <a:p>
            <a:r>
              <a:rPr>
                <a:solidFill>
                  <a:srgbClr val="29263B"/>
                </a:solidFill>
              </a:rPr>
              <a:t xml:space="preserve">按官方推荐清单准备，再重开终端核对 </a:t>
            </a:r>
            <a:r>
              <a:rPr>
                <a:solidFill>
                  <a:srgbClr val="B84E00"/>
                </a:solidFill>
              </a:rPr>
              <a:t>PATH</a:t>
            </a:r>
            <a:r>
              <a:rPr>
                <a:solidFill>
                  <a:srgbClr val="29263B"/>
                </a:solidFill>
              </a:rPr>
              <a:t>。</a:t>
            </a:r>
          </a:p>
          <a:p>
            <a:r>
              <a:rPr>
                <a:solidFill>
                  <a:srgbClr val="A02B93"/>
                </a:solidFill>
              </a:rPr>
              <a:t>dtc</a:t>
            </a:r>
            <a:r>
              <a:rPr>
                <a:solidFill>
                  <a:srgbClr val="29263B"/>
                </a:solidFill>
              </a:rPr>
              <a:t xml:space="preserve"> 用于补充诊断；</a:t>
            </a:r>
            <a:r>
              <a:rPr>
                <a:solidFill>
                  <a:srgbClr val="A02B93"/>
                </a:solidFill>
              </a:rPr>
              <a:t>gperf</a:t>
            </a:r>
            <a:r>
              <a:rPr>
                <a:solidFill>
                  <a:srgbClr val="29263B"/>
                </a:solidFill>
              </a:rPr>
              <a:t xml:space="preserve"> 按用户模式等配置使用。</a:t>
            </a:r>
          </a:p>
          <a:p>
            <a:r>
              <a:rPr/>
              <a:t>官方原始 winget 清单含 Python.Python.3.12 和 Git.Git。本教程固定 Python 版本并在 P001 提供 UCRT64 原生 Git，因此实际分步安装命令省去这两项。读者已有合用工具可先复用，不能把单项冲突当成全部安装成功。已有 Git for Windows 也可作为原生 Git 替代路线，见本节正文；不要求再装一套。官方依据在当前 Zephyr doc/develop/getting_started/index.rst，MSYS2 原生 Git 包依据为 https://www.msys2.org/docs/git/ 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安装后重开UCRT64，用type -a和版本命令核对实际Windows程序。不预设来自/ucrt64/bin：该目录可能覆盖Windows PATH上刚装的同名工具。7-Zip可能需手工加入安装目录。Windows路径输入转换方法见正文2.1.1与主机工具与官方安装来源1.2。</a:t>
            </a:r>
          </a:p>
          <a:p>
            <a:r>
              <a:t>依据：当前源码根 doc/develop/getting_started/index.rst 的 Windows 分支；2026-10-05 核对修订25c8f4a23988dd3b2cfb463613622738298c2d6c。https://docs.zephyrproject.org/latest/develop/getting_started/index.html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46D45-2630-5F89-48C1-8341838AB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1FFA1-BEA6-4248-E8BF-0A0D92435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E57989-DD8E-0AD9-D805-5871B7B75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Windows </a:t>
            </a:r>
            <a:r>
              <a:rPr dirty="0" err="1"/>
              <a:t>图形安装方式：从</a:t>
            </a:r>
            <a:r>
              <a:rPr dirty="0"/>
              <a:t> Python 3.12.10 </a:t>
            </a:r>
            <a:r>
              <a:rPr dirty="0" err="1"/>
              <a:t>发行页选择</a:t>
            </a:r>
            <a:r>
              <a:rPr dirty="0"/>
              <a:t> Windows installer (64-bit)，</a:t>
            </a:r>
            <a:r>
              <a:rPr dirty="0" err="1"/>
              <a:t>自定义目录并保留</a:t>
            </a:r>
            <a:r>
              <a:rPr dirty="0"/>
              <a:t> pip。</a:t>
            </a:r>
            <a:endParaRPr lang="en-US" dirty="0"/>
          </a:p>
          <a:p>
            <a:r>
              <a:rPr dirty="0" err="1"/>
              <a:t>截图中的</a:t>
            </a:r>
            <a:r>
              <a:rPr dirty="0"/>
              <a:t> E:\python\python3_12 </a:t>
            </a:r>
            <a:r>
              <a:rPr dirty="0" err="1"/>
              <a:t>是作者所选目录</a:t>
            </a:r>
            <a:r>
              <a:rPr dirty="0"/>
              <a:t>。</a:t>
            </a:r>
            <a:endParaRPr lang="en-US" dirty="0"/>
          </a:p>
          <a:p>
            <a:r>
              <a:rPr dirty="0"/>
              <a:t>Add python.exe to PATH </a:t>
            </a:r>
            <a:r>
              <a:rPr dirty="0" err="1"/>
              <a:t>控制命令查找，Python</a:t>
            </a:r>
            <a:r>
              <a:rPr dirty="0"/>
              <a:t> Launcher </a:t>
            </a:r>
            <a:r>
              <a:rPr dirty="0" err="1"/>
              <a:t>提供</a:t>
            </a:r>
            <a:r>
              <a:rPr dirty="0"/>
              <a:t> </a:t>
            </a:r>
            <a:r>
              <a:rPr dirty="0" err="1"/>
              <a:t>py；二者作用不同。图中的下载调试符号、调试二进制是可选组件，Zephyr</a:t>
            </a:r>
            <a:r>
              <a:rPr dirty="0"/>
              <a:t> </a:t>
            </a:r>
            <a:r>
              <a:rPr dirty="0" err="1"/>
              <a:t>主线不要求勾选。安装后重开</a:t>
            </a:r>
            <a:r>
              <a:rPr dirty="0"/>
              <a:t> UCRT64；即使 </a:t>
            </a:r>
            <a:r>
              <a:rPr dirty="0" err="1"/>
              <a:t>py</a:t>
            </a:r>
            <a:r>
              <a:rPr dirty="0"/>
              <a:t> </a:t>
            </a:r>
            <a:r>
              <a:rPr dirty="0" err="1"/>
              <a:t>已可用，也继续检查</a:t>
            </a:r>
            <a:r>
              <a:rPr dirty="0"/>
              <a:t> python 的 PATH。</a:t>
            </a:r>
            <a:endParaRPr lang="en-US" dirty="0"/>
          </a:p>
          <a:p>
            <a:r>
              <a:rPr dirty="0" err="1"/>
              <a:t>本页与随后</a:t>
            </a:r>
            <a:r>
              <a:rPr dirty="0"/>
              <a:t> UCRT64 </a:t>
            </a:r>
            <a:r>
              <a:rPr dirty="0" err="1"/>
              <a:t>命令安装二选一，不重复安装同版本</a:t>
            </a:r>
            <a:r>
              <a:rPr dirty="0"/>
              <a:t>。</a:t>
            </a:r>
            <a:endParaRPr lang="en-US" dirty="0"/>
          </a:p>
          <a:p>
            <a:endParaRPr dirty="0"/>
          </a:p>
          <a:p>
            <a:r>
              <a:rPr dirty="0"/>
              <a:t>配套正文：learning/P01_zephyr_make_project/P002_主机工具与Python环境_Windows.md</a:t>
            </a:r>
            <a:endParaRPr lang="en-US" dirty="0"/>
          </a:p>
          <a:p>
            <a:endParaRPr dirty="0" err="1"/>
          </a:p>
          <a:p>
            <a:r>
              <a:rPr dirty="0"/>
              <a:t>https://docs.python.org/3.12/using/windows.html#installation-steps</a:t>
            </a:r>
            <a:endParaRPr lang="en-US" dirty="0"/>
          </a:p>
          <a:p>
            <a:br>
              <a:rPr lang="en-US" dirty="0"/>
            </a:br>
            <a:r>
              <a:rPr lang="en-US" altLang="zh-CN" dirty="0"/>
              <a:t>python 3.12.10</a:t>
            </a:r>
            <a:r>
              <a:rPr lang="zh-CN" altLang="en-US" dirty="0"/>
              <a:t>下载地址：</a:t>
            </a:r>
            <a:r>
              <a:rPr lang="en-US" altLang="zh-CN" dirty="0"/>
              <a:t>https://www.python.org/downloads/release/python-31210/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02835-D318-7AE6-0276-831C8FE82DE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42342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对应正文：P002_Windows，2.1.3 · Windows </a:t>
            </a:r>
            <a:r>
              <a:rPr dirty="0" err="1"/>
              <a:t>官方</a:t>
            </a:r>
            <a:r>
              <a:rPr dirty="0"/>
              <a:t> Python </a:t>
            </a:r>
            <a:r>
              <a:rPr dirty="0" err="1"/>
              <a:t>安装器</a:t>
            </a:r>
            <a:endParaRPr dirty="0"/>
          </a:p>
          <a:p>
            <a:r>
              <a:rPr dirty="0" err="1"/>
              <a:t>默认使用</a:t>
            </a:r>
            <a:r>
              <a:rPr dirty="0"/>
              <a:t> UCRT64 </a:t>
            </a:r>
            <a:r>
              <a:rPr dirty="0" err="1"/>
              <a:t>Bash，保持</a:t>
            </a:r>
            <a:r>
              <a:rPr dirty="0"/>
              <a:t> Linux </a:t>
            </a:r>
            <a:r>
              <a:rPr dirty="0" err="1"/>
              <a:t>命令习惯；仅</a:t>
            </a:r>
            <a:r>
              <a:rPr dirty="0"/>
              <a:t> Zephyr </a:t>
            </a:r>
            <a:r>
              <a:rPr dirty="0" err="1"/>
              <a:t>官方指定的</a:t>
            </a:r>
            <a:r>
              <a:rPr dirty="0"/>
              <a:t> PowerShell </a:t>
            </a:r>
            <a:r>
              <a:rPr dirty="0" err="1"/>
              <a:t>下载</a:t>
            </a:r>
            <a:r>
              <a:rPr dirty="0"/>
              <a:t>/</a:t>
            </a:r>
            <a:r>
              <a:rPr dirty="0" err="1"/>
              <a:t>安装步骤及</a:t>
            </a:r>
            <a:r>
              <a:rPr dirty="0"/>
              <a:t> setup.cmd 等 Windows </a:t>
            </a:r>
            <a:r>
              <a:rPr dirty="0" err="1"/>
              <a:t>专用脚本切换到</a:t>
            </a:r>
            <a:r>
              <a:rPr dirty="0"/>
              <a:t> </a:t>
            </a:r>
            <a:r>
              <a:rPr dirty="0" err="1"/>
              <a:t>PowerShell，其他操作保持</a:t>
            </a:r>
            <a:r>
              <a:rPr dirty="0"/>
              <a:t> UCRT64。切换时重新进入指定目录，临时变量互不继承。</a:t>
            </a:r>
          </a:p>
          <a:p>
            <a:r>
              <a:rPr dirty="0"/>
              <a:t>对应正文：2.1.3 · Windows </a:t>
            </a:r>
            <a:r>
              <a:rPr dirty="0" err="1"/>
              <a:t>官方</a:t>
            </a:r>
            <a:r>
              <a:rPr dirty="0"/>
              <a:t> Python </a:t>
            </a:r>
            <a:r>
              <a:rPr dirty="0" err="1"/>
              <a:t>安装器</a:t>
            </a:r>
            <a:endParaRPr dirty="0"/>
          </a:p>
          <a:p>
            <a:r>
              <a:rPr dirty="0" err="1"/>
              <a:t>完整操作单元</a:t>
            </a:r>
            <a:r>
              <a:rPr dirty="0"/>
              <a:t>：../commands/P002_Windows/2.1.3-01.txt</a:t>
            </a:r>
          </a:p>
          <a:p>
            <a:r>
              <a:rPr dirty="0" err="1"/>
              <a:t>官方文件、教程自建文件与生成产物按本页说明区分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对应正文：P002_Windows，2.1.3 · 图形安装的替代路线</a:t>
            </a:r>
          </a:p>
          <a:p>
            <a:r>
              <a:t>默认使用 UCRT64 Bash，保持 Linux 命令习惯；仅 Zephyr 官方指定的 PowerShell 下载/安装步骤及 setup.cmd 等 Windows 专用脚本切换到 PowerShell，其他操作保持 UCRT64。切换时重新进入指定目录，临时变量互不继承。</a:t>
            </a:r>
          </a:p>
          <a:p>
            <a:r>
              <a:t>对应正文：2.1.3 · 图形安装的替代路线</a:t>
            </a:r>
          </a:p>
          <a:p>
            <a:r>
              <a:t>完整操作单元：../commands/P002_Windows/2.1.3-02.txt</a:t>
            </a:r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对应正文：P002_Windows，2.1.4 · py 不存在，但 python 已可执行</a:t>
            </a:r>
          </a:p>
          <a:p>
            <a:r>
              <a:t>https://docs.python.org/3.12/using/windows.html</a:t>
            </a:r>
          </a:p>
          <a:p>
            <a:r>
              <a:t>https://docs.python.org/3.12/library/venv.html</a:t>
            </a:r>
          </a:p>
          <a:p>
            <a:r>
              <a:t>完整操作单元：../commands/P002_Windows/2.1.4-02.txt</a:t>
            </a:r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对应正文：P002_Windows，2.1.4 · 选择版本与使用项目环境</a:t>
            </a:r>
          </a:p>
          <a:p>
            <a:r>
              <a:t>https://docs.python.org/3.12/using/windows.html</a:t>
            </a:r>
          </a:p>
          <a:p>
            <a:r>
              <a:t>https://docs.python.org/3.12/library/venv.html</a:t>
            </a:r>
          </a:p>
          <a:p>
            <a:endParaRPr/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SDK 中的编译器可以运行，不会自动给 Python 装库。虚拟环境隔离包安装目录。读者在 G:/zephyr_practice/zephyr-main 创建并使用 .venv。后续实验按任务补充测试或调试依赖，环境与构建脚本在后续章节创建之后再使用。</a:t>
            </a:r>
          </a:p>
          <a:p>
            <a:endParaRPr/>
          </a:p>
          <a:p>
            <a:r>
              <a:t>配套正文：learning/P01_zephyr_make_project/P002_主机工具与Python环境_Windows.md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对应正文：P002_Windows，2.2.1 · 源码根；已核对基础 Python 3.12.10</a:t>
            </a:r>
          </a:p>
          <a:p>
            <a:r>
              <a:t>https://docs.python.org/3.12/using/windows.html</a:t>
            </a:r>
          </a:p>
          <a:p>
            <a:r>
              <a:t>https://docs.python.org/3.12/library/venv.html</a:t>
            </a:r>
          </a:p>
          <a:p>
            <a:r>
              <a:t>完整操作单元：../commands/P002_Windows/2.2.1-02.txt</a:t>
            </a:r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对应正文：P002_Windows，2.2.1_上一期下载的是上游_Zephyr_源码</a:t>
            </a:r>
          </a:p>
          <a:p>
            <a:r>
              <a:rPr dirty="0"/>
              <a:t># </a:t>
            </a:r>
            <a:r>
              <a:rPr dirty="0" err="1"/>
              <a:t>当前位置：上游</a:t>
            </a:r>
            <a:r>
              <a:rPr dirty="0"/>
              <a:t> Zephyr 源码根目录；终端：UCRT64，已激活 .</a:t>
            </a:r>
            <a:r>
              <a:rPr dirty="0" err="1"/>
              <a:t>venv</a:t>
            </a:r>
            <a:r>
              <a:rPr dirty="0"/>
              <a:t>。</a:t>
            </a:r>
          </a:p>
          <a:p>
            <a:r>
              <a:rPr dirty="0"/>
              <a:t>python -m pip install -r scripts/requirements-base.txt "west==1.5.0"</a:t>
            </a:r>
          </a:p>
          <a:p>
            <a:r>
              <a:rPr dirty="0"/>
              <a:t>python -m pip check</a:t>
            </a:r>
          </a:p>
          <a:p>
            <a:r>
              <a:rPr dirty="0"/>
              <a:t>python -m west --version</a:t>
            </a:r>
          </a:p>
          <a:p>
            <a:r>
              <a:rPr dirty="0" err="1"/>
              <a:t>完整操作单元</a:t>
            </a:r>
            <a:r>
              <a:rPr dirty="0"/>
              <a:t>：../commands/P002_Windows/2.2.1-03.txt</a:t>
            </a:r>
          </a:p>
          <a:p>
            <a:r>
              <a:rPr dirty="0" err="1"/>
              <a:t>官方文件、教程自建文件与生成产物按本页说明区分</a:t>
            </a:r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09EFEC-A256-4351-8E97-7435A86F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30F8346-A555-47D3-A2E1-BCC543F08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FFD06F-FE24-49EC-9194-56ADD2F7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C000BD-3078-4113-9B52-8F4DA1A5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CD6595-793E-4B5C-9A13-3CF885E9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B22602-462A-4044-8815-D4D7F372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E035DCF-B384-44F7-973A-284F6383E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8291D3-BA4E-489C-A187-B06D172968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99FC7-8945-4254-8CD9-64E421CA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3ED6C9-C27E-4C55-88EE-9831E748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D4413F-A4F9-4B51-AFFD-82864AF6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FD08B3B-12D0-41D2-8648-0D0790686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CE3EA2-4F10-45DA-B0F9-258DCBCC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38891C-D6D9-446A-AA0F-2E808D94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E30FA7-471B-4F2E-909C-EB3A4775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E93EF2-48DD-4353-892F-7737D8D0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3B0FB94-361B-4E83-BDD7-72F259E4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0F9B30-F258-4C66-9BAE-8E6CCCBEB1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9B7AF1-5458-40DC-A2A4-C3E940EA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3A861C-2F71-4C8D-BA0B-22424FAA9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36E5FB-B942-4F81-863B-14311E9F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AF2B295-21D1-4984-B654-FBF7CAE9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3D17426-DC83-4E87-92D1-C42F39DE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AA50F02-7FF7-4768-AAE3-6D461A8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8FD79E2-AB77-4BDF-8B79-A0298C13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A1B3CA-10A8-42A1-A449-401A8E29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5583886-4F04-4841-AF3F-4DA161B1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EC602EA-9C36-498E-96AE-A097FAF559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2BC890-15D0-44AE-9D82-5FBCB33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0CC2291-CE8F-48FC-89EB-53256BB3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598CAA-C856-4FEE-A978-34E621BA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29FEA2-767A-4E79-B26D-7FA7A3B10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9C698EE-F7BC-472F-B0AE-719B18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F364-3711-43C3-B07A-3F13F1CE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5597017-FD42-445A-A879-4A45D335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DD197A-8666-4022-AE39-C778E2BD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08BA7AF-E378-4A60-8E19-7FA3870E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65E0796-E8CF-4125-A4B7-5124534404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40989-4046-4F67-8519-5CAC5F92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71EAF3-957C-48C2-B0E2-F32C7C847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F728ED-C843-4E3D-B8CB-B19A2035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1DF1EC-56E5-4C33-849E-1A55A320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4FB50E-9440-418F-AEBC-C0C082EE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D4E580-EA8C-4260-AE81-4E793E49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FF1DF06-173D-4620-9B12-18F05E5C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5EAD1C6-4DD4-4A65-9B8A-B62315FE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C3A2051-86A6-450D-93E1-4CA1394B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FCC3E3-BC99-4A46-9206-9E90D8F744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478AD7-3F2E-4904-BBBE-EC7CFCDA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58C676-B293-45B8-ADCE-18F79634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3B24EA-8579-4A7F-BFCD-E4FFA887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6F869A-59A0-43E8-9F21-B67A7103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2EB19-2E93-4233-9A53-912C17E7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0D8C91-F5E1-41E0-84C6-ECDE1D0A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28322EB-D798-4141-BA0A-3447C656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8381E-58A3-4F99-B440-89507AF6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A5C48-DFF3-4541-8AD8-65F68C6FC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63B4A2-54D7-4E0A-9501-D01FF94017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B62F69-FD43-4A6B-B9C0-11F83020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3B2FF7-D4E7-4EEC-933D-DD35C92C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AA2868-E8E9-49AB-8A3B-B4FC708E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0266387-2782-4A3F-9870-F042E2FB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F6B388-0C1C-4EA3-83B8-6F2F71CD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26D79A-BF0D-4F26-8411-4E82B234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CCAC56B-7E9F-4B09-9ED0-A3A6E5A2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E1107C-8FD5-461A-8F34-B7D2C96F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D141E0-5B82-4D36-A319-BE6154D3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CD4BFC1-10CD-4521-83BA-5960561193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454303-BC41-44C1-AE26-65F1721C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35CEBDC-4BFF-405F-B2FA-1E7F2185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git_env4.xml.rels><?xml version='1.0' encoding='UTF-8' standalone='yes'?>
<Relationships xmlns="http://schemas.openxmlformats.org/package/2006/relationships"><Relationship Id="rLayout" Type="http://schemas.openxmlformats.org/officeDocument/2006/relationships/slideLayout" Target="../slideLayouts/slideLayout30.xml"/><Relationship Id="rNotes" Type="http://schemas.openxmlformats.org/officeDocument/2006/relationships/notesSlide" Target="../notesSlides/git_env4.xml"/><Relationship Id="rReading" Type="http://schemas.openxmlformats.org/officeDocument/2006/relationships/hyperlink" Target="../P002_&#20027;&#26426;&#24037;&#20855;&#19982;Python&#29615;&#22659;_Windows.md" TargetMode="External"/><Relationship Id="rCommand" Type="http://schemas.openxmlformats.org/officeDocument/2006/relationships/hyperlink" Target="../commands/P002_Windows/git-native-check.txt" TargetMode="External"/></Relationships>
</file>

<file path=ppt/slides/_rels/git_env5.xml.rels><?xml version='1.0' encoding='UTF-8' standalone='yes'?>
<Relationships xmlns="http://schemas.openxmlformats.org/package/2006/relationships"><Relationship Id="rLayout" Type="http://schemas.openxmlformats.org/officeDocument/2006/relationships/slideLayout" Target="../slideLayouts/slideLayout30.xml"/><Relationship Id="rNotes" Type="http://schemas.openxmlformats.org/officeDocument/2006/relationships/notesSlide" Target="../notesSlides/git_env5.xml"/><Relationship Id="rReading" Type="http://schemas.openxmlformats.org/officeDocument/2006/relationships/hyperlink" Target="../P002_&#20027;&#26426;&#24037;&#20855;&#19982;Python&#29615;&#22659;_Windows.md" TargetMode="External"/><Relationship Id="rCommand" Type="http://schemas.openxmlformats.org/officeDocument/2006/relationships/hyperlink" Target="../commands/P002_Windows/git-python-check.txt" TargetMode="External"/></Relationships>
</file>

<file path=ppt/slides/_rels/guide5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54.xml"/><Relationship Id="rIdNotes" Type="http://schemas.openxmlformats.org/officeDocument/2006/relationships/notesSlide" Target="../notesSlides/guide5.xml"/><Relationship Id="rIdReading" Type="http://schemas.openxmlformats.org/officeDocument/2006/relationships/hyperlink" Target="../P002_&#20027;&#26426;&#24037;&#20855;&#19982;Python&#29615;&#22659;_Windows.md" TargetMode="External"/></Relationships>
</file>

<file path=ppt/slides/_rels/guide6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54.xml"/><Relationship Id="rIdNotes" Type="http://schemas.openxmlformats.org/officeDocument/2006/relationships/notesSlide" Target="../notesSlides/guide6.xml"/><Relationship Id="rIdReading" Type="http://schemas.openxmlformats.org/officeDocument/2006/relationships/hyperlink" Target="../P002_&#20027;&#26426;&#24037;&#20855;&#19982;Python&#29615;&#22659;_Windows.md" TargetMode="External"/></Relationships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4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8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Layout" Type="http://schemas.openxmlformats.org/officeDocument/2006/relationships/slideLayout" Target="../slideLayouts/slideLayout24.xml"/><Relationship Id="rNotes" Type="http://schemas.openxmlformats.org/officeDocument/2006/relationships/notesSlide" Target="../notesSlides/notesSlide6.xml"/><Relationship Id="rReading" Type="http://schemas.openxmlformats.org/officeDocument/2006/relationships/hyperlink" Target="../P002_&#20027;&#26426;&#24037;&#20855;&#19982;Python&#29615;&#22659;_Windows.md" TargetMode="External"/><Relationship Id="rCommand" Type="http://schemas.openxmlformats.org/officeDocument/2006/relationships/hyperlink" Target="../commands/P002_Windows/2.1.1-02.txt" TargetMode="External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www.python.org/downloads/release/python-31210/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2_Windows/2.1.3-01.tx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8.xml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2_Windows/2.1.3-02.tx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8.xml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2_Windows/2.1.4-02.tx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1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2_Windows/2.2.1-02.tx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0.xml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2_Windows/2.2.1-03.txt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1.png"/></Relationships>
</file>

<file path=ppt/slides/git_env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回到 UCRT64，再核对原生 Git 的优先级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2.1.1 · 复用 P001 已安装的 /ucrt64/bin/git.exe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182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Windows UCRT64；先确认原生 Git 文件存在。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type</a:t>
            </a:r>
            <a:r>
              <a:t> -a </a:t>
            </a:r>
            <a:r>
              <a:rPr>
                <a:solidFill>
                  <a:srgbClr val="A02B93"/>
                </a:solidFill>
                <a:ea typeface="Microsoft YaHei"/>
              </a:rPr>
              <a:t>git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export</a:t>
            </a:r>
            <a:r>
              <a:t> PATH="</a:t>
            </a:r>
            <a:r>
              <a:rPr>
                <a:solidFill>
                  <a:srgbClr val="0070C0"/>
                </a:solidFill>
                <a:ea typeface="Microsoft YaHei"/>
              </a:rPr>
              <a:t>/ucrt64/bin:$PATH"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hash</a:t>
            </a:r>
            <a:r>
              <a:t> -r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command</a:t>
            </a:r>
            <a:r>
              <a:t> -v </a:t>
            </a:r>
            <a:r>
              <a:rPr>
                <a:solidFill>
                  <a:srgbClr val="A02B93"/>
                </a:solidFill>
                <a:ea typeface="Microsoft YaHei"/>
              </a:rPr>
              <a:t>git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37909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预期为 </a:t>
            </a:r>
            <a:r>
              <a:rPr>
                <a:solidFill>
                  <a:srgbClr val="0070C0"/>
                </a:solidFill>
                <a:ea typeface="Microsoft YaHei"/>
              </a:rPr>
              <a:t>/ucrt64/bin/git（或</a:t>
            </a:r>
            <a:r>
              <a:t> </a:t>
            </a:r>
            <a:r>
              <a:rPr>
                <a:solidFill>
                  <a:srgbClr val="A02B93"/>
                </a:solidFill>
                <a:ea typeface="Microsoft YaHei"/>
              </a:rPr>
              <a:t>git</a:t>
            </a:r>
            <a:r>
              <a:t>.exe）；若仍落在 usr/bin，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先停止下载。若有别名或函数，先查明它是否遮蔽真实程序。</a:t>
            </a:r>
          </a:p>
        </p:txBody>
      </p:sp>
      <p:sp>
        <p:nvSpPr>
          <p:cNvPr id="6" name="Body 1"/>
          <p:cNvSpPr>
            <a:spLocks noGrp="1"/>
          </p:cNvSpPr>
          <p:nvPr/>
        </p:nvSpPr>
        <p:spPr>
          <a:xfrm>
            <a:off x="609600" y="4679442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文件缺失才安装 mingw-w64-ucrt-x86_64-</a:t>
            </a:r>
            <a:r>
              <a:rPr>
                <a:solidFill>
                  <a:srgbClr val="A02B93"/>
                </a:solidFill>
                <a:ea typeface="Microsoft YaHei"/>
              </a:rPr>
              <a:t>git</a:t>
            </a:r>
            <a:r>
              <a:t>，步骤在本节正文。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PATH 调整只影响本终端和子进程；重开终端后重新检查。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Reading"/>
              </a:rPr>
              <a:t>完整解释与操作：配套 Markdown 2.1.1</a:t>
            </a:r>
          </a:p>
        </p:txBody>
      </p:sp>
      <p:sp>
        <p:nvSpPr>
          <p:cNvPr id="8" name="Command link"/>
          <p:cNvSpPr>
            <a:spLocks noGrp="1"/>
          </p:cNvSpPr>
          <p:nvPr/>
        </p:nvSpPr>
        <p:spPr>
          <a:xfrm>
            <a:off x="8191500" y="6105525"/>
            <a:ext cx="339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Command"/>
              </a:rPr>
              <a:t>完整命令：打开 TXT</a:t>
            </a:r>
          </a:p>
        </p:txBody>
      </p:sp>
      <p:sp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771BF54-CD5B-481B-A590-6B44344C4D6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git_env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让 Windows Python 报出它将使用的 Git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2.2.1 / 2.2.2 · 创建或恢复 .venv 后；west 模块下载之前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Windows UCRT64；源码根；已激活 .venv。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python</a:t>
            </a:r>
            <a:r>
              <a:t> -c "import sys; print(sys.executable)"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python</a:t>
            </a:r>
            <a:r>
              <a:t> -c "import shutil; print(shutil.which('</a:t>
            </a:r>
            <a:r>
              <a:rPr>
                <a:solidFill>
                  <a:srgbClr val="A02B93"/>
                </a:solidFill>
                <a:ea typeface="Microsoft YaHei"/>
              </a:rPr>
              <a:t>git</a:t>
            </a:r>
            <a:r>
              <a:t>'))"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31051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第一项应指向 </a:t>
            </a:r>
            <a:r>
              <a:rPr>
                <a:solidFill>
                  <a:srgbClr val="0070C0"/>
                </a:solidFill>
                <a:ea typeface="Microsoft YaHei"/>
              </a:rPr>
              <a:t>zephyr-main/.venv/Scripts/python.exe</a:t>
            </a:r>
            <a:r>
              <a:t>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第二项主线示例：</a:t>
            </a:r>
            <a:r>
              <a:rPr>
                <a:solidFill>
                  <a:srgbClr val="0070C0"/>
                </a:solidFill>
                <a:ea typeface="Microsoft YaHei"/>
              </a:rPr>
              <a:t>E:/Msys2/ucrt64/bin/git.exe</a:t>
            </a:r>
            <a:r>
              <a:t>，盘符以实际安装为准。</a:t>
            </a:r>
          </a:p>
        </p:txBody>
      </p:sp>
      <p:sp>
        <p:nvSpPr>
          <p:cNvPr id="6" name="Body 1"/>
          <p:cNvSpPr>
            <a:spLocks noGrp="1"/>
          </p:cNvSpPr>
          <p:nvPr/>
        </p:nvSpPr>
        <p:spPr>
          <a:xfrm>
            <a:off x="609600" y="3993642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若第二项是 usr/bin/</a:t>
            </a:r>
            <a:r>
              <a:rPr>
                <a:solidFill>
                  <a:srgbClr val="A02B93"/>
                </a:solidFill>
                <a:ea typeface="Microsoft YaHei"/>
              </a:rPr>
              <a:t>git</a:t>
            </a:r>
            <a:r>
              <a:t>.exe 或 None，先停止模块下载，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回到 2.1.1 修正。已有 Git for Windows 原生程序也可使用。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Reading"/>
              </a:rPr>
              <a:t>完整解释与操作：配套 Markdown 2.2.1 / 2.2.2</a:t>
            </a:r>
          </a:p>
        </p:txBody>
      </p:sp>
      <p:sp>
        <p:nvSpPr>
          <p:cNvPr id="8" name="Command link"/>
          <p:cNvSpPr>
            <a:spLocks noGrp="1"/>
          </p:cNvSpPr>
          <p:nvPr/>
        </p:nvSpPr>
        <p:spPr>
          <a:xfrm>
            <a:off x="8191500" y="6105525"/>
            <a:ext cx="339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Command"/>
              </a:rPr>
              <a:t>完整命令：打开 TXT</a:t>
            </a:r>
          </a:p>
        </p:txBody>
      </p:sp>
      <p:sp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771BF54-CD5B-481B-A590-6B44344C4D6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gu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源码已经在磁盘上，为什么还不能构建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P002 开篇与 2.2 · 从当前任务理解工程组织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上一册提供了 hello_world 与 MPS2 的已有支持。CMake 要读工程规则，Ninja 要执行任务，Python 要运行配置和模块工具；这些程序都运行在 Windows 主机上。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本册建立并恢复源码根 .venv，让 Python 与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采用同一套项目依赖。Python 安装成功不会下载 CMSIS，也不会建立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工作区。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下一册再提供 ARM 编译器。以后从 MPS2 换到 HC32，通常复用这些主机程序，新增的是所缺的目标支持。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Reading"/>
              </a:rPr>
              <a:t>完整解释与操作：配套 Markdown P002 开篇与 2.2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A2E965C-5D9E-4BF9-B246-46A7C78E63B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gu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新终端中能恢复，才算把环境交给下一步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P002 2.2.2 · 从当前任务理解工程组织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回到同一 zephyr-main，激活 .venv，检查 Python、</a:t>
            </a:r>
            <a:r>
              <a:rPr>
                <a:solidFill>
                  <a:srgbClr val="A02B93"/>
                </a:solidFill>
              </a:rPr>
              <a:t>pip</a:t>
            </a:r>
            <a:r>
              <a:rPr>
                <a:solidFill>
                  <a:srgbClr val="29263B"/>
                </a:solidFill>
              </a:rPr>
              <a:t>、</a:t>
            </a:r>
            <a:r>
              <a:rPr>
                <a:solidFill>
                  <a:srgbClr val="A02B93"/>
                </a:solidFill>
              </a:rPr>
              <a:t>west</a:t>
            </a:r>
            <a:r>
              <a:rPr>
                <a:solidFill>
                  <a:srgbClr val="29263B"/>
                </a:solidFill>
              </a:rPr>
              <a:t> 和 Git 路径。Python 找到 usr/bin/</a:t>
            </a:r>
            <a:r>
              <a:rPr>
                <a:solidFill>
                  <a:srgbClr val="A02B93"/>
                </a:solidFill>
              </a:rPr>
              <a:t>git</a:t>
            </a:r>
            <a:r>
              <a:rPr>
                <a:solidFill>
                  <a:srgbClr val="29263B"/>
                </a:solidFill>
              </a:rPr>
              <a:t> 或 None 时，先修正再下载模块。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这些检查回答主机工具是否可用，还没有回答使用哪一套 ARM GCC。P003 接收这份源码和 .venv，建立 SDK 与编译器入口。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对照构建需要的 CMSIS 在 P004 取得，HC32 DDL 在 P006 说明来源并接入；不要把工具、模块和板支持当成一次安装的产物。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Reading"/>
              </a:rPr>
              <a:t>完整解释与操作：配套 Markdown P002 2.2.2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08FD057-C6FD-4832-A30C-1C352A57716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D686CA-009C-46C0-9649-59779F457B10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P002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EA0C4-B462-4BE3-B25A-16FBB35A6FF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主机工具</a:t>
            </a:r>
            <a:endParaRPr sz="4650" b="1" dirty="0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与 Python </a:t>
            </a:r>
            <a:r>
              <a:rPr sz="4650" b="1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环境</a:t>
            </a:r>
            <a:endParaRPr sz="4650" b="1" dirty="0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3B33A2-9A6E-4A0A-9111-996B334312D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  <p:extLst>
      <p:ext uri="{BB962C8B-B14F-4D97-AF65-F5344CB8AC3E}">
        <p14:creationId xmlns:p14="http://schemas.microsoft.com/office/powerpoint/2010/main" val="1122830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10BC46A-4F1A-47C4-9196-EF8D8733E98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P002 · 主机工具与 Python 环境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779276C-228B-4C0A-8D2C-751537FD877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P002—P006 分册路线 · 完成后进入 P003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7E12C571-C34B-4B89-8A51-BAF219E4F159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源码已含 hello_world 与 MPS2 支持；先准备读取它们的主机程序。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已有 Python 按版本选择；缺少时才安装。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结果：工具可运行，Python 与 </a:t>
            </a:r>
            <a:r>
              <a:rPr sz="202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使用同一虚拟环境。</a:t>
            </a:r>
          </a:p>
        </p:txBody>
      </p:sp>
      <p:sp>
        <p:nvSpPr>
          <p:cNvPr id="5" name="Module stage 1">
            <a:extLst>
              <a:ext uri="{FF2B5EF4-FFF2-40B4-BE49-F238E27FC236}">
                <a16:creationId xmlns:a16="http://schemas.microsoft.com/office/drawing/2014/main" id="{32056BA7-5EC8-4F88-BE33-18BE1CD1F0C5}"/>
              </a:ext>
            </a:extLst>
          </p:cNvPr>
          <p:cNvSpPr>
            <a:spLocks noGrp="1"/>
          </p:cNvSpPr>
          <p:nvPr/>
        </p:nvSpPr>
        <p:spPr>
          <a:xfrm>
            <a:off x="666750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01 主机工具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与 </a:t>
            </a:r>
            <a:r>
              <a:rPr sz="187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.venv</a:t>
            </a:r>
          </a:p>
        </p:txBody>
      </p:sp>
      <p:sp>
        <p:nvSpPr>
          <p:cNvPr id="6" name="flow 0">
            <a:extLst>
              <a:ext uri="{FF2B5EF4-FFF2-40B4-BE49-F238E27FC236}">
                <a16:creationId xmlns:a16="http://schemas.microsoft.com/office/drawing/2014/main" id="{AF28A9C1-B720-49D5-9CFC-4ADAE4481BDE}"/>
              </a:ext>
            </a:extLst>
          </p:cNvPr>
          <p:cNvSpPr>
            <a:spLocks noGrp="1"/>
          </p:cNvSpPr>
          <p:nvPr/>
        </p:nvSpPr>
        <p:spPr>
          <a:xfrm>
            <a:off x="3057525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ule stage 2">
            <a:extLst>
              <a:ext uri="{FF2B5EF4-FFF2-40B4-BE49-F238E27FC236}">
                <a16:creationId xmlns:a16="http://schemas.microsoft.com/office/drawing/2014/main" id="{5F21C88F-235E-490E-94B0-6395EFA0B1CC}"/>
              </a:ext>
            </a:extLst>
          </p:cNvPr>
          <p:cNvSpPr>
            <a:spLocks noGrp="1"/>
          </p:cNvSpPr>
          <p:nvPr/>
        </p:nvSpPr>
        <p:spPr>
          <a:xfrm>
            <a:off x="3476625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02 SDK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与编译器</a:t>
            </a:r>
          </a:p>
        </p:txBody>
      </p:sp>
      <p:sp>
        <p:nvSpPr>
          <p:cNvPr id="8" name="flow 1">
            <a:extLst>
              <a:ext uri="{FF2B5EF4-FFF2-40B4-BE49-F238E27FC236}">
                <a16:creationId xmlns:a16="http://schemas.microsoft.com/office/drawing/2014/main" id="{1BA9737F-3FAE-48A0-9BE5-2E2F9EB78684}"/>
              </a:ext>
            </a:extLst>
          </p:cNvPr>
          <p:cNvSpPr>
            <a:spLocks noGrp="1"/>
          </p:cNvSpPr>
          <p:nvPr/>
        </p:nvSpPr>
        <p:spPr>
          <a:xfrm>
            <a:off x="5867400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ule stage 3">
            <a:extLst>
              <a:ext uri="{FF2B5EF4-FFF2-40B4-BE49-F238E27FC236}">
                <a16:creationId xmlns:a16="http://schemas.microsoft.com/office/drawing/2014/main" id="{6BF7F42A-885C-420B-9CE3-F891066FC0B8}"/>
              </a:ext>
            </a:extLst>
          </p:cNvPr>
          <p:cNvSpPr>
            <a:spLocks noGrp="1"/>
          </p:cNvSpPr>
          <p:nvPr/>
        </p:nvSpPr>
        <p:spPr>
          <a:xfrm>
            <a:off x="6286500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03 P004 CMSIS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查来源，再下载</a:t>
            </a:r>
            <a:endParaRPr sz="1875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flow 2">
            <a:extLst>
              <a:ext uri="{FF2B5EF4-FFF2-40B4-BE49-F238E27FC236}">
                <a16:creationId xmlns:a16="http://schemas.microsoft.com/office/drawing/2014/main" id="{AAA6B63A-E27A-45E3-A4C8-EF355694E721}"/>
              </a:ext>
            </a:extLst>
          </p:cNvPr>
          <p:cNvSpPr>
            <a:spLocks noGrp="1"/>
          </p:cNvSpPr>
          <p:nvPr/>
        </p:nvSpPr>
        <p:spPr>
          <a:xfrm>
            <a:off x="8677275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ule stage 4">
            <a:extLst>
              <a:ext uri="{FF2B5EF4-FFF2-40B4-BE49-F238E27FC236}">
                <a16:creationId xmlns:a16="http://schemas.microsoft.com/office/drawing/2014/main" id="{7D53F9E3-64AA-4C45-AF38-89D2E5F76CD5}"/>
              </a:ext>
            </a:extLst>
          </p:cNvPr>
          <p:cNvSpPr>
            <a:spLocks noGrp="1"/>
          </p:cNvSpPr>
          <p:nvPr/>
        </p:nvSpPr>
        <p:spPr>
          <a:xfrm>
            <a:off x="9096375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04 P005 驱动模型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P006 接入 HC32</a:t>
            </a:r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C60E502-F2B0-458C-8C94-492B42E1E8F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Semantic color legend">
            <a:extLst>
              <a:ext uri="{FF2B5EF4-FFF2-40B4-BE49-F238E27FC236}">
                <a16:creationId xmlns:a16="http://schemas.microsoft.com/office/drawing/2014/main" id="{39154CEE-9E0E-4815-8A42-342F49989EDD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t>阅读标色： </a:t>
            </a:r>
            <a:r>
              <a:rPr>
                <a:solidFill>
                  <a:srgbClr val="B84E00"/>
                </a:solidFill>
              </a:rPr>
              <a:t>变量 / 参数</a:t>
            </a:r>
            <a:r>
              <a:t>     </a:t>
            </a:r>
            <a:r>
              <a:rPr>
                <a:solidFill>
                  <a:srgbClr val="0070C0"/>
                </a:solidFill>
              </a:rPr>
              <a:t>文件 / 路径</a:t>
            </a:r>
            <a:r>
              <a:t>     </a:t>
            </a:r>
            <a:r>
              <a:rPr>
                <a:solidFill>
                  <a:srgbClr val="087B3D"/>
                </a:solidFill>
              </a:rPr>
              <a:t>接口函数</a:t>
            </a:r>
            <a:r>
              <a:t>     </a:t>
            </a:r>
            <a:r>
              <a:rPr>
                <a:solidFill>
                  <a:srgbClr val="A02B93"/>
                </a:solidFill>
              </a:rPr>
              <a:t>终端命令</a:t>
            </a: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7320F87-B404-415C-8852-BE68A4B7849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默认使用 UCRT64，特定步骤切换终端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EFDEB8F7-C953-4D92-8813-C180FDB58AF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本期准备顺序与终端边界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2F6AAE5-49B1-4D9E-B5E7-117BA3AEF8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8078092"/>
              </p:ext>
            </p:extLst>
          </p:nvPr>
        </p:nvGraphicFramePr>
        <p:xfrm>
          <a:off x="609600" y="1924050"/>
          <a:ext cx="10972800" cy="3714750"/>
        </p:xfrm>
        <a:graphic>
          <a:graphicData uri="http://schemas.openxmlformats.org/drawingml/2006/table">
            <a:tbl>
              <a:tblPr/>
              <a:tblGrid>
                <a:gridCol w="4856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6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  <a:endParaRPr sz="1800" b="1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本教程使用的终端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普通下载、摘要校验与解压</a:t>
                      </a:r>
                      <a:endParaRPr sz="1800" b="0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UCRT64，延续 Linux 命令习惯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Python、venv、版本与工程命令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UCRT64，按具体操作说明执行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官方指定的 Windows 工具安装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按官方 PowerShell 下载和安装方式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 的 </a:t>
                      </a: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setup.cmd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切到 PowerShell 运行，结束后回 UCRT64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Ubuntu 22.04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Linux Bash 和 </a:t>
                      </a:r>
                      <a:r>
                        <a:rPr sz="1800" b="0" dirty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setup.sh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4C8A30D-7608-40E4-A42F-DC8A99304EC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9115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30DD7513-1EE1-4321-B8A6-C210416F5D5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先区分程序、源码和接入规则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EAE34B2B-1651-43A7-9140-B644083FB17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2.1 · 工具安装在前，固件源码依赖在后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C6A570D-C6B6-4C79-BC2F-5A343D37F9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7620453"/>
              </p:ext>
            </p:extLst>
          </p:nvPr>
        </p:nvGraphicFramePr>
        <p:xfrm>
          <a:off x="609600" y="1924050"/>
          <a:ext cx="10972800" cy="319087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给谁用 / 怎样进入工程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Python、CMake、Ninja</a:t>
                      </a:r>
                      <a:endParaRPr sz="1800" b="0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Windows 主机运行；按 </a:t>
                      </a:r>
                      <a:r>
                        <a:rPr sz="1800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PATH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或显式路径找到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 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内目标工具链</a:t>
                      </a:r>
                      <a:endParaRPr sz="1800" b="0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主机运行，生成 Arm 机器码；由 SDK 根选择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CMSIS；按目标选用的 HAL/DDL</a:t>
                      </a:r>
                      <a:endParaRPr sz="1800" b="0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 是当前外部依赖；HC32 HAL 在迁移时追加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板、SoC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与驱动适配</a:t>
                      </a:r>
                      <a:endParaRPr sz="1800" b="0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 已随主仓取得；HC32 缺的部分在 P012 新增</a:t>
                      </a:r>
                      <a:endParaRPr sz="1800" b="0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F8903F7-2FF1-4BE8-908A-2331F25FEFB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616675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">
            <a:extLst>
              <a:ext uri="{FF2B5EF4-FFF2-40B4-BE49-F238E27FC236}">
                <a16:creationId xmlns:a16="http://schemas.microsoft.com/office/drawing/2014/main" id="{951E06C2-726F-4B55-AEAC-6D06A63E622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安装依据：当前源码的 Windows 指南</a:t>
            </a:r>
          </a:p>
        </p:txBody>
      </p:sp>
      <p:sp>
        <p:nvSpPr>
          <p:cNvPr id="2" name="content">
            <a:extLst>
              <a:ext uri="{FF2B5EF4-FFF2-40B4-BE49-F238E27FC236}">
                <a16:creationId xmlns:a16="http://schemas.microsoft.com/office/drawing/2014/main" id="{10C79908-572F-41F2-94DB-ECE9139D30F1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2.1.1 · 先准备电脑上的工具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27E0BD48-F242-4368-8E16-2CE79262F526}"/>
              </a:ext>
            </a:extLst>
          </p:cNvPr>
          <p:cNvSpPr>
            <a:spLocks noGrp="1"/>
          </p:cNvSpPr>
          <p:nvPr/>
        </p:nvSpPr>
        <p:spPr>
          <a:xfrm>
            <a:off x="709274" y="1695450"/>
            <a:ext cx="4296091" cy="441598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20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先读</a:t>
            </a:r>
            <a:r>
              <a:rPr lang="zh-CN" altLang="en-US" sz="22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altLang="zh-CN" sz="225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doc/develop/</a:t>
            </a:r>
            <a:r>
              <a:rPr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getting_started</a:t>
            </a:r>
            <a:r>
              <a:rPr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index.rst</a:t>
            </a:r>
            <a:r>
              <a:rPr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b="0" dirty="0">
              <a:solidFill>
                <a:srgbClr val="0070C0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Windows </a:t>
            </a:r>
            <a:r>
              <a:rPr sz="22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主机工具使用官方</a:t>
            </a:r>
            <a:r>
              <a:rPr sz="22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250" b="0" dirty="0" err="1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winget</a:t>
            </a:r>
            <a:r>
              <a:rPr sz="22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2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清单</a:t>
            </a:r>
            <a:r>
              <a:rPr sz="22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22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本教程固定</a:t>
            </a:r>
            <a:r>
              <a:rPr sz="22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Python 3.12.10，单独使用官方安装器。</a:t>
            </a:r>
            <a:endParaRPr lang="en-US" sz="22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源码更新后重查工具清单、最低版本与</a:t>
            </a:r>
            <a:r>
              <a:rPr sz="22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requirements。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58BD696-1926-E7E6-6127-A3B096DD4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864" y="2206008"/>
            <a:ext cx="6314436" cy="3413742"/>
          </a:xfrm>
          <a:prstGeom prst="rect">
            <a:avLst/>
          </a:prstGeom>
        </p:spPr>
      </p:pic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902B6EC-9136-4A17-AF72-DC4892830EA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64665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安装本阶段还缺少的 Windows 主机工具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2.1.1 · PowerShell 安装；完成后回到 UCRT64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148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Windows PowerShell；本教程的分步安装路线。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winget</a:t>
            </a:r>
            <a:r>
              <a:t> --version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winget</a:t>
            </a:r>
            <a:r>
              <a:t> install Kitware.CMake Ninja-build.Ninja oss-</a:t>
            </a:r>
            <a:r>
              <a:rPr>
                <a:solidFill>
                  <a:srgbClr val="A02B93"/>
                </a:solidFill>
                <a:ea typeface="Microsoft YaHei"/>
              </a:rPr>
              <a:t>winget</a:t>
            </a:r>
            <a:r>
              <a:t>.gperf `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oss-</a:t>
            </a:r>
            <a:r>
              <a:rPr>
                <a:solidFill>
                  <a:srgbClr val="A02B93"/>
                </a:solidFill>
                <a:ea typeface="Microsoft YaHei"/>
              </a:rPr>
              <a:t>winget</a:t>
            </a:r>
            <a:r>
              <a:t>.dtc </a:t>
            </a:r>
            <a:r>
              <a:rPr>
                <a:solidFill>
                  <a:srgbClr val="A02B93"/>
                </a:solidFill>
                <a:ea typeface="Microsoft YaHei"/>
              </a:rPr>
              <a:t>wget</a:t>
            </a:r>
            <a:r>
              <a:t> 7zip.7zip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34480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P001 已准备 UCRT64 原生 Git，这里不再追加另一套 Git。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Python 3.12.10 单独安装；官方完整清单在正文保留作来源对照。</a:t>
            </a:r>
          </a:p>
        </p:txBody>
      </p:sp>
      <p:sp>
        <p:nvSpPr>
          <p:cNvPr id="6" name="Body 1"/>
          <p:cNvSpPr>
            <a:spLocks noGrp="1"/>
          </p:cNvSpPr>
          <p:nvPr/>
        </p:nvSpPr>
        <p:spPr>
          <a:xfrm>
            <a:off x="609600" y="4336542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按官方推荐清单准备，再重开终端核对 </a:t>
            </a:r>
            <a:r>
              <a:rPr sz="202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PATH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dtc</a:t>
            </a:r>
            <a:r>
              <a:rPr>
                <a:solidFill>
                  <a:srgbClr val="29263B"/>
                </a:solidFill>
                <a:ea typeface="Microsoft YaHei"/>
              </a:rPr>
              <a:t xml:space="preserve"> 用于补充诊断；</a:t>
            </a:r>
            <a:r>
              <a:rPr>
                <a:solidFill>
                  <a:srgbClr val="A02B93"/>
                </a:solidFill>
                <a:ea typeface="Microsoft YaHei"/>
              </a:rPr>
              <a:t>gperf</a:t>
            </a:r>
            <a:r>
              <a:rPr>
                <a:solidFill>
                  <a:srgbClr val="29263B"/>
                </a:solidFill>
                <a:ea typeface="Microsoft YaHei"/>
              </a:rPr>
              <a:t xml:space="preserve"> 按用户模式等配置使用。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Reading"/>
              </a:rPr>
              <a:t>完整解释与操作：配套 Markdown 2.1.1</a:t>
            </a:r>
          </a:p>
        </p:txBody>
      </p:sp>
      <p:sp>
        <p:nvSpPr>
          <p:cNvPr id="8" name="Command link"/>
          <p:cNvSpPr>
            <a:spLocks noGrp="1"/>
          </p:cNvSpPr>
          <p:nvPr/>
        </p:nvSpPr>
        <p:spPr>
          <a:xfrm>
            <a:off x="8191500" y="6105525"/>
            <a:ext cx="339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Command"/>
              </a:rPr>
              <a:t>完整命令：打开 TXT</a:t>
            </a:r>
          </a:p>
        </p:txBody>
      </p:sp>
      <p:sp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771BF54-CD5B-481B-A590-6B44344C4D6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7E46A90E-8A19-4348-9BA8-6958E2CBC0F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工具安装后的检查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0310DF1-0A6B-4E94-87E0-2270D4B113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3982620"/>
              </p:ext>
            </p:extLst>
          </p:nvPr>
        </p:nvGraphicFramePr>
        <p:xfrm>
          <a:off x="609600" y="1600200"/>
          <a:ext cx="10972800" cy="365760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工具</a:t>
                      </a:r>
                    </a:p>
                  </a:txBody>
                  <a:tcPr marL="152400" marR="133350" marT="114300" marB="95250" anchor="ctr">
                    <a:solidFill>
                      <a:srgbClr val="6544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职责</a:t>
                      </a:r>
                    </a:p>
                  </a:txBody>
                  <a:tcPr marL="152400" marR="133350" marT="114300" marB="95250" anchor="ctr">
                    <a:solidFill>
                      <a:srgbClr val="6544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验证命令</a:t>
                      </a:r>
                    </a:p>
                  </a:txBody>
                  <a:tcPr marL="152400" marR="133350" marT="114300" marB="95250" anchor="ctr">
                    <a:solidFill>
                      <a:srgbClr val="6544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CMake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生成构建规则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 dirty="0" err="1">
                          <a:solidFill>
                            <a:srgbClr val="A02B9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cmake</a:t>
                      </a:r>
                      <a:r>
                        <a:rPr sz="1875" b="0" dirty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875" b="0" dirty="0">
                          <a:solidFill>
                            <a:srgbClr val="B84E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--version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Ninja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调度编译和链接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 dirty="0">
                          <a:solidFill>
                            <a:srgbClr val="A02B9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ninja</a:t>
                      </a:r>
                      <a:r>
                        <a:rPr sz="1875" b="0" dirty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875" b="0" dirty="0">
                          <a:solidFill>
                            <a:srgbClr val="B84E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--version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dtc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处理设备树数据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 dirty="0" err="1">
                          <a:solidFill>
                            <a:srgbClr val="A02B9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dtc</a:t>
                      </a:r>
                      <a:r>
                        <a:rPr sz="1875" b="0" dirty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875" b="0" dirty="0">
                          <a:solidFill>
                            <a:srgbClr val="B84E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--version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A02B9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gperf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生成关键字查找代码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 dirty="0" err="1">
                          <a:solidFill>
                            <a:srgbClr val="A02B9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gperf</a:t>
                      </a:r>
                      <a:r>
                        <a:rPr sz="1875" b="0" dirty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875" b="0" dirty="0">
                          <a:solidFill>
                            <a:srgbClr val="B84E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--version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7-Zip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解压 SDK 归档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 dirty="0">
                          <a:solidFill>
                            <a:srgbClr val="A02B9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7z</a:t>
                      </a:r>
                      <a:r>
                        <a:rPr sz="1875" b="0" dirty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875" b="0" dirty="0" err="1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</a:t>
                      </a:r>
                      <a:endParaRPr sz="1875" b="0" dirty="0">
                        <a:solidFill>
                          <a:srgbClr val="262236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29B25264-14B3-4485-8AB5-863A7C3569C2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路径核对：</a:t>
            </a:r>
            <a:r>
              <a:rPr sz="1950" b="0">
                <a:solidFill>
                  <a:srgbClr val="A02B93"/>
                </a:solidFill>
                <a:latin typeface="Noto Sans SC"/>
                <a:ea typeface="Noto Sans SC"/>
                <a:cs typeface="Noto Sans SC"/>
              </a:rPr>
              <a:t>type</a:t>
            </a:r>
            <a:r>
              <a: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950" b="0">
                <a:solidFill>
                  <a:srgbClr val="B84E00"/>
                </a:solidFill>
                <a:latin typeface="Noto Sans SC"/>
                <a:ea typeface="Noto Sans SC"/>
                <a:cs typeface="Noto Sans SC"/>
              </a:rPr>
              <a:t>-a</a:t>
            </a:r>
            <a:r>
              <a: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950" b="0">
                <a:solidFill>
                  <a:srgbClr val="A02B93"/>
                </a:solidFill>
                <a:latin typeface="Noto Sans SC"/>
                <a:ea typeface="Noto Sans SC"/>
                <a:cs typeface="Noto Sans SC"/>
              </a:rPr>
              <a:t>cmake</a:t>
            </a:r>
            <a:r>
              <a: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950" b="0">
                <a:solidFill>
                  <a:srgbClr val="A02B93"/>
                </a:solidFill>
                <a:latin typeface="Noto Sans SC"/>
                <a:ea typeface="Noto Sans SC"/>
                <a:cs typeface="Noto Sans SC"/>
              </a:rPr>
              <a:t>ninja</a:t>
            </a:r>
            <a:r>
              <a: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950" b="0">
                <a:solidFill>
                  <a:srgbClr val="A02B93"/>
                </a:solidFill>
                <a:latin typeface="Noto Sans SC"/>
                <a:ea typeface="Noto Sans SC"/>
                <a:cs typeface="Noto Sans SC"/>
              </a:rPr>
              <a:t>dtc</a:t>
            </a:r>
            <a:r>
              <a: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950" b="0">
                <a:solidFill>
                  <a:srgbClr val="A02B93"/>
                </a:solidFill>
                <a:latin typeface="Noto Sans SC"/>
                <a:ea typeface="Noto Sans SC"/>
                <a:cs typeface="Noto Sans SC"/>
              </a:rPr>
              <a:t>gperf</a:t>
            </a:r>
            <a:r>
              <a: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950" b="0">
                <a:solidFill>
                  <a:srgbClr val="A02B93"/>
                </a:solidFill>
                <a:latin typeface="Noto Sans SC"/>
                <a:ea typeface="Noto Sans SC"/>
                <a:cs typeface="Noto Sans SC"/>
              </a:rPr>
              <a:t>7z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80651EE-C1B7-4861-A75F-B49F54B6A6C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76225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7F5BB-0592-D829-7AAD-32A5F33B3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D79FCE36-70D8-3340-0A69-11611DE5D83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 dirty="0">
                <a:solidFill>
                  <a:srgbClr val="262236"/>
                </a:solidFill>
                <a:latin typeface="Noto Sans SC"/>
                <a:ea typeface="Noto Sans SC"/>
                <a:cs typeface="Noto Sans SC"/>
                <a:hlinkClick r:id="rId3"/>
              </a:rPr>
              <a:t>Windows Python </a:t>
            </a:r>
            <a:r>
              <a:rPr sz="3300" b="1" dirty="0" err="1">
                <a:solidFill>
                  <a:srgbClr val="262236"/>
                </a:solidFill>
                <a:latin typeface="Noto Sans SC"/>
                <a:ea typeface="Noto Sans SC"/>
                <a:cs typeface="Noto Sans SC"/>
                <a:hlinkClick r:id="rId3"/>
              </a:rPr>
              <a:t>安装包</a:t>
            </a:r>
            <a:endParaRPr sz="3300" b="1" dirty="0">
              <a:solidFill>
                <a:srgbClr val="262236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A9510AC-EF64-3D38-9454-D86D26D50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8045" y="1358374"/>
            <a:ext cx="1461052" cy="21915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908ED6A-F456-82A7-433A-1F0B1DADD3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6875" y="1467768"/>
            <a:ext cx="3197089" cy="19727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B280472-A07A-034E-61D2-FED3B8ED99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307" y="3960744"/>
            <a:ext cx="3197087" cy="19727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D5650ED-F54C-DA5B-29B7-879F6FA20D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3092" y="3960744"/>
            <a:ext cx="3197087" cy="19727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A327119-6600-B3F5-0F4D-8668A31D3B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6877" y="3960743"/>
            <a:ext cx="3197087" cy="19727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F261999-5C57-FFDC-7D04-798F816F66A3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4126394" y="2441374"/>
            <a:ext cx="1091651" cy="12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B1B89F9-F212-0723-BAFF-80928B17BD3C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6679097" y="2454163"/>
            <a:ext cx="10977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D5FFD658-9316-835A-F7E6-D5896A8CD14C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rot="5400000">
            <a:off x="5691543" y="276867"/>
            <a:ext cx="520186" cy="684756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F03A7D2A-A863-4390-DC83-00AFA1CC66B4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4126394" y="4947139"/>
            <a:ext cx="2266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D75DF8A-C873-AC90-9A6C-C35F92461E78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 flipV="1">
            <a:off x="7550179" y="4947138"/>
            <a:ext cx="22669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7D50FA1-AF85-449E-AA3F-7DE8200CACE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CAD8ABE-1681-80C9-E364-8065F778A5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307" y="1577161"/>
            <a:ext cx="3197087" cy="17284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74348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A40B2B33-1293-4C6D-B5C9-C11DB4D0AC5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缺少安装器时才用 UCRT64 下载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F3E1AFDE-CE39-4262-82F0-4524C9FDF84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2.1.3 · Windows 官方 Python 安装器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FEDF8EB3-CBAD-4F0E-9290-0B631BCE0493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2714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UCRT64；仅在没有官方 3.12.10 </a:t>
            </a:r>
            <a:r>
              <a:rPr sz="1875" b="0" dirty="0" err="1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安装器时下载</a:t>
            </a:r>
            <a:r>
              <a:rPr sz="1875" b="0" dirty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。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 err="1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mkdir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-p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/g/</a:t>
            </a:r>
            <a:r>
              <a:rPr sz="1875" b="0" dirty="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zephyr_practice</a:t>
            </a:r>
            <a:r>
              <a:rPr sz="1875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/downloads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cd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/g/</a:t>
            </a:r>
            <a:r>
              <a:rPr sz="1875" b="0" dirty="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zephyr_practice</a:t>
            </a:r>
            <a:r>
              <a:rPr sz="1875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/downloads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curl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875" b="0" dirty="0" err="1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fL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https://www.python.org/ftp/python/3.12.10/python-3.12.10-amd64.exe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75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-o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python-3.12.10-amd64.exe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50656C6D-297E-4BAE-BEF7-462ACECC8183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已有安装器就核对来源并复用；已安装 3.12.10 就跳过。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下载目录只保存安装文件，不是 Python 的安装位置。</a:t>
            </a:r>
          </a:p>
        </p:txBody>
      </p:sp>
      <p:sp>
        <p:nvSpPr>
          <p:cNvPr id="5" name="Command file link">
            <a:extLst>
              <a:ext uri="{FF2B5EF4-FFF2-40B4-BE49-F238E27FC236}">
                <a16:creationId xmlns:a16="http://schemas.microsoft.com/office/drawing/2014/main" id="{A80A91FD-C57F-4C9A-A549-1F27176EF1DC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完整命令：P002_Windows/2.1.3-01.txt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9D4258D-59BE-40BE-854F-66B23197943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28990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AEDD8674-65DA-4C97-9908-FEBBF35D7CF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 UCRT64 启动官方 Python 安装器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67B7BD41-4A66-41D6-A641-CBD402B973A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2.1.3 · 图形安装的替代路线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944095FF-E01C-468A-BFB2-5CEA59AF30F1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2714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UCRT64；官方安装器已完整下载，尚未安装该版本。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cd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/g/</a:t>
            </a:r>
            <a:r>
              <a:rPr sz="1875" b="0" dirty="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zephyr_practice</a:t>
            </a:r>
            <a:r>
              <a:rPr sz="1875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/downloads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MSYS2_ARG_CONV_EXCL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='*' </a:t>
            </a:r>
            <a:r>
              <a:rPr sz="1875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./python-3.12.10-amd64.exe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/passive </a:t>
            </a:r>
            <a:r>
              <a:rPr sz="1875" b="0" dirty="0" err="1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InstallAllUsers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=0 </a:t>
            </a:r>
            <a:r>
              <a:rPr sz="1875" b="0" dirty="0" err="1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PrependPath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=1 \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75" b="0" dirty="0" err="1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Include_pip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=1 </a:t>
            </a:r>
            <a:r>
              <a:rPr sz="1875" b="0" dirty="0" err="1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Include_launcher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=1 </a:t>
            </a:r>
            <a:r>
              <a:rPr sz="1875" b="0" dirty="0" err="1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InstallLauncherAllUsers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=0 </a:t>
            </a:r>
            <a:r>
              <a:rPr sz="1875" b="0" dirty="0" err="1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Include_test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=0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FCC04B35-3FB7-4076-AC5F-D1B77F692B5D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本条沿用已有 UCRT64 操作方式；安装到 Windows 默认用户位置。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安装成功后新开 UCRT64，再选版本和激活 </a:t>
            </a: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.venv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Command file link">
            <a:extLst>
              <a:ext uri="{FF2B5EF4-FFF2-40B4-BE49-F238E27FC236}">
                <a16:creationId xmlns:a16="http://schemas.microsoft.com/office/drawing/2014/main" id="{FE3F32F1-D6AF-4CB4-952E-98B683DA5DA5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完整命令：P002_Windows/2.1.3-02.txt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4DD7A0-C9B9-43D9-8DCB-EB8A324F273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24907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2381B5C5-6D64-481B-9F26-2498201F3A6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未安装 Launcher 时的分支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F1554838-4EFC-41B4-9520-F58FE1A62633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2.1.4 · py 不存在，但 python 已可执行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F3C72C5A-65E2-498A-A941-60024E2E397D}"/>
              </a:ext>
            </a:extLst>
          </p:cNvPr>
          <p:cNvSpPr>
            <a:spLocks noGrp="1"/>
          </p:cNvSpPr>
          <p:nvPr/>
        </p:nvSpPr>
        <p:spPr>
          <a:xfrm>
            <a:off x="609599" y="1838325"/>
            <a:ext cx="6063466" cy="298464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UCRT64；任意目录；</a:t>
            </a:r>
            <a:endParaRPr lang="en-US" altLang="zh-CN" sz="1875" dirty="0">
              <a:solidFill>
                <a:srgbClr val="00596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仅用于 py 不存在但 python 可执行的分支。</a:t>
            </a:r>
            <a:endParaRPr lang="en-US" altLang="zh-CN" sz="1875" dirty="0">
              <a:solidFill>
                <a:srgbClr val="00596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--version</a:t>
            </a:r>
            <a:endParaRPr lang="en-US" altLang="zh-CN" sz="1875" dirty="0">
              <a:solidFill>
                <a:srgbClr val="00596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-m </a:t>
            </a:r>
            <a:r>
              <a:rPr sz="1875" b="0" dirty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pip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--version</a:t>
            </a:r>
            <a:endParaRPr lang="en-US" altLang="zh-CN" sz="1875" dirty="0">
              <a:solidFill>
                <a:srgbClr val="005968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81EF8F66-0F28-46B4-A9E4-021D8C3CE7F7}"/>
              </a:ext>
            </a:extLst>
          </p:cNvPr>
          <p:cNvSpPr>
            <a:spLocks noGrp="1"/>
          </p:cNvSpPr>
          <p:nvPr/>
        </p:nvSpPr>
        <p:spPr>
          <a:xfrm>
            <a:off x="628650" y="4870594"/>
            <a:ext cx="10972800" cy="103158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2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输出也是</a:t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3.12.10 </a:t>
            </a:r>
            <a:r>
              <a:rPr sz="18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时，可用</a:t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75" b="0" dirty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python</a:t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75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-m</a:t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venv</a:t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75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</a:t>
            </a:r>
            <a:r>
              <a:rPr sz="1875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venv</a:t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创建环境</a:t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87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若版本不符或两个命令都缺失，重开终端并在安装器中检查</a:t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Launcher/</a:t>
            </a:r>
            <a:r>
              <a:rPr sz="1875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PATH</a:t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Command file link">
            <a:extLst>
              <a:ext uri="{FF2B5EF4-FFF2-40B4-BE49-F238E27FC236}">
                <a16:creationId xmlns:a16="http://schemas.microsoft.com/office/drawing/2014/main" id="{28468249-36E6-470A-B4BF-74369CC8E666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完整命令：P002_Windows/2.1.4-02.txt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16FFED6-4452-B429-79AC-9CBBA7C32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666" y="2168126"/>
            <a:ext cx="5490734" cy="2578643"/>
          </a:xfrm>
          <a:prstGeom prst="rect">
            <a:avLst/>
          </a:prstGeom>
        </p:spPr>
      </p:pic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95C4A2E-887D-407C-9010-64112B67D8F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Historical screenshot caption">
            <a:extLst>
              <a:ext uri="{FF2B5EF4-FFF2-40B4-BE49-F238E27FC236}">
                <a16:creationId xmlns:a16="http://schemas.microsoft.com/office/drawing/2014/main" id="{10A1293F-717C-417E-9EF8-B4149E8F545E}"/>
              </a:ext>
            </a:extLst>
          </p:cNvPr>
          <p:cNvSpPr>
            <a:spLocks noGrp="1"/>
          </p:cNvSpPr>
          <p:nvPr/>
        </p:nvSpPr>
        <p:spPr>
          <a:xfrm>
            <a:off x="6096000" y="1838325"/>
            <a:ext cx="54768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spcAft>
                <a:spcPts val="0"/>
              </a:spcAft>
              <a:defRPr sz="120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46173"/>
                </a:solidFill>
              </a:rPr>
              <a:t>历史失败记录：python 仍不可用，返回安装/PATH 核对</a:t>
            </a:r>
          </a:p>
        </p:txBody>
      </p:sp>
    </p:spTree>
    <p:extLst>
      <p:ext uri="{BB962C8B-B14F-4D97-AF65-F5344CB8AC3E}">
        <p14:creationId xmlns:p14="http://schemas.microsoft.com/office/powerpoint/2010/main" val="1647664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28DBA438-4BCC-4ACB-B30C-F36B57D8615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py 与 python 的使用阶段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3B49A090-4E6B-419A-8087-B2759EFC8DC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2.1.4 · 选择版本与使用项目环境</a:t>
            </a:r>
          </a:p>
        </p:txBody>
      </p:sp>
      <p:sp>
        <p:nvSpPr>
          <p:cNvPr id="3" name="explanation">
            <a:extLst>
              <a:ext uri="{FF2B5EF4-FFF2-40B4-BE49-F238E27FC236}">
                <a16:creationId xmlns:a16="http://schemas.microsoft.com/office/drawing/2014/main" id="{B29B8D36-9328-4189-A2C4-71A7AE156219}"/>
              </a:ext>
            </a:extLst>
          </p:cNvPr>
          <p:cNvSpPr>
            <a:spLocks noGrp="1"/>
          </p:cNvSpPr>
          <p:nvPr/>
        </p:nvSpPr>
        <p:spPr>
          <a:xfrm>
            <a:off x="609599" y="1619250"/>
            <a:ext cx="11104255" cy="475554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200"/>
              </a:spcAft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py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75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-3.12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按版本找到基础解释器，不需要手写它的安装位置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创建虚拟</a:t>
            </a:r>
            <a:r>
              <a:rPr lang="en-US" altLang="zh-CN" sz="217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python</a:t>
            </a:r>
            <a:r>
              <a:rPr lang="zh-CN" altLang="en-US" sz="217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环境：</a:t>
            </a:r>
            <a:endParaRPr lang="en-US" altLang="zh-CN" sz="2175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17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175" b="0" dirty="0" err="1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py</a:t>
            </a:r>
            <a:r>
              <a:rPr sz="2175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75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-3.12</a:t>
            </a:r>
            <a:r>
              <a:rPr sz="2175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75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-m</a:t>
            </a:r>
            <a:r>
              <a:rPr sz="2175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venv</a:t>
            </a:r>
            <a:r>
              <a:rPr sz="2175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75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</a:t>
            </a:r>
            <a:r>
              <a:rPr sz="2175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venv</a:t>
            </a:r>
            <a:endParaRPr lang="en-US" sz="2175" b="0" dirty="0">
              <a:solidFill>
                <a:srgbClr val="0070C0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激活</a:t>
            </a:r>
            <a:r>
              <a:rPr lang="en-US" altLang="zh-CN"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python</a:t>
            </a:r>
            <a:r>
              <a:rPr lang="zh-CN" altLang="en-US"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环境：</a:t>
            </a:r>
            <a:br>
              <a:rPr lang="en-US" altLang="zh-CN" sz="217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</a:br>
            <a:r>
              <a:rPr lang="en-US" altLang="zh-CN" sz="217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lang="en-US" altLang="zh-CN" sz="2175" dirty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source</a:t>
            </a:r>
            <a:r>
              <a:rPr lang="en-US" altLang="zh-CN" sz="2175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175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</a:t>
            </a:r>
            <a:r>
              <a:rPr lang="en-US" altLang="zh-CN" sz="2175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venv</a:t>
            </a:r>
            <a:r>
              <a:rPr lang="en-US" altLang="zh-CN" sz="2175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/Scripts/activate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退出</a:t>
            </a:r>
            <a:r>
              <a:rPr lang="en-US" altLang="zh-CN" sz="217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python</a:t>
            </a:r>
            <a:r>
              <a:rPr lang="zh-CN" altLang="en-US" sz="217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虚拟环境：</a:t>
            </a:r>
            <a:br>
              <a:rPr lang="en-US" altLang="zh-CN" sz="217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</a:br>
            <a:r>
              <a:rPr lang="en-US" altLang="zh-CN" sz="217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lang="en-US" altLang="zh-CN" sz="2175" dirty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deactivate</a:t>
            </a:r>
            <a:endParaRPr sz="217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激活后统一使用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75" b="0" dirty="0" err="1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python</a:t>
            </a: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，它会选择项目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75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</a:t>
            </a:r>
            <a:r>
              <a:rPr sz="2175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venv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安装项目依赖时使用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75" b="0" dirty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python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75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-m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pip，避免带版本的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75" b="0" dirty="0" err="1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py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选回基础解释器</a:t>
            </a:r>
            <a:r>
              <a:rPr sz="21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A67FB26-758E-3C54-86D1-1860548CD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977" y="2047875"/>
            <a:ext cx="4633784" cy="2857500"/>
          </a:xfrm>
          <a:prstGeom prst="rect">
            <a:avLst/>
          </a:prstGeom>
        </p:spPr>
      </p:pic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ADA01D8-CE05-4A20-93A1-0BFE27AC6EC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87608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5AEB82BF-E628-49A5-82FC-910C5C7B333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Python 依赖的安装位置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7E3CD19-8E00-40B3-A013-E27EDA1F541F}"/>
              </a:ext>
            </a:extLst>
          </p:cNvPr>
          <p:cNvGraphicFramePr/>
          <p:nvPr/>
        </p:nvGraphicFramePr>
        <p:xfrm>
          <a:off x="609600" y="1600200"/>
          <a:ext cx="10972800" cy="2771775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39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取得的源码</a:t>
                      </a:r>
                    </a:p>
                  </a:txBody>
                  <a:tcPr marL="152400" marR="133350" marT="114300" marB="95250" anchor="ctr">
                    <a:solidFill>
                      <a:srgbClr val="6544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Python 环境</a:t>
                      </a:r>
                    </a:p>
                  </a:txBody>
                  <a:tcPr marL="152400" marR="133350" marT="114300" marB="95250" anchor="ctr">
                    <a:solidFill>
                      <a:srgbClr val="6544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依赖入口</a:t>
                      </a:r>
                    </a:p>
                  </a:txBody>
                  <a:tcPr marL="152400" marR="133350" marT="114300" marB="95250" anchor="ctr">
                    <a:solidFill>
                      <a:srgbClr val="6544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上游 Zephyr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在源码根创建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.venv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scripts/requirements-base.txt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后续测试实验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在同一环境补充依赖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按任务选择依赖清单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46E2BB44-C8EF-4D98-930D-089CDACC6F41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2175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工具包存放在 </a:t>
            </a:r>
            <a:r>
              <a:rPr sz="2175" b="1">
                <a:solidFill>
                  <a:srgbClr val="0070C0"/>
                </a:solidFill>
                <a:latin typeface="Noto Sans SC"/>
                <a:ea typeface="Noto Sans SC"/>
                <a:cs typeface="Noto Sans SC"/>
              </a:rPr>
              <a:t>.venv</a:t>
            </a:r>
            <a:r>
              <a:rPr sz="2175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，SDK 保持在源码仓库外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46E882-64E2-458B-A588-AE087F57DA78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本期使用 Windows Python，激活脚本位于 Scripts/activate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3E6E13D-DE2D-47E3-B56B-3E17B89C678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66098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9D67D5CA-ADD5-4F0F-98E5-28C79E2A000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首次创建项目</a:t>
            </a:r>
            <a:r>
              <a:rPr sz="3150" b="1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.</a:t>
            </a:r>
            <a:r>
              <a:rPr sz="3150" b="1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venv</a:t>
            </a:r>
            <a:endParaRPr sz="3150" b="1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2F523DEB-2E12-46F8-8CAD-1714CDC1CF3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2.2.1 · 源码根；已核对基础 Python 3.12.10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107F4480-A7A6-4E19-864C-6475EF765B37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2714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875" b="0" dirty="0" err="1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当前位置：上游</a:t>
            </a:r>
            <a:r>
              <a:rPr sz="1875" b="0" dirty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 Zephyr 源码根目录；终端：UCRT64。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 err="1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-3.12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-m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 err="1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venv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875" b="0" dirty="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venv</a:t>
            </a:r>
            <a:endParaRPr sz="1875" b="0" dirty="0">
              <a:solidFill>
                <a:srgbClr val="00596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source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875" b="0" dirty="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venv</a:t>
            </a:r>
            <a:r>
              <a:rPr sz="1875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/Scripts/activate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--version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-m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pip </a:t>
            </a:r>
            <a:r>
              <a:rPr sz="1875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--version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77B63DB4-61EE-4B8C-A8A1-62F54846FAAD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已有 .venv 则直接激活，不重复创建。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从这一页之后，项目命令统一使用</a:t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75" b="0" dirty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python</a:t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Command file link">
            <a:extLst>
              <a:ext uri="{FF2B5EF4-FFF2-40B4-BE49-F238E27FC236}">
                <a16:creationId xmlns:a16="http://schemas.microsoft.com/office/drawing/2014/main" id="{0CCD8888-D990-4B81-9974-8B381ED1E744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完整命令：P002_Windows/2.2.1-02.txt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771BF54-CD5B-481B-A590-6B44344C4D6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136302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D6A0C773-2905-4D2A-8A61-58B1FD4A8A1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把依赖装进刚确认的</a:t>
            </a:r>
            <a:r>
              <a:rPr sz="3150" b="1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150" b="1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venv</a:t>
            </a:r>
            <a:r>
              <a:rPr lang="zh-CN" altLang="en-US" sz="3150" b="1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3200" b="1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按清单安装 </a:t>
            </a:r>
            <a:r>
              <a:rPr lang="en-US" altLang="zh-CN" sz="3200" b="1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Python </a:t>
            </a:r>
            <a:r>
              <a:rPr lang="zh-CN" altLang="en-US" sz="3200" b="1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包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8F7F0931-59C5-4751-ABC0-22FAA7D0F99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2.2.1_上一期下载的是上游_Zephyr_源码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B69EA047-31EB-4FF7-9428-DDF90211A113}"/>
              </a:ext>
            </a:extLst>
          </p:cNvPr>
          <p:cNvSpPr>
            <a:spLocks noGrp="1"/>
          </p:cNvSpPr>
          <p:nvPr/>
        </p:nvSpPr>
        <p:spPr>
          <a:xfrm>
            <a:off x="609600" y="1722500"/>
            <a:ext cx="10972800" cy="2714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875" b="0" dirty="0" err="1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当前位置：上游</a:t>
            </a:r>
            <a:r>
              <a:rPr sz="1875" b="0" dirty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 Zephyr 源码根目录；终端：UCRT64，已激活 .</a:t>
            </a:r>
            <a:r>
              <a:rPr sz="1875" b="0" dirty="0" err="1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venv</a:t>
            </a:r>
            <a:r>
              <a:rPr sz="1875" b="0" dirty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。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-m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pip install </a:t>
            </a:r>
            <a:r>
              <a:rPr sz="1875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-r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scripts/requirements-base.txt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"</a:t>
            </a:r>
            <a:r>
              <a:rPr sz="1875" b="0" dirty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west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==1.5.0"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-m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pip check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-m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west</a:t>
            </a:r>
            <a:r>
              <a:rPr sz="1875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--version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B5149F5F-70E4-43EE-BACF-F702C844B14E}"/>
              </a:ext>
            </a:extLst>
          </p:cNvPr>
          <p:cNvSpPr>
            <a:spLocks noGrp="1"/>
          </p:cNvSpPr>
          <p:nvPr/>
        </p:nvSpPr>
        <p:spPr>
          <a:xfrm>
            <a:off x="609600" y="3119296"/>
            <a:ext cx="4553492" cy="1587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2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requirements-base.txt</a:t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 Zephyr </a:t>
            </a:r>
            <a:r>
              <a:rPr sz="18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官方文件</a:t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</a:t>
            </a:r>
            <a:endParaRPr lang="en-US" sz="187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补丁号为教程选择。pip</a:t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check </a:t>
            </a:r>
            <a:r>
              <a:rPr sz="187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应无冲突</a:t>
            </a:r>
            <a:r>
              <a:rPr sz="187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Command file link">
            <a:extLst>
              <a:ext uri="{FF2B5EF4-FFF2-40B4-BE49-F238E27FC236}">
                <a16:creationId xmlns:a16="http://schemas.microsoft.com/office/drawing/2014/main" id="{C8FADDA7-1CF3-4398-99B5-723ACE39F4E0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完整命令：P002_Windows/2.2.1-03.txt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590B78D-8EA6-843F-4FB5-55F804D68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717" y="2453093"/>
            <a:ext cx="6210484" cy="3906898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5B6FC587-269D-B894-A426-AB9174187019}"/>
              </a:ext>
            </a:extLst>
          </p:cNvPr>
          <p:cNvSpPr>
            <a:spLocks noGrp="1"/>
          </p:cNvSpPr>
          <p:nvPr/>
        </p:nvSpPr>
        <p:spPr>
          <a:xfrm>
            <a:off x="704850" y="5048250"/>
            <a:ext cx="43815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 dirty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接着阅读 P003 SDK，</a:t>
            </a:r>
          </a:p>
          <a:p>
            <a:pPr>
              <a:lnSpc>
                <a:spcPct val="120000"/>
              </a:lnSpc>
              <a:def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 dirty="0">
                <a:solidFill>
                  <a:srgbClr val="29263B"/>
                </a:solidFill>
                <a:latin typeface="Noto Sans SC"/>
                <a:ea typeface="Noto Sans SC"/>
                <a:cs typeface="Noto Sans SC"/>
              </a:rPr>
              <a:t>随后 P004 CMSIS、P005 驱动模型、P006 HC32。</a:t>
            </a:r>
          </a:p>
        </p:txBody>
      </p:sp>
      <p:sp>
        <p:nvSpPr>
          <p:cNvPr id="16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C8CA3C4-1151-4EC5-AF6B-2B87959182C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293856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2134</Words>
  <Application>Microsoft Office PowerPoint</Application>
  <DocSecurity>0</DocSecurity>
  <PresentationFormat>宽屏</PresentationFormat>
  <Paragraphs>245</Paragraphs>
  <Slides>19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Noto Sans SC</vt:lpstr>
      <vt:lpstr>Microsoft YaHei</vt:lpstr>
      <vt:lpstr>Aptos</vt:lpstr>
      <vt:lpstr>Consolas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131</cp:revision>
  <dcterms:created xsi:type="dcterms:W3CDTF">2026-10-06T03:23:18Z</dcterms:created>
  <dcterms:modified xsi:type="dcterms:W3CDTF">2026-10-07T09:29:34Z</dcterms:modified>
</cp:coreProperties>
</file>