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26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5" r:id="rId18"/>
    <p:sldId id="266" r:id="rId19"/>
    <p:sldId id="267" r:id="rId20"/>
    <p:sldId id="269" r:id="rId21"/>
    <p:sldId id="268" r:id="rId22"/>
    <p:sldId id="271" r:id="rId23"/>
    <p:sldId id="272" r:id="rId24"/>
    <p:sldId id="273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79395" autoAdjust="0"/>
  </p:normalViewPr>
  <p:slideViewPr>
    <p:cSldViewPr snapToGrid="0">
      <p:cViewPr varScale="1">
        <p:scale>
          <a:sx n="106" d="100"/>
          <a:sy n="106" d="100"/>
        </p:scale>
        <p:origin x="1241" y="51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3.xml"/><Relationship Id="rId18" Type="http://schemas.openxmlformats.org/officeDocument/2006/relationships/slide" Target="slides/slide8.xml"/><Relationship Id="rId26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1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2.xml"/><Relationship Id="rId17" Type="http://schemas.openxmlformats.org/officeDocument/2006/relationships/slide" Target="slides/slide7.xml"/><Relationship Id="rId25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6.xml"/><Relationship Id="rId20" Type="http://schemas.openxmlformats.org/officeDocument/2006/relationships/slide" Target="slides/slide10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1.xml"/><Relationship Id="rId24" Type="http://schemas.openxmlformats.org/officeDocument/2006/relationships/slide" Target="slides/slide14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5.xml"/><Relationship Id="rId23" Type="http://schemas.openxmlformats.org/officeDocument/2006/relationships/slide" Target="slides/slide13.xml"/><Relationship Id="rId28" Type="http://schemas.openxmlformats.org/officeDocument/2006/relationships/viewProps" Target="viewProps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9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4.xml"/><Relationship Id="rId22" Type="http://schemas.openxmlformats.org/officeDocument/2006/relationships/slide" Target="slides/slide12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承接第一期的 UCRT64 与源码下载。本期从原生文件查版本，准备 SDK、主机工具、Windows Python 3.12.10、west 1.5.0 与源码根 .venv。完成标志是工具和包环境可以核验、下次可以恢复。CMake 配置、实际编译与新增板实验已独立放入 P011。</a:t>
            </a:r>
          </a:p>
          <a:p>
            <a:r>
              <a:t>配套正文：learning/P01_zephyr_make_project/P002_主机工具与Python环境_Windows.md</a:t>
            </a:r>
          </a:p>
          <a:p>
            <a:r>
              <a:t>资料分工：本PPT配合视频讲解关键关系和复习步骤；完整前提、安装分支、可复制命令、预期结果与恢复说明以同名Markdown为主。正文提供本章导航和视频与复习对照。正文：learning/P01_zephyr_make_project/P002_主机工具与Python环境_Windows.md。实验仍在G:/zephyr_practice/zephyr-main进行，Windows命令按UCRT64或PowerShell标识分别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 分册路线 · 完成后进入 P003。实验源码根 G:/zephyr_practice/zephyr-main。</a:t>
            </a:r>
          </a:p>
          <a:p>
            <a:r>
              <a:t>本册先准备电脑上运行的命令，再建立源码根的 .venv。</a:t>
            </a:r>
          </a:p>
          <a:p>
            <a:r>
              <a:t>已有 Python 按版本选择；缺少时才安装。</a:t>
            </a:r>
          </a:p>
          <a:p>
            <a:r>
              <a:t>结果：工具可运行，Python 与 west 使用同一虚拟环境。</a:t>
            </a:r>
          </a:p>
          <a:p>
            <a:r>
              <a:t>
完整正文：learning/P01_zephyr_make_project/P002_主机工具与Python环境_Windows.md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对应正文：P002_Windows，本期准备顺序与终端边界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对应正文：本期准备顺序与终端边界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 · 工具安装在前，固件源码依赖在后</a:t>
            </a:r>
          </a:p>
          <a:p>
            <a:endParaRPr/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对应正文：learning/P01_zephyr_make_project/P002_主机工具与Python环境_Windows.md</a:t>
            </a:r>
          </a:p>
          <a:p>
            <a:r>
              <a:t>2.1.1 · 先准备电脑上的工具</a:t>
            </a:r>
          </a:p>
          <a:p>
            <a:r>
              <a:t>来源：https://docs.zephyrproject.org/latest/develop/getting_started/index.html 。以当前实验源码对应文档为准。Windows 安装命令在 PowerShell 或 cmd.exe 运行，后续回到 UCRT64。</a:t>
            </a:r>
          </a:p>
          <a:p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对应正文：P002_Windows，2.1.1_按官方 Windows 步骤安装主机工具</a:t>
            </a:r>
          </a:p>
          <a:p>
            <a:r>
              <a:t># Windows PowerShell 或 cmd.exe；本教程固定 Python 时使用。</a:t>
            </a:r>
          </a:p>
          <a:p>
            <a:r>
              <a:t>winget --version</a:t>
            </a:r>
          </a:p>
          <a:p>
            <a:r>
              <a:t>winget install Kitware.CMake Ninja-build.Ninja oss-winget.gperf Git.Git oss-winget.dtc wget 7zip.7zip</a:t>
            </a:r>
          </a:p>
          <a:p>
            <a:r>
              <a:t>完整操作单元：../commands/P002_Windows/2.1.1-02.txt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安装后重开UCRT64，用type -a和版本命令核对实际Windows程序。不预设来自/ucrt64/bin：该目录可能覆盖Windows PATH上刚装的同名工具。7-Zip可能需手工加入安装目录。Windows路径输入转换方法见正文2.1.1与主机工具与官方安装来源1.2。</a:t>
            </a:r>
          </a:p>
          <a:p>
            <a:r>
              <a:t>依据：当前源码根 doc/develop/getting_started/index.rst 的 Windows 分支；2026-10-05 核对修订25c8f4a23988dd3b2cfb463613622738298c2d6c。https://docs.zephyrproject.org/latest/develop/getting_started/index.html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46D45-2630-5F89-48C1-8341838AB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1FFA1-BEA6-4248-E8BF-0A0D92435E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E57989-DD8E-0AD9-D805-5871B7B759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Windows </a:t>
            </a:r>
            <a:r>
              <a:rPr dirty="0" err="1"/>
              <a:t>图形安装方式：从</a:t>
            </a:r>
            <a:r>
              <a:rPr dirty="0"/>
              <a:t> Python 3.12.10 </a:t>
            </a:r>
            <a:r>
              <a:rPr dirty="0" err="1"/>
              <a:t>发行页选择</a:t>
            </a:r>
            <a:r>
              <a:rPr dirty="0"/>
              <a:t> Windows installer (64-bit)，</a:t>
            </a:r>
            <a:r>
              <a:rPr dirty="0" err="1"/>
              <a:t>自定义目录并保留</a:t>
            </a:r>
            <a:r>
              <a:rPr dirty="0"/>
              <a:t> pip。</a:t>
            </a:r>
            <a:endParaRPr lang="en-US" dirty="0"/>
          </a:p>
          <a:p>
            <a:r>
              <a:rPr dirty="0" err="1"/>
              <a:t>截图中的</a:t>
            </a:r>
            <a:r>
              <a:rPr dirty="0"/>
              <a:t> E:\python\python3_12 </a:t>
            </a:r>
            <a:r>
              <a:rPr dirty="0" err="1"/>
              <a:t>是作者所选目录</a:t>
            </a:r>
            <a:r>
              <a:rPr dirty="0"/>
              <a:t>。</a:t>
            </a:r>
            <a:endParaRPr lang="en-US" dirty="0"/>
          </a:p>
          <a:p>
            <a:r>
              <a:rPr dirty="0"/>
              <a:t>Add python.exe to PATH </a:t>
            </a:r>
            <a:r>
              <a:rPr dirty="0" err="1"/>
              <a:t>控制命令查找，Python</a:t>
            </a:r>
            <a:r>
              <a:rPr dirty="0"/>
              <a:t> Launcher </a:t>
            </a:r>
            <a:r>
              <a:rPr dirty="0" err="1"/>
              <a:t>提供</a:t>
            </a:r>
            <a:r>
              <a:rPr dirty="0"/>
              <a:t> </a:t>
            </a:r>
            <a:r>
              <a:rPr dirty="0" err="1"/>
              <a:t>py；二者作用不同。图中的下载调试符号、调试二进制是可选组件，Zephyr</a:t>
            </a:r>
            <a:r>
              <a:rPr dirty="0"/>
              <a:t> </a:t>
            </a:r>
            <a:r>
              <a:rPr dirty="0" err="1"/>
              <a:t>主线不要求勾选。安装后重开</a:t>
            </a:r>
            <a:r>
              <a:rPr dirty="0"/>
              <a:t> UCRT64；即使 </a:t>
            </a:r>
            <a:r>
              <a:rPr dirty="0" err="1"/>
              <a:t>py</a:t>
            </a:r>
            <a:r>
              <a:rPr dirty="0"/>
              <a:t> </a:t>
            </a:r>
            <a:r>
              <a:rPr dirty="0" err="1"/>
              <a:t>已可用，也继续检查</a:t>
            </a:r>
            <a:r>
              <a:rPr dirty="0"/>
              <a:t> python 的 PATH。</a:t>
            </a:r>
            <a:endParaRPr lang="en-US" dirty="0"/>
          </a:p>
          <a:p>
            <a:r>
              <a:rPr dirty="0" err="1"/>
              <a:t>本页与随后</a:t>
            </a:r>
            <a:r>
              <a:rPr dirty="0"/>
              <a:t> UCRT64 </a:t>
            </a:r>
            <a:r>
              <a:rPr dirty="0" err="1"/>
              <a:t>命令安装二选一，不重复安装同版本</a:t>
            </a:r>
            <a:r>
              <a:rPr dirty="0"/>
              <a:t>。</a:t>
            </a:r>
            <a:endParaRPr lang="en-US" dirty="0"/>
          </a:p>
          <a:p>
            <a:endParaRPr dirty="0"/>
          </a:p>
          <a:p>
            <a:r>
              <a:rPr dirty="0"/>
              <a:t>配套正文：learning/P01_zephyr_make_project/P002_主机工具与Python环境_Windows.md</a:t>
            </a:r>
            <a:endParaRPr lang="en-US" dirty="0"/>
          </a:p>
          <a:p>
            <a:endParaRPr dirty="0" err="1"/>
          </a:p>
          <a:p>
            <a:r>
              <a:rPr dirty="0"/>
              <a:t>https://docs.python.org/3.12/using/windows.html#installation-steps</a:t>
            </a:r>
            <a:endParaRPr lang="en-US" dirty="0"/>
          </a:p>
          <a:p>
            <a:br>
              <a:rPr lang="en-US" dirty="0"/>
            </a:br>
            <a:r>
              <a:rPr lang="en-US" altLang="zh-CN" dirty="0"/>
              <a:t>python 3.12.10</a:t>
            </a:r>
            <a:r>
              <a:rPr lang="zh-CN" altLang="en-US" dirty="0"/>
              <a:t>下载地址：</a:t>
            </a:r>
            <a:r>
              <a:rPr lang="en-US" altLang="zh-CN" dirty="0"/>
              <a:t>https://www.python.org/downloads/release/python-31210/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02835-D318-7AE6-0276-831C8FE82DE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34234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对应正文：P002_Windows，2.1.3 · Windows </a:t>
            </a:r>
            <a:r>
              <a:rPr dirty="0" err="1"/>
              <a:t>官方</a:t>
            </a:r>
            <a:r>
              <a:rPr dirty="0"/>
              <a:t> Python </a:t>
            </a:r>
            <a:r>
              <a:rPr dirty="0" err="1"/>
              <a:t>安装器</a:t>
            </a:r>
            <a:endParaRPr dirty="0"/>
          </a:p>
          <a:p>
            <a:r>
              <a:rPr dirty="0" err="1"/>
              <a:t>默认使用</a:t>
            </a:r>
            <a:r>
              <a:rPr dirty="0"/>
              <a:t> UCRT64 </a:t>
            </a:r>
            <a:r>
              <a:rPr dirty="0" err="1"/>
              <a:t>Bash，保持</a:t>
            </a:r>
            <a:r>
              <a:rPr dirty="0"/>
              <a:t> Linux </a:t>
            </a:r>
            <a:r>
              <a:rPr dirty="0" err="1"/>
              <a:t>命令习惯；仅</a:t>
            </a:r>
            <a:r>
              <a:rPr dirty="0"/>
              <a:t> Zephyr </a:t>
            </a:r>
            <a:r>
              <a:rPr dirty="0" err="1"/>
              <a:t>官方指定的</a:t>
            </a:r>
            <a:r>
              <a:rPr dirty="0"/>
              <a:t> PowerShell </a:t>
            </a:r>
            <a:r>
              <a:rPr dirty="0" err="1"/>
              <a:t>下载</a:t>
            </a:r>
            <a:r>
              <a:rPr dirty="0"/>
              <a:t>/</a:t>
            </a:r>
            <a:r>
              <a:rPr dirty="0" err="1"/>
              <a:t>安装步骤及</a:t>
            </a:r>
            <a:r>
              <a:rPr dirty="0"/>
              <a:t> setup.cmd 等 Windows </a:t>
            </a:r>
            <a:r>
              <a:rPr dirty="0" err="1"/>
              <a:t>专用脚本切换到</a:t>
            </a:r>
            <a:r>
              <a:rPr dirty="0"/>
              <a:t> </a:t>
            </a:r>
            <a:r>
              <a:rPr dirty="0" err="1"/>
              <a:t>PowerShell，其他操作保持</a:t>
            </a:r>
            <a:r>
              <a:rPr dirty="0"/>
              <a:t> UCRT64。切换时重新进入指定目录，临时变量互不继承。</a:t>
            </a:r>
          </a:p>
          <a:p>
            <a:r>
              <a:rPr dirty="0"/>
              <a:t>对应正文：2.1.3 · Windows </a:t>
            </a:r>
            <a:r>
              <a:rPr dirty="0" err="1"/>
              <a:t>官方</a:t>
            </a:r>
            <a:r>
              <a:rPr dirty="0"/>
              <a:t> Python </a:t>
            </a:r>
            <a:r>
              <a:rPr dirty="0" err="1"/>
              <a:t>安装器</a:t>
            </a:r>
            <a:endParaRPr dirty="0"/>
          </a:p>
          <a:p>
            <a:r>
              <a:rPr dirty="0" err="1"/>
              <a:t>完整操作单元</a:t>
            </a:r>
            <a:r>
              <a:rPr dirty="0"/>
              <a:t>：../commands/P002_Windows/2.1.3-01.txt</a:t>
            </a:r>
          </a:p>
          <a:p>
            <a:r>
              <a:rPr dirty="0" err="1"/>
              <a:t>官方文件、教程自建文件与生成产物按本页说明区分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对应正文：P002_Windows，2.1.3 · 图形安装的替代路线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对应正文：2.1.3 · 图形安装的替代路线</a:t>
            </a:r>
          </a:p>
          <a:p>
            <a:r>
              <a:t>完整操作单元：../commands/P002_Windows/2.1.3-02.txt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对应正文：P002_Windows，2.1.4 · py 不存在，但 python 已可执行</a:t>
            </a:r>
          </a:p>
          <a:p>
            <a:r>
              <a:t>https://docs.python.org/3.12/using/windows.html</a:t>
            </a:r>
          </a:p>
          <a:p>
            <a:r>
              <a:t>https://docs.python.org/3.12/library/venv.html</a:t>
            </a:r>
          </a:p>
          <a:p>
            <a:r>
              <a:t>完整操作单元：../commands/P002_Windows/2.1.4-02.txt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对应正文：P002_Windows，2.1.4 · 选择版本与使用项目环境</a:t>
            </a:r>
          </a:p>
          <a:p>
            <a:r>
              <a:t>https://docs.python.org/3.12/using/windows.html</a:t>
            </a:r>
          </a:p>
          <a:p>
            <a:r>
              <a:t>https://docs.python.org/3.12/library/venv.html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SDK 中的编译器可以运行，不会自动给 Python 装库。虚拟环境隔离包安装目录。读者在 G:/zephyr_practice/zephyr-main 创建并使用 .venv。后续实验按任务补充测试或调试依赖，环境与构建脚本在后续章节创建之后再使用。</a:t>
            </a:r>
          </a:p>
          <a:p>
            <a:endParaRPr/>
          </a:p>
          <a:p>
            <a:r>
              <a:t>配套正文：learning/P01_zephyr_make_project/P002_主机工具与Python环境_Windows.md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对应正文：P002_Windows，2.2.1 · 源码根；已核对基础 Python 3.12.10</a:t>
            </a:r>
          </a:p>
          <a:p>
            <a:r>
              <a:t>https://docs.python.org/3.12/using/windows.html</a:t>
            </a:r>
          </a:p>
          <a:p>
            <a:r>
              <a:t>https://docs.python.org/3.12/library/venv.html</a:t>
            </a:r>
          </a:p>
          <a:p>
            <a:r>
              <a:t>完整操作单元：../commands/P002_Windows/2.2.1-02.txt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对应正文：P002_Windows，2.2.1_上一期下载的是上游_Zephyr_源码</a:t>
            </a:r>
          </a:p>
          <a:p>
            <a:r>
              <a:rPr dirty="0"/>
              <a:t># </a:t>
            </a:r>
            <a:r>
              <a:rPr dirty="0" err="1"/>
              <a:t>当前位置：上游</a:t>
            </a:r>
            <a:r>
              <a:rPr dirty="0"/>
              <a:t> Zephyr 源码根目录；终端：UCRT64，已激活 .</a:t>
            </a:r>
            <a:r>
              <a:rPr dirty="0" err="1"/>
              <a:t>venv</a:t>
            </a:r>
            <a:r>
              <a:rPr dirty="0"/>
              <a:t>。</a:t>
            </a:r>
          </a:p>
          <a:p>
            <a:r>
              <a:rPr dirty="0"/>
              <a:t>python -m pip install -r scripts/requirements-base.txt "west==1.5.0"</a:t>
            </a:r>
          </a:p>
          <a:p>
            <a:r>
              <a:rPr dirty="0"/>
              <a:t>python -m pip check</a:t>
            </a:r>
          </a:p>
          <a:p>
            <a:r>
              <a:rPr dirty="0"/>
              <a:t>python -m west --version</a:t>
            </a:r>
          </a:p>
          <a:p>
            <a:r>
              <a:rPr dirty="0" err="1"/>
              <a:t>完整操作单元</a:t>
            </a:r>
            <a:r>
              <a:rPr dirty="0"/>
              <a:t>：../commands/P002_Windows/2.2.1-03.txt</a:t>
            </a:r>
          </a:p>
          <a:p>
            <a:r>
              <a:rPr dirty="0" err="1"/>
              <a:t>官方文件、教程自建文件与生成产物按本页说明区分</a:t>
            </a:r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2_Windows/2.1.1-02.txt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s://www.python.org/downloads/release/python-31210/" TargetMode="Externa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2_Windows/2.1.3-01.txt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2_Windows/2.1.3-02.txt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2_Windows/2.1.4-02.txt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2_Windows/2.2.1-02.txt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2_Windows/2.2.1-03.txt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 dirty="0" err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主机工具</a:t>
            </a:r>
            <a:endParaRPr sz="4650" b="1" dirty="0">
              <a:solidFill>
                <a:srgbClr val="FFFF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 dirty="0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与 Python </a:t>
            </a:r>
            <a:r>
              <a:rPr sz="4650" b="1" dirty="0" err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环境</a:t>
            </a:r>
            <a:endParaRPr sz="4650" b="1" dirty="0">
              <a:solidFill>
                <a:srgbClr val="FFFF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0BC46A-4F1A-47C4-9196-EF8D8733E98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P002 · 主机工具与 Python 环境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779276C-228B-4C0A-8D2C-751537FD877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P002—P005 分册路线 · 完成后进入 P003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E12C571-C34B-4B89-8A51-BAF219E4F159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1809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本册先准备电脑上运行的命令，再建立源码根的 </a:t>
            </a:r>
            <a:r>
              <a:rPr sz="20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 Python 按版本选择；缺少时才安装。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结果：工具可运行，Python 与 </a:t>
            </a:r>
            <a:r>
              <a:rPr sz="202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使用同一虚拟环境。</a:t>
            </a:r>
          </a:p>
        </p:txBody>
      </p:sp>
      <p:sp>
        <p:nvSpPr>
          <p:cNvPr id="5" name="Module stage 1">
            <a:extLst>
              <a:ext uri="{FF2B5EF4-FFF2-40B4-BE49-F238E27FC236}">
                <a16:creationId xmlns:a16="http://schemas.microsoft.com/office/drawing/2014/main" id="{32056BA7-5EC8-4F88-BE33-18BE1CD1F0C5}"/>
              </a:ext>
            </a:extLst>
          </p:cNvPr>
          <p:cNvSpPr>
            <a:spLocks noGrp="1"/>
          </p:cNvSpPr>
          <p:nvPr/>
        </p:nvSpPr>
        <p:spPr>
          <a:xfrm>
            <a:off x="66675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01 主机工具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与 </a:t>
            </a:r>
            <a:r>
              <a:rPr sz="187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</a:p>
        </p:txBody>
      </p:sp>
      <p:sp>
        <p:nvSpPr>
          <p:cNvPr id="6" name="flow 0">
            <a:extLst>
              <a:ext uri="{FF2B5EF4-FFF2-40B4-BE49-F238E27FC236}">
                <a16:creationId xmlns:a16="http://schemas.microsoft.com/office/drawing/2014/main" id="{AF28A9C1-B720-49D5-9CFC-4ADAE4481BDE}"/>
              </a:ext>
            </a:extLst>
          </p:cNvPr>
          <p:cNvSpPr>
            <a:spLocks noGrp="1"/>
          </p:cNvSpPr>
          <p:nvPr/>
        </p:nvSpPr>
        <p:spPr>
          <a:xfrm>
            <a:off x="305752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ule stage 2">
            <a:extLst>
              <a:ext uri="{FF2B5EF4-FFF2-40B4-BE49-F238E27FC236}">
                <a16:creationId xmlns:a16="http://schemas.microsoft.com/office/drawing/2014/main" id="{5F21C88F-235E-490E-94B0-6395EFA0B1CC}"/>
              </a:ext>
            </a:extLst>
          </p:cNvPr>
          <p:cNvSpPr>
            <a:spLocks noGrp="1"/>
          </p:cNvSpPr>
          <p:nvPr/>
        </p:nvSpPr>
        <p:spPr>
          <a:xfrm>
            <a:off x="347662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02 SDK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与编译器</a:t>
            </a:r>
          </a:p>
        </p:txBody>
      </p:sp>
      <p:sp>
        <p:nvSpPr>
          <p:cNvPr id="8" name="flow 1">
            <a:extLst>
              <a:ext uri="{FF2B5EF4-FFF2-40B4-BE49-F238E27FC236}">
                <a16:creationId xmlns:a16="http://schemas.microsoft.com/office/drawing/2014/main" id="{1BA9737F-3FAE-48A0-9BE5-2E2F9EB78684}"/>
              </a:ext>
            </a:extLst>
          </p:cNvPr>
          <p:cNvSpPr>
            <a:spLocks noGrp="1"/>
          </p:cNvSpPr>
          <p:nvPr/>
        </p:nvSpPr>
        <p:spPr>
          <a:xfrm>
            <a:off x="5867400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ule stage 3">
            <a:extLst>
              <a:ext uri="{FF2B5EF4-FFF2-40B4-BE49-F238E27FC236}">
                <a16:creationId xmlns:a16="http://schemas.microsoft.com/office/drawing/2014/main" id="{6BF7F42A-885C-420B-9CE3-F891066FC0B8}"/>
              </a:ext>
            </a:extLst>
          </p:cNvPr>
          <p:cNvSpPr>
            <a:spLocks noGrp="1"/>
          </p:cNvSpPr>
          <p:nvPr/>
        </p:nvSpPr>
        <p:spPr>
          <a:xfrm>
            <a:off x="628650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03 </a:t>
            </a:r>
            <a:r>
              <a:rPr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CMSIS/HAL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选择下载</a:t>
            </a:r>
            <a:endParaRPr sz="1875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flow 2">
            <a:extLst>
              <a:ext uri="{FF2B5EF4-FFF2-40B4-BE49-F238E27FC236}">
                <a16:creationId xmlns:a16="http://schemas.microsoft.com/office/drawing/2014/main" id="{AAA6B63A-E27A-45E3-A4C8-EF355694E721}"/>
              </a:ext>
            </a:extLst>
          </p:cNvPr>
          <p:cNvSpPr>
            <a:spLocks noGrp="1"/>
          </p:cNvSpPr>
          <p:nvPr/>
        </p:nvSpPr>
        <p:spPr>
          <a:xfrm>
            <a:off x="867727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ule stage 4">
            <a:extLst>
              <a:ext uri="{FF2B5EF4-FFF2-40B4-BE49-F238E27FC236}">
                <a16:creationId xmlns:a16="http://schemas.microsoft.com/office/drawing/2014/main" id="{7D53F9E3-64AA-4C45-AF38-89D2E5F76CD5}"/>
              </a:ext>
            </a:extLst>
          </p:cNvPr>
          <p:cNvSpPr>
            <a:spLocks noGrp="1"/>
          </p:cNvSpPr>
          <p:nvPr/>
        </p:nvSpPr>
        <p:spPr>
          <a:xfrm>
            <a:off x="909637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04 模块路径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交给工程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Semantic color legend">
            <a:extLst>
              <a:ext uri="{FF2B5EF4-FFF2-40B4-BE49-F238E27FC236}">
                <a16:creationId xmlns:a16="http://schemas.microsoft.com/office/drawing/2014/main" id="{39154CEE-9E0E-4815-8A42-342F49989EDD}"/>
              </a:ext>
            </a:extLst>
          </p:cNvPr>
          <p:cNvSpPr>
            <a:spLocks noGrp="1"/>
          </p:cNvSpPr>
          <p:nvPr/>
        </p:nvSpPr>
        <p:spPr>
          <a:xfrm>
            <a:off x="609600" y="57340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t>阅读标色： </a:t>
            </a:r>
            <a:r>
              <a:rPr>
                <a:solidFill>
                  <a:srgbClr val="B84E00"/>
                </a:solidFill>
              </a:rPr>
              <a:t>变量 / 参数</a:t>
            </a:r>
            <a:r>
              <a:t>     </a:t>
            </a:r>
            <a:r>
              <a:rPr>
                <a:solidFill>
                  <a:srgbClr val="0070C0"/>
                </a:solidFill>
              </a:rPr>
              <a:t>文件 / 路径</a:t>
            </a:r>
            <a:r>
              <a:t>     </a:t>
            </a:r>
            <a:r>
              <a:rPr>
                <a:solidFill>
                  <a:srgbClr val="087B3D"/>
                </a:solidFill>
              </a:rPr>
              <a:t>接口函数</a:t>
            </a:r>
            <a:r>
              <a:t>     </a:t>
            </a:r>
            <a:r>
              <a:rPr>
                <a:solidFill>
                  <a:srgbClr val="A02B93"/>
                </a:solidFill>
              </a:rPr>
              <a:t>终端命令</a:t>
            </a: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77320F87-B404-415C-8852-BE68A4B7849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默认使用 UCRT64，特定步骤切换终端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EFDEB8F7-C953-4D92-8813-C180FDB58AF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本期准备顺序与终端边界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2F6AAE5-49B1-4D9E-B5E7-117BA3AEF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78078092"/>
              </p:ext>
            </p:extLst>
          </p:nvPr>
        </p:nvGraphicFramePr>
        <p:xfrm>
          <a:off x="609600" y="1924050"/>
          <a:ext cx="10972800" cy="3714750"/>
        </p:xfrm>
        <a:graphic>
          <a:graphicData uri="http://schemas.openxmlformats.org/drawingml/2006/table">
            <a:tbl>
              <a:tblPr/>
              <a:tblGrid>
                <a:gridCol w="485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16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操作</a:t>
                      </a:r>
                      <a:endParaRPr sz="1800" b="1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本教程使用的终端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普通下载、摘要校验与解压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UCRT64，延续 Linux 命令习惯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Python、venv、版本与工程命令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UCRT64，按具体操作说明执行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官方指定的 Windows 工具安装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按官方 PowerShell 下载和安装方式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的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setup.cmd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切到 PowerShell 运行，结束后回 UCRT64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Ubuntu 22.04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原生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Linux Bash 和 </a:t>
                      </a:r>
                      <a:r>
                        <a:rPr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setup.sh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9115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30DD7513-1EE1-4321-B8A6-C210416F5D5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先区分程序、源码和接入规则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EAE34B2B-1651-43A7-9140-B644083FB17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 · 工具安装在前，固件源码依赖在后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1C6A570D-C6B6-4C79-BC2F-5A343D37F9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57620453"/>
              </p:ext>
            </p:extLst>
          </p:nvPr>
        </p:nvGraphicFramePr>
        <p:xfrm>
          <a:off x="609600" y="1924050"/>
          <a:ext cx="10972800" cy="3190875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给谁用 / 怎样进入工程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Python、CMake、Ninja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Windows 主机运行；按 </a:t>
                      </a:r>
                      <a:r>
                        <a:rPr sz="1800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PATH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或显式路径找到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内目标工具链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主机运行，生成 Arm 机器码；由 SDK 根选择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 与 HAL</a:t>
                      </a:r>
                      <a:r>
                        <a:rPr lang="en-US"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/DDL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供固件源码使用；由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module.yml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和 CMake 接入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板、SoC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与驱动适配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决定硬件与调用关系；P011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才新增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FB0229E-6AED-4AC5-BD04-B1C73FD27F0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6166757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">
            <a:extLst>
              <a:ext uri="{FF2B5EF4-FFF2-40B4-BE49-F238E27FC236}">
                <a16:creationId xmlns:a16="http://schemas.microsoft.com/office/drawing/2014/main" id="{951E06C2-726F-4B55-AEAC-6D06A63E6228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安装依据：当前源码的 Windows 指南</a:t>
            </a:r>
          </a:p>
        </p:txBody>
      </p:sp>
      <p:sp>
        <p:nvSpPr>
          <p:cNvPr id="2" name="content">
            <a:extLst>
              <a:ext uri="{FF2B5EF4-FFF2-40B4-BE49-F238E27FC236}">
                <a16:creationId xmlns:a16="http://schemas.microsoft.com/office/drawing/2014/main" id="{10C79908-572F-41F2-94DB-ECE9139D30F1}"/>
              </a:ext>
            </a:extLst>
          </p:cNvPr>
          <p:cNvSpPr>
            <a:spLocks noGrp="1"/>
          </p:cNvSpPr>
          <p:nvPr/>
        </p:nvSpPr>
        <p:spPr>
          <a:xfrm>
            <a:off x="647700" y="1238250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2.1.1 · 先准备电脑上的工具</a:t>
            </a:r>
          </a:p>
        </p:txBody>
      </p:sp>
      <p:sp>
        <p:nvSpPr>
          <p:cNvPr id="3" name="content">
            <a:extLst>
              <a:ext uri="{FF2B5EF4-FFF2-40B4-BE49-F238E27FC236}">
                <a16:creationId xmlns:a16="http://schemas.microsoft.com/office/drawing/2014/main" id="{27E0BD48-F242-4368-8E16-2CE79262F526}"/>
              </a:ext>
            </a:extLst>
          </p:cNvPr>
          <p:cNvSpPr>
            <a:spLocks noGrp="1"/>
          </p:cNvSpPr>
          <p:nvPr/>
        </p:nvSpPr>
        <p:spPr>
          <a:xfrm>
            <a:off x="709274" y="1695450"/>
            <a:ext cx="4296091" cy="4415989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先读</a:t>
            </a:r>
            <a:r>
              <a:rPr lang="zh-CN" altLang="en-US"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</a:t>
            </a:r>
            <a:endParaRPr lang="en-US" altLang="zh-CN" sz="225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doc/develop/</a:t>
            </a:r>
            <a:r>
              <a:rPr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getting_started</a:t>
            </a:r>
            <a:r>
              <a:rPr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index.rst</a:t>
            </a:r>
            <a:r>
              <a:rPr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b="0" dirty="0">
              <a:solidFill>
                <a:srgbClr val="0070C0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Windows </a:t>
            </a: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主机工具使用官方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250" b="0" dirty="0" err="1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winget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清单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22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本教程固定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Python 3.12.10，单独使用官方安装器。</a:t>
            </a:r>
            <a:endParaRPr lang="en-US" sz="22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源码更新后重查工具清单、最低版本与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requirements。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658BD696-1926-E7E6-6127-A3B096DD4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864" y="2206008"/>
            <a:ext cx="6314436" cy="3413742"/>
          </a:xfrm>
          <a:prstGeom prst="rect">
            <a:avLst/>
          </a:prstGeom>
        </p:spPr>
      </p:pic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E9DE1C0-E6EB-4DAF-B14A-0BA20BBA867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264665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1DF18888-4A55-422C-99EF-C88C38DCD68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先安装官方主机工具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F0D23D2B-43CB-4728-9829-157B165626D4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2.1.1_按官方 Windows 步骤安装主机工具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2F254907-FB77-4657-B281-F1A02C942C17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46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PowerShell 或 </a:t>
            </a:r>
            <a:r>
              <a:rPr sz="1875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cmd.exe；本教程固定</a:t>
            </a: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 Python </a:t>
            </a:r>
            <a:r>
              <a:rPr sz="1875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时使用</a:t>
            </a: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。</a:t>
            </a:r>
            <a:endParaRPr lang="zh-CN" altLang="en-US" sz="1875" b="0" dirty="0">
              <a:solidFill>
                <a:schemeClr val="bg1">
                  <a:lumMod val="50000"/>
                </a:schemeClr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sz="1875" b="0" dirty="0" err="1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winget</a:t>
            </a:r>
            <a:r>
              <a:rPr lang="en-US"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sz="1875" b="0" dirty="0" err="1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winget</a:t>
            </a:r>
            <a:r>
              <a:rPr lang="en-US"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install </a:t>
            </a:r>
            <a:r>
              <a:rPr lang="en-US" sz="1875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Kitware.CMake</a:t>
            </a:r>
            <a:r>
              <a:rPr lang="en-US"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Ninja-</a:t>
            </a:r>
            <a:r>
              <a:rPr lang="en-US" sz="1875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build.Ninja</a:t>
            </a:r>
            <a:r>
              <a:rPr lang="en-US"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oss-winget.gperf</a:t>
            </a:r>
            <a:r>
              <a:rPr lang="en-US"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Git.Git</a:t>
            </a:r>
            <a:r>
              <a:rPr lang="en-US"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\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	</a:t>
            </a:r>
            <a:r>
              <a:rPr lang="en-US" sz="1875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oss-winget.dtc</a:t>
            </a:r>
            <a:r>
              <a:rPr lang="en-US"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b="0" dirty="0" err="1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wget</a:t>
            </a:r>
            <a:r>
              <a:rPr lang="en-US"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7zip.7zip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E1FCD0C-3B73-471F-9928-BD7E37A1D013}"/>
              </a:ext>
            </a:extLst>
          </p:cNvPr>
          <p:cNvSpPr>
            <a:spLocks noGrp="1"/>
          </p:cNvSpPr>
          <p:nvPr/>
        </p:nvSpPr>
        <p:spPr>
          <a:xfrm>
            <a:off x="609600" y="3200400"/>
            <a:ext cx="10972800" cy="2832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教程固定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Python 3.12.10，所以此处省略 </a:t>
            </a:r>
            <a:r>
              <a:rPr sz="1875" b="0" dirty="0" err="1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winget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 Python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项；下一阶段单独安装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8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上面如果你本地有</a:t>
            </a:r>
            <a:r>
              <a:rPr lang="en-US" altLang="zh-CN"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lang="zh-CN" altLang="en-US"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，有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7-zip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，如果没有加入系统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path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（设置界面搜索框，搜索“编辑系统环境变量”），那么用</a:t>
            </a:r>
            <a:r>
              <a:rPr lang="en-US" altLang="zh-CN" sz="1875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winget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下载的话就可能造成重复下载或者环境变量里面找不到对应的工具。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基本都会点击加入系统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path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（不过可能会有重复下载冲突），不过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7-zip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可能不会加入（造成重复下载），处理方式就是把你下载安装的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zip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放到系统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path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里面，让系统可以找到它们。 </a:t>
            </a:r>
            <a:endParaRPr lang="en-US" altLang="zh-CN" sz="1875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75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winget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并列下载的时候，只要有一个没有安装成功，后面排队的软件都不会下载，注意你当前系统有这些工具提示冲突的话，就把后面排队的工具手动下载以下，绕开这些错误下载软件。</a:t>
            </a:r>
            <a:endParaRPr lang="en-US" altLang="zh-CN" sz="1875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71D9CECE-FEA2-4CC9-AA47-C15BB2F74CBF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完整命令：P002_Windows/2.1.1-02.txt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7C34F1A-E4F2-4593-9C0C-452A5079A2C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866019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>
            <a:extLst>
              <a:ext uri="{FF2B5EF4-FFF2-40B4-BE49-F238E27FC236}">
                <a16:creationId xmlns:a16="http://schemas.microsoft.com/office/drawing/2014/main" id="{7E46A90E-8A19-4348-9BA8-6958E2CBC0F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工具安装后的检查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B0310DF1-0A6B-4E94-87E0-2270D4B113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83982620"/>
              </p:ext>
            </p:extLst>
          </p:nvPr>
        </p:nvGraphicFramePr>
        <p:xfrm>
          <a:off x="609600" y="1600200"/>
          <a:ext cx="10972800" cy="3657600"/>
        </p:xfrm>
        <a:graphic>
          <a:graphicData uri="http://schemas.openxmlformats.org/drawingml/2006/table">
            <a:tbl>
              <a:tblPr/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8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1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工具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职责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验证命令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CMake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生成构建规则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 err="1">
                          <a:solidFill>
                            <a:srgbClr val="A02B93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cmake</a:t>
                      </a: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875" b="0" dirty="0">
                          <a:solidFill>
                            <a:srgbClr val="B84E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--version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Ninja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调度编译和链接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>
                          <a:solidFill>
                            <a:srgbClr val="A02B93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ninja</a:t>
                      </a: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875" b="0" dirty="0">
                          <a:solidFill>
                            <a:srgbClr val="B84E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--version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A02B93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dtc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处理设备树数据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 err="1">
                          <a:solidFill>
                            <a:srgbClr val="A02B93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dtc</a:t>
                      </a: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875" b="0" dirty="0">
                          <a:solidFill>
                            <a:srgbClr val="B84E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--version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A02B93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gperf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生成关键字查找代码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 err="1">
                          <a:solidFill>
                            <a:srgbClr val="A02B93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gperf</a:t>
                      </a: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875" b="0" dirty="0">
                          <a:solidFill>
                            <a:srgbClr val="B84E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--version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7-Zip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解压 SDK 归档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>
                          <a:solidFill>
                            <a:srgbClr val="A02B93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7z</a:t>
                      </a: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875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i</a:t>
                      </a:r>
                      <a:endParaRPr sz="1875" b="0" dirty="0">
                        <a:solidFill>
                          <a:srgbClr val="262236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29B25264-14B3-4485-8AB5-863A7C3569C2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路径核对：</a:t>
            </a:r>
            <a:r>
              <a:rPr sz="1950" b="0">
                <a:solidFill>
                  <a:srgbClr val="A02B93"/>
                </a:solidFill>
                <a:latin typeface="Noto Sans SC"/>
                <a:ea typeface="Noto Sans SC"/>
                <a:cs typeface="Noto Sans SC"/>
              </a:rPr>
              <a:t>type</a:t>
            </a: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</a:t>
            </a:r>
            <a:r>
              <a:rPr sz="1950" b="0">
                <a:solidFill>
                  <a:srgbClr val="B84E00"/>
                </a:solidFill>
                <a:latin typeface="Noto Sans SC"/>
                <a:ea typeface="Noto Sans SC"/>
                <a:cs typeface="Noto Sans SC"/>
              </a:rPr>
              <a:t>-a</a:t>
            </a: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</a:t>
            </a:r>
            <a:r>
              <a:rPr sz="1950" b="0">
                <a:solidFill>
                  <a:srgbClr val="A02B93"/>
                </a:solidFill>
                <a:latin typeface="Noto Sans SC"/>
                <a:ea typeface="Noto Sans SC"/>
                <a:cs typeface="Noto Sans SC"/>
              </a:rPr>
              <a:t>cmake</a:t>
            </a: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</a:t>
            </a:r>
            <a:r>
              <a:rPr sz="1950" b="0">
                <a:solidFill>
                  <a:srgbClr val="A02B93"/>
                </a:solidFill>
                <a:latin typeface="Noto Sans SC"/>
                <a:ea typeface="Noto Sans SC"/>
                <a:cs typeface="Noto Sans SC"/>
              </a:rPr>
              <a:t>ninja</a:t>
            </a: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</a:t>
            </a:r>
            <a:r>
              <a:rPr sz="1950" b="0">
                <a:solidFill>
                  <a:srgbClr val="A02B93"/>
                </a:solidFill>
                <a:latin typeface="Noto Sans SC"/>
                <a:ea typeface="Noto Sans SC"/>
                <a:cs typeface="Noto Sans SC"/>
              </a:rPr>
              <a:t>dtc</a:t>
            </a: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</a:t>
            </a:r>
            <a:r>
              <a:rPr sz="1950" b="0">
                <a:solidFill>
                  <a:srgbClr val="A02B93"/>
                </a:solidFill>
                <a:latin typeface="Noto Sans SC"/>
                <a:ea typeface="Noto Sans SC"/>
                <a:cs typeface="Noto Sans SC"/>
              </a:rPr>
              <a:t>gperf</a:t>
            </a: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</a:t>
            </a:r>
            <a:r>
              <a:rPr sz="1950" b="0">
                <a:solidFill>
                  <a:srgbClr val="A02B93"/>
                </a:solidFill>
                <a:latin typeface="Noto Sans SC"/>
                <a:ea typeface="Noto Sans SC"/>
                <a:cs typeface="Noto Sans SC"/>
              </a:rPr>
              <a:t>7z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A0707F6-909D-4FCC-9D32-C942F5C0973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976225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7F5BB-0592-D829-7AAD-32A5F33B3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>
            <a:extLst>
              <a:ext uri="{FF2B5EF4-FFF2-40B4-BE49-F238E27FC236}">
                <a16:creationId xmlns:a16="http://schemas.microsoft.com/office/drawing/2014/main" id="{D79FCE36-70D8-3340-0A69-11611DE5D839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  <a:hlinkClick r:id="rId3"/>
              </a:rPr>
              <a:t>Windows Python </a:t>
            </a:r>
            <a:r>
              <a:rPr sz="3300" b="1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  <a:hlinkClick r:id="rId3"/>
              </a:rPr>
              <a:t>安装包</a:t>
            </a:r>
            <a:endParaRPr sz="3300" b="1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2A9510AC-EF64-3D38-9454-D86D26D502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8045" y="1358374"/>
            <a:ext cx="1461052" cy="219157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0908ED6A-F456-82A7-433A-1F0B1DADD3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875" y="1467768"/>
            <a:ext cx="3197089" cy="197279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B280472-A07A-034E-61D2-FED3B8ED99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307" y="3960744"/>
            <a:ext cx="3197087" cy="197278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7D5650ED-F54C-DA5B-29B7-879F6FA20D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53092" y="3960744"/>
            <a:ext cx="3197087" cy="197278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7A327119-6600-B3F5-0F4D-8668A31D3B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6877" y="3960743"/>
            <a:ext cx="3197087" cy="197278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9F261999-5C57-FFDC-7D04-798F816F66A3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4126394" y="2441374"/>
            <a:ext cx="1091651" cy="127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4B1B89F9-F212-0723-BAFF-80928B17BD3C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6679097" y="2454163"/>
            <a:ext cx="10977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D5FFD658-9316-835A-F7E6-D5896A8CD14C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 rot="5400000">
            <a:off x="5691543" y="276867"/>
            <a:ext cx="520186" cy="684756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F03A7D2A-A863-4390-DC83-00AFA1CC66B4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4126394" y="4947139"/>
            <a:ext cx="2266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0D75DF8A-C873-AC90-9A6C-C35F92461E78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7550179" y="4947138"/>
            <a:ext cx="22669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5CCD706-57E8-4B0A-8471-B019B5330C0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BCAD8ABE-1681-80C9-E364-8065F778A5D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9307" y="1577161"/>
            <a:ext cx="3197087" cy="172842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674348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A40B2B33-1293-4C6D-B5C9-C11DB4D0AC5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缺少安装器时才用 UCRT64 下载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F3E1AFDE-CE39-4262-82F0-4524C9FDF84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2.1.3 · Windows 官方 Python 安装器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FEDF8EB3-CBAD-4F0E-9290-0B631BCE0493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UCRT64；仅在没有官方 3.12.10 </a:t>
            </a:r>
            <a:r>
              <a:rPr sz="1875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安装器时下载</a:t>
            </a: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 err="1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mkdir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-p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/g/</a:t>
            </a:r>
            <a:r>
              <a:rPr sz="1875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zephyr_practice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/downloads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/g/</a:t>
            </a:r>
            <a:r>
              <a:rPr sz="1875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zephyr_practice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/downloads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curl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875" b="0" dirty="0" err="1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fL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https://www.python.org/ftp/python/3.12.10/python-3.12.10-amd64.exe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-o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python-3.12.10-amd64.exe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50656C6D-297E-4BAE-BEF7-462ACECC8183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已有安装器就核对来源并复用；已安装 3.12.10 就跳过。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下载目录只保存安装文件，不是 Python 的安装位置。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A80A91FD-C57F-4C9A-A549-1F27176EF1DC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完整命令：P002_Windows/2.1.3-01.txt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BA0E7AB-9BC0-4691-8E57-F99779909A4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1289906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AEDD8674-65DA-4C97-9908-FEBBF35D7CF4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 UCRT64 启动官方 Python 安装器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67B7BD41-4A66-41D6-A641-CBD402B973A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2.1.3 · 图形安装的替代路线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944095FF-E01C-468A-BFB2-5CEA59AF30F1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UCRT64；官方安装器已完整下载，尚未安装该版本。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/g/</a:t>
            </a:r>
            <a:r>
              <a:rPr sz="1875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zephyr_practice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/downloads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MSYS2_ARG_CONV_EXCL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='*' 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./python-3.12.10-amd64.exe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/passive </a:t>
            </a:r>
            <a:r>
              <a:rPr sz="1875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InstallAllUsers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=0 </a:t>
            </a:r>
            <a:r>
              <a:rPr sz="1875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PrependPath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=1 \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Include_pip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=1 </a:t>
            </a:r>
            <a:r>
              <a:rPr sz="1875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Include_launcher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=1 </a:t>
            </a:r>
            <a:r>
              <a:rPr sz="1875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InstallLauncherAllUsers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=0 </a:t>
            </a:r>
            <a:r>
              <a:rPr sz="1875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Include_test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=0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FCC04B35-3FB7-4076-AC5F-D1B77F692B5D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本条沿用已有 UCRT64 操作方式；安装到 Windows 默认用户位置。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安装成功后新开 UCRT64，再选版本和激活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FE3F32F1-D6AF-4CB4-952E-98B683DA5DA5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完整命令：P002_Windows/2.1.3-02.txt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AD9DB7B-CC70-492C-AFFD-47007ABBE9B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24907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2381B5C5-6D64-481B-9F26-2498201F3A6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未安装 Launcher 时的分支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F1554838-4EFC-41B4-9520-F58FE1A62633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2.1.4 · py 不存在，但 python 已可执行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F3C72C5A-65E2-498A-A941-60024E2E397D}"/>
              </a:ext>
            </a:extLst>
          </p:cNvPr>
          <p:cNvSpPr>
            <a:spLocks noGrp="1"/>
          </p:cNvSpPr>
          <p:nvPr/>
        </p:nvSpPr>
        <p:spPr>
          <a:xfrm>
            <a:off x="609599" y="1838325"/>
            <a:ext cx="6063466" cy="298464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UCRT64；任意目录</a:t>
            </a:r>
            <a:r>
              <a:rPr lang="zh-CN" altLang="en-US" sz="1875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；</a:t>
            </a:r>
            <a:endParaRPr lang="en-US" altLang="zh-CN" sz="1875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sz="1875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875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只用于</a:t>
            </a: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py</a:t>
            </a: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不存在但</a:t>
            </a: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 python </a:t>
            </a:r>
            <a:r>
              <a:rPr sz="1875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可执行的分支</a:t>
            </a: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。</a:t>
            </a:r>
            <a:endParaRPr lang="en-US" sz="1875" b="0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endParaRPr sz="1875" b="0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</a:t>
            </a:r>
            <a:r>
              <a:rPr lang="en-US"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thon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CN" sz="1875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lang="en-US" altLang="zh-CN" sz="1875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lang="en-US" sz="1875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pip </a:t>
            </a:r>
            <a:r>
              <a:rPr lang="en-US" sz="1875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  <a:br>
              <a:rPr lang="en-US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</a:br>
            <a:br>
              <a:rPr lang="en-US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</a:br>
            <a:r>
              <a:rPr lang="en-US" sz="1875" dirty="0" err="1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</a:t>
            </a:r>
            <a:r>
              <a:rPr lang="en-US" sz="1875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-3.12</a:t>
            </a:r>
            <a:r>
              <a:rPr lang="en-US" sz="1875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CN" sz="1875" dirty="0" err="1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</a:t>
            </a:r>
            <a:r>
              <a:rPr lang="en-US" altLang="zh-CN" sz="1875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altLang="zh-CN" sz="1875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-3.12</a:t>
            </a:r>
            <a:r>
              <a:rPr lang="en-US" altLang="zh-CN" sz="1875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altLang="zh-CN" sz="1875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lang="en-US" altLang="zh-CN" sz="1875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pip </a:t>
            </a:r>
            <a:r>
              <a:rPr lang="en-US" altLang="zh-CN" sz="1875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  <a:endParaRPr lang="en-US" sz="1875" dirty="0">
              <a:solidFill>
                <a:srgbClr val="0070C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81EF8F66-0F28-46B4-A9E4-021D8C3CE7F7}"/>
              </a:ext>
            </a:extLst>
          </p:cNvPr>
          <p:cNvSpPr>
            <a:spLocks noGrp="1"/>
          </p:cNvSpPr>
          <p:nvPr/>
        </p:nvSpPr>
        <p:spPr>
          <a:xfrm>
            <a:off x="628650" y="4870594"/>
            <a:ext cx="10972800" cy="1031587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输出也是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3.12.10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时，可用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-m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</a:t>
            </a:r>
            <a:r>
              <a:rPr sz="1875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创建环境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8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若版本不符或两个命令都缺失，重开终端并在安装器中检查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Launcher/</a:t>
            </a:r>
            <a:r>
              <a:rPr sz="1875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PATH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28468249-36E6-470A-B4BF-74369CC8E666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完整命令：P002_Windows/2.1.4-02.txt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216FFED6-4452-B429-79AC-9CBBA7C327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1666" y="2168126"/>
            <a:ext cx="5490734" cy="2578643"/>
          </a:xfrm>
          <a:prstGeom prst="rect">
            <a:avLst/>
          </a:prstGeom>
        </p:spPr>
      </p:pic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E294562-BD0A-4CE1-A48F-58F02ACDBC1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647664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28DBA438-4BCC-4ACB-B30C-F36B57D8615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 与 python 的使用阶段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3B49A090-4E6B-419A-8087-B2759EFC8DC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2.1.4 · 选择版本与使用项目环境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B29B8D36-9328-4189-A2C4-71A7AE156219}"/>
              </a:ext>
            </a:extLst>
          </p:cNvPr>
          <p:cNvSpPr>
            <a:spLocks noGrp="1"/>
          </p:cNvSpPr>
          <p:nvPr/>
        </p:nvSpPr>
        <p:spPr>
          <a:xfrm>
            <a:off x="609599" y="1619250"/>
            <a:ext cx="11104255" cy="4755548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-3.12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按版本找到基础解释器，不需要手写它的安装位置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创建虚拟</a:t>
            </a: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环境：</a:t>
            </a:r>
            <a:endParaRPr lang="en-US" altLang="zh-CN" sz="2175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   </a:t>
            </a:r>
            <a:r>
              <a:rPr sz="2175" b="0" dirty="0" err="1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</a:t>
            </a:r>
            <a:r>
              <a:rPr sz="21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-3.12</a:t>
            </a:r>
            <a:r>
              <a:rPr sz="21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-m</a:t>
            </a:r>
            <a:r>
              <a:rPr sz="21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21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</a:t>
            </a:r>
            <a:r>
              <a:rPr sz="2175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venv</a:t>
            </a:r>
            <a:endParaRPr lang="en-US" sz="2175" b="0" dirty="0">
              <a:solidFill>
                <a:srgbClr val="0070C0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激活</a:t>
            </a:r>
            <a:r>
              <a:rPr lang="en-US" altLang="zh-CN"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lang="zh-CN" altLang="en-US"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环境：</a:t>
            </a:r>
            <a:b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</a:b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   </a:t>
            </a:r>
            <a:r>
              <a:rPr lang="en-US" altLang="zh-CN" sz="2175" dirty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source</a:t>
            </a:r>
            <a:r>
              <a:rPr lang="en-US" altLang="zh-CN" sz="2175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lang="en-US" altLang="zh-CN" sz="2175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</a:t>
            </a:r>
            <a:r>
              <a:rPr lang="en-US" altLang="zh-CN" sz="2175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lang="en-US" altLang="zh-CN" sz="2175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/Scripts/activate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退出</a:t>
            </a: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虚拟环境：</a:t>
            </a:r>
            <a:b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</a:b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   </a:t>
            </a:r>
            <a:r>
              <a:rPr lang="en-US" altLang="zh-CN" sz="2175" dirty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deactivate</a:t>
            </a:r>
            <a:endParaRPr sz="21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激活后统一使用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，它会选择项目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</a:t>
            </a:r>
            <a:r>
              <a:rPr sz="2175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安装项目依赖时使用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-m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pip，避免带版本的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选回基础解释器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A67FB26-758E-3C54-86D1-1860548CD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6977" y="2047875"/>
            <a:ext cx="4633784" cy="2857500"/>
          </a:xfrm>
          <a:prstGeom prst="rect">
            <a:avLst/>
          </a:prstGeom>
        </p:spPr>
      </p:pic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AA219FE-9EF3-416F-B274-564E2F3BE15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2876084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5AEB82BF-E628-49A5-82FC-910C5C7B333A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依赖的安装位置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7E3CD19-8E00-40B3-A013-E27EDA1F541F}"/>
              </a:ext>
            </a:extLst>
          </p:cNvPr>
          <p:cNvGraphicFramePr/>
          <p:nvPr/>
        </p:nvGraphicFramePr>
        <p:xfrm>
          <a:off x="609600" y="1600200"/>
          <a:ext cx="10972800" cy="2771775"/>
        </p:xfrm>
        <a:graphic>
          <a:graphicData uri="http://schemas.openxmlformats.org/drawingml/2006/table">
            <a:tbl>
              <a:tblPr/>
              <a:tblGrid>
                <a:gridCol w="266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81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239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取得的源码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Python 环境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依赖入口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上游 Zephyr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在源码根创建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.venv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scripts/requirements-base.txt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后续测试实验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在同一环境补充依赖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按任务选择依赖清单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46E2BB44-C8EF-4D98-930D-089CDACC6F41}"/>
              </a:ext>
            </a:extLst>
          </p:cNvPr>
          <p:cNvSpPr>
            <a:spLocks noGrp="1"/>
          </p:cNvSpPr>
          <p:nvPr/>
        </p:nvSpPr>
        <p:spPr>
          <a:xfrm>
            <a:off x="609600" y="4876800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175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175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工具包存放在 </a:t>
            </a:r>
            <a:r>
              <a:rPr sz="2175" b="1">
                <a:solidFill>
                  <a:srgbClr val="0070C0"/>
                </a:solidFill>
                <a:latin typeface="Noto Sans SC"/>
                <a:ea typeface="Noto Sans SC"/>
                <a:cs typeface="Noto Sans SC"/>
              </a:rPr>
              <a:t>.venv</a:t>
            </a:r>
            <a:r>
              <a:rPr sz="2175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，SDK 保持在源码仓库外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A46E882-64E2-458B-A588-AE087F57DA78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本期使用 Windows Python，激活脚本位于 Scripts/activate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FA638D9-20E6-420D-96BA-DC75FF10059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660988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9D67D5CA-ADD5-4F0F-98E5-28C79E2A000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首次创建项目</a:t>
            </a:r>
            <a:r>
              <a:rPr sz="315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.</a:t>
            </a: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endParaRPr sz="3150" b="1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2F523DEB-2E12-46F8-8CAD-1714CDC1CF3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2.2.1 · 源码根；已核对基础 Python 3.12.10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107F4480-A7A6-4E19-864C-6475EF765B37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875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当前位置：上游</a:t>
            </a: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 Zephyr 源码根目录；终端：UCRT64。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 err="1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-3.12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venv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875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venv</a:t>
            </a:r>
            <a:endParaRPr sz="1875" b="0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source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875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venv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/Scripts/activate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pip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7B63DB4-61EE-4B8C-A8A1-62F54846FAAD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</a:t>
            </a:r>
            <a:r>
              <a:rPr sz="1875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则按第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1</a:t>
            </a:r>
            <a:r>
              <a:rPr lang="en-US"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2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页激活，不重复创建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从这一页之后，项目命令统一使用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0CCD8888-D990-4B81-9974-8B381ED1E744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完整命令：P002_Windows/2.2.1-02.txt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AF0CBE4-A4A3-4ACA-AC2D-79E2C720936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363022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D6A0C773-2905-4D2A-8A61-58B1FD4A8A1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把依赖装进刚确认的</a:t>
            </a:r>
            <a:r>
              <a:rPr sz="315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lang="zh-CN" altLang="en-US" sz="315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</a:t>
            </a:r>
            <a:r>
              <a:rPr lang="zh-CN" altLang="en-US" sz="32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按清单安装 </a:t>
            </a:r>
            <a:r>
              <a:rPr lang="en-US" altLang="zh-CN" sz="32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</a:t>
            </a:r>
            <a:r>
              <a:rPr lang="zh-CN" altLang="en-US" sz="32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包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8F7F0931-59C5-4751-ABC0-22FAA7D0F99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2.2.1_上一期下载的是上游_Zephyr_源码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B69EA047-31EB-4FF7-9428-DDF90211A113}"/>
              </a:ext>
            </a:extLst>
          </p:cNvPr>
          <p:cNvSpPr>
            <a:spLocks noGrp="1"/>
          </p:cNvSpPr>
          <p:nvPr/>
        </p:nvSpPr>
        <p:spPr>
          <a:xfrm>
            <a:off x="609600" y="1722500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875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当前位置：上游</a:t>
            </a: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 Zephyr 源码根目录；终端：UCRT64，已激活 .</a:t>
            </a:r>
            <a:r>
              <a:rPr sz="1875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venv</a:t>
            </a:r>
            <a:r>
              <a:rPr sz="1875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pip install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-r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scripts/requirements-base.txt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"</a:t>
            </a: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==1.5.0"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pip check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B5149F5F-70E4-43EE-BACF-F702C844B14E}"/>
              </a:ext>
            </a:extLst>
          </p:cNvPr>
          <p:cNvSpPr>
            <a:spLocks noGrp="1"/>
          </p:cNvSpPr>
          <p:nvPr/>
        </p:nvSpPr>
        <p:spPr>
          <a:xfrm>
            <a:off x="609600" y="3119296"/>
            <a:ext cx="4553492" cy="1587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requirements-base.txt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 Zephyr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官方文件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</a:t>
            </a:r>
            <a:endParaRPr lang="en-US" sz="18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补丁号为教程选择。pip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check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应无冲突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C8FADDA7-1CF3-4398-99B5-723ACE39F4E0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完整命令：P002_Windows/2.2.1-03.txt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2590B78D-8EA6-843F-4FB5-55F804D683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717" y="2453093"/>
            <a:ext cx="6210484" cy="3906898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5B6FC587-269D-B894-A426-AB9174187019}"/>
              </a:ext>
            </a:extLst>
          </p:cNvPr>
          <p:cNvSpPr>
            <a:spLocks noGrp="1"/>
          </p:cNvSpPr>
          <p:nvPr/>
        </p:nvSpPr>
        <p:spPr>
          <a:xfrm>
            <a:off x="704850" y="5048250"/>
            <a:ext cx="4381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接着阅读 P003 SDK，</a:t>
            </a:r>
          </a:p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然后准备 </a:t>
            </a:r>
            <a:r>
              <a:rPr sz="1950" b="0" dirty="0">
                <a:solidFill>
                  <a:srgbClr val="29263B"/>
                </a:solidFill>
                <a:latin typeface="Noto Sans SC"/>
                <a:ea typeface="Noto Sans SC"/>
                <a:cs typeface="Noto Sans SC"/>
              </a:rPr>
              <a:t>CMSIS/HAL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与模块。</a:t>
            </a:r>
          </a:p>
        </p:txBody>
      </p:sp>
      <p:sp>
        <p:nvSpPr>
          <p:cNvPr id="16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8079C97-0C38-4524-B39A-2793628B579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2938562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</TotalTime>
  <Words>2134</Words>
  <Application>Microsoft Office PowerPoint</Application>
  <DocSecurity>0</DocSecurity>
  <PresentationFormat>宽屏</PresentationFormat>
  <Paragraphs>245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15</vt:i4>
      </vt:variant>
    </vt:vector>
  </HeadingPairs>
  <TitlesOfParts>
    <vt:vector size="29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131</cp:revision>
  <dcterms:created xsi:type="dcterms:W3CDTF">2026-10-06T03:23:18Z</dcterms:created>
  <dcterms:modified xsi:type="dcterms:W3CDTF">2026-10-07T09:29:34Z</dcterms:modified>
</cp:coreProperties>
</file>