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33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P003—P011 回顾各自接口，并讲解本模块的结构与完整实验。</a:t>
            </a:r>
          </a:p>
          <a:p>
            <a:r>
              <a:t>配套正文：learning/P01_zephyr_make_project/P006_Zephyr应用构建_Windows.md。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6.1 · 本册只建立 CMake 基础</a:t>
            </a:r>
          </a:p>
          <a:p>
            <a:r>
              <a:t>先认识构建对象，再理解命令。</a:t>
            </a:r>
          </a:p>
          <a:p>
            <a:r>
              <a:t>本册产物：Windows 主机上的 my_app.exe。</a:t>
            </a:r>
          </a:p>
          <a:p>
            <a:r>
              <a:t>P007 再引入 Zephyr 与目标板；west 单独在 P008。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6.1 · 三种职责</a:t>
            </a:r>
          </a:p>
          <a:p>
            <a:r>
              <a:t>CMake 读取脚本，建立目标和依赖关系，生成后端规则。</a:t>
            </a:r>
          </a:p>
          <a:p>
            <a:r>
              <a:t>Ninja 按规则执行需要更新的任务。</a:t>
            </a:r>
          </a:p>
          <a:p>
            <a:r>
              <a:t>GCC 把 C 源码编成对象，再由链接工具形成程序。</a:t>
            </a:r>
          </a:p>
          <a:p>
            <a:r>
              <a:t>cmake --build 是调用已选后端的入口。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6.1 · 一次配置命令内部</a:t>
            </a:r>
          </a:p>
          <a:p>
            <a:r>
              <a:t>configure：执行 CMakeLists，识别编译器，建立目标关系。</a:t>
            </a:r>
          </a:p>
          <a:p>
            <a:r>
              <a:t>generate：把这些关系写成所选生成器的规则。</a:t>
            </a:r>
          </a:p>
          <a:p>
            <a:r>
              <a:t>build：后端执行规则；前两步成功还不等于程序编译完成。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6.2.1 · 这些练习文件由读者创建</a:t>
            </a:r>
          </a:p>
          <a:p>
            <a:r>
              <a:t>练习位置：build/learning-tools/cmake-native/。</a:t>
            </a:r>
          </a:p>
          <a:p>
            <a:r>
              <a:t>source/ 放 CMakeLists.txt、main.c；out/ 放工具生成结果。</a:t>
            </a:r>
          </a:p>
          <a:p>
            <a:r>
              <a:t>不修改 samples/hello_world；这还不是 Zephyr 应用。</a:t>
            </a:r>
          </a:p>
          <a:p>
            <a:r>
              <a:t>目录已存在先检查，不覆盖此前练习。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6.2.1 · Windows UCRT64</a:t>
            </a:r>
          </a:p>
          <a:p>
            <a:r>
              <a:t>本例输出 Windows 程序，因此使用 UCRT64 主机 GCC。</a:t>
            </a:r>
          </a:p>
          <a:p>
            <a:r>
              <a:t>预期 gcc -dumpmachine 为 x86_64-w64-mingw32。</a:t>
            </a:r>
          </a:p>
          <a:p>
            <a:r>
              <a:t>缺少时按 MD 的可选 pacman 步骤安装；这不代替 ARM SDK。</a:t>
            </a:r>
          </a:p>
          <a:p>
            <a:endParaRPr/>
          </a:p>
          <a:p>
            <a:r>
              <a:t># Windows UCRT64；进入实验源码根。</a:t>
            </a:r>
          </a:p>
          <a:p>
            <a:r>
              <a:t>cd /g/zephyr_practice/zephyr-main</a:t>
            </a:r>
          </a:p>
          <a:p>
            <a:r>
              <a:t>cmake --version</a:t>
            </a:r>
          </a:p>
          <a:p>
            <a:r>
              <a:t>ninja --version</a:t>
            </a:r>
          </a:p>
          <a:p>
            <a:r>
              <a:t>gcc -dumpmachine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6.2.1 · 文件内容，不是终端命令</a:t>
            </a:r>
          </a:p>
          <a:p>
            <a:r>
              <a:t>自行创建 source/main.c；完整目录创建与写文件操作见 MD。</a:t>
            </a:r>
          </a:p>
          <a:p>
            <a:r>
              <a:t>下方“配套正文”包含可复制的完整操作和已存在目录分支。</a:t>
            </a:r>
          </a:p>
          <a:p>
            <a:endParaRPr/>
          </a:p>
          <a:p>
            <a:r>
              <a:t>#include &lt;stdio.h&gt;</a:t>
            </a:r>
          </a:p>
          <a:p>
            <a:endParaRPr/>
          </a:p>
          <a:p>
            <a:r>
              <a:t>int main(void)</a:t>
            </a:r>
          </a:p>
          <a:p>
            <a:r>
              <a:t>{</a:t>
            </a:r>
          </a:p>
          <a:p>
            <a:r>
              <a:t>    puts("Hello from native CMake");</a:t>
            </a:r>
          </a:p>
          <a:p>
            <a:r>
              <a:t>    return 0;</a:t>
            </a:r>
          </a:p>
          <a:p>
            <a:r>
              <a:t>}</a:t>
            </a:r>
          </a:p>
          <a:p>
            <a:r>
              <a:t>依据：https://cmake.org/cmake/help/latest/guide/tutorial/Getting%20Started%20with%20CMake.html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6.2.2 · 自行创建 source/CMakeLists.txt</a:t>
            </a:r>
          </a:p>
          <a:p>
            <a:r>
              <a:t>project 命名工程并启用 C 语言；不是输出文件名。</a:t>
            </a:r>
          </a:p>
          <a:p>
            <a:r>
              <a:t>add_executable 创建 my_app 目标，main.c 是它的源码。</a:t>
            </a:r>
          </a:p>
          <a:p>
            <a:r>
              <a:t>在 Windows 上构建这个目标，得到 my_app.exe。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add_executable(my_app main.c)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6.2.3 · 两个练习文件已经存在</a:t>
            </a:r>
          </a:p>
          <a:p>
            <a:r>
              <a:t>先核对主机 C 编译器，再看到 Configuring done / Generating done。</a:t>
            </a:r>
          </a:p>
          <a:p>
            <a:r>
              <a:t>生成 out/CMakeCache.txt 和 out/build.ninja；失败时不继续 build。</a:t>
            </a:r>
          </a:p>
          <a:p>
            <a:endParaRPr/>
          </a:p>
          <a:p>
            <a:r>
              <a:t># Windows UCRT64；实验源码根。</a:t>
            </a:r>
          </a:p>
          <a:p>
            <a:r>
              <a:t>cd /g/zephyr_practice/zephyr-main</a:t>
            </a:r>
          </a:p>
          <a:p>
            <a:r>
              <a:t>cmake -S build/learning-tools/cmake-native/source \</a:t>
            </a:r>
          </a:p>
          <a:p>
            <a:r>
              <a:t>  -B build/learning-tools/cmake-native/out -G Ninja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6.2.3 · out 已配置并生成成功</a:t>
            </a:r>
          </a:p>
          <a:p>
            <a:r>
              <a:t>预期输出 Hello from native CMake。</a:t>
            </a:r>
          </a:p>
          <a:p>
            <a:r>
              <a:t>条件分支避免失败后误运行旧 exe；完整错误先看首个失败任务。</a:t>
            </a:r>
          </a:p>
          <a:p>
            <a:endParaRPr/>
          </a:p>
          <a:p>
            <a:r>
              <a:t># Windows UCRT64；实验源码根。</a:t>
            </a:r>
          </a:p>
          <a:p>
            <a:r>
              <a:t>cd /g/zephyr_practice/zephyr-main</a:t>
            </a:r>
          </a:p>
          <a:p>
            <a:r>
              <a:t>if cmake --build build/learning-tools/cmake-native/out --parallel 4; then</a:t>
            </a:r>
          </a:p>
          <a:p>
            <a:r>
              <a:t>  ./build/learning-tools/cmake-native/out/my_app.exe</a:t>
            </a:r>
          </a:p>
          <a:p>
            <a:r>
              <a:t>else</a:t>
            </a:r>
          </a:p>
          <a:p>
            <a:r>
              <a:t>  printf '%s\n' '构建失败，先检查错误。'</a:t>
            </a:r>
          </a:p>
          <a:p>
            <a:r>
              <a:t>fi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6.3.1 · 组成图，不是执行顺序</a:t>
            </a:r>
          </a:p>
          <a:p>
            <a:r>
              <a:t>目标是属性的归属点：源码、头文件目录、宏、编译选项和链接关系。</a:t>
            </a:r>
          </a:p>
          <a:p>
            <a:r>
              <a:t>磁盘上新建 foo.c 不代表它自动参与构建。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6.3.1 · 等价替换，不重复创建同名目标</a:t>
            </a:r>
          </a:p>
          <a:p>
            <a:r>
              <a:t>target_sources 向已存在的 my_app 添加源码。</a:t>
            </a:r>
          </a:p>
          <a:p>
            <a:r>
              <a:t>PRIVATE 表示这些源码用于目标自身，不作为接口源码传播。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add_executable(my_app)</a:t>
            </a:r>
          </a:p>
          <a:p>
            <a:r>
              <a:t>target_sources(my_app PRIVATE main.c)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6.3.2 · 第二阶段替换练习文件</a:t>
            </a:r>
          </a:p>
          <a:p>
            <a:r>
              <a:t>新建 include/add.h、src/add.c；更新 main.c 调用 add(2, 3)。</a:t>
            </a:r>
          </a:p>
          <a:p>
            <a:r>
              <a:t>四份完整文件见 MD 与配套 labs/cmake_native/02_targets。</a:t>
            </a:r>
          </a:p>
          <a:p>
            <a:r>
              <a:t>先保留个人改动；这些文件均是教程提供，不是官方原有。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6.3.2 · 第二阶段 CMakeLists.txt 主体</a:t>
            </a:r>
          </a:p>
          <a:p>
            <a:r>
              <a:t>arithmetic 提供头文件目录并形成静态库。</a:t>
            </a:r>
          </a:p>
          <a:p>
            <a:r>
              <a:t>my_app 链接它，同时接收其公开的使用要求。</a:t>
            </a:r>
          </a:p>
          <a:p>
            <a:endParaRPr/>
          </a:p>
          <a:p>
            <a:r>
              <a:t>cmake_minimum_required(VERSION 3.28)</a:t>
            </a:r>
          </a:p>
          <a:p>
            <a:r>
              <a:t>project(native_demo LANGUAGES C)</a:t>
            </a:r>
          </a:p>
          <a:p>
            <a:r>
              <a:t>add_library(arithmetic STATIC src/add.c)</a:t>
            </a:r>
          </a:p>
          <a:p>
            <a:r>
              <a:t>target_include_directories(arithmetic PUBLIC</a:t>
            </a:r>
          </a:p>
          <a:p>
            <a:r>
              <a:t>  "${CMAKE_CURRENT_SOURCE_DIR}/include")</a:t>
            </a:r>
          </a:p>
          <a:p>
            <a:r>
              <a:t>add_executable(my_app main.c)</a:t>
            </a:r>
          </a:p>
          <a:p>
            <a:r>
              <a:t>target_link_libraries(my_app PRIVATE arithmetic)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6.3.2 · 使用要求的传播</a:t>
            </a:r>
          </a:p>
          <a:p>
            <a:r>
              <a:t>PRIVATE：给目标自身。</a:t>
            </a:r>
          </a:p>
          <a:p>
            <a:r>
              <a:t>PUBLIC：给目标自身，也给使用者。</a:t>
            </a:r>
          </a:p>
          <a:p>
            <a:r>
              <a:t>INTERFACE：只给使用者。</a:t>
            </a:r>
          </a:p>
          <a:p>
            <a:r>
              <a:t>这是目标属性的使用范围，不是 C 语言权限或文件权限。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6.3.2 · 两目标练习的结果</a:t>
            </a:r>
          </a:p>
          <a:p>
            <a:r>
              <a:t>改入口后重新配置同一 out，再 cmake --build，运行 my_app.exe。</a:t>
            </a:r>
          </a:p>
          <a:p>
            <a:r>
              <a:t>预期 2 + 3 = 5；完整命令沿用 6.2.3。</a:t>
            </a:r>
          </a:p>
          <a:p>
            <a:r>
              <a:t>普通 C 文件变化通常只需增量构建；已登记输入也可能触发重配。</a:t>
            </a:r>
          </a:p>
          <a:p>
            <a:r>
              <a:t>编译行可观察 include 路径，链接行可观察 arithmetic 库。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6.4.1 · 只读布局变体，非必做迁移</a:t>
            </a:r>
          </a:p>
          <a:p>
            <a:r>
              <a:t>根入口处理到 add_subdirectory(lib)，就进入 lib/CMakeLists.txt。</a:t>
            </a:r>
          </a:p>
          <a:p>
            <a:r>
              <a:t>仍属于同一次 CMake 配置，不会启动第二套编译系统。</a:t>
            </a:r>
          </a:p>
          <a:p>
            <a:r>
              <a:t>子目录中 CMAKE_CURRENT_SOURCE_DIR 指向 lib。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6.4.2 · 先认识包，再认识 Zephyr 包</a:t>
            </a:r>
          </a:p>
          <a:p>
            <a:r>
              <a:t>Config 模式寻找 NameConfig.cmake 等入口。</a:t>
            </a:r>
          </a:p>
          <a:p>
            <a:r>
              <a:t>Module 模式寻找 FindName.cmake。</a:t>
            </a:r>
          </a:p>
          <a:p>
            <a:r>
              <a:t>找到后在同一 CMake 进程执行相关脚本；该命令本身不是下载器。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6.4.2 · 找到一个不代表找到另一个</a:t>
            </a:r>
          </a:p>
          <a:p>
            <a:r>
              <a:t>ZephyrConfig.cmake：源码提供的构建入口。</a:t>
            </a:r>
          </a:p>
          <a:p>
            <a:r>
              <a:t>Zephyr-sdkConfig.cmake：SDK 提供的工具发现入口。</a:t>
            </a:r>
          </a:p>
          <a:p>
            <a:r>
              <a:t>Zephyr_DIR 定位前者；SDK 路线与注册在 P003。</a:t>
            </a:r>
          </a:p>
          <a:p>
            <a:r>
              <a:t>不是每个 CMake 包都会创建 app；那是 Zephyr 初始化的行为。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6.5 · 三种对象各有读取者</a:t>
            </a:r>
          </a:p>
          <a:p>
            <a:r>
              <a:t>普通变量：脚本当前作用域中读取。</a:t>
            </a:r>
          </a:p>
          <a:p>
            <a:r>
              <a:t>缓存项：保存在所选构建目录，后续配置可能继续使用。</a:t>
            </a:r>
          </a:p>
          <a:p>
            <a:r>
              <a:t>目标属性：属于指定 target，影响其构建或使用要求。</a:t>
            </a:r>
          </a:p>
          <a:p>
            <a:r>
              <a:t>-D 传了一个名字，不等于编译器自动收到同名宏。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6.5 · DEMO_TRACE 是教程自定义选项</a:t>
            </a:r>
          </a:p>
          <a:p>
            <a:r>
              <a:t>先创建 my_app，再加入以下片段。</a:t>
            </a:r>
          </a:p>
          <a:p>
            <a:r>
              <a:t>option 声明缓存项；if 读取；target 接口才把宏加入编译规则。</a:t>
            </a:r>
          </a:p>
          <a:p>
            <a:endParaRPr/>
          </a:p>
          <a:p>
            <a:r>
              <a:t>option(DEMO_TRACE "Enable tutorial trace" OFF)</a:t>
            </a:r>
          </a:p>
          <a:p>
            <a:r>
              <a:t>if(DEMO_TRACE)</a:t>
            </a:r>
          </a:p>
          <a:p>
            <a:r>
              <a:t>  target_compile_definitions(my_app PRIVATE DEMO_TRACE=1)</a:t>
            </a:r>
          </a:p>
          <a:p>
            <a:r>
              <a:t>endif()</a:t>
            </a:r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对应正文：P006_原生CMake与目标模型_Windows.md</a:t>
            </a:r>
          </a:p>
          <a:p>
            <a:r>
              <a:t>6.6 · 下一册只增加一个新问题</a:t>
            </a:r>
          </a:p>
          <a:p>
            <a:r>
              <a:t>普通程序：自己 add_executable，然后添加源码与属性。</a:t>
            </a:r>
          </a:p>
          <a:p>
            <a:r>
              <a:t>Zephyr 应用：先 find_package，随后直接 target_sources(app)。</a:t>
            </a:r>
          </a:p>
          <a:p>
            <a:r>
              <a:t>为什么 app 已经存在？P007 沿源码回答。</a:t>
            </a:r>
          </a:p>
          <a:p>
            <a:r>
              <a:t>缓存深入 P010；west 入门与调用关系单独在 P008。</a:t>
            </a:r>
          </a:p>
          <a:p>
            <a:endParaRPr/>
          </a:p>
          <a:p>
            <a:endParaRPr/>
          </a:p>
          <a:p>
            <a:r>
              <a:t>依据：https://cmake.org/cmake/help/latest/manual/cmake-buildsystem.7.html</a:t>
            </a:r>
          </a:p>
          <a:p>
            <a:r>
              <a:t>本机原件：CMake 帮助：manual/cmake-buildsystem.7.rst</a:t>
            </a:r>
          </a:p>
          <a:p>
            <a:endParaRPr/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guide/tutorial/Getting%20Started%20with%20CMak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buildsystem.7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6_&#21407;&#29983;CMake&#19982;&#30446;&#26631;&#27169;&#22411;_Window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原生CMake与目标模型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F039112-67F3-45C4-AE80-C2725DADD70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从一个普通 C 程序开始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8ABB643-6094-445F-B27E-E159D71053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 · 本册只建立 CMake 基础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F7C86D2-0AAF-4217-8AF3-0AB04F65AED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先认识构建对象，再理解命令。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本册产物：Windows 主机上的 my_app.exe。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再引入 Zephyr 与目标板；west 单独在 P008。</a:t>
            </a:r>
          </a:p>
        </p:txBody>
      </p:sp>
      <p:sp>
        <p:nvSpPr>
          <p:cNvPr id="5" name="Model 源码与构建目录">
            <a:extLst>
              <a:ext uri="{FF2B5EF4-FFF2-40B4-BE49-F238E27FC236}">
                <a16:creationId xmlns:a16="http://schemas.microsoft.com/office/drawing/2014/main" id="{207145FA-6C89-4913-AB4B-0DC90F7C9108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源码与构建目录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1A592555-ADAF-4D10-B56A-E024760F00AE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目标与属性">
            <a:extLst>
              <a:ext uri="{FF2B5EF4-FFF2-40B4-BE49-F238E27FC236}">
                <a16:creationId xmlns:a16="http://schemas.microsoft.com/office/drawing/2014/main" id="{1DF4ED44-8C24-4DB4-AFC0-DDA012704CBE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目标与属性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7E2585E5-F6B8-4319-8EE2-4946284875DC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配置与生成">
            <a:extLst>
              <a:ext uri="{FF2B5EF4-FFF2-40B4-BE49-F238E27FC236}">
                <a16:creationId xmlns:a16="http://schemas.microsoft.com/office/drawing/2014/main" id="{F586B0D6-072A-475B-B643-AF474D0A0A43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配置与生成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DD939EB-0D4B-49D9-BE46-B1E0B851D52A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后端与编译器">
            <a:extLst>
              <a:ext uri="{FF2B5EF4-FFF2-40B4-BE49-F238E27FC236}">
                <a16:creationId xmlns:a16="http://schemas.microsoft.com/office/drawing/2014/main" id="{76DAE53E-B0A3-479D-B60B-14821A0B302D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后端与编译器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511F52B3-EA13-44D5-9F1E-A4BDA399BEA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DB4FD23C-14E6-46F3-87EF-F5F388FF468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54DF6DD-88F2-4925-B836-562BE4E908D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谁描述关系，谁执行编译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D4827A6-65F4-4D84-B645-B54196B0A43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 · 三种职责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F40C5D3-3F42-4800-AAD6-E48702B3F69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读取脚本，建立目标和依赖关系，生成后端规则。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按规则执行需要更新的任务。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GCC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C 源码编成对象，再由链接工具形成程序。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是调用已选后端的入口。</a:t>
            </a:r>
          </a:p>
        </p:txBody>
      </p:sp>
      <p:sp>
        <p:nvSpPr>
          <p:cNvPr id="5" name="Model CMake → 规则">
            <a:extLst>
              <a:ext uri="{FF2B5EF4-FFF2-40B4-BE49-F238E27FC236}">
                <a16:creationId xmlns:a16="http://schemas.microsoft.com/office/drawing/2014/main" id="{AFD3D619-A1BA-4F21-A5A7-29BB37C691D5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→ 规则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0DB85E53-EF8A-49E1-8E45-59C9497C4AA4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Ninja → 任务">
            <a:extLst>
              <a:ext uri="{FF2B5EF4-FFF2-40B4-BE49-F238E27FC236}">
                <a16:creationId xmlns:a16="http://schemas.microsoft.com/office/drawing/2014/main" id="{35EEF5C4-EBDB-4FDB-A960-F258F1FF4471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→ 任务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9BEBF4FA-9873-44FC-A93E-E40C9124CE18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GCC / 链接 → 程序">
            <a:extLst>
              <a:ext uri="{FF2B5EF4-FFF2-40B4-BE49-F238E27FC236}">
                <a16:creationId xmlns:a16="http://schemas.microsoft.com/office/drawing/2014/main" id="{CBE0B0DB-AA0D-4D22-AEA5-793A19D8D6AC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GCC / 链接 → 程序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6540049B-0140-40B8-B4B4-4C34808B3FE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48A00253-FC7A-4749-9135-38350E1F7B2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6.1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6426A6D-9515-46C6-8BD1-0DE5D23A29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configure 和 generate 不是同一步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452FDE3-02D4-4389-9A0C-432DBC6699B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 · 一次配置命令内部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0538ED9-1CC9-4317-BFCF-DEFB501EA60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configure：执行 CMakeLists，识别编译器，建立目标关系。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generate：把这些关系写成所选生成器的规则。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build：后端执行规则；前两步成功还不等于程序编译完成。</a:t>
            </a:r>
          </a:p>
        </p:txBody>
      </p:sp>
      <p:sp>
        <p:nvSpPr>
          <p:cNvPr id="5" name="Model CMakeLists.txt">
            <a:extLst>
              <a:ext uri="{FF2B5EF4-FFF2-40B4-BE49-F238E27FC236}">
                <a16:creationId xmlns:a16="http://schemas.microsoft.com/office/drawing/2014/main" id="{72EF06D6-EDF7-44C6-A231-8ED906ED8655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D9F19871-1E49-4FD6-AEB5-58E40DBCB270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目标关系图">
            <a:extLst>
              <a:ext uri="{FF2B5EF4-FFF2-40B4-BE49-F238E27FC236}">
                <a16:creationId xmlns:a16="http://schemas.microsoft.com/office/drawing/2014/main" id="{7F430CEA-ED33-48CD-ADA8-E5A153101D01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目标关系图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6AD17794-FEEC-438A-AF43-BF4BE246F504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ninja">
            <a:extLst>
              <a:ext uri="{FF2B5EF4-FFF2-40B4-BE49-F238E27FC236}">
                <a16:creationId xmlns:a16="http://schemas.microsoft.com/office/drawing/2014/main" id="{BCD9C835-F514-446A-A270-1A6072CCF58D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EF094CD-C163-4EC1-8488-DE4A519A256C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my_app.exe">
            <a:extLst>
              <a:ext uri="{FF2B5EF4-FFF2-40B4-BE49-F238E27FC236}">
                <a16:creationId xmlns:a16="http://schemas.microsoft.com/office/drawing/2014/main" id="{3FF40988-C402-43C1-84D8-F056CABF972D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my_app.exe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65CCC58B-0D37-45B7-9500-C820E36A7F7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1479FEE2-AAB6-4CCB-AED5-8FC3A837EE1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640F9D4-9A42-460F-A565-100BE995E7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源码目录与构建目录分开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577B68A-D3B3-414B-9992-52DBC86A693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这些练习文件由读者创建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BC50041-7599-4C91-8053-A4E3B66AFD0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332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练习位置：</a:t>
            </a:r>
            <a:r>
              <a:rPr dirty="0" err="1">
                <a:solidFill>
                  <a:srgbClr val="0070C0"/>
                </a:solidFill>
              </a:rPr>
              <a:t>build</a:t>
            </a:r>
            <a:r>
              <a:rPr dirty="0">
                <a:solidFill>
                  <a:srgbClr val="0070C0"/>
                </a:solidFill>
              </a:rPr>
              <a:t>/learning-tools/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dirty="0">
                <a:solidFill>
                  <a:srgbClr val="0070C0"/>
                </a:solidFill>
              </a:rPr>
              <a:t>-native/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source/ 放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CMakeLists.txt、main.c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out/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放工具生成结果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不修改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samples/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hello_world；这还不是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目录已存在先检查，不覆盖此前练习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Model source：自己写">
            <a:extLst>
              <a:ext uri="{FF2B5EF4-FFF2-40B4-BE49-F238E27FC236}">
                <a16:creationId xmlns:a16="http://schemas.microsoft.com/office/drawing/2014/main" id="{1B10CB06-6EF2-4E1A-B5DE-AB091871A484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source：自己写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1951992-95B1-4296-B13E-C670DAD6C5D9}"/>
              </a:ext>
            </a:extLst>
          </p:cNvPr>
          <p:cNvSpPr>
            <a:spLocks noGrp="1"/>
          </p:cNvSpPr>
          <p:nvPr/>
        </p:nvSpPr>
        <p:spPr>
          <a:xfrm>
            <a:off x="311467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-S 选择入口">
            <a:extLst>
              <a:ext uri="{FF2B5EF4-FFF2-40B4-BE49-F238E27FC236}">
                <a16:creationId xmlns:a16="http://schemas.microsoft.com/office/drawing/2014/main" id="{F6AE1A13-9B02-4383-9242-18378F6531CA}"/>
              </a:ext>
            </a:extLst>
          </p:cNvPr>
          <p:cNvSpPr>
            <a:spLocks noGrp="1"/>
          </p:cNvSpPr>
          <p:nvPr/>
        </p:nvSpPr>
        <p:spPr>
          <a:xfrm>
            <a:off x="344805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-S 选择入口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98B3B6CB-5810-4EE9-8C93-B6CF9B3BC118}"/>
              </a:ext>
            </a:extLst>
          </p:cNvPr>
          <p:cNvSpPr>
            <a:spLocks noGrp="1"/>
          </p:cNvSpPr>
          <p:nvPr/>
        </p:nvSpPr>
        <p:spPr>
          <a:xfrm>
            <a:off x="595312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-B 选择 out">
            <a:extLst>
              <a:ext uri="{FF2B5EF4-FFF2-40B4-BE49-F238E27FC236}">
                <a16:creationId xmlns:a16="http://schemas.microsoft.com/office/drawing/2014/main" id="{845283DD-0204-4DAA-9BC5-F396EA0EC029}"/>
              </a:ext>
            </a:extLst>
          </p:cNvPr>
          <p:cNvSpPr>
            <a:spLocks noGrp="1"/>
          </p:cNvSpPr>
          <p:nvPr/>
        </p:nvSpPr>
        <p:spPr>
          <a:xfrm>
            <a:off x="628650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-B 选择 out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60FB073A-C44C-4C9D-9B1A-025196BDE33B}"/>
              </a:ext>
            </a:extLst>
          </p:cNvPr>
          <p:cNvSpPr>
            <a:spLocks noGrp="1"/>
          </p:cNvSpPr>
          <p:nvPr/>
        </p:nvSpPr>
        <p:spPr>
          <a:xfrm>
            <a:off x="8791575" y="453390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out：工具生成">
            <a:extLst>
              <a:ext uri="{FF2B5EF4-FFF2-40B4-BE49-F238E27FC236}">
                <a16:creationId xmlns:a16="http://schemas.microsoft.com/office/drawing/2014/main" id="{672CB20F-6411-47BA-97CD-F91589B23A3F}"/>
              </a:ext>
            </a:extLst>
          </p:cNvPr>
          <p:cNvSpPr>
            <a:spLocks noGrp="1"/>
          </p:cNvSpPr>
          <p:nvPr/>
        </p:nvSpPr>
        <p:spPr>
          <a:xfrm>
            <a:off x="9124950" y="441960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out：工具生成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4F5F8404-0F42-484E-8A0F-F051FB586FC7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E4E1BD21-6203-4E68-8839-0FF7CC2B818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E0DB196-7306-4301-A964-9779031B002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本例需要主机编译器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AD3E5FD-25E7-49DF-A378-4739D970B3D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0B8ACEA-42A6-4604-9391-EACC3EA3024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Windows UCRT64；进入实验源码根。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ninja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gcc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-dumpmachine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2F0899E-ADE7-4DB3-8ADA-1B6591176EE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本例输出 Windows 程序，因此使用 UCRT64 主机 GCC。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gcc -dumpmachine 为 x86_64-w64-mingw32。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缺少时按 MD 的可选 pacman 步骤安装；这不代替 ARM SDK。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7C8277B9-925B-4F01-B971-00F64780FEF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01CC07C1-F9EF-4BC3-BC54-974C8E35B36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0D0C07-B7B2-4004-AD07-49AA9B3237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先放入十行左右的 C 程序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98E6AC-6CA4-4B1E-BCA7-A1C5DAE2A9F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文件内容，不是终端命令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A2BF912-0890-4610-A1DD-1B671B353B6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#include &lt;stdio.h&gt;</a:t>
            </a:r>
          </a:p>
          <a:p>
            <a:pPr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endParaRPr sz="1725" b="0">
              <a:solidFill>
                <a:srgbClr val="29263B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int main(void)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puts("Hello from native CMake");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5FCC66A-BCB0-4E34-AECA-F41717C0593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自行创建 source/main.c；完整目录创建与写文件操作见 MD。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下方“配套正文”包含可复制的完整操作和已存在目录分支。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59E658A6-0721-4E0D-A068-DF27D9B6D59D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80CFCEB3-6807-4251-9B3A-CB69104C63D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BD76679-4B4E-4912-B1C6-5D426617530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三行入口各自声明什么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0579FFF-3F40-42B6-9D4F-B83B2B13CE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6.2.2 · 自行创建 source/CMakeLists.txt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2C8006F-346C-4379-8AAD-73695976A98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(VERSION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LANGUAGES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main.c)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0D61D847-A3C4-47E3-99C5-E5A40E1387D9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命名工程并启用 C 语言；不是输出文件名。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创建 my_app 目标，main.c 是它的源码。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Windows 上构建这个目标，得到 my_app.exe。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22B0D153-E898-445C-8BA3-512F4965D14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91413260-AE54-402B-BDC2-6B1B7E6D3B7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6.2.2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4D57FA-AA41-4E9F-9A27-67515F8A714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第一次：配置并生成 Ninja 规则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47D99EB-CF78-4E94-B8B6-82FA760AA52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6.2.3 · 两个练习文件已经存在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8648BD2-7102-4318-BE6D-CAAE175CD53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Windows UCRT64；实验源码根。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-S build</a:t>
            </a:r>
            <a:r>
              <a:rPr>
                <a:solidFill>
                  <a:srgbClr val="0070C0"/>
                </a:solidFill>
              </a:rPr>
              <a:t>/learning-tools/cmake-native/source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-B build</a:t>
            </a:r>
            <a:r>
              <a:rPr>
                <a:solidFill>
                  <a:srgbClr val="0070C0"/>
                </a:solidFill>
              </a:rPr>
              <a:t>/learning-tools/cmake-native/out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-G Ninja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D0EE4331-CD59-4B72-AF14-D28FADCB0223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先核对主机 C 编译器，再看到 Configuring done / Generating done。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 out/CMakeCache.txt 和 out/build.ninja；失败时不继续 build。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49404E2B-C3ED-480E-8923-C5B4742C592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DAA1DE5F-C73F-45D9-B109-2115CD2612F7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C9D6BF-1FD7-4D65-BB96-F31ACCC162C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第二次：构建成功后才运行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3F035C8-2EB8-4ADB-A4E4-8872CE43175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6.2.3 · out 已配置并生成成功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64EC462-8848-4BFF-9A3F-86879D52679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Windows UCRT64；实验源码根。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if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--build build</a:t>
            </a:r>
            <a:r>
              <a:rPr>
                <a:solidFill>
                  <a:srgbClr val="0070C0"/>
                </a:solidFill>
              </a:rPr>
              <a:t>/learning-tools/cmake-native/out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--parallel 4; then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.</a:t>
            </a:r>
            <a:r>
              <a:rPr>
                <a:solidFill>
                  <a:srgbClr val="0070C0"/>
                </a:solidFill>
              </a:rPr>
              <a:t>/build/learning-tools/cmake-native/out/my_app.exe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printf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'%s\n' '构建失败，先检查错误。'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6977C9E-13EA-4A0D-9A8B-BDEE5FE5BFB5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预期输出 Hello from native CMake。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条件分支避免失败后误运行旧 exe；完整错误先看首个失败任务。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20113A16-EB05-4751-8A53-329F85EFB82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EB6E1569-7B7B-4420-B885-645D29BFEA0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6.2.3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BE2633-3991-461C-8E46-C812943DEA9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现代 CMake 围绕 target 组织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67015B5-E537-47A8-A49E-3C7481EF228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6.3.1 · 组成图，不是执行顺序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7C5D2BB-CADE-4073-8C13-F8E55A13BCC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目标是属性的归属点：源码、头文件目录、宏、编译选项和链接关系。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磁盘上新建 foo.c 不代表它自动参与构建。</a:t>
            </a:r>
          </a:p>
        </p:txBody>
      </p:sp>
      <p:sp>
        <p:nvSpPr>
          <p:cNvPr id="5" name="Model CMake target：my_app / arithmetic">
            <a:extLst>
              <a:ext uri="{FF2B5EF4-FFF2-40B4-BE49-F238E27FC236}">
                <a16:creationId xmlns:a16="http://schemas.microsoft.com/office/drawing/2014/main" id="{912CF28F-491C-4AA1-89DF-2D8B0215D565}"/>
              </a:ext>
            </a:extLst>
          </p:cNvPr>
          <p:cNvSpPr>
            <a:spLocks noGrp="1"/>
          </p:cNvSpPr>
          <p:nvPr/>
        </p:nvSpPr>
        <p:spPr>
          <a:xfrm>
            <a:off x="3943350" y="3286125"/>
            <a:ext cx="4286250" cy="52387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target：my_app / arithmetic</a:t>
            </a:r>
          </a:p>
        </p:txBody>
      </p:sp>
      <p:sp>
        <p:nvSpPr>
          <p:cNvPr id="6" name="Target stem">
            <a:extLst>
              <a:ext uri="{FF2B5EF4-FFF2-40B4-BE49-F238E27FC236}">
                <a16:creationId xmlns:a16="http://schemas.microsoft.com/office/drawing/2014/main" id="{CA7618D0-EE52-428F-9913-33B2930DF6D1}"/>
              </a:ext>
            </a:extLst>
          </p:cNvPr>
          <p:cNvSpPr>
            <a:spLocks noGrp="1"/>
          </p:cNvSpPr>
          <p:nvPr/>
        </p:nvSpPr>
        <p:spPr>
          <a:xfrm>
            <a:off x="6086475" y="3810000"/>
            <a:ext cx="19050" cy="285750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7" name="Property branch">
            <a:extLst>
              <a:ext uri="{FF2B5EF4-FFF2-40B4-BE49-F238E27FC236}">
                <a16:creationId xmlns:a16="http://schemas.microsoft.com/office/drawing/2014/main" id="{ADC21A7B-48B3-4170-9863-A4A9A8E02A08}"/>
              </a:ext>
            </a:extLst>
          </p:cNvPr>
          <p:cNvSpPr>
            <a:spLocks noGrp="1"/>
          </p:cNvSpPr>
          <p:nvPr/>
        </p:nvSpPr>
        <p:spPr>
          <a:xfrm>
            <a:off x="1447800" y="4095750"/>
            <a:ext cx="9296400" cy="19050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8" name="Property stem 0">
            <a:extLst>
              <a:ext uri="{FF2B5EF4-FFF2-40B4-BE49-F238E27FC236}">
                <a16:creationId xmlns:a16="http://schemas.microsoft.com/office/drawing/2014/main" id="{E7531C9B-488C-44A2-8625-300E41865435}"/>
              </a:ext>
            </a:extLst>
          </p:cNvPr>
          <p:cNvSpPr>
            <a:spLocks noGrp="1"/>
          </p:cNvSpPr>
          <p:nvPr/>
        </p:nvSpPr>
        <p:spPr>
          <a:xfrm>
            <a:off x="144399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9" name="Model Sources">
            <a:extLst>
              <a:ext uri="{FF2B5EF4-FFF2-40B4-BE49-F238E27FC236}">
                <a16:creationId xmlns:a16="http://schemas.microsoft.com/office/drawing/2014/main" id="{91240008-09E2-4444-88FA-BE34DBE0D248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Sources</a:t>
            </a:r>
          </a:p>
        </p:txBody>
      </p:sp>
      <p:sp>
        <p:nvSpPr>
          <p:cNvPr id="10" name="Property stem 1">
            <a:extLst>
              <a:ext uri="{FF2B5EF4-FFF2-40B4-BE49-F238E27FC236}">
                <a16:creationId xmlns:a16="http://schemas.microsoft.com/office/drawing/2014/main" id="{6B0234F6-5A21-4E29-A41B-8F48C7968F49}"/>
              </a:ext>
            </a:extLst>
          </p:cNvPr>
          <p:cNvSpPr>
            <a:spLocks noGrp="1"/>
          </p:cNvSpPr>
          <p:nvPr/>
        </p:nvSpPr>
        <p:spPr>
          <a:xfrm>
            <a:off x="330327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1" name="Model Include directories">
            <a:extLst>
              <a:ext uri="{FF2B5EF4-FFF2-40B4-BE49-F238E27FC236}">
                <a16:creationId xmlns:a16="http://schemas.microsoft.com/office/drawing/2014/main" id="{7BBB97BA-66B7-4600-B2DD-5A61E5B094F8}"/>
              </a:ext>
            </a:extLst>
          </p:cNvPr>
          <p:cNvSpPr>
            <a:spLocks noGrp="1"/>
          </p:cNvSpPr>
          <p:nvPr/>
        </p:nvSpPr>
        <p:spPr>
          <a:xfrm>
            <a:off x="246888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Include directories</a:t>
            </a:r>
          </a:p>
        </p:txBody>
      </p:sp>
      <p:sp>
        <p:nvSpPr>
          <p:cNvPr id="12" name="Property stem 2">
            <a:extLst>
              <a:ext uri="{FF2B5EF4-FFF2-40B4-BE49-F238E27FC236}">
                <a16:creationId xmlns:a16="http://schemas.microsoft.com/office/drawing/2014/main" id="{F306F446-3080-4FC1-8791-2982FC26D7E2}"/>
              </a:ext>
            </a:extLst>
          </p:cNvPr>
          <p:cNvSpPr>
            <a:spLocks noGrp="1"/>
          </p:cNvSpPr>
          <p:nvPr/>
        </p:nvSpPr>
        <p:spPr>
          <a:xfrm>
            <a:off x="516255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3" name="Model Compile definitions">
            <a:extLst>
              <a:ext uri="{FF2B5EF4-FFF2-40B4-BE49-F238E27FC236}">
                <a16:creationId xmlns:a16="http://schemas.microsoft.com/office/drawing/2014/main" id="{B617EDCE-C440-4641-B1DA-9F90D3A442E4}"/>
              </a:ext>
            </a:extLst>
          </p:cNvPr>
          <p:cNvSpPr>
            <a:spLocks noGrp="1"/>
          </p:cNvSpPr>
          <p:nvPr/>
        </p:nvSpPr>
        <p:spPr>
          <a:xfrm>
            <a:off x="432816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 definitions</a:t>
            </a:r>
          </a:p>
        </p:txBody>
      </p:sp>
      <p:sp>
        <p:nvSpPr>
          <p:cNvPr id="14" name="Property stem 3">
            <a:extLst>
              <a:ext uri="{FF2B5EF4-FFF2-40B4-BE49-F238E27FC236}">
                <a16:creationId xmlns:a16="http://schemas.microsoft.com/office/drawing/2014/main" id="{553DBC13-7EF8-4D99-88A3-1B741DAB2C2A}"/>
              </a:ext>
            </a:extLst>
          </p:cNvPr>
          <p:cNvSpPr>
            <a:spLocks noGrp="1"/>
          </p:cNvSpPr>
          <p:nvPr/>
        </p:nvSpPr>
        <p:spPr>
          <a:xfrm>
            <a:off x="702183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5" name="Model Compile options">
            <a:extLst>
              <a:ext uri="{FF2B5EF4-FFF2-40B4-BE49-F238E27FC236}">
                <a16:creationId xmlns:a16="http://schemas.microsoft.com/office/drawing/2014/main" id="{23DD600E-B26A-4533-976A-E927E15CF65C}"/>
              </a:ext>
            </a:extLst>
          </p:cNvPr>
          <p:cNvSpPr>
            <a:spLocks noGrp="1"/>
          </p:cNvSpPr>
          <p:nvPr/>
        </p:nvSpPr>
        <p:spPr>
          <a:xfrm>
            <a:off x="618744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Compile options</a:t>
            </a:r>
          </a:p>
        </p:txBody>
      </p:sp>
      <p:sp>
        <p:nvSpPr>
          <p:cNvPr id="16" name="Property stem 4">
            <a:extLst>
              <a:ext uri="{FF2B5EF4-FFF2-40B4-BE49-F238E27FC236}">
                <a16:creationId xmlns:a16="http://schemas.microsoft.com/office/drawing/2014/main" id="{6AEADED1-B1D9-428D-B797-12050EA0C094}"/>
              </a:ext>
            </a:extLst>
          </p:cNvPr>
          <p:cNvSpPr>
            <a:spLocks noGrp="1"/>
          </p:cNvSpPr>
          <p:nvPr/>
        </p:nvSpPr>
        <p:spPr>
          <a:xfrm>
            <a:off x="888111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7" name="Model Link libraries">
            <a:extLst>
              <a:ext uri="{FF2B5EF4-FFF2-40B4-BE49-F238E27FC236}">
                <a16:creationId xmlns:a16="http://schemas.microsoft.com/office/drawing/2014/main" id="{89D31F90-EC61-426F-888E-B6497D954E52}"/>
              </a:ext>
            </a:extLst>
          </p:cNvPr>
          <p:cNvSpPr>
            <a:spLocks noGrp="1"/>
          </p:cNvSpPr>
          <p:nvPr/>
        </p:nvSpPr>
        <p:spPr>
          <a:xfrm>
            <a:off x="804672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Link libraries</a:t>
            </a:r>
          </a:p>
        </p:txBody>
      </p:sp>
      <p:sp>
        <p:nvSpPr>
          <p:cNvPr id="18" name="Property stem 5">
            <a:extLst>
              <a:ext uri="{FF2B5EF4-FFF2-40B4-BE49-F238E27FC236}">
                <a16:creationId xmlns:a16="http://schemas.microsoft.com/office/drawing/2014/main" id="{A12A9E85-461B-47C0-A2F9-E28569D0F743}"/>
              </a:ext>
            </a:extLst>
          </p:cNvPr>
          <p:cNvSpPr>
            <a:spLocks noGrp="1"/>
          </p:cNvSpPr>
          <p:nvPr/>
        </p:nvSpPr>
        <p:spPr>
          <a:xfrm>
            <a:off x="10740390" y="4095750"/>
            <a:ext cx="19050" cy="238125"/>
          </a:xfrm>
          <a:prstGeom prst="rect">
            <a:avLst/>
          </a:prstGeom>
          <a:solidFill>
            <a:srgbClr val="6845AC"/>
          </a:solidFill>
          <a:ln w="0">
            <a:noFill/>
          </a:ln>
        </p:spPr>
      </p:sp>
      <p:sp>
        <p:nvSpPr>
          <p:cNvPr id="19" name="Model Usage requirements">
            <a:extLst>
              <a:ext uri="{FF2B5EF4-FFF2-40B4-BE49-F238E27FC236}">
                <a16:creationId xmlns:a16="http://schemas.microsoft.com/office/drawing/2014/main" id="{F0F279DF-A324-4C31-8F78-D3EDA36389F6}"/>
              </a:ext>
            </a:extLst>
          </p:cNvPr>
          <p:cNvSpPr>
            <a:spLocks noGrp="1"/>
          </p:cNvSpPr>
          <p:nvPr/>
        </p:nvSpPr>
        <p:spPr>
          <a:xfrm>
            <a:off x="9906000" y="4333875"/>
            <a:ext cx="1668780" cy="857250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Usage requirements</a:t>
            </a:r>
          </a:p>
        </p:txBody>
      </p:sp>
      <p:sp>
        <p:nvSpPr>
          <p:cNvPr id="20" name="Evidence">
            <a:extLst>
              <a:ext uri="{FF2B5EF4-FFF2-40B4-BE49-F238E27FC236}">
                <a16:creationId xmlns:a16="http://schemas.microsoft.com/office/drawing/2014/main" id="{F00DF4FE-68DC-4AE4-99A2-6B978F6B32F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21" name="Reading link">
            <a:extLst>
              <a:ext uri="{FF2B5EF4-FFF2-40B4-BE49-F238E27FC236}">
                <a16:creationId xmlns:a16="http://schemas.microsoft.com/office/drawing/2014/main" id="{40A4D994-9E42-47E1-AF09-CC1FFCB7A3F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6.3.1</a:t>
            </a:r>
          </a:p>
        </p:txBody>
      </p:sp>
      <p:sp>
        <p:nvSpPr>
          <p:cNvPr id="2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782D26-0D6E-47AD-9C84-7D9DA6F575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先创建目标，再添加属性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F805BD-02F8-4012-9190-12BDB27298C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6.3.1 · 等价替换，不重复创建同名目标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B9A1AAB7-027D-47E2-8D9D-2FB2B962C5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(VERSION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LANGUAGES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target_sources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main.c)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F3BBA88-E18D-45B8-A05C-D0C1D60C66D8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87B3D"/>
                </a:solidFill>
              </a:rPr>
              <a:t>target_sources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向已存在的 my_app 添加源码。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PRIVATE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表示这些源码用于目标自身，不作为接口源码传播。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12471041-2A01-4EF2-AB06-1D053FF0F7E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45B98AA-C2EA-4393-B0EF-1AD6FA55D2AF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6.3.1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29F3ECD-4754-4188-A3C5-DF9CAA2D7C5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加入一个库，让关系可以观察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30F737B-153C-47E7-BCCE-9FBCE8EED82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6.3.2 · 第二阶段替换练习文件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B22A220-8E80-44D2-949B-CD2DFD91E02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 include/add.h、src/add.c；更新 main.c 调用 add(2, 3)。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四份完整文件见 MD 与配套 labs/cmake_native/02_targets。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先保留个人改动；这些文件均是教程提供，不是官方原有。</a:t>
            </a:r>
          </a:p>
        </p:txBody>
      </p:sp>
      <p:sp>
        <p:nvSpPr>
          <p:cNvPr id="5" name="Model add.h 声明">
            <a:extLst>
              <a:ext uri="{FF2B5EF4-FFF2-40B4-BE49-F238E27FC236}">
                <a16:creationId xmlns:a16="http://schemas.microsoft.com/office/drawing/2014/main" id="{F68D0DDD-EC89-4516-A332-1F6985EB658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add.h 声明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60246D71-ECF9-4BAD-BC55-747264E81307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add.c 实现">
            <a:extLst>
              <a:ext uri="{FF2B5EF4-FFF2-40B4-BE49-F238E27FC236}">
                <a16:creationId xmlns:a16="http://schemas.microsoft.com/office/drawing/2014/main" id="{BA4713C4-D277-47E7-9FF1-4F01035D6431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add.c 实现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149646BA-07F7-4A6B-B486-62373502F1D1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arithmetic 库">
            <a:extLst>
              <a:ext uri="{FF2B5EF4-FFF2-40B4-BE49-F238E27FC236}">
                <a16:creationId xmlns:a16="http://schemas.microsoft.com/office/drawing/2014/main" id="{1A04716D-EE38-4A68-B0E2-54766E10762A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 库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A54D3B59-B8EC-4743-8567-CBE40D866588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my_app 调用">
            <a:extLst>
              <a:ext uri="{FF2B5EF4-FFF2-40B4-BE49-F238E27FC236}">
                <a16:creationId xmlns:a16="http://schemas.microsoft.com/office/drawing/2014/main" id="{9887C345-77D2-45AB-A23B-12ED0BABC44B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my_app 调用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EAF3CA3C-B4F9-4CA8-B3C8-0AFDA41CACB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25365E90-9405-4BC5-BFD3-BBF84238B71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E30D5A-195C-4E85-B673-9280E37A50B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两个目标怎样连接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41CDC8A-E356-4801-8AFA-3CB693897B1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6.3.2 · 第二阶段 CMakeLists.txt 主体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81A6EB4-1226-4B99-A5B1-DABFFC04448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cmake_minimum_required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(VERSION 3.28)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project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(native_demo LANGUAGES 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add_library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(arithmetic STATIC src</a:t>
            </a:r>
            <a:r>
              <a:rPr>
                <a:solidFill>
                  <a:srgbClr val="0070C0"/>
                </a:solidFill>
              </a:rPr>
              <a:t>/add.c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target_include_directories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(arithmetic </a:t>
            </a:r>
            <a:r>
              <a:rPr>
                <a:solidFill>
                  <a:srgbClr val="B84E00"/>
                </a:solidFill>
              </a:rPr>
              <a:t>PUBLIC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"${</a:t>
            </a:r>
            <a:r>
              <a:rPr>
                <a:solidFill>
                  <a:srgbClr val="B84E00"/>
                </a:solidFill>
              </a:rPr>
              <a:t>CMAKE_CURRENT_SOURCE_DIR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</a:t>
            </a:r>
            <a:r>
              <a:rPr>
                <a:solidFill>
                  <a:srgbClr val="0070C0"/>
                </a:solidFill>
              </a:rPr>
              <a:t>/include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add_executable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main.c)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target_link_libraries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arithmetic)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C44187C-EEEE-45EF-9A8A-139A05B86C3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 提供头文件目录并形成静态库。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my_app 链接它，同时接收其公开的使用要求。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F985FB44-E81B-4F1B-965D-66DA76052E6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D650261-66B2-4064-9E0A-09A4DD9F25B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6.3.2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3061AC-3E9E-4AC0-B5AD-5449DA47FD2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PRIVATE / PUBLIC / INTERFACE 传给谁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0CA537A-8222-460B-BFBB-2261DE3EE8E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6.3.2 · 使用要求的传播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F7D7A29-C52F-4BF2-A1ED-B04BFF81678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PRIVATE：给目标自身。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PUBLIC：给目标自身，也给使用者。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INTERFACE：只给使用者。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这是目标属性的使用范围，不是 C 语言权限或文件权限。</a:t>
            </a:r>
          </a:p>
        </p:txBody>
      </p:sp>
      <p:sp>
        <p:nvSpPr>
          <p:cNvPr id="5" name="Model arithmetic">
            <a:extLst>
              <a:ext uri="{FF2B5EF4-FFF2-40B4-BE49-F238E27FC236}">
                <a16:creationId xmlns:a16="http://schemas.microsoft.com/office/drawing/2014/main" id="{6178815C-070C-4FB1-8F54-7D8A02E7BD0C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arithmetic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4380FCC1-A448-4D54-8BCB-4D544FA8B642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PUBLIC include/">
            <a:extLst>
              <a:ext uri="{FF2B5EF4-FFF2-40B4-BE49-F238E27FC236}">
                <a16:creationId xmlns:a16="http://schemas.microsoft.com/office/drawing/2014/main" id="{D87394C8-65D8-4A75-9704-08F199C9BD6C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PUBLIC include/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E8A9622C-31B0-4F3F-A732-1E19285ABFDC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链接它的 my_app">
            <a:extLst>
              <a:ext uri="{FF2B5EF4-FFF2-40B4-BE49-F238E27FC236}">
                <a16:creationId xmlns:a16="http://schemas.microsoft.com/office/drawing/2014/main" id="{E6ECE970-90AB-4FC0-A23B-C51E52BCA6AA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链接它的 my_app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64493412-EA61-4514-B72A-D017DE3E9B11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642ECE6D-9FE1-4139-A623-7E57B0176725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6.3.2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1F1DEB-CED2-403C-A5EE-5E69DEB6F1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改了文件，再配置和构建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1622C5-5B82-46A4-9552-9C65633454F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6.3.2 · 两目标练习的结果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112EFDC-F812-41A7-8556-A4DABF664E3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改入口后重新配置同一 out，再 cmake --build，运行 my_app.exe。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2 + 3 = 5；完整命令沿用 6.2.3。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 C 文件变化通常只需增量构建；已登记输入也可能触发重配。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编译行可观察 include 路径，链接行可观察 arithmetic 库。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1F3185FE-9448-49BA-8D13-94258D0D6DA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D5509CA5-8529-4ACF-A69B-208FD24B1FA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6.3.2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5692CD-2FD6-408F-922B-4F799027D4B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add_subdirectory 拆的是脚本组织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13CE5B4-E988-4B58-BCF1-AAE9ADBC9CF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6.4.1 · 只读布局变体，非必做迁移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F0387B0-6525-47DC-AE66-9B7920E3F1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根入口处理到 add_subdirectory(lib)，就进入 lib/CMakeLists.txt。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仍属于同一次 CMake 配置，不会启动第二套编译系统。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子目录中 CMAKE_CURRENT_SOURCE_DIR 指向 lib。</a:t>
            </a:r>
          </a:p>
        </p:txBody>
      </p:sp>
      <p:sp>
        <p:nvSpPr>
          <p:cNvPr id="5" name="Model 根 CMakeLists">
            <a:extLst>
              <a:ext uri="{FF2B5EF4-FFF2-40B4-BE49-F238E27FC236}">
                <a16:creationId xmlns:a16="http://schemas.microsoft.com/office/drawing/2014/main" id="{A7109B12-8592-442B-85F9-5A927F66449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CMakeLists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CC4E8E8C-C97B-4057-AFB5-0278004EDF97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lib/CMakeLists">
            <a:extLst>
              <a:ext uri="{FF2B5EF4-FFF2-40B4-BE49-F238E27FC236}">
                <a16:creationId xmlns:a16="http://schemas.microsoft.com/office/drawing/2014/main" id="{515CFC29-61B6-41E8-BF31-0F54666540CB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lib/CMakeLists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BE592612-3557-421E-A99C-193B842DC12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建立 arithmetic">
            <a:extLst>
              <a:ext uri="{FF2B5EF4-FFF2-40B4-BE49-F238E27FC236}">
                <a16:creationId xmlns:a16="http://schemas.microsoft.com/office/drawing/2014/main" id="{B86F07DC-FD5B-4894-AB84-3C9236327E9F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 arithmetic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FA70E6DF-5A91-4EFE-B253-2C943CA6BF6D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返回根入口">
            <a:extLst>
              <a:ext uri="{FF2B5EF4-FFF2-40B4-BE49-F238E27FC236}">
                <a16:creationId xmlns:a16="http://schemas.microsoft.com/office/drawing/2014/main" id="{BB78446D-73CC-4C7C-8F5B-19A17B11DCEE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返回根入口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3C94E23D-A931-473B-B3DC-EDCCBBE9CE1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8BBB9A6B-0A5D-4A6F-909A-22FD8397ECF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6.4.1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2F8678-2B21-4F8E-8138-201A0508737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find_package 查找并执行已有入口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118D1F3-5B49-4B20-B0C0-1B352E995DA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6.4.2 · 先认识包，再认识 Zephyr 包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7C7590E-8EF6-4E73-AA56-FC6BB7390F6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 模式寻找 NameConfig.cmake 等入口。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 模式寻找 FindName.cmake。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找到后在同一 CMake 进程执行相关脚本；该命令本身不是下载器。</a:t>
            </a:r>
          </a:p>
        </p:txBody>
      </p:sp>
      <p:sp>
        <p:nvSpPr>
          <p:cNvPr id="5" name="Model 应用入口">
            <a:extLst>
              <a:ext uri="{FF2B5EF4-FFF2-40B4-BE49-F238E27FC236}">
                <a16:creationId xmlns:a16="http://schemas.microsoft.com/office/drawing/2014/main" id="{3631C732-DECE-4861-93DE-83F96BFACFB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BA62958D-B229-4FF1-B6E1-80FE28D203DB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find_package">
            <a:extLst>
              <a:ext uri="{FF2B5EF4-FFF2-40B4-BE49-F238E27FC236}">
                <a16:creationId xmlns:a16="http://schemas.microsoft.com/office/drawing/2014/main" id="{FF5BA009-52B7-40CC-8146-E7FBD31968EA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83500B2-A9A4-4280-AF1E-1F104FD0B91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包的配置脚本">
            <a:extLst>
              <a:ext uri="{FF2B5EF4-FFF2-40B4-BE49-F238E27FC236}">
                <a16:creationId xmlns:a16="http://schemas.microsoft.com/office/drawing/2014/main" id="{8AD45AFA-C1AE-4009-B757-3B3E3340D67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包的配置脚本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D8D6ACA3-126C-4234-A885-8311FD51DB0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返回应用">
            <a:extLst>
              <a:ext uri="{FF2B5EF4-FFF2-40B4-BE49-F238E27FC236}">
                <a16:creationId xmlns:a16="http://schemas.microsoft.com/office/drawing/2014/main" id="{280B3430-3795-4177-A40C-B6CE8E280656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80E70B7E-5758-45E1-9E7F-7AA6F534CB7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2133879F-A815-497D-80C9-AB6B747C466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6.4.2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98536C6-8DC3-4756-8683-C1A20935EEA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源码包与 SDK 包不同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0E675BF-98DC-4DC6-90FD-FB31C041265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6.4.2 · 找到一个不代表找到另一个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EFB6861-3503-414F-80FA-53DD8EE05FE2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：源码提供的构建入口。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Zephyr-sdkConfig.cmake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：SDK 提供的工具发现入口。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定位前者；SDK 路线与注册在 P003。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不是每个 CMake 包都会创建 app；那是 Zephyr 初始化的行为。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64B7A118-87AC-4BD5-9127-7CCD42B65075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9BDDD210-7E4E-4B40-8E1D-7F009179D17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6.4.2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40D7FE-4EB6-4A8B-8F37-2820FCDF02E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变量、缓存、目标属性不要混用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03E2440-F15E-4634-A787-5841CE482F8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6.5 · 三种对象各有读取者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2A6E2D-A4C1-453C-B8D3-1918F7BA1DE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普通变量：脚本当前作用域中读取。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缓存项：保存在所选构建目录，后续配置可能继续使用。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目标属性：属于指定 target，影响其构建或使用要求。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-D 传了一个名字，不等于编译器自动收到同名宏。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53952474-2053-444C-B2D3-4512AE86509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F5B30AD1-15FC-4CF7-9EE5-87767374902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6.5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CF2C422-5995-4828-BBE2-9EC49575ACC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一项输入怎样真正影响编译器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B0CD6DA-35E3-4E0D-859E-AA547D39747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6.5 · DEMO_TRACE 是教程自定义选项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E6FFF137-DE56-4612-8E79-4683C3EBBCE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option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"Enable tutorial trace" OFF)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087B3D"/>
                </a:solidFill>
              </a:rPr>
              <a:t>target_compile_definitions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(my_app </a:t>
            </a:r>
            <a:r>
              <a:rPr>
                <a:solidFill>
                  <a:srgbClr val="B84E00"/>
                </a:solidFill>
              </a:rPr>
              <a:t>PRIVATE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DEMO_TRACE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=1)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endif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8D1C8D66-4049-4423-B851-38AF2F72892C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2085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先创建 my_app，再加入以下片段。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option 声明缓存项；if 读取；target 接口才把宏加入编译规则。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31A6426B-DE5A-40EC-9DD6-1C84ED036E5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27A3C8FA-6BF4-487D-89C0-03323F09825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6.5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A9E328-AEB2-467E-BDB7-9D2E569E44D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把已理解的模型带入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51C5919-B411-474E-962C-8280852BE7D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6.6 · 下一册只增加一个新问题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5ED48C4-DF0B-4ED9-BC59-D37898675296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普通程序：自己 add_executable，然后添加源码与属性。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应用：先 find_package，随后直接 target_sources(app)。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为什么 app 已经存在？P007 沿源码回答。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缓存深入 P010；west 入门与调用关系单独在 P008。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4B8BCF6E-653C-481E-AA0E-EE398CF6A62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依据：CMake 帮助：manual/cmake-buildsystem.7.rst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76C0D12E-D0D9-4118-84FB-C5508211FF8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配套正文 · 6.6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3527</Words>
  <Application>Microsoft Office PowerPoint</Application>
  <DocSecurity>0</DocSecurity>
  <PresentationFormat>宽屏</PresentationFormat>
  <Paragraphs>541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184</cp:revision>
  <dcterms:created xsi:type="dcterms:W3CDTF">2026-10-06T03:23:18Z</dcterms:created>
  <dcterms:modified xsi:type="dcterms:W3CDTF">2026-10-07T09:17:02Z</dcterms:modified>
</cp:coreProperties>
</file>