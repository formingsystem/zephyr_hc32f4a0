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beginner_slide1.xml" ContentType="application/vnd.openxmlformats-officedocument.presentationml.slide+xml"/>
  <Override PartName="/ppt/beginner/slideLayouts/slideLayout6.xml" ContentType="application/vnd.openxmlformats-officedocument.presentationml.slideLayout+xml"/>
  <Override PartName="/ppt/beginner/slideMasters/slideMaster1.xml" ContentType="application/vnd.openxmlformats-officedocument.presentationml.slideMaster+xml"/>
  <Override PartName="/ppt/beginner/slideMasters/theme/theme2.xml" ContentType="application/vnd.openxmlformats-officedocument.theme+xml"/>
  <Override PartName="/ppt/beginner/slideLayouts/slideLayout1.xml" ContentType="application/vnd.openxmlformats-officedocument.presentationml.slideLayout+xml"/>
  <Override PartName="/ppt/beginner/slideLayouts/slideLayout2.xml" ContentType="application/vnd.openxmlformats-officedocument.presentationml.slideLayout+xml"/>
  <Override PartName="/ppt/beginner/slideLayouts/slideLayout3.xml" ContentType="application/vnd.openxmlformats-officedocument.presentationml.slideLayout+xml"/>
  <Override PartName="/ppt/beginner/slideLayouts/slideLayout4.xml" ContentType="application/vnd.openxmlformats-officedocument.presentationml.slideLayout+xml"/>
  <Override PartName="/ppt/beginner/slideLayouts/slideLayout5.xml" ContentType="application/vnd.openxmlformats-officedocument.presentationml.slideLayout+xml"/>
  <Override PartName="/ppt/beginner/notesSlides/notesSlide1.xml" ContentType="application/vnd.openxmlformats-officedocument.presentationml.notesSlide+xml"/>
  <Override PartName="/ppt/slides/beginner_slide2.xml" ContentType="application/vnd.openxmlformats-officedocument.presentationml.slide+xml"/>
  <Override PartName="/ppt/beginner/notesSlides/notesSlide2.xml" ContentType="application/vnd.openxmlformats-officedocument.presentationml.notesSlide+xml"/>
  <Override PartName="/ppt/slides/beginner_slide3.xml" ContentType="application/vnd.openxmlformats-officedocument.presentationml.slide+xml"/>
  <Override PartName="/ppt/beginner/notesSlides/notesSlide3.xml" ContentType="application/vnd.openxmlformats-officedocument.presentationml.notesSlide+xml"/>
  <Override PartName="/ppt/slides/beginner_slide4.xml" ContentType="application/vnd.openxmlformats-officedocument.presentationml.slide+xml"/>
  <Override PartName="/ppt/beginner/notesSlides/notesSlide4.xml" ContentType="application/vnd.openxmlformats-officedocument.presentationml.notesSlide+xml"/>
  <Override PartName="/ppt/slides/beginner_slide5.xml" ContentType="application/vnd.openxmlformats-officedocument.presentationml.slide+xml"/>
  <Override PartName="/ppt/beginner/notesSlides/notesSlide5.xml" ContentType="application/vnd.openxmlformats-officedocument.presentationml.notesSlide+xml"/>
  <Override PartName="/ppt/slides/beginner_slide6.xml" ContentType="application/vnd.openxmlformats-officedocument.presentationml.slide+xml"/>
  <Override PartName="/ppt/beginner/notesSlides/notesSlide6.xml" ContentType="application/vnd.openxmlformats-officedocument.presentationml.notesSlide+xml"/>
  <Override PartName="/ppt/slides/beginner_slide7.xml" ContentType="application/vnd.openxmlformats-officedocument.presentationml.slide+xml"/>
  <Override PartName="/ppt/beginner/notesSlides/notesSlide7.xml" ContentType="application/vnd.openxmlformats-officedocument.presentationml.notesSlide+xml"/>
  <Override PartName="/ppt/slides/beginner_slide8.xml" ContentType="application/vnd.openxmlformats-officedocument.presentationml.slide+xml"/>
  <Override PartName="/ppt/beginner/notesSlides/notesSlide8.xml" ContentType="application/vnd.openxmlformats-officedocument.presentationml.notesSlide+xml"/>
  <Override PartName="/ppt/slides/beginner_slide9.xml" ContentType="application/vnd.openxmlformats-officedocument.presentationml.slide+xml"/>
  <Override PartName="/ppt/beginner/notesSlides/notesSlide9.xml" ContentType="application/vnd.openxmlformats-officedocument.presentationml.notesSlide+xml"/>
  <Override PartName="/ppt/slides/beginner_slide10.xml" ContentType="application/vnd.openxmlformats-officedocument.presentationml.slide+xml"/>
  <Override PartName="/ppt/beginner/notesSlides/notesSlide10.xml" ContentType="application/vnd.openxmlformats-officedocument.presentationml.notesSlide+xml"/>
  <Override PartName="/ppt/slides/beginner_slide11.xml" ContentType="application/vnd.openxmlformats-officedocument.presentationml.slide+xml"/>
  <Override PartName="/ppt/beginner/notesSlides/notesSlide11.xml" ContentType="application/vnd.openxmlformats-officedocument.presentationml.notesSlide+xml"/>
  <Override PartName="/ppt/slides/beginner_slide12.xml" ContentType="application/vnd.openxmlformats-officedocument.presentationml.slide+xml"/>
  <Override PartName="/ppt/beginner/notesSlides/notesSlide12.xml" ContentType="application/vnd.openxmlformats-officedocument.presentationml.notesSlide+xml"/>
  <Override PartName="/ppt/slides/beginner_slide13.xml" ContentType="application/vnd.openxmlformats-officedocument.presentationml.slide+xml"/>
  <Override PartName="/ppt/beginner/notesSlides/notesSlide13.xml" ContentType="application/vnd.openxmlformats-officedocument.presentationml.notesSlide+xml"/>
  <Override PartName="/ppt/slides/beginner_slide14.xml" ContentType="application/vnd.openxmlformats-officedocument.presentationml.slide+xml"/>
  <Override PartName="/ppt/beginner/notesSlides/notesSlide14.xml" ContentType="application/vnd.openxmlformats-officedocument.presentationml.notesSlide+xml"/>
  <Override PartName="/ppt/slides/beginner_slide15.xml" ContentType="application/vnd.openxmlformats-officedocument.presentationml.slide+xml"/>
  <Override PartName="/ppt/beginner/notesSlides/notesSlide15.xml" ContentType="application/vnd.openxmlformats-officedocument.presentationml.notesSlide+xml"/>
  <Override PartName="/ppt/slides/beginner_slide16.xml" ContentType="application/vnd.openxmlformats-officedocument.presentationml.slide+xml"/>
  <Override PartName="/ppt/beginner/notesSlides/notesSlide16.xml" ContentType="application/vnd.openxmlformats-officedocument.presentationml.notesSlide+xml"/>
  <Override PartName="/ppt/slides/beginner_slide17.xml" ContentType="application/vnd.openxmlformats-officedocument.presentationml.slide+xml"/>
  <Override PartName="/ppt/beginner/notesSlides/notesSlide17.xml" ContentType="application/vnd.openxmlformats-officedocument.presentationml.notesSlide+xml"/>
  <Override PartName="/ppt/slides/beginner_slide18.xml" ContentType="application/vnd.openxmlformats-officedocument.presentationml.slide+xml"/>
  <Override PartName="/ppt/beginner/notesSlides/notesSlide18.xml" ContentType="application/vnd.openxmlformats-officedocument.presentationml.notesSlide+xml"/>
  <Override PartName="/ppt/slides/beginner_slide19.xml" ContentType="application/vnd.openxmlformats-officedocument.presentationml.slide+xml"/>
  <Override PartName="/ppt/beginner/notesSlides/notesSlide19.xml" ContentType="application/vnd.openxmlformats-officedocument.presentationml.notesSlide+xml"/>
  <Override PartName="/ppt/slides/beginner_slide20.xml" ContentType="application/vnd.openxmlformats-officedocument.presentationml.slide+xml"/>
  <Override PartName="/ppt/beginner/notesSlides/notesSlide20.xml" ContentType="application/vnd.openxmlformats-officedocument.presentationml.notesSlide+xml"/>
  <Override PartName="/ppt/slides/beginner_slide21.xml" ContentType="application/vnd.openxmlformats-officedocument.presentationml.slide+xml"/>
  <Override PartName="/ppt/beginner/notesSlides/notesSlide21.xml" ContentType="application/vnd.openxmlformats-officedocument.presentationml.notesSlide+xml"/>
  <Override PartName="/ppt/slides/beginner_slide22.xml" ContentType="application/vnd.openxmlformats-officedocument.presentationml.slide+xml"/>
  <Override PartName="/ppt/beginner/notesSlides/notesSlide22.xml" ContentType="application/vnd.openxmlformats-officedocument.presentationml.notesSlide+xml"/>
  <Override PartName="/ppt/slides/beginner_slide23.xml" ContentType="application/vnd.openxmlformats-officedocument.presentationml.slide+xml"/>
  <Override PartName="/ppt/beginner/notesSlides/notesSlide23.xml" ContentType="application/vnd.openxmlformats-officedocument.presentationml.notesSlide+xml"/>
  <Override PartName="/ppt/slides/beginner_slide24.xml" ContentType="application/vnd.openxmlformats-officedocument.presentationml.slide+xml"/>
  <Override PartName="/ppt/beginner/notesSlides/notesSlide24.xml" ContentType="application/vnd.openxmlformats-officedocument.presentationml.notesSlide+xml"/>
  <Override PartName="/ppt/slides/beginner_slide25.xml" ContentType="application/vnd.openxmlformats-officedocument.presentationml.slide+xml"/>
  <Override PartName="/ppt/beginner/notesSlides/notesSlide25.xml" ContentType="application/vnd.openxmlformats-officedocument.presentationml.notesSlide+xml"/>
  <Override PartName="/ppt/slides/beginner_slide26.xml" ContentType="application/vnd.openxmlformats-officedocument.presentationml.slide+xml"/>
  <Override PartName="/ppt/beginner/notesSlides/notesSlide26.xml" ContentType="application/vnd.openxmlformats-officedocument.presentationml.notesSlide+xml"/>
  <Override PartName="/ppt/slides/beginner_slide27.xml" ContentType="application/vnd.openxmlformats-officedocument.presentationml.slide+xml"/>
  <Override PartName="/ppt/beginner/notesSlides/notesSlide27.xml" ContentType="application/vnd.openxmlformats-officedocument.presentationml.notesSlide+xml"/>
  <Override PartName="/ppt/theme/lizhaojunCoverTheme.xml" ContentType="application/vnd.openxmlformats-officedocument.theme+xml"/>
  <Override PartName="/ppt/slideMasters/lizhaojunCoverMaster.xml" ContentType="application/vnd.openxmlformats-officedocument.presentationml.slideMaster+xml"/>
  <Override PartName="/ppt/slideLayouts/lizhaojunCoverLayout.xml" ContentType="application/vnd.openxmlformats-officedocument.presentationml.slideLayout+xml"/>
  <Override PartName="/ppt/slides/guide1.xml" ContentType="application/vnd.openxmlformats-officedocument.presentationml.slide+xml"/>
  <Override PartName="/ppt/notesSlides/guide1.xml" ContentType="application/vnd.openxmlformats-officedocument.presentationml.notesSlide+xml"/>
  <Override PartName="/ppt/slides/guide2.xml" ContentType="application/vnd.openxmlformats-officedocument.presentationml.slide+xml"/>
  <Override PartName="/ppt/notesSlides/guide2.xml" ContentType="application/vnd.openxmlformats-officedocument.presentationml.notesSlide+xml"/>
  <Override PartName="/ppt/slides/git_env2.xml" ContentType="application/vnd.openxmlformats-officedocument.presentationml.slide+xml"/>
  <Override PartName="/ppt/notesSlides/git_env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BeginnerMaster2147483655"/>
    <p:sldMasterId id="2147483663" r:id="rIdLizhaojunCover"/>
  </p:sldMasterIdLst>
  <p:notesMasterIdLst>
    <p:notesMasterId r:id="rId30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44" r:id="rGitEnv2"/>
    <p:sldId id="820" r:id="rIdGuideOrder20"/>
    <p:sldId id="821" r:id="rIdGuideOrder21"/>
    <p:sldId id="822" r:id="rIdGuideOrder22"/>
    <p:sldId id="823" r:id="rIdGuideOrder23"/>
    <p:sldId id="824" r:id="rIdGuideOrder24"/>
    <p:sldId id="825" r:id="rIdGuideOrder25"/>
    <p:sldId id="826" r:id="rIdGuideOrder26"/>
    <p:sldId id="827" r:id="rIdGuideOrder27"/>
    <p:sldId id="828" r:id="rIdGuideOrder28"/>
    <p:sldId id="829" r:id="rIdGuideOrder29"/>
    <p:sldId id="830" r:id="rIdGuideOrder30"/>
    <p:sldId id="831" r:id="rIdGuideOrder31"/>
    <p:sldId id="832" r:id="rIdGuideOrder32"/>
    <p:sldId id="833" r:id="rIdGuideOrder33"/>
    <p:sldId id="834" r:id="rIdGuideOrder34"/>
    <p:sldId id="835" r:id="rIdGuideOrder35"/>
    <p:sldId id="836" r:id="rIdGuideOrder36"/>
    <p:sldId id="837" r:id="rIdGuideOrder37"/>
    <p:sldId id="838" r:id="rIdGuideOrder38"/>
    <p:sldId id="839" r:id="rIdGuideOrder39"/>
    <p:sldId id="840" r:id="rIdGuideOrder40"/>
    <p:sldId id="841" r:id="rIdGuideOrder41"/>
    <p:sldId id="842" r:id="rIdGuideOrder42"/>
    <p:sldId id="843" r:id="rIdGuideOrder43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tableStyles" Target="tableStyles.xml"/><Relationship Id="rId3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BeginnerMaster2147483655" Type="http://schemas.openxmlformats.org/officeDocument/2006/relationships/slideMaster" Target="beginner/slideMasters/slideMaster1.xml"/><Relationship Id="rIdLizhaojunCover" Type="http://schemas.openxmlformats.org/officeDocument/2006/relationships/slideMaster" Target="/ppt/slideMasters/lizhaojunCoverMaster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slide2.xml"/><Relationship Id="rIdGuideOrder3" Type="http://schemas.openxmlformats.org/officeDocument/2006/relationships/slide" Target="slides/guide1.xml"/><Relationship Id="rIdGuideOrder4" Type="http://schemas.openxmlformats.org/officeDocument/2006/relationships/slide" Target="slides/slide3.xml"/><Relationship Id="rIdGuideOrder5" Type="http://schemas.openxmlformats.org/officeDocument/2006/relationships/slide" Target="slides/beginner_slide1.xml"/><Relationship Id="rIdGuideOrder6" Type="http://schemas.openxmlformats.org/officeDocument/2006/relationships/slide" Target="slides/beginner_slide2.xml"/><Relationship Id="rIdGuideOrder7" Type="http://schemas.openxmlformats.org/officeDocument/2006/relationships/slide" Target="slides/slide4.xml"/><Relationship Id="rIdGuideOrder8" Type="http://schemas.openxmlformats.org/officeDocument/2006/relationships/slide" Target="slides/slide5.xml"/><Relationship Id="rIdGuideOrder9" Type="http://schemas.openxmlformats.org/officeDocument/2006/relationships/slide" Target="slides/slide6.xml"/><Relationship Id="rIdGuideOrder10" Type="http://schemas.openxmlformats.org/officeDocument/2006/relationships/slide" Target="slides/beginner_slide3.xml"/><Relationship Id="rIdGuideOrder11" Type="http://schemas.openxmlformats.org/officeDocument/2006/relationships/slide" Target="slides/slide8.xml"/><Relationship Id="rIdGuideOrder12" Type="http://schemas.openxmlformats.org/officeDocument/2006/relationships/slide" Target="slides/beginner_slide4.xml"/><Relationship Id="rIdGuideOrder13" Type="http://schemas.openxmlformats.org/officeDocument/2006/relationships/slide" Target="slides/beginner_slide5.xml"/><Relationship Id="rIdGuideOrder14" Type="http://schemas.openxmlformats.org/officeDocument/2006/relationships/slide" Target="slides/beginner_slide6.xml"/><Relationship Id="rIdGuideOrder15" Type="http://schemas.openxmlformats.org/officeDocument/2006/relationships/slide" Target="slides/slide11.xml"/><Relationship Id="rIdGuideOrder16" Type="http://schemas.openxmlformats.org/officeDocument/2006/relationships/slide" Target="slides/beginner_slide7.xml"/><Relationship Id="rIdGuideOrder17" Type="http://schemas.openxmlformats.org/officeDocument/2006/relationships/slide" Target="slides/beginner_slide8.xml"/><Relationship Id="rIdGuideOrder18" Type="http://schemas.openxmlformats.org/officeDocument/2006/relationships/slide" Target="slides/beginner_slide9.xml"/><Relationship Id="rIdGuideOrder19" Type="http://schemas.openxmlformats.org/officeDocument/2006/relationships/slide" Target="slides/beginner_slide10.xml"/><Relationship Id="rIdGuideOrder20" Type="http://schemas.openxmlformats.org/officeDocument/2006/relationships/slide" Target="slides/slide15.xml"/><Relationship Id="rIdGuideOrder21" Type="http://schemas.openxmlformats.org/officeDocument/2006/relationships/slide" Target="slides/beginner_slide11.xml"/><Relationship Id="rIdGuideOrder22" Type="http://schemas.openxmlformats.org/officeDocument/2006/relationships/slide" Target="slides/beginner_slide12.xml"/><Relationship Id="rIdGuideOrder23" Type="http://schemas.openxmlformats.org/officeDocument/2006/relationships/slide" Target="slides/slide16.xml"/><Relationship Id="rIdGuideOrder24" Type="http://schemas.openxmlformats.org/officeDocument/2006/relationships/slide" Target="slides/beginner_slide13.xml"/><Relationship Id="rIdGuideOrder25" Type="http://schemas.openxmlformats.org/officeDocument/2006/relationships/slide" Target="slides/beginner_slide14.xml"/><Relationship Id="rIdGuideOrder26" Type="http://schemas.openxmlformats.org/officeDocument/2006/relationships/slide" Target="slides/beginner_slide15.xml"/><Relationship Id="rIdGuideOrder27" Type="http://schemas.openxmlformats.org/officeDocument/2006/relationships/slide" Target="slides/slide18.xml"/><Relationship Id="rIdGuideOrder28" Type="http://schemas.openxmlformats.org/officeDocument/2006/relationships/slide" Target="slides/beginner_slide16.xml"/><Relationship Id="rIdGuideOrder29" Type="http://schemas.openxmlformats.org/officeDocument/2006/relationships/slide" Target="slides/slide19.xml"/><Relationship Id="rIdGuideOrder30" Type="http://schemas.openxmlformats.org/officeDocument/2006/relationships/slide" Target="slides/beginner_slide17.xml"/><Relationship Id="rIdGuideOrder31" Type="http://schemas.openxmlformats.org/officeDocument/2006/relationships/slide" Target="slides/beginner_slide18.xml"/><Relationship Id="rIdGuideOrder32" Type="http://schemas.openxmlformats.org/officeDocument/2006/relationships/slide" Target="slides/beginner_slide19.xml"/><Relationship Id="rIdGuideOrder33" Type="http://schemas.openxmlformats.org/officeDocument/2006/relationships/slide" Target="slides/beginner_slide20.xml"/><Relationship Id="rIdGuideOrder34" Type="http://schemas.openxmlformats.org/officeDocument/2006/relationships/slide" Target="slides/beginner_slide21.xml"/><Relationship Id="rIdGuideOrder35" Type="http://schemas.openxmlformats.org/officeDocument/2006/relationships/slide" Target="slides/beginner_slide22.xml"/><Relationship Id="rIdGuideOrder36" Type="http://schemas.openxmlformats.org/officeDocument/2006/relationships/slide" Target="slides/beginner_slide23.xml"/><Relationship Id="rIdGuideOrder37" Type="http://schemas.openxmlformats.org/officeDocument/2006/relationships/slide" Target="slides/slide24.xml"/><Relationship Id="rIdGuideOrder38" Type="http://schemas.openxmlformats.org/officeDocument/2006/relationships/slide" Target="slides/beginner_slide24.xml"/><Relationship Id="rIdGuideOrder39" Type="http://schemas.openxmlformats.org/officeDocument/2006/relationships/slide" Target="slides/beginner_slide25.xml"/><Relationship Id="rIdGuideOrder40" Type="http://schemas.openxmlformats.org/officeDocument/2006/relationships/slide" Target="slides/beginner_slide26.xml"/><Relationship Id="rIdGuideOrder41" Type="http://schemas.openxmlformats.org/officeDocument/2006/relationships/slide" Target="slides/beginner_slide27.xml"/><Relationship Id="rIdGuideOrder42" Type="http://schemas.openxmlformats.org/officeDocument/2006/relationships/slide" Target="slides/slide28.xml"/><Relationship Id="rIdGuideOrder43" Type="http://schemas.openxmlformats.org/officeDocument/2006/relationships/slide" Target="slides/guide2.xml"/><Relationship Id="rGitEnv2" Type="http://schemas.openxmlformats.org/officeDocument/2006/relationships/slide" Target="slides/git_env2.xml"/></Relationships>
</file>

<file path=ppt/beginner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.xml" Id="Rb502c4fc1c1a4d7c"/><Relationship Type="http://schemas.openxmlformats.org/officeDocument/2006/relationships/notesMaster" Target="../../notesMasters/notesMaster1.xml" Id="R1de2680a7aaf43ac"/></Relationships>
</file>

<file path=ppt/beginner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.xml" Id="R107faece435749c2"/><Relationship Type="http://schemas.openxmlformats.org/officeDocument/2006/relationships/notesMaster" Target="../../notesMasters/notesMaster1.xml" Id="R970bbe223a804454"/></Relationships>
</file>

<file path=ppt/beginner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3.xml" Id="Ra83bb4841a184d80"/><Relationship Type="http://schemas.openxmlformats.org/officeDocument/2006/relationships/notesMaster" Target="../../notesMasters/notesMaster1.xml" Id="R41d3c485eb124962"/></Relationships>
</file>

<file path=ppt/beginner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4.xml" Id="R56645bfc38ad47cd"/><Relationship Type="http://schemas.openxmlformats.org/officeDocument/2006/relationships/notesMaster" Target="../../notesMasters/notesMaster1.xml" Id="R9a758b0d48f8478c"/></Relationships>
</file>

<file path=ppt/beginner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5.xml" Id="R236de901c8b94b97"/><Relationship Type="http://schemas.openxmlformats.org/officeDocument/2006/relationships/notesMaster" Target="../../notesMasters/notesMaster1.xml" Id="R959ea9527ff14142"/></Relationships>
</file>

<file path=ppt/beginner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6.xml" Id="Ra80ed67aa03942f3"/><Relationship Type="http://schemas.openxmlformats.org/officeDocument/2006/relationships/notesMaster" Target="../../notesMasters/notesMaster1.xml" Id="Rfcaaf6ac54bd4f27"/></Relationships>
</file>

<file path=ppt/beginner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7.xml" Id="R534f503abbe3405d"/><Relationship Type="http://schemas.openxmlformats.org/officeDocument/2006/relationships/notesMaster" Target="../../notesMasters/notesMaster1.xml" Id="Rc617871ac0ac4e03"/></Relationships>
</file>

<file path=ppt/beginner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8.xml" Id="Ra11d6f602d234c43"/><Relationship Type="http://schemas.openxmlformats.org/officeDocument/2006/relationships/notesMaster" Target="../../notesMasters/notesMaster1.xml" Id="Red67daea279e4a9b"/></Relationships>
</file>

<file path=ppt/beginner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9.xml" Id="R29d61c1bd6754948"/><Relationship Type="http://schemas.openxmlformats.org/officeDocument/2006/relationships/notesMaster" Target="../../notesMasters/notesMaster1.xml" Id="Re88dc38fac734d85"/></Relationships>
</file>

<file path=ppt/beginner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0.xml" Id="R57d81b0af3b440e3"/><Relationship Type="http://schemas.openxmlformats.org/officeDocument/2006/relationships/notesMaster" Target="../../notesMasters/notesMaster1.xml" Id="R93c037f86c304c80"/></Relationships>
</file>

<file path=ppt/beginner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1.xml" Id="Rdb8f5a2f97df4b0c"/><Relationship Type="http://schemas.openxmlformats.org/officeDocument/2006/relationships/notesMaster" Target="../../notesMasters/notesMaster1.xml" Id="R31d0ac6d3c194579"/></Relationships>
</file>

<file path=ppt/beginner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2.xml" Id="R8b77a36d15bf4694"/><Relationship Type="http://schemas.openxmlformats.org/officeDocument/2006/relationships/notesMaster" Target="../../notesMasters/notesMaster1.xml" Id="R6193d06548c34dc9"/></Relationships>
</file>

<file path=ppt/beginner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3.xml" Id="R6b211b56b4554020"/><Relationship Type="http://schemas.openxmlformats.org/officeDocument/2006/relationships/notesMaster" Target="../../notesMasters/notesMaster1.xml" Id="R573a7682dd7c4e3b"/></Relationships>
</file>

<file path=ppt/beginner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4.xml" Id="R38d2c8f3f5944768"/><Relationship Type="http://schemas.openxmlformats.org/officeDocument/2006/relationships/notesMaster" Target="../../notesMasters/notesMaster1.xml" Id="Ra1c76463263b48c8"/></Relationships>
</file>

<file path=ppt/beginner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5.xml" Id="Rfeb5628bb8c14b47"/><Relationship Type="http://schemas.openxmlformats.org/officeDocument/2006/relationships/notesMaster" Target="../../notesMasters/notesMaster1.xml" Id="R7bc2be3497b647c1"/></Relationships>
</file>

<file path=ppt/beginner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6.xml" Id="R37f13afe64164157"/><Relationship Type="http://schemas.openxmlformats.org/officeDocument/2006/relationships/notesMaster" Target="../../notesMasters/notesMaster1.xml" Id="Re89cdcc042b749a2"/></Relationships>
</file>

<file path=ppt/beginner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7.xml" Id="Re71f90f3a9294bf9"/><Relationship Type="http://schemas.openxmlformats.org/officeDocument/2006/relationships/notesMaster" Target="../../notesMasters/notesMaster1.xml" Id="Rdfabfb7f7dfb4195"/></Relationships>
</file>

<file path=ppt/beginner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8.xml" Id="Rd6b2200a1f8f4867"/><Relationship Type="http://schemas.openxmlformats.org/officeDocument/2006/relationships/notesMaster" Target="../../notesMasters/notesMaster1.xml" Id="R5c11eb0a3089473a"/></Relationships>
</file>

<file path=ppt/beginner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9.xml" Id="R71b7adfc9645434f"/><Relationship Type="http://schemas.openxmlformats.org/officeDocument/2006/relationships/notesMaster" Target="../../notesMasters/notesMaster1.xml" Id="R05b617f4eb844d3b"/></Relationships>
</file>

<file path=ppt/beginner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0.xml" Id="Rac4b301a47174a69"/><Relationship Type="http://schemas.openxmlformats.org/officeDocument/2006/relationships/notesMaster" Target="../../notesMasters/notesMaster1.xml" Id="Ra40f86a1926f48ed"/></Relationships>
</file>

<file path=ppt/beginner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1.xml" Id="R9cf526677f0c440b"/><Relationship Type="http://schemas.openxmlformats.org/officeDocument/2006/relationships/notesMaster" Target="../../notesMasters/notesMaster1.xml" Id="R8c5923d341fd42a4"/></Relationships>
</file>

<file path=ppt/beginner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2.xml" Id="Rcb8ddeb06e43488d"/><Relationship Type="http://schemas.openxmlformats.org/officeDocument/2006/relationships/notesMaster" Target="../../notesMasters/notesMaster1.xml" Id="R4c4cd083e6c44726"/></Relationships>
</file>

<file path=ppt/beginner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3.xml" Id="Raa327c057fa04326"/><Relationship Type="http://schemas.openxmlformats.org/officeDocument/2006/relationships/notesMaster" Target="../../notesMasters/notesMaster1.xml" Id="R978960a076714bd3"/></Relationships>
</file>

<file path=ppt/beginner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4.xml" Id="R5dc09f3fe73e49f2"/><Relationship Type="http://schemas.openxmlformats.org/officeDocument/2006/relationships/notesMaster" Target="../../notesMasters/notesMaster1.xml" Id="Rfd43079a44f24b5f"/></Relationships>
</file>

<file path=ppt/beginner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5.xml" Id="R7d8c248149204bf7"/><Relationship Type="http://schemas.openxmlformats.org/officeDocument/2006/relationships/notesMaster" Target="../../notesMasters/notesMaster1.xml" Id="Rf64b78f88aba4c2f"/></Relationships>
</file>

<file path=ppt/beginner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6.xml" Id="Rd9657ed914734a90"/><Relationship Type="http://schemas.openxmlformats.org/officeDocument/2006/relationships/notesMaster" Target="../../notesMasters/notesMaster1.xml" Id="Rd1418b1237b24786"/></Relationships>
</file>

<file path=ppt/beginner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7.xml" Id="R9b7e0551d4404bb8"/><Relationship Type="http://schemas.openxmlformats.org/officeDocument/2006/relationships/notesMaster" Target="../../notesMasters/notesMaster1.xml" Id="Re0b3e94a526d4eaf"/></Relationships>
</file>

<file path=ppt/beginner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对应正文：P001_Windows，1.0.1 · 起点：只有 Windows 与终端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对应正文：P001_Windows，贯穿本期 · 注释与命令一起复制</a:t>
            </a:r>
          </a:p>
          <a:p xmlns:a="http://schemas.openxmlformats.org/drawingml/2006/main">
            <a:r>
              <a:t>每个命令页链接到 commands/P001_Windows 下的纯文本操作单元。</a:t>
            </a:r>
          </a:p>
          <a:p xmlns:a="http://schemas.openxmlformats.org/drawingml/2006/main">
            <a:r>
              <a:t>编辑模式可选中代码区文字复制；放映时点击“完整命令”。</a:t>
            </a:r>
          </a:p>
          <a:p xmlns:a="http://schemas.openxmlformats.org/drawingml/2006/main">
            <a:r>
              <a:t>不要复制历史终端的 $ 提示符、输出或目录树。</a:t>
            </a:r>
          </a:p>
          <a:p xmlns:a="http://schemas.openxmlformats.org/drawingml/2006/main">
            <a:r>
              <a:t>替代路线只选一条；目录不存在时先找到创建它的步骤。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对应正文：P001_Windows，1.1_安装并打开_UCRT64_终端</a:t>
            </a:r>
          </a:p>
          <a:p xmlns:a="http://schemas.openxmlformats.org/drawingml/2006/main">
            <a:r>
              <a:t># 当前位置：任意目录；终端：MSYS2 UCRT64。</a:t>
            </a:r>
          </a:p>
          <a:p xmlns:a="http://schemas.openxmlformats.org/drawingml/2006/main">
            <a:r>
              <a:t>echo "$MSYSTEM"</a:t>
            </a:r>
          </a:p>
          <a:p xmlns:a="http://schemas.openxmlformats.org/drawingml/2006/main">
            <a:r>
              <a:t>echo "$MINGW_PREFIX"</a:t>
            </a:r>
          </a:p>
          <a:p xmlns:a="http://schemas.openxmlformats.org/drawingml/2006/main">
            <a:r>
              <a:t>完整操作单元：../commands/P001_Windows/1.1-01.txt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对应正文：P001_Windows，1.2.2_备份并写入中科大源与后备源</a:t>
            </a:r>
          </a:p>
          <a:p xmlns:a="http://schemas.openxmlformats.org/drawingml/2006/main">
            <a:r>
              <a:t># 当前位置：任意目录；终端：MSYS2 UCRT64 / CLANGARM64 的 Bash。</a:t>
            </a:r>
          </a:p>
          <a:p xmlns:a="http://schemas.openxmlformats.org/drawingml/2006/main">
            <a:r>
              <a:t>if [ ! -e /etc/pacman.d/mirrorlist.msys.before-cn ]; then</a:t>
            </a:r>
          </a:p>
          <a:p xmlns:a="http://schemas.openxmlformats.org/drawingml/2006/main">
            <a:r>
              <a:t>    cp /etc/pacman.d/mirrorlist.msys /etc/pacman.d/mirrorlist.msys.before-cn</a:t>
            </a:r>
          </a:p>
          <a:p xmlns:a="http://schemas.openxmlformats.org/drawingml/2006/main">
            <a:r>
              <a:t>fi</a:t>
            </a:r>
          </a:p>
          <a:p xmlns:a="http://schemas.openxmlformats.org/drawingml/2006/main">
            <a:r>
              <a:t>if [ ! -e /etc/pacman.d/mirrorlist.mingw.before-cn ]; then</a:t>
            </a:r>
          </a:p>
          <a:p xmlns:a="http://schemas.openxmlformats.org/drawingml/2006/main">
            <a:r>
              <a:t>    cp /etc/pacman.d/mirrorlist.mingw /etc/pacman.d/mirrorlist.mingw.before-cn</a:t>
            </a:r>
          </a:p>
          <a:p xmlns:a="http://schemas.openxmlformats.org/drawingml/2006/main">
            <a:r>
              <a:t>fi</a:t>
            </a:r>
          </a:p>
          <a:p xmlns:a="http://schemas.openxmlformats.org/drawingml/2006/main">
            <a:r>
              <a:t>完整操作单元：../commands/P001_Windows/1.2.2-01.txt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对应正文：P001_Windows，1.2.2_备份并写入中科大源与后备源</a:t>
            </a:r>
          </a:p>
          <a:p xmlns:a="http://schemas.openxmlformats.org/drawingml/2006/main">
            <a:r>
              <a:t># 当前位置：任意目录；终端：MSYS2 UCRT64 / CLANGARM64 的 Bash。</a:t>
            </a:r>
          </a:p>
          <a:p xmlns:a="http://schemas.openxmlformats.org/drawingml/2006/main">
            <a:r>
              <a:t>cat &gt; /etc/pacman.d/mirrorlist.msys &lt;&lt;'EOF'</a:t>
            </a:r>
          </a:p>
          <a:p xmlns:a="http://schemas.openxmlformats.org/drawingml/2006/main">
            <a:r>
              <a:t>Server = https://mirrors.ustc.edu.cn/msys2/msys/$arch/</a:t>
            </a:r>
          </a:p>
          <a:p xmlns:a="http://schemas.openxmlformats.org/drawingml/2006/main">
            <a:r>
              <a:t>Server = https://mirrors.tuna.tsinghua.edu.cn/msys2/msys/$arch/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完整操作单元：../commands/P001_Windows/1.2.2-02.txt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对应正文：P001_Windows，1.2.2_备份并写入中科大源与后备源</a:t>
            </a:r>
          </a:p>
          <a:p xmlns:a="http://schemas.openxmlformats.org/drawingml/2006/main">
            <a:r>
              <a:t># 当前位置：任意目录；终端：MSYS2 UCRT64 / CLANGARM64 的 Bash。</a:t>
            </a:r>
          </a:p>
          <a:p xmlns:a="http://schemas.openxmlformats.org/drawingml/2006/main">
            <a:r>
              <a:t>cat &gt; /etc/pacman.d/mirrorlist.mingw &lt;&lt;'EOF'</a:t>
            </a:r>
          </a:p>
          <a:p xmlns:a="http://schemas.openxmlformats.org/drawingml/2006/main">
            <a:r>
              <a:t>Server = https://mirrors.ustc.edu.cn/msys2/mingw/$repo/</a:t>
            </a:r>
          </a:p>
          <a:p xmlns:a="http://schemas.openxmlformats.org/drawingml/2006/main">
            <a:r>
              <a:t>Server = https://mirrors.tuna.tsinghua.edu.cn/msys2/mingw/$repo/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完整操作单元：../commands/P001_Windows/1.2.2-03.txt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对应正文：P001_Windows，1.2.3_检查_pacman_实际使用的地址</a:t>
            </a:r>
          </a:p>
          <a:p xmlns:a="http://schemas.openxmlformats.org/drawingml/2006/main">
            <a:r>
              <a:t># 当前位置：任意目录；终端：MSYS2 UCRT64 / CLANGARM64 的 Bash。只读检查。</a:t>
            </a:r>
          </a:p>
          <a:p xmlns:a="http://schemas.openxmlformats.org/drawingml/2006/main">
            <a:r>
              <a:t>pacman-conf --repo msys Server</a:t>
            </a:r>
          </a:p>
          <a:p xmlns:a="http://schemas.openxmlformats.org/drawingml/2006/main">
            <a:r>
              <a:t>pacman-conf --repo ucrt64 Server</a:t>
            </a:r>
          </a:p>
          <a:p xmlns:a="http://schemas.openxmlformats.org/drawingml/2006/main">
            <a:r>
              <a:t>pacman-conf --repo clangarm64 Server</a:t>
            </a:r>
          </a:p>
          <a:p xmlns:a="http://schemas.openxmlformats.org/drawingml/2006/main">
            <a:r>
              <a:t>完整操作单元：../commands/P001_Windows/1.2.3-02.txt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对应正文：P001_Windows，1.2.4_刷新索引并完成系统更新</a:t>
            </a:r>
          </a:p>
          <a:p xmlns:a="http://schemas.openxmlformats.org/drawingml/2006/main">
            <a:r>
              <a:t># 当前位置：任意目录；终端：UCRT64。</a:t>
            </a:r>
          </a:p>
          <a:p xmlns:a="http://schemas.openxmlformats.org/drawingml/2006/main">
            <a:r>
              <a:t>pacman -Syyu</a:t>
            </a:r>
          </a:p>
          <a:p xmlns:a="http://schemas.openxmlformats.org/drawingml/2006/main">
            <a:r>
              <a:t>完整操作单元：../commands/P001_Windows/1.2.4-01.txt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对应正文：P001_Windows，1.2.4_刷新索引并完成系统更新</a:t>
            </a:r>
          </a:p>
          <a:p xmlns:a="http://schemas.openxmlformats.org/drawingml/2006/main">
            <a:r>
              <a:t># 当前位置：任意目录；终端：重新打开的 UCRT64。</a:t>
            </a:r>
          </a:p>
          <a:p xmlns:a="http://schemas.openxmlformats.org/drawingml/2006/main">
            <a:r>
              <a:t>pacman -Syu</a:t>
            </a:r>
          </a:p>
          <a:p xmlns:a="http://schemas.openxmlformats.org/drawingml/2006/main">
            <a:r>
              <a:t>完整操作单元：../commands/P001_Windows/1.2.4-02.txt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先准备 UCRT64 原生 Git 与下载工具</ns0:t>
            </ns0:r>
          </ns0:p>
          <ns1:p xmlns:ns1="http://schemas.openxmlformats.org/drawingml/2006/main">
            <ns1:r>
              <ns1:t># Windows UCRT64；任意目录；先完成系统更新。</ns1:t>
            </ns1:r>
          </ns1:p>
          <ns2:p xmlns:ns2="http://schemas.openxmlformats.org/drawingml/2006/main">
            <ns2:r>
              <ns2:t>pacman -S --needed curl wget unzip tar xz &amp;&amp;</ns2:t>
            </ns2:r>
          </ns2:p>
          <ns3:p xmlns:ns3="http://schemas.openxmlformats.org/drawingml/2006/main">
            <ns3:r>
              <ns3:t>if ! test -x /ucrt64/bin/git.exe; then</ns3:t>
            </ns3:r>
          </ns3:p>
          <ns4:p xmlns:ns4="http://schemas.openxmlformats.org/drawingml/2006/main">
            <ns4:r>
              <ns4:t>  pacman -S --needed mingw-w64-ucrt-x86_64-git</ns4:t>
            </ns4:r>
          </ns4:p>
          <ns5:p xmlns:ns5="http://schemas.openxmlformats.org/drawingml/2006/main">
            <ns5:r>
              <ns5:t>fi</ns5:t>
            </ns5:r>
          </ns5:p>
          <ns6:p xmlns:ns6="http://schemas.openxmlformats.org/drawingml/2006/main">
            <ns6:r>
              <ns6:t>Git 管源码与版本；curl / wget 下载，unzip / tar / xz 解压。</ns6:t>
            </ns6:r>
          </ns6:p>
          <ns7:p xmlns:ns7="http://schemas.openxmlformats.org/drawingml/2006/main">
            <ns7:r>
              <ns7:t>原生 Git 已存在就跳过安装；这里不安装普通 git 包。</ns7:t>
            </ns7:r>
          </ns7:p>
          <ns8:p xmlns:ns8="http://schemas.openxmlformats.org/drawingml/2006/main">
            <ns8:r>
              <ns8:t>数据库过旧时，返回 1.2.4 完成系统更新。</ns8:t>
            </ns8:r>
          </ns8:p>
          <ns9:p xmlns:ns9="http://schemas.openxmlformats.org/drawingml/2006/main">
            <ns9:r>
              <ns9:t>不要单独 pacman -Sy 后继续混装软件。</ns9:t>
            </ns9:r>
          </ns9:p>
          <ns10:p xmlns:ns10="http://schemas.openxmlformats.org/drawingml/2006/main">
            <ns10:r>
              <ns10:t>本教程后续使用 Windows CPython 运行 west，因此从环境准备阶段选择 UCRT64 原生 Git。mingw-w64-ucrt-x86_64-git 提供 /ucrt64/bin/git.exe；MSYS2 的普通 git 包是另一套运行时版本，通常位于 /usr/bin。已有原生 Git 时复用。依据：https://www.msys2.org/docs/git/ 和 https://packages.msys2.org/packages/mingw-w64-ucrt-x86_64-git 。只在本页前提成立后执行对应命令，不把整个 commands 目录批量执行。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对应正文：P001_Windows，1.4_下载_Zephyr_源码</a:t>
            </a:r>
          </a:p>
          <a:p xmlns:a="http://schemas.openxmlformats.org/drawingml/2006/main">
            <a:r>
              <a:t># 当前位置：任意目录；终端：Windows 的 UCRT64 Bash。</a:t>
            </a:r>
          </a:p>
          <a:p xmlns:a="http://schemas.openxmlformats.org/drawingml/2006/main">
            <a:r>
              <a:t>mkdir -p /g/zephyr_practice</a:t>
            </a:r>
          </a:p>
          <a:p xmlns:a="http://schemas.openxmlformats.org/drawingml/2006/main">
            <a:r>
              <a:t>cd /g/zephyr_practice</a:t>
            </a:r>
          </a:p>
          <a:p xmlns:a="http://schemas.openxmlformats.org/drawingml/2006/main">
            <a:r>
              <a:t>pwd</a:t>
            </a:r>
          </a:p>
          <a:p xmlns:a="http://schemas.openxmlformats.org/drawingml/2006/main">
            <a:r>
              <a:t>完整操作单元：../commands/P001_Windows/1.4-01.txt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对应正文：P001_Windows，1.4.1_使用_Git_克隆</a:t>
            </a:r>
          </a:p>
          <a:p xmlns:a="http://schemas.openxmlformats.org/drawingml/2006/main">
            <a:r>
              <a:t># 当前位置：/g/zephyr_practice；终端：UCRT64。目标 zephyr-main 应尚不存在。</a:t>
            </a:r>
          </a:p>
          <a:p xmlns:a="http://schemas.openxmlformats.org/drawingml/2006/main">
            <a:r>
              <a:t>git clone https://github.com/zephyrproject-rtos/zephyr.git zephyr-main</a:t>
            </a:r>
          </a:p>
          <a:p xmlns:a="http://schemas.openxmlformats.org/drawingml/2006/main">
            <a:r>
              <a:t>完整操作单元：../commands/P001_Windows/1.4.1-01.txt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对应正文：P001_Windows，1.4.1_使用_Git_克隆</a:t>
            </a:r>
          </a:p>
          <a:p xmlns:a="http://schemas.openxmlformats.org/drawingml/2006/main">
            <a:r>
              <a:t># 当前位置：源码存放目录；终端：UCRT64。上一条 clone 已成功。</a:t>
            </a:r>
          </a:p>
          <a:p xmlns:a="http://schemas.openxmlformats.org/drawingml/2006/main">
            <a:r>
              <a:t>cd zephyr-main</a:t>
            </a:r>
          </a:p>
          <a:p xmlns:a="http://schemas.openxmlformats.org/drawingml/2006/main">
            <a:r>
              <a:t>git rev-parse --show-toplevel</a:t>
            </a:r>
          </a:p>
          <a:p xmlns:a="http://schemas.openxmlformats.org/drawingml/2006/main">
            <a:r>
              <a:t>git rev-parse HEAD</a:t>
            </a:r>
          </a:p>
          <a:p xmlns:a="http://schemas.openxmlformats.org/drawingml/2006/main">
            <a:r>
              <a:t>git status</a:t>
            </a:r>
          </a:p>
          <a:p xmlns:a="http://schemas.openxmlformats.org/drawingml/2006/main">
            <a:r>
              <a:t>ls</a:t>
            </a:r>
          </a:p>
          <a:p xmlns:a="http://schemas.openxmlformats.org/drawingml/2006/main">
            <a:r>
              <a:t>ls -al</a:t>
            </a:r>
          </a:p>
          <a:p xmlns:a="http://schemas.openxmlformats.org/drawingml/2006/main">
            <a:r>
              <a:t>完整操作单元：../commands/P001_Windows/1.4.1-02.txt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对应正文：P001_Windows，1.4.1_使用_Git_克隆</a:t>
            </a:r>
          </a:p>
          <a:p xmlns:a="http://schemas.openxmlformats.org/drawingml/2006/main">
            <a:r>
              <a:t># 当前位置：任意目录；终端：UCRT64。写入当前用户的 Git 配置。</a:t>
            </a:r>
          </a:p>
          <a:p xmlns:a="http://schemas.openxmlformats.org/drawingml/2006/main">
            <a:r>
              <a:t>git config --global --replace-all http.proxy http://127.0.0.1:10808</a:t>
            </a:r>
          </a:p>
          <a:p xmlns:a="http://schemas.openxmlformats.org/drawingml/2006/main">
            <a:r>
              <a:t>git config --show-origin --get-all http.proxy</a:t>
            </a:r>
          </a:p>
          <a:p xmlns:a="http://schemas.openxmlformats.org/drawingml/2006/main">
            <a:r>
              <a:t>curl -I -x http://127.0.0.1:10808 https://github.com</a:t>
            </a:r>
          </a:p>
          <a:p xmlns:a="http://schemas.openxmlformats.org/drawingml/2006/main">
            <a:r>
              <a:t>完整操作单元：../commands/P001_Windows/1.4.1-03.txt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对应正文：P001_Windows，1.4.2 · 浏览器：github.com/zephyrproject-rtos/zephyr</a:t>
            </a:r>
          </a:p>
          <a:p xmlns:a="http://schemas.openxmlformats.org/drawingml/2006/main">
            <a:r>
              <a:t>1. 核对所有者与仓库名，再选分支、标签或完整提交。</a:t>
            </a:r>
          </a:p>
          <a:p xmlns:a="http://schemas.openxmlformats.org/drawingml/2006/main">
            <a:r>
              <a:t>2. 在该版本文件树点 Code → Download ZIP，保留下载与提交记录。</a:t>
            </a:r>
          </a:p>
          <a:p xmlns:a="http://schemas.openxmlformats.org/drawingml/2006/main">
            <a:r>
              <a:t>3. 解压到 G:\zephyr_practice，找直接含 VERSION 的那层。</a:t>
            </a:r>
          </a:p>
          <a:p xmlns:a="http://schemas.openxmlformats.org/drawingml/2006/main">
            <a:r>
              <a:t>4. 将该层命名为 zephyr-main；ZIP 不带 .git 是正常现象。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对应正文：P001_Windows，1.4.2_使用_ZIP_下载</a:t>
            </a:r>
          </a:p>
          <a:p xmlns:a="http://schemas.openxmlformats.org/drawingml/2006/main">
            <a:r>
              <a:t># Windows UCRT64；浏览器已解压到指定位置，检查官方源码入口。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ls VERSION SDK_VERSION west.yml boards samples</a:t>
            </a:r>
          </a:p>
          <a:p xmlns:a="http://schemas.openxmlformats.org/drawingml/2006/main">
            <a:r>
              <a:t># ZIP 无 .git 是预期结果；clone 路线应存在该目录。</a:t>
            </a:r>
          </a:p>
          <a:p xmlns:a="http://schemas.openxmlformats.org/drawingml/2006/main">
            <a:r>
              <a:t>if [ -d .git ]; then git rev-parse HEAD; else printf 'ZIP snapshot: no Git metadata\n'; fi</a:t>
            </a:r>
          </a:p>
          <a:p xmlns:a="http://schemas.openxmlformats.org/drawingml/2006/main">
            <a:r>
              <a:t>完整操作单元：../commands/P001_Windows/1.4.2-01.txt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对应正文：P001_Windows，1.5 · 下载结束之后再决定</a:t>
            </a:r>
          </a:p>
          <a:p xmlns:a="http://schemas.openxmlformats.org/drawingml/2006/main">
            <a:r>
              <a:t>ZIP 已可进入 P002—P005，不必为了编译先补全部 Git 历史。</a:t>
            </a:r>
          </a:p>
          <a:p xmlns:a="http://schemas.openxmlformats.org/drawingml/2006/main">
            <a:r>
              <a:t>要补历史，先核对 ZIP 的提交与临时仓库 HEAD 完全一致。</a:t>
            </a:r>
          </a:p>
          <a:p xmlns:a="http://schemas.openxmlformats.org/drawingml/2006/main">
            <a:r>
              <a:t>不确定 ZIP 提交时停止拼接；不能用另一天 main 替代原快照。</a:t>
            </a:r>
          </a:p>
          <a:p xmlns:a="http://schemas.openxmlformats.org/drawingml/2006/main">
            <a:r>
              <a:t>git-meta 是本教程的临时名，不是官方工程固定目录。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对应正文：P001_Windows，1.5.1_建立临时_Git_元数据仓库</a:t>
            </a:r>
          </a:p>
          <a:p xmlns:a="http://schemas.openxmlformats.org/drawingml/2006/main">
            <a:r>
              <a:t># 当前位置：源码存放目录；终端：UCRT64。</a:t>
            </a:r>
          </a:p>
          <a:p xmlns:a="http://schemas.openxmlformats.org/drawingml/2006/main">
            <a:r>
              <a:t>pwd</a:t>
            </a:r>
          </a:p>
          <a:p xmlns:a="http://schemas.openxmlformats.org/drawingml/2006/main">
            <a:r>
              <a:t>ls -ald zephyr-main</a:t>
            </a:r>
          </a:p>
          <a:p xmlns:a="http://schemas.openxmlformats.org/drawingml/2006/main">
            <a:r>
              <a:t>test ! -e git-meta &amp;&amp; test ! -e zephyr-main/.git</a:t>
            </a:r>
          </a:p>
          <a:p xmlns:a="http://schemas.openxmlformats.org/drawingml/2006/main">
            <a:r>
              <a:t>echo $?</a:t>
            </a:r>
          </a:p>
          <a:p xmlns:a="http://schemas.openxmlformats.org/drawingml/2006/main">
            <a:r>
              <a:t>完整操作单元：../commands/P001_Windows/1.5.1-01.txt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对应正文：P001_Windows，1.5.1_建立临时_Git_元数据仓库</a:t>
            </a:r>
          </a:p>
          <a:p xmlns:a="http://schemas.openxmlformats.org/drawingml/2006/main">
            <a:r>
              <a:t># 当前位置：源码存放目录；终端：UCRT64。</a:t>
            </a:r>
          </a:p>
          <a:p xmlns:a="http://schemas.openxmlformats.org/drawingml/2006/main">
            <a:r>
              <a:t>git clone \</a:t>
            </a:r>
          </a:p>
          <a:p xmlns:a="http://schemas.openxmlformats.org/drawingml/2006/main">
            <a:r>
              <a:t>    --filter=blob:none \</a:t>
            </a:r>
          </a:p>
          <a:p xmlns:a="http://schemas.openxmlformats.org/drawingml/2006/main">
            <a:r>
              <a:t>    --no-checkout \</a:t>
            </a:r>
          </a:p>
          <a:p xmlns:a="http://schemas.openxmlformats.org/drawingml/2006/main">
            <a:r>
              <a:t>    --depth=1 \</a:t>
            </a:r>
          </a:p>
          <a:p xmlns:a="http://schemas.openxmlformats.org/drawingml/2006/main">
            <a:r>
              <a:t>    --branch main \</a:t>
            </a:r>
          </a:p>
          <a:p xmlns:a="http://schemas.openxmlformats.org/drawingml/2006/main">
            <a:r>
              <a:t>    https://github.com/zephyrproject-rtos/zephyr.git \</a:t>
            </a:r>
          </a:p>
          <a:p xmlns:a="http://schemas.openxmlformats.org/drawingml/2006/main">
            <a:r>
              <a:t>    git-meta</a:t>
            </a:r>
          </a:p>
          <a:p xmlns:a="http://schemas.openxmlformats.org/drawingml/2006/main">
            <a:r>
              <a:t>完整操作单元：../commands/P001_Windows/1.5.1-02.txt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对应正文：P001_Windows，1.5.2_核对临时仓库与_ZIP_版本</a:t>
            </a:r>
          </a:p>
          <a:p xmlns:a="http://schemas.openxmlformats.org/drawingml/2006/main">
            <a:r>
              <a:t># 当前位置：源码存放目录；终端：UCRT64。</a:t>
            </a:r>
          </a:p>
          <a:p xmlns:a="http://schemas.openxmlformats.org/drawingml/2006/main">
            <a:r>
              <a:t>git -C git-meta log -1 --oneline</a:t>
            </a:r>
          </a:p>
          <a:p xmlns:a="http://schemas.openxmlformats.org/drawingml/2006/main">
            <a:r>
              <a:t>git -C git-meta rev-parse HEAD</a:t>
            </a:r>
          </a:p>
          <a:p xmlns:a="http://schemas.openxmlformats.org/drawingml/2006/main">
            <a:r>
              <a:t>git -C git-meta remote -v</a:t>
            </a:r>
          </a:p>
          <a:p xmlns:a="http://schemas.openxmlformats.org/drawingml/2006/main">
            <a:r>
              <a:t>完整操作单元：../commands/P001_Windows/1.5.2-01.txt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对应正文：P001_Windows，1.5.3_接入_Git_元数据并建立索引</a:t>
            </a:r>
          </a:p>
          <a:p xmlns:a="http://schemas.openxmlformats.org/drawingml/2006/main">
            <a:r>
              <a:t># 当前位置：源码存放目录；终端：UCRT64。每条成功后才继续。</a:t>
            </a:r>
          </a:p>
          <a:p xmlns:a="http://schemas.openxmlformats.org/drawingml/2006/main">
            <a:r>
              <a:t>mv git-meta/.git zephyr-main/.git</a:t>
            </a:r>
          </a:p>
          <a:p xmlns:a="http://schemas.openxmlformats.org/drawingml/2006/main">
            <a:r>
              <a:t>rmdir git-meta</a:t>
            </a:r>
          </a:p>
          <a:p xmlns:a="http://schemas.openxmlformats.org/drawingml/2006/main">
            <a:r>
              <a:t>cd zephyr-main</a:t>
            </a:r>
          </a:p>
          <a:p xmlns:a="http://schemas.openxmlformats.org/drawingml/2006/main">
            <a:r>
              <a:t>完整操作单元：../commands/P001_Windows/1.5.3-01.txt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对应正文：P001_Windows，1.5.3_接入_Git_元数据并建立索引</a:t>
            </a:r>
          </a:p>
          <a:p xmlns:a="http://schemas.openxmlformats.org/drawingml/2006/main">
            <a:r>
              <a:t># 当前位置：zephyr-main 源码根目录；终端：UCRT64。</a:t>
            </a:r>
          </a:p>
          <a:p xmlns:a="http://schemas.openxmlformats.org/drawingml/2006/main">
            <a:r>
              <a:t>git read-tree --reset HEAD</a:t>
            </a:r>
          </a:p>
          <a:p xmlns:a="http://schemas.openxmlformats.org/drawingml/2006/main">
            <a:r>
              <a:t>完整操作单元：../commands/P001_Windows/1.5.3-02.txt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对应正文：P001_Windows，1.6.1_获取历史并验证深度</a:t>
            </a:r>
          </a:p>
          <a:p xmlns:a="http://schemas.openxmlformats.org/drawingml/2006/main">
            <a:r>
              <a:t># 当前位置：zephyr-main 源码根目录；终端：UCRT64。仅在仍为浅仓库时执行。</a:t>
            </a:r>
          </a:p>
          <a:p xmlns:a="http://schemas.openxmlformats.org/drawingml/2006/main">
            <a:r>
              <a:t>git fetch --unshallow --filter=blob:none origin main</a:t>
            </a:r>
          </a:p>
          <a:p xmlns:a="http://schemas.openxmlformats.org/drawingml/2006/main">
            <a:r>
              <a:t>完整操作单元：../commands/P001_Windows/1.6.1-02.txt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对应正文：P001_Windows，1.6.2_按需获取其他分支和发布标签</a:t>
            </a:r>
          </a:p>
          <a:p xmlns:a="http://schemas.openxmlformats.org/drawingml/2006/main">
            <a:r>
              <a:t># 当前位置：zephyr-main 源码根目录；终端：UCRT64。可选操作。</a:t>
            </a:r>
          </a:p>
          <a:p xmlns:a="http://schemas.openxmlformats.org/drawingml/2006/main">
            <a:r>
              <a:t>git config remote.origin.fetch "+refs/heads/*:refs/remotes/origin/*"</a:t>
            </a:r>
          </a:p>
          <a:p xmlns:a="http://schemas.openxmlformats.org/drawingml/2006/main">
            <a:r>
              <a:t>git fetch --filter=blob:none origin</a:t>
            </a:r>
          </a:p>
          <a:p xmlns:a="http://schemas.openxmlformats.org/drawingml/2006/main">
            <a:r>
              <a:t>git branch -r</a:t>
            </a:r>
          </a:p>
          <a:p xmlns:a="http://schemas.openxmlformats.org/drawingml/2006/main">
            <a:r>
              <a:t>完整操作单元：../commands/P001_Windows/1.6.2-02.txt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对应正文：P001_Windows，1.6.2_按需获取其他分支和发布标签</a:t>
            </a:r>
          </a:p>
          <a:p xmlns:a="http://schemas.openxmlformats.org/drawingml/2006/main">
            <a:r>
              <a:t># 当前位置：zephyr-main 源码根目录；终端：UCRT64。可选操作。</a:t>
            </a:r>
          </a:p>
          <a:p xmlns:a="http://schemas.openxmlformats.org/drawingml/2006/main">
            <a:r>
              <a:t>git fetch --tags --filter=blob:none origin</a:t>
            </a:r>
          </a:p>
          <a:p xmlns:a="http://schemas.openxmlformats.org/drawingml/2006/main">
            <a:r>
              <a:t>git tag -l</a:t>
            </a:r>
          </a:p>
          <a:p xmlns:a="http://schemas.openxmlformats.org/drawingml/2006/main">
            <a:r>
              <a:t>完整操作单元：../commands/P001_Windows/1.6.2-03.txt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对应正文：P001_Windows，1.9_在仓库内配置_Git_提交身份</a:t>
            </a:r>
          </a:p>
          <a:p xmlns:a="http://schemas.openxmlformats.org/drawingml/2006/main">
            <a:r>
              <a:t># 当前位置：已建立 Git 仓库的源码根目录；终端：UCRT64。</a:t>
            </a:r>
          </a:p>
          <a:p xmlns:a="http://schemas.openxmlformats.org/drawingml/2006/main">
            <a:r>
              <a:t>git rev-parse --show-toplevel</a:t>
            </a:r>
          </a:p>
          <a:p xmlns:a="http://schemas.openxmlformats.org/drawingml/2006/main">
            <a:r>
              <a:t>git config --local user.email "xxx@yy.com"</a:t>
            </a:r>
          </a:p>
          <a:p xmlns:a="http://schemas.openxmlformats.org/drawingml/2006/main">
            <a:r>
              <a:t>git config --local user.name "xxx"</a:t>
            </a:r>
          </a:p>
          <a:p xmlns:a="http://schemas.openxmlformats.org/drawingml/2006/main">
            <a:r>
              <a:t>git config --local --get user.email</a:t>
            </a:r>
          </a:p>
          <a:p xmlns:a="http://schemas.openxmlformats.org/drawingml/2006/main">
            <a:r>
              <a:t>git config --local --get user.name</a:t>
            </a:r>
          </a:p>
          <a:p xmlns:a="http://schemas.openxmlformats.org/drawingml/2006/main">
            <a:r>
              <a:t>完整操作单元：../commands/P001_Windows/1.9-01.txt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对应正文：P001_Windows，1.7_排查_GitHub_连接与代理</a:t>
            </a:r>
          </a:p>
          <a:p xmlns:a="http://schemas.openxmlformats.org/drawingml/2006/main">
            <a:r>
              <a:t># 当前位置：源码仓库内；终端：UCRT64。</a:t>
            </a:r>
          </a:p>
          <a:p xmlns:a="http://schemas.openxmlformats.org/drawingml/2006/main">
            <a:r>
              <a:t>git config --show-origin --get-regexp '^(http|https)\..*proxy$'</a:t>
            </a:r>
          </a:p>
          <a:p xmlns:a="http://schemas.openxmlformats.org/drawingml/2006/main">
            <a:r>
              <a:t>env | grep -i proxy</a:t>
            </a:r>
          </a:p>
          <a:p xmlns:a="http://schemas.openxmlformats.org/drawingml/2006/main">
            <a:r>
              <a:t>完整操作单元：../commands/P001_Windows/1.7-01.txt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225c7fcb1a24f58"/></Relationships>
</file>

<file path=ppt/beginner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e1866b1ed6d424b"/></Relationships>
</file>

<file path=ppt/beginner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903a4c39d0614b32"/></Relationships>
</file>

<file path=ppt/beginner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786d236766e24256"/></Relationships>
</file>

<file path=ppt/beginner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cd2289e929a43c6"/></Relationships>
</file>

<file path=ppt/beginner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314de634fec4d18"/></Relationships>
</file>

<file path=ppt/beginner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3190AE-96AC-4785-852B-7CB486B56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C4942F-06FF-4A35-B21B-0010C54C99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3FB2CC-1FCF-4453-BC4E-7524C5E31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26CEF7-F38E-4298-B6D2-E4A23DE2A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ABF48A-B49A-4103-9DCF-6E34D7C1B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A0B2C6-C94D-4E5B-BC0F-DB5C970AC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34F1B5-D43F-4574-8E82-7F7A63406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A94055-7E7A-4845-A185-9317E9493A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9F9ED8-3765-4AC3-BCCA-534B2F7C4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8E374D-69D5-4506-9073-F5ADD11794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beginner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e2a59313c2c54137"/><Relationship Type="http://schemas.openxmlformats.org/officeDocument/2006/relationships/slideLayout" Target="../slideLayouts/slideLayout1.xml" Id="Rb04608a231b24b93"/><Relationship Type="http://schemas.openxmlformats.org/officeDocument/2006/relationships/slideLayout" Target="../slideLayouts/slideLayout2.xml" Id="Re8e7a8878d4048a3"/><Relationship Type="http://schemas.openxmlformats.org/officeDocument/2006/relationships/slideLayout" Target="../slideLayouts/slideLayout3.xml" Id="R847e91c1481e49b8"/><Relationship Type="http://schemas.openxmlformats.org/officeDocument/2006/relationships/slideLayout" Target="../slideLayouts/slideLayout4.xml" Id="R97f2126a7bfd4e3a"/><Relationship Type="http://schemas.openxmlformats.org/officeDocument/2006/relationships/slideLayout" Target="../slideLayouts/slideLayout5.xml" Id="R94f4ec08005f4397"/><Relationship Type="http://schemas.openxmlformats.org/officeDocument/2006/relationships/slideLayout" Target="../slideLayouts/slideLayout6.xml" Id="R7a5d2d134c594bd4"/></Relationships>
</file>

<file path=ppt/beginner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b04608a231b24b93"/>
    <p:sldLayoutId xmlns:r="http://schemas.openxmlformats.org/officeDocument/2006/relationships" id="2147483657" r:id="Re8e7a8878d4048a3"/>
    <p:sldLayoutId xmlns:r="http://schemas.openxmlformats.org/officeDocument/2006/relationships" id="2147483658" r:id="R847e91c1481e49b8"/>
    <p:sldLayoutId xmlns:r="http://schemas.openxmlformats.org/officeDocument/2006/relationships" id="2147483659" r:id="R97f2126a7bfd4e3a"/>
    <p:sldLayoutId xmlns:r="http://schemas.openxmlformats.org/officeDocument/2006/relationships" id="2147483660" r:id="R94f4ec08005f4397"/>
    <p:sldLayoutId xmlns:r="http://schemas.openxmlformats.org/officeDocument/2006/relationships" id="2147483661" r:id="R7a5d2d134c594b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beginner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it_env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it_env2.xml"/></Relationships>
</file>

<file path=ppt/notesSlides/_rels/guide1.xml.rels><?xml version='1.0' encoding='UTF-8' standalone='yes'?>
<Relationships xmlns="http://schemas.openxmlformats.org/package/2006/relationships"><Relationship Id="rId2" Type="http://schemas.openxmlformats.org/officeDocument/2006/relationships/slide" Target="../slides/guide1.xml"/><Relationship Id="rId1" Type="http://schemas.openxmlformats.org/officeDocument/2006/relationships/notesMaster" Target="../notesMasters/notesMaster1.xml"/></Relationships>
</file>

<file path=ppt/notesSlides/_rels/guide2.xml.rels><?xml version='1.0' encoding='UTF-8' standalone='yes'?>
<Relationships xmlns="http://schemas.openxmlformats.org/package/2006/relationships"><Relationship Id="rId2" Type="http://schemas.openxmlformats.org/officeDocument/2006/relationships/slide" Target="../slides/guide2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git_env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安装后，确认 Bash 真正选中了哪套 Git</ns0:t>
            </ns0:r>
          </ns0:p>
          <ns1:p xmlns:ns1="http://schemas.openxmlformats.org/drawingml/2006/main">
            <ns1:r>
              <ns1:t># Windows UCRT64；任意目录。</ns1:t>
            </ns1:r>
          </ns1:p>
          <ns2:p xmlns:ns2="http://schemas.openxmlformats.org/drawingml/2006/main">
            <ns2:r>
              <ns2:t>type -a git</ns2:t>
            </ns2:r>
          </ns2:p>
          <ns3:p xmlns:ns3="http://schemas.openxmlformats.org/drawingml/2006/main">
            <ns3:r>
              <ns3:t>command -v git</ns3:t>
            </ns3:r>
          </ns3:p>
          <ns4:p xmlns:ns4="http://schemas.openxmlformats.org/drawingml/2006/main">
            <ns4:r>
              <ns4:t>git --version</ns4:t>
            </ns4:r>
          </ns4:p>
          <ns5:p xmlns:ns5="http://schemas.openxmlformats.org/drawingml/2006/main">
            <ns5:r>
              <ns5:t>本教程主线应优先找到 /ucrt64/bin/git（或 git.exe）。</ns5:t>
            </ns5:r>
          </ns5:p>
          <ns6:p xmlns:ns6="http://schemas.openxmlformats.org/drawingml/2006/main">
            <ns6:r>
              <ns6:t>若仍是 /usr/bin/git，先停止源码与模块下载，修正路径选择。</ns6:t>
            </ns6:r>
          </ns6:p>
          <ns7:p xmlns:ns7="http://schemas.openxmlformats.org/drawingml/2006/main">
            <ns7:r>
              <ns7:t>type -a 若显示别名或函数，先查明是否遮蔽了 PATH 中的程序。</ns7:t>
            </ns7:r>
          </ns7:p>
          <ns8:p xmlns:ns8="http://schemas.openxmlformats.org/drawingml/2006/main">
            <ns8:r>
              <ns8:t>P002 激活 Windows Python 的 .venv 后，还要检查它找到的 Git。</ns8:t>
            </ns8:r>
          </ns8:p>
          <ns9:p xmlns:ns9="http://schemas.openxmlformats.org/drawingml/2006/main">
            <ns9:r>
              <ns9:t>type -a 显示 Bash 的别名、函数与 PATH 中所有匹配项；command -v 显示当前解析结果。先确认 MSYSTEM=UCRT64，缺失原生 Git 时按上一页安装。存在原生 Git 但 PATH 优先级不正确时，在当前终端执行 export PATH="/ucrt64/bin:$PATH" 和 hash -r 后重新检查；别名/函数需先查清定义来源，不能仅改 PATH 就认定它们已消失。P002 给出恢复步骤。完整工具检查见配套 TXT。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P001 Windows 开篇。</a:t>
            </a:r>
          </a:p>
          <a:p>
            <a:r>
              <a:t>最终要让自己的芯片和板运行 Zephyr。第一轮保持官方 hello_world 不变，选择已有支持的 mps2/an386，把工具、源码和依赖连成可复现的构建。</a:t>
            </a:r>
          </a:p>
          <a:p>
            <a:r>
              <a:t>应用选 samples/hello_world，硬件选 mps2/an386：前者入口是 CMakeLists.txt 与 prj.conf；后者是 Arm MPS2 FPGA 平台的 Cortex-M4F 系统配置。两项独立选择，每种组合保留独立构建目录。</a:t>
            </a:r>
          </a:p>
          <a:p>
            <a:r>
              <a:t>之后再把目标换成 HC32F4A0：应用仍可比较，新增工作集中在 SoC、板与驱动，避免把环境故障与移植故障混在一起。</a:t>
            </a:r>
          </a:p>
          <a:p>
            <a:r>
              <a:t>本册只先取得同一份官方源码和能再次打开的 UCRT64。主机 Python、ARM 编译器与外部模块在后续逐项准备。</a:t>
            </a:r>
          </a:p>
          <a:p>
            <a:r>
              <a:t>P001 Windows 开篇；官方 samples/hello_world、boards/arm/mps2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P001 Windows 1.10。</a:t>
            </a:r>
          </a:p>
          <a:p>
            <a:r>
              <a:t>交接的是 G:/zephyr_practice/zephyr-main，不是另一个同名副本。VERSION 说明源码版本，samples/hello_world 是将要构建的应用。</a:t>
            </a:r>
          </a:p>
          <a:p>
            <a:r>
              <a:t>boards/arm/mps2 已有参考目标；west.yml 则列出外部项目。主仓内有接入规则，不代表外部源码已经下载。</a:t>
            </a:r>
          </a:p>
          <a:p>
            <a:r>
              <a:t>P002 准备主机工具，P003 提供 ARM 编译器，P004 确定并取得 CMSIS。现在尚未开始构建，没有 ELF 正常。</a:t>
            </a:r>
          </a:p>
          <a:p>
            <a:r>
              <a:t>P001 Windows 1.10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适合已有嵌入式开发经验、首次准备 Zephyr 下载环境的读者。讲解时建议结合终端实操。本期演示上游源码下载，不覆盖已有 HC32 工程。</a:t>
            </a:r>
          </a:p>
          <a:p>
            <a:r>
              <a:rPr/>
              <a:t>依据：learning/P01_zephyr_make_project/P001_准备UCRT64环境与下载Zephyr_Windows.md，2026-10-02。</a:t>
            </a:r>
          </a:p>
          <a:p>
            <a:r>
              <a:rPr/>
              <a:t>封面：内置 imagegen 生成的抽象芯片插画，不代表真实板卡。提示词和原图保存在演示资料制作目录及 slides/assets。</a:t>
            </a:r>
          </a:p>
          <a:p>
            <a:r>
              <a:rPr/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001_准备UCRT64环境与下载Zephyr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安装器文件名中的日期随发布变化。2026-09-27 发布包含 x86_64 与 arm64 两种 exe。32 位 Windows 不适用本教程。镜像可从 https://mirrors.ustc.edu.cn/msys2/ 的 distrib 目录查找相同文件名，不要自行拼不存在的 ARM64 下载链接。下载 exe 与配置 pacman 软件源是两步。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参考：https://www.msys2.org/</a:t>
            </a:r>
          </a:p>
          <a:p>
            <a:r>
              <a:t>参考：https://github.com/msys2/msys2-installer/releases/tag/2026-09-27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先完成环境准备，再下载源码。Git clone 成功后可以直接检查结果，ZIP 补回历史是选学部分。建议把 01 和 02 作为新电脑准备，03 作为下载操作，04 作为原理和排错。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MSYS2 是 Windows 工具环境，Bash 是执行命令的 shell，UCRT64 是其中的一套 64 位原生工具环境。UCRT 的全称为 Universal C Runtime。进入某个目录不会切换环境。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r>
              <a:t>参考：https://www.msys2.org/docs/environments/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安装器文件名中的日期随发布变化。2026-09-27 发布包含 x86_64 与 arm64 两种 exe。32 位 Windows 不适用本教程。镜像可从 https://mirrors.ustc.edu.cn/msys2/ 的 distrib 目录查找相同文件名，不要自行拼不存在的 ARM64 下载链接。下载 exe 与配置 pacman 软件源是两步。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参考：https://www.msys2.org/</a:t>
            </a:r>
          </a:p>
          <a:p>
            <a:r>
              <a:t>参考：https://github.com/msys2/msys2-installer/releases/tag/2026-09-27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安装路径由读者选择，可使用空间充足的磁盘，避免空格和中文。图中盘符只作示例。ARM64 读者从官网 ARM64 入口下载后打开 CLANGARM64。截图用于说明安装流程。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参考：https://www.msys2.org/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UCRT64 对应 /ucrt64，CLANGARM64 对应 /clangarm64。后续本期工具安装以 UCRT64 为主线，不把 ucrt-x86_64 包名直接用于 CLANGARM64。后者包名前缀为 mingw-w64-clang-aarch64-。当前 MSYS 通用层仍为 x64，因此不能仅凭 uname -m 判断物理 CPU。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参考：https://www.msys2.org/docs/environments/</a:t>
            </a:r>
          </a:p>
          <a:p>
            <a:r>
              <a:t>参考：https://www.msys2.org/docs/arm64/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pacman 是 MSYS2 的包管理器。镜像列表控制它从哪里下载软件包。GitHub、pip 和 SDK 分别有独立渠道。换源不会修复所有网络问题。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r>
              <a:t>参考：https://www.msys2.org/docs/mirrors/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cfg 是本段自定义的 Bash 变量，保存配置目录。条件判断避免重复备份覆盖原文件。备份包含原有全部镜像，自定义源也应先保存。下一页会覆盖当前两份列表，清除旧错误行与重复行。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先完成上一页备份。本页命令在 MSYS2 Bash 中逐组执行，不在 PowerShell/CMD 中直接执行。&gt; 覆盖文件，EOF 必须独占一行且不加缩进，带单引号的 EOF 阻止 Bash 提前展开占位符。两种主机共用模板，架构和仓库由 pacman 解析。中科大在第一行，清华是后备。若只想保留中科大，可删除清华对应行，保持剩余路径不变。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参考：https://mirrors.ustc.edu.cn/help/msys2.html</a:t>
            </a:r>
          </a:p>
          <a:p>
            <a:r>
              <a:t>参考：https://github.com/msys2/MSYS2-packages/blob/master/pacman-mirrors/mirrorlist.mingw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$arch 来自 pacman Architecture 配置，$repo 来自当前处理的仓库段名。多个仓库共用 mirrorlist.mingw，因此必须按 $repo 展开。UCRT64、CLANG64 虽然同为 x64，仓库仍不同。Windows ARM64 安装器并不意味着 Bash 通用层也已经变为 aarch64。不要为了开发板是 ARM 就选 CLANGARM64。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参考：https://github.com/msys2/MSYS2-packages/blob/master/pacman/pacman.conf</a:t>
            </a:r>
          </a:p>
          <a:p>
            <a:r>
              <a:t>参考：https://github.com/msys2/MSYS2-packages/blob/master/pacman-mirrors/mirrorlist.mingw</a:t>
            </a:r>
          </a:p>
          <a:p>
            <a:r>
              <a:t>参考：https://www.msys2.org/docs/arm64/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每条 Server 查询会列出中科大和清华两个地址，先检查第一条域名是否为 mirrors.ustc.edu.cn，再检查路径。没有启用的仓库不要执行相应查询，不要为避免查询报错而随意新增仓库。Architecture 可用 pacman-conf Architecture 查看。错误地址持续存在时，检查 /etc/pacman.conf 中是否有直接写入的 Server 或另一份 Include。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参考：https://github.com/msys2/MSYS2-packages/blob/master/pacman/pacman.conf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任意目录，MSYS2 UCRT64 或 CLANGARM64 的 Bash 中执行。pacman -Syyu 强制刷新索引并完整升级。核心更新可能关闭终端，按提示重开同一环境，继续 pacman -Syu。同步所有启用的仓库是正常行为，日志出现 clangarm64 不说明 x64 用户选错架构，也不意味着安装了 ARM64 包。日常更新用 -Syu。</a:t>
            </a:r>
          </a:p>
          <a:p>
            <a:endParaRPr/>
          </a:p>
          <a:p>
            <a:r>
              <a:t>依据：P001_准备UCRT64环境与下载Zephyr_Windows.md，核对日期 2026-10-02。</a:t>
            </a:r>
          </a:p>
          <a:p>
            <a:r>
              <a:t>参考：https://www.msys2.org/docs/updating/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此前已完成系统更新，在 UCRT64 任意目录安装。--needed 跳过已是最新版本的包。Git 管理源码历史，curl/wget 下载文件，unzip 解压 ZIP，tar/xz 处理其他归档。版本验证命令：git --version、curl --version、wget --version、unzip -v、tar --version、xz --version。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此页解释后续工具职责。官方主机清单由所选Zephyr源码的安装指南决定。Windows在PowerShell或cmd.exe使用winget，安装后重开UCRT64检查PATH。Linux另见Linux 后缀文稿，按Ubuntu apt或对应发行版说明安装。pacman只用于MSYS2终端及配套操作工具，不另列Zephyr主机依赖。</a:t>
            </a:r>
          </a:p>
          <a:p>
            <a:r>
              <a:rPr/>
              <a:t>依据：当前源码根 doc/develop/getting_started/index.rst 的 Windows 分支；2026-10-05 核对修订25c8f4a23988dd3b2cfb463613622738298c2d6c。https://docs.zephyrproject.org/latest/develop/getting_started/index.html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Windows 资源管理器源码目录为 G:\zephyr_practice\zephyr-main。操作在 Windows 的 UCRT64 Bash 中：先 mkdir -p /g/zephyr_practice 并 cd /g/zephyr_practice，再执行页面的 git clone 命令；末尾 zephyr-main 显式指定目标目录。已有源码目录不要覆盖。</a:t>
            </a:r>
          </a:p>
          <a:p>
            <a:endParaRPr/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按用户提供的配置示例：v2rayN 混合监听端口为10808，第二监听端口未开启。实际使用先核对自己的端口。该示例不使用10809、PAC或API端口。HTTP代理地址中的http://描述Git到本地代理的连接协议。Git的http.proxy也用于HTTPS请求，无需https.proxy；若此前写入错误项，可用git config --global --unset-all https.proxy清除，键不存在时无需处理。curl测试应同时观察CONNECT成功与后续GitHub响应，仅CONNECT成功不代表整个请求完成。Git配置不会配置浏览器，ZIP下载另需浏览器或系统代理。</a:t>
            </a:r>
          </a:p>
          <a:p>
            <a:r>
              <a:t>来源：用户提供的配置说明；https://git-scm.com/docs/git-config#Documentation/git-config.txt-httpproxy；https://curl.se/docs/manpage.html#-x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3711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浏览器能访问 GitHub 时，可使用 Code 菜单中的 Download ZIP。ZIP 不含 .git，速度取决于实际网络，并不保证比 Git 更快。若之后计划补历史，记录该 ZIP 对应的提交号并保留原包。截图来源：原笔记 image-20261002100230750.png。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此后是可选的恢复路线。ZIP 提供工作区文件，.git 提供历史与引用，索引记录待提交状态。先确认 zephyr-main/.git 和 git-meta 不存在。已经 clone 的目录跳过。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 zephyr-main 的上一级目录执行。临时 git-meta 目录应不存在。--filter=blob:none 减少初始文件内容下载，--no-checkout 不生成第二套源码，--depth=1 只取浅历史。后续 Git 比较操作仍可能联网。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r>
              <a:t>参考：https://git-scm.com/docs/git-clone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所有命令从 zephyr-main 的上一级目录执行。先把 rev-parse HEAD 的完整提交号与 ZIP 下载时的提交号对照。不同则保留原文件，取得匹配版本后再继续。无法确定来源时另克隆固定版本更容易验证。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当前位置是 zephyr-main 的上一级目录。先确认 git-meta/.git 存在，zephyr-main/.git 不存在，版本匹配且保存了源码备份。每条成功后再继续。rmdir 只删空目录。read-tree --reset HEAD 未使用 -u，因此不检出覆盖工作区。不要换成 git reset --hard。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r>
              <a:t>参考：https://git-scm.com/docs/git-read-tree#_description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先执行 rev-parse --is-shallow-repository。只有返回 true 时才执行 --unshallow，已经为 false 则跳过。fetch 获取对象和更新引用，不自动切换当前工作区到最新 main。历史 commit/tree 仍可能占用较多空间，不应把较大下载量当作过滤失效。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--depth 控制提交历史范围，--filter 控制对象过滤。解除浅历史限制后仍可保持部分克隆。main 完整历史不代表所有远程分支、标签及文件对象都在本地。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最初 --depth=1 默认隐含 --single-branch，--branch main 选择目标分支。只有 --branch main 并不意味着只获取一条分支。按需扩大 remote.origin.fetch 的范围，取回其他分支。下面命令均在 zephyr-main 内执行。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r>
              <a:t>参考：https://git-scm.com/docs/git-clone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只下载不需要姓名邮箱。准备提交自己的修改时，在已克隆的 zephyr 或已恢复 Git 的 zephyr-main 中设置。先核对 Git 根，示例姓名邮箱替换成自己的。--local 写当前仓库 .git/config。它不是 GitHub 登录凭据。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出现 Connection reset by peer 或 Failed to connect 时先排查连接。以下命令不会删除数据。Git HTTPS 通常使用 http.proxy 或按 URL 限定的代理。环境代理常见 HTTP_PROXY、HTTPS_PROXY、ALL_PROXY 和小写形式。取消变量只影响当前 shell，也不会清除 Git 配置。网络必须经过代理时，移除代理反而可能无法访问。完整恢复及临时测试见原文 1.7。</a:t>
            </a:r>
          </a:p>
          <a:p>
            <a:endParaRPr/>
          </a:p>
          <a:p>
            <a:r>
              <a:t>依据：learning/P01_zephyr_make_project/P001_准备UCRT64环境与下载Zephyr_Windows.md，2026-10-02。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完成后在 UCRT64 进入 /g/zephyr_practice/zephyr-main。下一期将 SDK 解压到并列的 /g/zephyr_practice/zephyr-sdk-1.0.1，并继续同一份源码的已有板编译。Git 历史补全是可选说明，不代表采用了某种同步政策。</a:t>
            </a:r>
          </a:p>
          <a:p>
            <a:endParaRPr/>
          </a:p>
          <a:p>
            <a:r>
              <a:t/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lizhaojunCoverLayout.xml.rels><?xml version='1.0' encoding='utf-8' standalone='yes'?>
<Relationships xmlns="http://schemas.openxmlformats.org/package/2006/relationships"><Relationship Id="rId1" Type="http://schemas.openxmlformats.org/officeDocument/2006/relationships/slideMaster" Target="/ppt/slideMasters/lizhaojunCoverMaster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lizhaojunCoverLayout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lizhaojunCoverMaster.xml.rels><?xml version='1.0' encoding='utf-8' standalone='yes'?>
<Relationships xmlns="http://schemas.openxmlformats.org/package/2006/relationships"><Relationship Id="rId7" Type="http://schemas.openxmlformats.org/officeDocument/2006/relationships/theme" Target="/ppt/theme/lizhaojunCoverTheme.xml"/><Relationship Id="rIdCoverLayout" Type="http://schemas.openxmlformats.org/officeDocument/2006/relationships/slideLayout" Target="/ppt/slideLayouts/lizhaojunCoverLayout.xml"/><Relationship Id="rIdCoverBackground" Type="http://schemas.openxmlformats.org/officeDocument/2006/relationships/image" Target="/ppt/media/image1.png"/></Relationships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lizhaojunCoverMaster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>
            <a:picLocks noChangeAspect="1"/>
          </p:cNvPicPr>
          <p:nvPr/>
        </p:nvPicPr>
        <p:blipFill>
          <a:blip r:embed="rIdCoverBackground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CoverLayout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beginner_slide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18ac271735474986"/><Relationship Type="http://schemas.openxmlformats.org/officeDocument/2006/relationships/notesSlide" Target="../beginner/notesSlides/notesSlide1.xml" Id="R9861a03a03e04984"/></Relationships>
</file>

<file path=ppt/slides/_rels/beginner_slide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4121a69c71a478c"/><Relationship Type="http://schemas.openxmlformats.org/officeDocument/2006/relationships/notesSlide" Target="../beginner/notesSlides/notesSlide2.xml" Id="Rfaa85041839a4502"/></Relationships>
</file>

<file path=ppt/slides/_rels/beginner_slide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f521c1ac918487f"/><Relationship Type="http://schemas.openxmlformats.org/officeDocument/2006/relationships/notesSlide" Target="../beginner/notesSlides/notesSlide3.xml" Id="R4f1cc7dc704f4efc"/><Relationship Id="rIdCommandText" Type="http://schemas.openxmlformats.org/officeDocument/2006/relationships/hyperlink" Target="../commands/P001_Windows/1.1-01.txt" TargetMode="External"/></Relationships>
</file>

<file path=ppt/slides/_rels/beginner_slide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fb5ffc4fa404b8b"/><Relationship Type="http://schemas.openxmlformats.org/officeDocument/2006/relationships/notesSlide" Target="../beginner/notesSlides/notesSlide4.xml" Id="R7ea2a8bc0b18488c"/><Relationship Id="rIdCommandText" Type="http://schemas.openxmlformats.org/officeDocument/2006/relationships/hyperlink" Target="../commands/P001_Windows/1.2.2-01.txt" TargetMode="External"/></Relationships>
</file>

<file path=ppt/slides/_rels/beginner_slide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2d4f8194e404430"/><Relationship Type="http://schemas.openxmlformats.org/officeDocument/2006/relationships/notesSlide" Target="../beginner/notesSlides/notesSlide5.xml" Id="R0107eaecb93740c7"/><Relationship Id="rIdCommandText" Type="http://schemas.openxmlformats.org/officeDocument/2006/relationships/hyperlink" Target="../commands/P001_Windows/1.2.2-02.txt" TargetMode="External"/></Relationships>
</file>

<file path=ppt/slides/_rels/beginner_slide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ea9f3a8ea09423e"/><Relationship Type="http://schemas.openxmlformats.org/officeDocument/2006/relationships/notesSlide" Target="../beginner/notesSlides/notesSlide6.xml" Id="Rddeb8d25e20a4509"/><Relationship Id="rIdCommandText" Type="http://schemas.openxmlformats.org/officeDocument/2006/relationships/hyperlink" Target="../commands/P001_Windows/1.2.2-03.txt" TargetMode="External"/></Relationships>
</file>

<file path=ppt/slides/_rels/beginner_slide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f8cf812546043dd"/><Relationship Type="http://schemas.openxmlformats.org/officeDocument/2006/relationships/notesSlide" Target="../beginner/notesSlides/notesSlide7.xml" Id="R5ac76cc0fcc14991"/><Relationship Id="rIdCommandText" Type="http://schemas.openxmlformats.org/officeDocument/2006/relationships/hyperlink" Target="../commands/P001_Windows/1.2.3-02.txt" TargetMode="External"/></Relationships>
</file>

<file path=ppt/slides/_rels/beginner_slide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e759abd165c456b"/><Relationship Type="http://schemas.openxmlformats.org/officeDocument/2006/relationships/notesSlide" Target="../beginner/notesSlides/notesSlide8.xml" Id="Rf14e778e3f954ff8"/><Relationship Id="rIdCommandText" Type="http://schemas.openxmlformats.org/officeDocument/2006/relationships/hyperlink" Target="../commands/P001_Windows/1.2.4-01.txt" TargetMode="External"/></Relationships>
</file>

<file path=ppt/slides/_rels/beginner_slide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f395ad89f5264534"/><Relationship Type="http://schemas.openxmlformats.org/officeDocument/2006/relationships/notesSlide" Target="../beginner/notesSlides/notesSlide9.xml" Id="R14d73377c1134c00"/><Relationship Id="rIdCommandText" Type="http://schemas.openxmlformats.org/officeDocument/2006/relationships/hyperlink" Target="../commands/P001_Windows/1.2.4-02.txt" TargetMode="External"/></Relationships>
</file>

<file path=ppt/slides/_rels/beginner_slide10.xml.rels><?xml version='1.0' encoding='UTF-8' standalone='yes'?>
<Relationships xmlns="http://schemas.openxmlformats.org/package/2006/relationships"><Relationship Id="rLayout" Type="http://schemas.openxmlformats.org/officeDocument/2006/relationships/slideLayout" Target="../beginner/slideLayouts/slideLayout6.xml"/><Relationship Id="rNotes" Type="http://schemas.openxmlformats.org/officeDocument/2006/relationships/notesSlide" Target="../beginner/notesSlides/notesSlide10.xml"/><Relationship Id="rReading" Type="http://schemas.openxmlformats.org/officeDocument/2006/relationships/hyperlink" Target="../P001_&#20934;&#22791;UCRT64&#29615;&#22659;&#19982;&#19979;&#36733;Zephyr_Windows.md" TargetMode="External"/><Relationship Id="rCommand" Type="http://schemas.openxmlformats.org/officeDocument/2006/relationships/hyperlink" Target="../commands/P001_Windows/1.3.1-01.txt" TargetMode="External"/></Relationships>
</file>

<file path=ppt/slides/_rels/beginner_slide1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b07b9dd0abaf400c"/><Relationship Type="http://schemas.openxmlformats.org/officeDocument/2006/relationships/notesSlide" Target="../beginner/notesSlides/notesSlide11.xml" Id="R0aea481fc9c04bf9"/><Relationship Id="rIdCommandText" Type="http://schemas.openxmlformats.org/officeDocument/2006/relationships/hyperlink" Target="../commands/P001_Windows/1.4-01.txt" TargetMode="External"/></Relationships>
</file>

<file path=ppt/slides/_rels/beginner_slide1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71f9d496a174893"/><Relationship Type="http://schemas.openxmlformats.org/officeDocument/2006/relationships/notesSlide" Target="../beginner/notesSlides/notesSlide12.xml" Id="Ra553467b53f2460f"/><Relationship Id="rIdCommandText" Type="http://schemas.openxmlformats.org/officeDocument/2006/relationships/hyperlink" Target="../commands/P001_Windows/1.4.1-01.txt" TargetMode="External"/></Relationships>
</file>

<file path=ppt/slides/_rels/beginner_slide1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5f547bc94984336"/><Relationship Type="http://schemas.openxmlformats.org/officeDocument/2006/relationships/notesSlide" Target="../beginner/notesSlides/notesSlide13.xml" Id="R742d0915603e48cb"/><Relationship Id="rIdCommandText" Type="http://schemas.openxmlformats.org/officeDocument/2006/relationships/hyperlink" Target="../commands/P001_Windows/1.4.1-02.txt" TargetMode="External"/></Relationships>
</file>

<file path=ppt/slides/_rels/beginner_slide1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60d84480f513496a"/><Relationship Type="http://schemas.openxmlformats.org/officeDocument/2006/relationships/notesSlide" Target="../beginner/notesSlides/notesSlide14.xml" Id="R3340928a5cc646f2"/><Relationship Id="rIdCommandText" Type="http://schemas.openxmlformats.org/officeDocument/2006/relationships/hyperlink" Target="../commands/P001_Windows/1.4.1-03.txt" TargetMode="External"/></Relationships>
</file>

<file path=ppt/slides/_rels/beginner_slide1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6716ff443dfb4ec8"/><Relationship Type="http://schemas.openxmlformats.org/officeDocument/2006/relationships/notesSlide" Target="../beginner/notesSlides/notesSlide15.xml" Id="Rb6d9c8540c414923"/></Relationships>
</file>

<file path=ppt/slides/_rels/beginner_slide1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ff2f91864155497a"/><Relationship Type="http://schemas.openxmlformats.org/officeDocument/2006/relationships/notesSlide" Target="../beginner/notesSlides/notesSlide16.xml" Id="Recb34d025f31403d"/><Relationship Id="rIdCommandText" Type="http://schemas.openxmlformats.org/officeDocument/2006/relationships/hyperlink" Target="../commands/P001_Windows/1.4.2-01.txt" TargetMode="External"/></Relationships>
</file>

<file path=ppt/slides/_rels/beginner_slide1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77d5ced887e410c"/><Relationship Type="http://schemas.openxmlformats.org/officeDocument/2006/relationships/notesSlide" Target="../beginner/notesSlides/notesSlide17.xml" Id="R0b5358e52e4f4ce5"/></Relationships>
</file>

<file path=ppt/slides/_rels/beginner_slide1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c6005b2d4bd45f0"/><Relationship Type="http://schemas.openxmlformats.org/officeDocument/2006/relationships/notesSlide" Target="../beginner/notesSlides/notesSlide18.xml" Id="R030f9a3733fa4fbc"/><Relationship Id="rIdCommandText" Type="http://schemas.openxmlformats.org/officeDocument/2006/relationships/hyperlink" Target="../commands/P001_Windows/1.5.1-01.txt" TargetMode="External"/></Relationships>
</file>

<file path=ppt/slides/_rels/beginner_slide1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4f910a8b1894201"/><Relationship Type="http://schemas.openxmlformats.org/officeDocument/2006/relationships/notesSlide" Target="../beginner/notesSlides/notesSlide19.xml" Id="R35d35dec8ecd4109"/><Relationship Id="rIdCommandText" Type="http://schemas.openxmlformats.org/officeDocument/2006/relationships/hyperlink" Target="../commands/P001_Windows/1.5.1-02.txt" TargetMode="External"/></Relationships>
</file>

<file path=ppt/slides/_rels/beginner_slide2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21c40012f9d4ae2"/><Relationship Type="http://schemas.openxmlformats.org/officeDocument/2006/relationships/notesSlide" Target="../beginner/notesSlides/notesSlide20.xml" Id="R18e8e2847165445e"/><Relationship Id="rIdCommandText" Type="http://schemas.openxmlformats.org/officeDocument/2006/relationships/hyperlink" Target="../commands/P001_Windows/1.5.2-01.txt" TargetMode="External"/></Relationships>
</file>

<file path=ppt/slides/_rels/beginner_slide2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15cb57f2a2324852"/><Relationship Type="http://schemas.openxmlformats.org/officeDocument/2006/relationships/notesSlide" Target="../beginner/notesSlides/notesSlide21.xml" Id="R082f8906653d4ea4"/><Relationship Id="rIdCommandText" Type="http://schemas.openxmlformats.org/officeDocument/2006/relationships/hyperlink" Target="../commands/P001_Windows/1.5.3-01.txt" TargetMode="External"/></Relationships>
</file>

<file path=ppt/slides/_rels/beginner_slide2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540aa76aa3c4c2e"/><Relationship Type="http://schemas.openxmlformats.org/officeDocument/2006/relationships/notesSlide" Target="../beginner/notesSlides/notesSlide22.xml" Id="Rbd0a4e2771264af0"/><Relationship Id="rIdCommandText" Type="http://schemas.openxmlformats.org/officeDocument/2006/relationships/hyperlink" Target="../commands/P001_Windows/1.5.3-02.txt" TargetMode="External"/></Relationships>
</file>

<file path=ppt/slides/_rels/beginner_slide2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b9974dd38c4f4c63"/><Relationship Type="http://schemas.openxmlformats.org/officeDocument/2006/relationships/notesSlide" Target="../beginner/notesSlides/notesSlide23.xml" Id="R9952d0ff6d6a499e"/><Relationship Id="rIdCommandText" Type="http://schemas.openxmlformats.org/officeDocument/2006/relationships/hyperlink" Target="../commands/P001_Windows/1.6.1-02.txt" TargetMode="External"/></Relationships>
</file>

<file path=ppt/slides/_rels/beginner_slide2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41a9ea84ed045d4"/><Relationship Type="http://schemas.openxmlformats.org/officeDocument/2006/relationships/notesSlide" Target="../beginner/notesSlides/notesSlide24.xml" Id="R8aa6597ee9dd42f8"/><Relationship Id="rIdCommandText" Type="http://schemas.openxmlformats.org/officeDocument/2006/relationships/hyperlink" Target="../commands/P001_Windows/1.6.2-02.txt" TargetMode="External"/></Relationships>
</file>

<file path=ppt/slides/_rels/beginner_slide2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1bddf59fdfa43bb"/><Relationship Type="http://schemas.openxmlformats.org/officeDocument/2006/relationships/notesSlide" Target="../beginner/notesSlides/notesSlide25.xml" Id="Rc5092992180c4bc7"/><Relationship Id="rIdCommandText" Type="http://schemas.openxmlformats.org/officeDocument/2006/relationships/hyperlink" Target="../commands/P001_Windows/1.6.2-03.txt" TargetMode="External"/></Relationships>
</file>

<file path=ppt/slides/_rels/beginner_slide2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623b9b4530843a4"/><Relationship Type="http://schemas.openxmlformats.org/officeDocument/2006/relationships/notesSlide" Target="../beginner/notesSlides/notesSlide26.xml" Id="Rc509bf95c7314335"/><Relationship Id="rIdCommandText" Type="http://schemas.openxmlformats.org/officeDocument/2006/relationships/hyperlink" Target="../commands/P001_Windows/1.9-01.txt" TargetMode="External"/></Relationships>
</file>

<file path=ppt/slides/_rels/beginner_slide2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687da9821bb84080"/><Relationship Type="http://schemas.openxmlformats.org/officeDocument/2006/relationships/notesSlide" Target="../beginner/notesSlides/notesSlide27.xml" Id="Rcfb999391b344da9"/><Relationship Id="rIdCommandText" Type="http://schemas.openxmlformats.org/officeDocument/2006/relationships/hyperlink" Target="../commands/P001_Windows/1.7-01.txt" TargetMode="External"/></Relationships>
</file>

<file path=ppt/slides/_rels/git_env2.xml.rels><?xml version='1.0' encoding='UTF-8' standalone='yes'?>
<Relationships xmlns="http://schemas.openxmlformats.org/package/2006/relationships"><Relationship Id="rLayout" Type="http://schemas.openxmlformats.org/officeDocument/2006/relationships/slideLayout" Target="../beginner/slideLayouts/slideLayout6.xml"/><Relationship Id="rNotes" Type="http://schemas.openxmlformats.org/officeDocument/2006/relationships/notesSlide" Target="../notesSlides/git_env2.xml"/><Relationship Id="rReading" Type="http://schemas.openxmlformats.org/officeDocument/2006/relationships/hyperlink" Target="../P001_&#20934;&#22791;UCRT64&#29615;&#22659;&#19982;&#19979;&#36733;Zephyr_Windows.md" TargetMode="External"/><Relationship Id="rCommand" Type="http://schemas.openxmlformats.org/officeDocument/2006/relationships/hyperlink" Target="../commands/P001_Windows/1.3.1-02.txt" TargetMode="External"/></Relationships>
</file>

<file path=ppt/slides/_rels/guide1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6.xml"/><Relationship Id="rIdNotes" Type="http://schemas.openxmlformats.org/officeDocument/2006/relationships/notesSlide" Target="../notesSlides/guide1.xml"/><Relationship Id="rIdReading" Type="http://schemas.openxmlformats.org/officeDocument/2006/relationships/hyperlink" Target="../P001_&#20934;&#22791;UCRT64&#29615;&#22659;&#19982;&#19979;&#36733;Zephyr_Windows.md" TargetMode="External"/></Relationships>
</file>

<file path=ppt/slides/_rels/guide2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6.xml"/><Relationship Id="rIdNotes" Type="http://schemas.openxmlformats.org/officeDocument/2006/relationships/notesSlide" Target="../notesSlides/guide2.xml"/><Relationship Id="rIdReading" Type="http://schemas.openxmlformats.org/officeDocument/2006/relationships/hyperlink" Target="../P001_&#20934;&#22791;UCRT64&#29615;&#22659;&#19982;&#19979;&#36733;Zephyr_Windows.md" TargetMode="External"/></Relationships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/ppt/slideLayouts/lizhaojunCoverLayout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zephyrproject-rtos/zephy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beginner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765644A-B9B3-4291-B6CC-10E14BD3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先知道文件从哪里来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2C2A02D-2209-4B0D-8C46-93CFB943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1.0.1 · 起点：只有 Windows 与终端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24E84-132B-4DD4-9FF7-4D5D6E2EC465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来源与出现时机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mirrorlist.*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MSYS2 安装自带；换源前已存在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*.before-cn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读者执行 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后生成的备份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 /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克隆或 ZIP 解压带来的官方源码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.git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git-meta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生成；ZIP 默认没有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.git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learning /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.venv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后续配套材料和安装产物，本期不应假定已有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BB5BC86-656C-4FE4-A6DC-FC7683D9DF8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1083616735"/>
      </p:ext>
    </p:extLst>
  </p:cSld>
</p:sld>
</file>

<file path=ppt/slides/beginner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1615B0-B63C-4440-B321-FB1B2FD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命令怎样复制与执行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FE8CB20-5441-40F4-8668-B5F5838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贯穿本期 · 注释与命令一起复制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EAC2642-405D-4D58-AB38-9DF7094B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每个命令页链接到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commands/P001_Windows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下的纯文本操作单元。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编辑模式可选中代码区文字复制；放映时点击“完整命令”。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不要复制历史终端的 $ 提示符、输出或目录树。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替代路线只选一条；目录不存在时先找到创建它的步骤。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E1EEB45-701F-4EF3-AB4A-A859DB684C8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  <p:sp>
        <p:nvSpPr>
          <p:cNvPr id="9" name="Semantic color legend">
            <a:extLst xmlns:a="http://schemas.openxmlformats.org/drawingml/2006/main"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781507544"/>
      </p:ext>
    </p:extLst>
  </p:cSld>
</p:sld>
</file>

<file path=ppt/slides/beginner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15D9F60-1F42-40A4-94A5-FEBB24E0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检查启动的是 UCRT64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1366EF4-97B6-4B60-A9AA-8916A0C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1.1_安装并打开_UCRT64_终端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6E9560BC-B2A0-4EB0-86BA-6EC97C0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当前位置：任意目录；终端：MSYS2 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$MSYSTEM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$MINGW_PREFIX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49C518D-A692-493C-B0A7-DAECF7DD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应依次输出 UCRT64、/ucrt64。进入同名文件夹不会切换终端。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3C734F5-7C7A-412E-B46D-8540D085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5ADE4D4-8EC8-4A90-8E09-38FDA2164FF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1215413189"/>
      </p:ext>
    </p:extLst>
  </p:cSld>
</p:sld>
</file>

<file path=ppt/slides/beginner_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DE9C6A3-9512-496F-82FD-58F84E3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先备份 MSYS2 原有配置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29573F5-76F6-4399-8E6D-3CD47AD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1.2.2_备份并写入中科大源与后备源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9631A94-6995-44E2-9B06-C341F186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当前位置：任意目录；终端：MSYS2 UCRT64 / CLANGARM64 的 Bash。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[ !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/etc/pacman.d/mirrorlist.msys.before-cn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];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then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/etc/pacman.d/mirrorlist.msys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/etc/pacman.d/mirrorlist.msys.before-cn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fi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[ !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/etc/pacman.d/mirrorlist.mingw.before-cn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];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then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/etc/pacman.d/mirrorlist.mingw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/etc/pacman.d/mirrorlist.mingw.before-cn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fi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9ABFB8B-A9A9-46D4-80DC-9C5C7713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备份文件是本步骤创建的。已有备份时保留，避免覆盖最初版本。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4CA3725-9609-4CA1-B721-E2BACDAB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AC6DB47-0C14-4A95-94E9-538E2CBF3B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697081742"/>
      </p:ext>
    </p:extLst>
  </p:cSld>
</p:sld>
</file>

<file path=ppt/slides/beginner_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B1BFA6A-2380-4348-BB9A-8EBE6B08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修改通用工具的镜像列表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4EEEAFE-6C37-47DC-9DB9-463C2C50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1.2.2_备份并写入中科大源与后备源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81CBC83E-1401-41AB-96D7-84B3DA14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当前位置：任意目录；终端：MSYS2 UCRT64 / CLANGARM64 的 Bash。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&gt;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/etc/pacman.d/mirrorlist.msys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&lt;&lt;'EOF'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Server =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https://mirrors.ustc.edu.cn/msys2/msys/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$arch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Server =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https://mirrors.tuna.tsinghua.edu.cn/msys2/msys/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$arch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EOF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5FC73B0-9051-4CED-B1A8-C5AB6AE9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cat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写入原有配置；单引号 EOF 保留字面量 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$arch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，由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pacman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展开。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9FCDB9B-19AC-40E4-AD36-EEA9B671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1DCBA52-7E7D-4D3C-B9AE-AAF0E070906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1790973838"/>
      </p:ext>
    </p:extLst>
  </p:cSld>
</p:sld>
</file>

<file path=ppt/slides/beginner_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3E2FAD0-D39C-4E70-9863-109CC49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修改原生工具的镜像列表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AF990F3-7510-4EC2-B0DC-741BCC0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1.2.2_备份并写入中科大源与后备源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916545C-8D3B-4476-99E0-48A47FF2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当前位置：任意目录；终端：MSYS2 UCRT64 / CLANGARM64 的 Bash。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&gt;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/etc/pacman.d/mirrorlist.mingw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&lt;&lt;'EOF'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Server =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https://mirrors.ustc.edu.cn/msys2/mingw/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$repo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Server =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https://mirrors.tuna.tsinghua.edu.cn/msys2/mingw/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$repo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EOF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9F4A1DF-FC48-43A2-9AE6-80F3DAF5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这里必须是 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$repo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；ucrt64、clangarm64 等仓库共享这份配置。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9586D1F-E658-4B1A-B5C8-ABCF9F03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完整命令：P001_Windows/1.2.2-03.txt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E2DA28B-7CA7-4507-AE3C-0C356D643A0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1973982451"/>
      </p:ext>
    </p:extLst>
  </p:cSld>
</p:sld>
</file>

<file path=ppt/slides/beginner_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318418B-37DF-41F1-A9C9-A3B4AD84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核对展开后的真实下载地址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B2222D3-8E64-409B-997E-5AE0375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1.2.3_检查_pacman_实际使用的地址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1067E50-5156-4732-9038-CA23EFF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当前位置：任意目录；终端：MSYS2 UCRT64 / CLANGARM64 的 Bash。只读检查。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pacman-conf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--repo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msys Server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pacman-conf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--repo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ucrt64 Server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pacman-conf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--repo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clangarm64 Server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8CA7CB2-F587-4E02-9845-B94585AE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查看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msys/x86_64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mingw/ucrt64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；不是查看开发板 CPU 的架构。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F47E905-8451-473D-A56C-30A82AB3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完整命令：P001_Windows/1.2.3-02.txt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9D05521-721A-400B-ACB6-48B618900A1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1606194304"/>
      </p:ext>
    </p:extLst>
  </p:cSld>
</p:sld>
</file>

<file path=ppt/slides/beginner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9893C4C-AD58-46E2-92B8-A26A221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换源后完整升级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6126255-21DD-4E61-8A62-B42AA0B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1.2.4_刷新索引并完成系统更新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DDA42E2-0689-44C9-870B-42825DF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pacman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-Syyu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9F6DACF-02C9-441F-8669-3DF5C17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按提示关闭终端时先照做；重开 UCRT64 后执行下一页。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ABD73DC-F2FA-488D-8E58-C8620041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完整命令：P001_Windows/1.2.4-01.txt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D9EFF9-C619-49E1-A3CF-E5FABEF1055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1804986498"/>
      </p:ext>
    </p:extLst>
  </p:cSld>
</p:sld>
</file>

<file path=ppt/slides/beginner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59A80A5-0D80-405C-99BF-59F1AE58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重开终端，继续完成升级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911DEC-6114-4AFA-8EB4-E9CA466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1.2.4_刷新索引并完成系统更新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9D9FBCC-25E8-4192-BF9B-947419E5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当前位置：任意目录；终端：重新打开的 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pacman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-Syu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BD7BF9F-5855-4C88-98FD-32FE00B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正常结束后才安装新包；只刷新索引会留下版本不配套风险。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ABECF94-2D43-4602-ABA3-F89F947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完整命令：P001_Windows/1.2.4-02.txt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9D35F50-5A64-44AA-8D65-2BB420170AA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2040708506"/>
      </p:ext>
    </p:extLst>
  </p:cSld>
</p:sld>
</file>

<file path=ppt/slides/beginner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先准备 UCRT64 原生 Git 与下载工具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1.3.1 · 已按 1.2.4 完成 MSYS2 系统更新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UCRT64；任意目录；先完成系统更新。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pacman</a:t>
            </a:r>
            <a:r>
              <a:t> -S --needed </a:t>
            </a:r>
            <a:r>
              <a:rPr>
                <a:solidFill>
                  <a:srgbClr val="A02B93"/>
                </a:solidFill>
                <a:ea typeface="Microsoft YaHei"/>
              </a:rPr>
              <a:t>curl</a:t>
            </a:r>
            <a:r>
              <a:t> </a:t>
            </a:r>
            <a:r>
              <a:rPr>
                <a:solidFill>
                  <a:srgbClr val="A02B93"/>
                </a:solidFill>
                <a:ea typeface="Microsoft YaHei"/>
              </a:rPr>
              <a:t>wget</a:t>
            </a:r>
            <a:r>
              <a:t> </a:t>
            </a:r>
            <a:r>
              <a:rPr>
                <a:solidFill>
                  <a:srgbClr val="A02B93"/>
                </a:solidFill>
                <a:ea typeface="Microsoft YaHei"/>
              </a:rPr>
              <a:t>unzip</a:t>
            </a:r>
            <a:r>
              <a:t> </a:t>
            </a:r>
            <a:r>
              <a:rPr>
                <a:solidFill>
                  <a:srgbClr val="A02B93"/>
                </a:solidFill>
                <a:ea typeface="Microsoft YaHei"/>
              </a:rPr>
              <a:t>tar</a:t>
            </a:r>
            <a:r>
              <a:t> </a:t>
            </a:r>
            <a:r>
              <a:rPr>
                <a:solidFill>
                  <a:srgbClr val="A02B93"/>
                </a:solidFill>
                <a:ea typeface="Microsoft YaHei"/>
              </a:rPr>
              <a:t>xz</a:t>
            </a:r>
            <a:r>
              <a:t> &amp;&amp;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if ! </a:t>
            </a:r>
            <a:r>
              <a:rPr>
                <a:solidFill>
                  <a:srgbClr val="A02B93"/>
                </a:solidFill>
                <a:ea typeface="Microsoft YaHei"/>
              </a:rPr>
              <a:t>test</a:t>
            </a:r>
            <a:r>
              <a:t> -x </a:t>
            </a:r>
            <a:r>
              <a:rPr>
                <a:solidFill>
                  <a:srgbClr val="0070C0"/>
                </a:solidFill>
                <a:ea typeface="Microsoft YaHei"/>
              </a:rPr>
              <a:t>/ucrt64/bin/git.exe;</a:t>
            </a:r>
            <a:r>
              <a:t> then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A02B93"/>
                </a:solidFill>
                <a:ea typeface="Microsoft YaHei"/>
              </a:rPr>
              <a:t>pacman</a:t>
            </a:r>
            <a:r>
              <a:t> -S --needed mingw-w64-ucrt-x86_64-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fi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Git 管源码与版本；</a:t>
            </a:r>
            <a:r>
              <a:rPr>
                <a:solidFill>
                  <a:srgbClr val="A02B93"/>
                </a:solidFill>
                <a:ea typeface="Microsoft YaHei"/>
              </a:rPr>
              <a:t>curl</a:t>
            </a:r>
            <a:r>
              <a:t> / </a:t>
            </a:r>
            <a:r>
              <a:rPr>
                <a:solidFill>
                  <a:srgbClr val="A02B93"/>
                </a:solidFill>
                <a:ea typeface="Microsoft YaHei"/>
              </a:rPr>
              <a:t>wget</a:t>
            </a:r>
            <a:r>
              <a:t> 下载，</a:t>
            </a:r>
            <a:r>
              <a:rPr>
                <a:solidFill>
                  <a:srgbClr val="A02B93"/>
                </a:solidFill>
                <a:ea typeface="Microsoft YaHei"/>
              </a:rPr>
              <a:t>unzip</a:t>
            </a:r>
            <a:r>
              <a:t> / </a:t>
            </a:r>
            <a:r>
              <a:rPr>
                <a:solidFill>
                  <a:srgbClr val="A02B93"/>
                </a:solidFill>
                <a:ea typeface="Microsoft YaHei"/>
              </a:rPr>
              <a:t>tar</a:t>
            </a:r>
            <a:r>
              <a:t> / </a:t>
            </a:r>
            <a:r>
              <a:rPr>
                <a:solidFill>
                  <a:srgbClr val="A02B93"/>
                </a:solidFill>
                <a:ea typeface="Microsoft YaHei"/>
              </a:rPr>
              <a:t>xz</a:t>
            </a:r>
            <a:r>
              <a:t> 解压。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Git 已存在就跳过安装；这里不安装普通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 包。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9442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数据库过旧时，返回 1.2.4 完成系统更新。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不要单独 </a:t>
            </a:r>
            <a:r>
              <a:rPr>
                <a:solidFill>
                  <a:srgbClr val="A02B93"/>
                </a:solidFill>
                <a:ea typeface="Microsoft YaHei"/>
              </a:rPr>
              <a:t>pacman</a:t>
            </a:r>
            <a:r>
              <a:t> -Sy 后继续混装软件。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Reading"/>
              </a:rPr>
              <a:t>完整解释与操作：配套 Markdown 1.3.1</a:t>
            </a:r>
          </a:p>
        </p:txBody>
      </p:sp>
      <p:sp>
        <p:nvSpPr>
          <p:cNvPr id="8" name="Command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05525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1="http://schemas.openxmlformats.org/officeDocument/2006/relationships" ns1:id="rCommand"/>
              </a:rPr>
              <a:t>完整命令：打开 TXT</a:t>
            </a:r>
          </a:p>
        </p:txBody>
      </p:sp>
      <p:sp>
        <p:nvSpPr>
          <p:cNvPr id="9" name="Page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F4252E3-3D30-4773-AD6C-787A364D4A6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</p:cSld>
</p:sld>
</file>

<file path=ppt/slides/beginner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C4D3EB4-1196-4783-B189-ED15FC4C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创建实验源码的父目录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CFB113-B8FE-46D6-84C2-B2627272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1.4_下载_Zephyr_源码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17AA4F8-5F93-4805-B5EC-B67E271A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当前位置：任意目录；终端：Windows 的 UCRT64 Bash。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/g/zephyr_practice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/g/zephyr_practice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pwd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97489EA-53BD-4CDA-BFAB-3050A3D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这是读者创建的存放位置，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mkdir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本身没有下载 Zephyr。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81664347-2AD0-4A21-A5EE-9B441B70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完整命令：P001_Windows/1.4-01.txt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2AF446D-30B6-4CFD-9957-2ED0157AD6C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1142602232"/>
      </p:ext>
    </p:extLst>
  </p:cSld>
</p:sld>
</file>

<file path=ppt/slides/beginner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FFAF2B9-722A-4D5F-BEC3-2FD46B5B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路线 A：克隆官方仓库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3896C18-11B9-407D-BAED-7A101235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1.4.1_使用_Git_克隆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AA159760-CFCF-425B-8FD2-2704B954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当前位置：/g/zephyr_practice；终端：UCRT64。目标 zephyr-main 应尚不存在。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clone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https://github.com/zephyrproject-rtos/zephyr.git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zephyr-main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66EF441C-3BE8-40D6-AB5F-6FF0ED9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目标目录应不存在。Git 同时取得源码与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.git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；成功后无需补历史。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8614FC3A-FF1B-49DA-AC63-31C8E96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BF1C064-0BFB-459A-9193-DEE361492D6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2120497141"/>
      </p:ext>
    </p:extLst>
  </p:cSld>
</p:sld>
</file>

<file path=ppt/slides/beginner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72AE822-B970-424B-9079-B2462F4E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确认克隆的是哪份源码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5E172A6-E466-49C2-B5E5-09DA301F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1.4.1_使用_Git_克隆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4DA4C3B-1069-4CFD-BB46-BCA5500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当前位置：源码存放目录；终端：UCRT64。上一条 clone 已成功。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rev-parse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--show-toplevel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rev-parse HEAD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status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ls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ls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597F555-1BF5-4754-9638-2CA2C61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根路径应为实验目录；HEAD 表示实际检出提交。main 名称不固定版本。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83E3EBC-D837-49C0-A1C5-F03C768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完整命令：P001_Windows/1.4.1-02.txt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C9E3666-7362-4913-9573-9C24FAB71B6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1635150517"/>
      </p:ext>
    </p:extLst>
  </p:cSld>
</p:sld>
</file>

<file path=ppt/slides/beginner_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37EAEC0-EAA9-4C78-9526-01FF0D6B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可选：按实际监听端口设置 Git 代理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C944C1F-8F1B-4E6D-B86E-1EFF80DA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1.4.1_使用_Git_克隆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59CA5717-3FF3-4832-8A5C-6977F499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当前位置：任意目录；终端：UCRT64。写入当前用户的 Git 配置。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--global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--replace-all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http.proxy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http://127.0.0.1:10808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--show-origin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--get-all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http.proxy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curl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-I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-x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http://127.0.0.1:10808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https://github.com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276B227-4053-4078-83D1-046BD0D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先确认自己的代理程序和端口。Git 配置不控制浏览器下载。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FD8942EB-1048-45F7-B5C2-614D164D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完整命令：P001_Windows/1.4.1-03.txt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31A1B04-E308-489C-8269-DC69CE09787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969290829"/>
      </p:ext>
    </p:extLst>
  </p:cSld>
</p:sld>
</file>

<file path=ppt/slides/beginner_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F3E7940-4AB7-4B6D-941B-EAF9531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路线 B：在网页下载源码快照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3B91030-8F44-4731-B180-597BAE4C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1.4.2 · 浏览器：github.com/zephyrproject-rtos/zephyr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E1E8425-58B7-4098-BD20-53842165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1. 核对所有者与仓库名，再选分支、标签或完整提交。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2. 在该版本文件树点 Code → Download ZIP，保留下载与提交记录。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3. 解压到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G:\zephyr_practice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，找直接含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VERSION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的那层。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4. 将该层命名为 zephyr-main；ZIP 不带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.git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是正常现象。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49EB3AA-EB56-48DA-A132-E44C1974F8E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1983889500"/>
      </p:ext>
    </p:extLst>
  </p:cSld>
</p:sld>
</file>

<file path=ppt/slides/beginner_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200C9C9-3C0A-4843-AED3-8E07602C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确认解压层次，别新建假的入口文件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6573A4A-41BA-4475-AB13-1F75C62C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1.4.2_使用_ZIP_下载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5585DAF-4908-474A-87DC-7DC6C4AA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UCRT64；浏览器已解压到指定位置，检查官方源码入口。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ls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SDK_VERSION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west.yml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boards samples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ZIP 无 .git 是预期结果；clone 路线应存在该目录。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[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];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rev-parse HEAD;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'ZIP snapshot: no Git metadata\n';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fi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E304975-9C4B-4F46-B7BF-FBA8AB42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VERSION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、boards、samples 来自官方 ZIP；没有 UYUP 属正常起点。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ADB7CF9-FEDD-4A0C-B856-3E4F4AC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完整命令：P001_Windows/1.4.2-01.txt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6705E82-430E-40DC-9B6A-32395D0300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493654353"/>
      </p:ext>
    </p:extLst>
  </p:cSld>
</p:sld>
</file>

<file path=ppt/slides/beginner_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151595C-A391-4805-9605-3B5E2FF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补 Git 历史是可选实验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B8D0377-AA79-460E-8B72-44807D5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 · 下载结束之后再决定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0E2C800-7046-423B-86EF-726CD81D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ZIP 已可从 P002 继续准备工程，不必为了编译先补全部 Git 历史。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要补历史，先核对 ZIP 的提交与临时仓库 HEAD 完全一致。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不确定 ZIP 提交时停止拼接；不能用另一天 main 替代原快照。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git-meta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是本教程的临时名，不是官方工程固定目录。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708530C-9695-4236-BE88-F82487397C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957224522"/>
      </p:ext>
    </p:extLst>
  </p:cSld>
</p:sld>
</file>

<file path=ppt/slides/beginner_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8FFE6AD-C37E-4A1E-8514-83DDC761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确认临时目录和 .git 都不存在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D492A11-6415-4EAF-9F64-8EFAF63C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1.5.1_建立临时_Git_元数据仓库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ADEEBB13-1660-412B-865E-F539A81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当前位置：源码存放目录；终端：UCRT64。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pwd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ls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-ald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!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!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zephyr-main/.git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$?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0A8A5F4-C969-4B18-B353-262B2282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检查失败先处理现有目录；不覆盖已有 Git 仓库。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8B78AD1-43D0-4E6E-838B-07F533C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完整命令：P001_Windows/1.5.1-01.txt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DB529CB-01E0-48AD-BBFF-86663989012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1356943592"/>
      </p:ext>
    </p:extLst>
  </p:cSld>
</p:sld>
</file>

<file path=ppt/slides/beginner_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FC9A2EA-CABF-49AC-B0B3-68803D9C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下载最小元数据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F35FD5-69A3-4E19-BC18-EA2D227A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1.5.1_建立临时_Git_元数据仓库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F9B0CE8D-FDDF-4CCF-9EC0-3EFDCBA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83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当前位置：源码存放目录；终端：UCRT64。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clone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--filter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=blob:none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--no-checkout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--depth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=1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--branch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main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https://github.com/zephyrproject-rtos/zephyr.git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1ED78B2-20E4-44BA-AEF2-CCB211F5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depth 控制历史深度，filter 控制文件对象；二者不是同一个概念。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9CB59D8-07C5-408F-88B2-2A0B8D76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完整命令：P001_Windows/1.5.1-02.txt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3F612AE-29CC-4B02-812F-CBDA66B29A1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2039903263"/>
      </p:ext>
    </p:extLst>
  </p:cSld>
</p:sld>
</file>

<file path=ppt/slides/beginner_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2C5DF86-6DB3-46E7-A8B7-F25C7967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 HEAD 与 ZIP 下载记录对照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3898B20-EB0D-4270-9670-B2483349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1.5.2_核对临时仓库与_ZIP_版本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A89F7CB-75C3-4768-9350-FF5F3331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当前位置：源码存放目录；终端：UCRT64。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-C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log -1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--oneline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-C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rev-parse HEAD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-C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remote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-v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DB677543-C912-4A59-9983-17489510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只在确定提交一致后继续；目录都叫 main 不能证明一致。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0F9F41A-A486-4ADA-A667-90E9AE7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完整命令：P001_Windows/1.5.2-01.txt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D36F927-1E13-4145-8132-2088A13FD41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188900932"/>
      </p:ext>
    </p:extLst>
  </p:cSld>
</p:sld>
</file>

<file path=ppt/slides/beginner_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0D27FD2-19D6-43CB-BB49-BE4FDDBA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移动元数据，保留现有源码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85B9DCB-7EBB-484C-97ED-AAD2EC98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1.5.3_接入_Git_元数据并建立索引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50B12C2-5BE2-4A7C-A3E8-B61A2DAE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当前位置：源码存放目录；终端：UCRT64。每条成功后才继续。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mv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zephyr-main/.git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rmdir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git-meta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zephyr-main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DEF217F-12B5-4B20-B36E-FD113D0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前提：上一页提交一致且源码无待保留差异；每条成功再继续。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7534A34-9D3F-457E-B5EC-EC4A6755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完整命令：P001_Windows/1.5.3-01.txt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8BA1B1B-2D0D-4064-8CF4-A19CCBB274F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1065923738"/>
      </p:ext>
    </p:extLst>
  </p:cSld>
</p:sld>
</file>

<file path=ppt/slides/beginner_slide2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B215AF5-1BE1-4013-937D-EB44FA4C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 Git 索引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AC973EB-B45C-4187-B687-6D9074D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1.5.3_接入_Git_元数据并建立索引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5F075C4-C813-4606-832B-5B11A50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当前位置：zephyr-main 源码根目录；终端：UCRT64。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read-tree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--reset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HEAD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3205758-51F0-422B-AC60-C8316790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read-tree 更新索引，不替换工作区源码；随后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status 检查差异。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8052F954-1C43-460B-9D79-2CF9CA55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完整命令：P001_Windows/1.5.3-02.txt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CC70A3A-4F5D-40E4-8853-EC9A60F6F6C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1924414092"/>
      </p:ext>
    </p:extLst>
  </p:cSld>
</p:sld>
</file>

<file path=ppt/slides/beginner_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F6B5DFA-A7FE-46B5-B932-77B40F47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可选：补完整 main 历史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9CEB81F-77A1-44F3-B7EC-8D0871DC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1.6.1_获取历史并验证深度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5122100D-510F-4961-AF09-FFFD0260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当前位置：zephyr-main 源码根目录；终端：UCRT64。仅在仍为浅仓库时执行。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fetch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--unshallow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--filter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=blob:none origin main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C94F74A-2285-4226-A642-DDEF678B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先用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rev-parse 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--is-shallow-repository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确认是 true；非浅仓库跳过。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9EF9F96-6CA5-4883-ACC4-FB880BB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完整命令：P001_Windows/1.6.1-02.txt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510AE97-E11C-4122-B327-13AB910668B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1865942851"/>
      </p:ext>
    </p:extLst>
  </p:cSld>
</p:sld>
</file>

<file path=ppt/slides/beginner_slide2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1538D4-C3CF-464F-AA3B-EF07201F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可选：获取其他远程分支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83332B0-59F5-4FD8-9BF1-891D48C6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1.6.2_按需获取其他分支和发布标签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8E9F879-5B29-43C4-AB61-FCA3E87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当前位置：zephyr-main 源码根目录；终端：UCRT64。可选操作。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remote.origin.fetch "+refs/heads/*:refs/remotes/origin/*"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fetch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--filter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=blob:none origin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branch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-r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87108CB-B44E-4C39-8617-075573E2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这是扩大 fetch 范围，不是把所有分支内容同时放进工作目录。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09AD087-7734-4B99-B4F2-2CB8DDE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完整命令：P001_Windows/1.6.2-02.txt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A77CA0B-382A-472A-A797-275FBBEB9AA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859130717"/>
      </p:ext>
    </p:extLst>
  </p:cSld>
</p:sld>
</file>

<file path=ppt/slides/beginner_slide2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3ADC7CD-433E-47D0-B7DD-994F8992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可选：取得发布标签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A0BEC27-6737-43FB-B828-4DFEC759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1.6.2_按需获取其他分支和发布标签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1547D00-84E7-4B95-A603-80D2F61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当前位置：zephyr-main 源码根目录；终端：UCRT64。可选操作。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fetch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--tags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--filter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=blob:none origin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tag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EA1C05A-D75A-4228-876D-251AB3C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标签帮助定位版本，按实际需要获取，不影响已选工作区内容。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C6367FF-360D-46ED-9E12-76A94B8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完整命令：P001_Windows/1.6.2-03.txt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2FC909D-724C-4947-AC00-D3AB204EE24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289074721"/>
      </p:ext>
    </p:extLst>
  </p:cSld>
</p:sld>
</file>

<file path=ppt/slides/beginner_slide2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68EDF54-24F3-4671-9FAD-A47D641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设置本仓库提交身份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C65DDEF-20B8-46BD-A1C4-3C7083D3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1.9_在仓库内配置_Git_提交身份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6362EB7-E279-489B-9578-B26A0CB1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当前位置：已建立 Git 仓库的源码根目录；终端：UCRT64。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rev-parse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--show-toplevel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--local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user.email "xxx@yy.com"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--local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user.name "xxx"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--local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--get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user.email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--local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--get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user.name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00C78A3-AF20-47E4-825F-BEE57A8A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把示例姓名和邮箱改成自己的；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--local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只写当前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.git/config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9BAEDB7-32AE-4890-A4D6-8B5B7135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完整命令：P001_Windows/1.9-01.txt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F019725-297B-41F6-AB33-4281A086DDE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102173188"/>
      </p:ext>
    </p:extLst>
  </p:cSld>
</p:sld>
</file>

<file path=ppt/slides/beginner_slide2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D610332-B27E-436A-B0CF-43DCEEF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连接失败时先查代理来源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362D98E-2768-4D10-A053-98EFC61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1.7_排查_GitHub_连接与代理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B56F3E1-FF28-4AFB-A674-C81C7BC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当前位置：源码仓库内；终端：UCRT64。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--show-origin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--get-regexp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'^(http|https)\..*proxy$'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env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| </a:t>
            </a: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grep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-i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proxy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A18CCFC-A86B-4F0E-8120-73BAC263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先看是哪份配置或环境生效，再修正，不盲目重复克隆。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B765D47-2914-40E2-ADE0-A05F7CDD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完整命令：P001_Windows/1.7-01.txt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0CE41CC-2E31-4BB1-8E60-95CAC0941F2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449378390"/>
      </p:ext>
    </p:extLst>
  </p:cSld>
</p:sld>
</file>

<file path=ppt/slides/git_env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安装后，确认 Bash 真正选中了哪套 Git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1.3.1 · Git 版本可用，还要检查来源路径</a:t>
            </a:r>
          </a:p>
        </p:txBody>
      </p:sp>
      <p:sp>
        <p:nvSpPr>
          <p:cNvPr id="4" name="Continuous cod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UCRT64；任意目录。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type</a:t>
            </a:r>
            <a:r>
              <a:t> -a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command</a:t>
            </a:r>
            <a:r>
              <a:t> -v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 --version</a:t>
            </a:r>
          </a:p>
        </p:txBody>
      </p:sp>
      <p:sp>
        <p:nvSpPr>
          <p:cNvPr id="5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本教程主线应优先找到 </a:t>
            </a:r>
            <a:r>
              <a:rPr>
                <a:solidFill>
                  <a:srgbClr val="0070C0"/>
                </a:solidFill>
                <a:ea typeface="Microsoft YaHei"/>
              </a:rPr>
              <a:t>/ucrt64/bin/git（或</a:t>
            </a:r>
            <a:r>
              <a:t>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.exe）。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若仍是 </a:t>
            </a:r>
            <a:r>
              <a:rPr>
                <a:solidFill>
                  <a:srgbClr val="0070C0"/>
                </a:solidFill>
                <a:ea typeface="Microsoft YaHei"/>
              </a:rPr>
              <a:t>/usr/bin/git</a:t>
            </a:r>
            <a:r>
              <a:t>，先停止源码与模块下载，修正路径选择。</a:t>
            </a:r>
          </a:p>
        </p:txBody>
      </p:sp>
      <p:sp>
        <p:nvSpPr>
          <p:cNvPr id="6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6542"/>
            <a:ext cx="10972800" cy="71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type</a:t>
            </a:r>
            <a:r>
              <a:t> -a 若显示别名或函数，先查明是否遮蔽了 PATH 中的程序。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P002 激活 Windows Python 的 .venv 后，还要检查它找到的 Git。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Reading"/>
              </a:rPr>
              <a:t>完整解释与操作：配套 Markdown 1.3.1</a:t>
            </a:r>
          </a:p>
        </p:txBody>
      </p:sp>
      <p:sp>
        <p:nvSpPr>
          <p:cNvPr id="8" name="Command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05525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1="http://schemas.openxmlformats.org/officeDocument/2006/relationships" ns1:id="rCommand"/>
              </a:rPr>
              <a:t>完整命令：打开 TXT</a:t>
            </a:r>
          </a:p>
        </p:txBody>
      </p:sp>
      <p:sp>
        <p:nvSpPr>
          <p:cNvPr id="9" name="Page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F4252E3-3D30-4773-AD6C-787A364D4A6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</a:p>
        </p:txBody>
      </p:sp>
    </p:spTree>
  </p:cSld>
</p:sld>
</file>

<file path=ppt/slides/gu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从自己的板出发，先得到一个可比较的工程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P001 Windows 开篇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最终要让自己的芯片和板运行 Zephyr。第一轮保持官方 hello_world 不变，选择已有支持的 mps2/an386，把工具、源码和依赖连成可复现的构建。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应用选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，硬件选 mps2/an386：前者入口是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 与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；后者是 Arm MPS2 FPGA 平台的 Cortex-M4F 系统配置。两项独立选择，每种组合保留独立构建目录。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407670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之后再把目标换成 HC32F4A0：应用仍可比较，新增工作集中在 SoC、板与驱动，避免把环境故障与移植故障混在一起。</a:t>
            </a:r>
          </a:p>
        </p:txBody>
      </p:sp>
      <p:sp>
        <p:nvSpPr>
          <p:cNvPr id="7" name="Body 3"/>
          <p:cNvSpPr>
            <a:spLocks noGrp="1"/>
          </p:cNvSpPr>
          <p:nvPr/>
        </p:nvSpPr>
        <p:spPr>
          <a:xfrm>
            <a:off x="609600" y="504063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本册只先取得同一份官方源码和能再次打开的 UCRT64。主机 Python、ARM 编译器与外部模块在后续逐项准备。</a:t>
            </a:r>
          </a:p>
        </p:txBody>
      </p:sp>
      <p:sp>
        <p:nvSpPr>
          <p:cNvPr id="8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P001 Windows 开篇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1119C0C-8F16-44C9-83E9-B2D3A4413DE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</a:p>
        </p:txBody>
      </p:sp>
    </p:spTree>
  </p:cSld>
  <p:clrMapOvr>
    <a:masterClrMapping/>
  </p:clrMapOvr>
</p:sld>
</file>

<file path=ppt/slides/gu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下载成功后，下一章究竟接收什么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P001 Windows 1.10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交接的是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G:/zephyr_practice/zephyr-main</a:t>
            </a:r>
            <a:r>
              <a:t>，不是另一个同名副本。VERSION 说明源码版本，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 是将要构建的应用。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boards/arm/mps2</a:t>
            </a:r>
            <a:r>
              <a:t> 已有参考目标；</a:t>
            </a:r>
            <a:r>
              <a:rPr>
                <a:solidFill>
                  <a:srgbClr val="0070C0"/>
                </a:solidFill>
                <a:ea typeface="Microsoft YaHei"/>
              </a:rPr>
              <a:t>west.yml</a:t>
            </a:r>
            <a:r>
              <a:t> 则列出外部项目。主仓内有接入规则，不代表外部源码已经下载。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P002 准备主机工具，P003 提供 ARM 编译器，P004 确定并取得 CMSIS。现在尚未开始构建，没有 ELF 正常。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P001 Windows 1.10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2640C26-255E-4EE4-AF66-B32CE26B1DE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17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1952625"/>
            <a:ext cx="75247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下载与</a:t>
            </a:r>
          </a:p>
          <a:p>
            <a:pPr>
              <a:buNone/>
              <a:def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 环境准备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0576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Windows x64 实操教程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9144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P001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1360805"/>
            <a:ext cx="10972800" cy="4810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spcAft>
                <a:spcPts val="1800"/>
              </a:spcAft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和</a:t>
            </a: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linux kernel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的工程组件相似</a:t>
            </a:r>
          </a:p>
          <a:p>
            <a:pPr>
              <a:lnSpc>
                <a:spcPct val="120000"/>
              </a:lnSpc>
              <a:spcAft>
                <a:spcPts val="1800"/>
              </a:spcAft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2. </a:t>
            </a:r>
            <a:r>
              <a:rPr 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统一的驱动模型</a:t>
            </a:r>
          </a:p>
          <a:p>
            <a:pPr>
              <a:lnSpc>
                <a:spcPct val="120000"/>
              </a:lnSpc>
              <a:spcAft>
                <a:spcPts val="1800"/>
              </a:spcAft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3. </a:t>
            </a:r>
            <a:r>
              <a:rPr 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规范的芯片内核移植管理</a:t>
            </a:r>
          </a:p>
          <a:p>
            <a:pPr>
              <a:lnSpc>
                <a:spcPct val="120000"/>
              </a:lnSpc>
              <a:spcAft>
                <a:spcPts val="1800"/>
              </a:spcAft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4. </a:t>
            </a:r>
            <a:r>
              <a:rPr lang="zh-CN">
                <a:solidFill>
                  <a:schemeClr val="accent5">
                    <a:lumMod val="75000"/>
                  </a:schemeClr>
                </a:solidFill>
                <a:sym typeface="+mn-ea"/>
              </a:rPr>
              <a:t>规范的芯片开发板的移植管理</a:t>
            </a:r>
            <a:endParaRPr lang="zh-CN" b="1">
              <a:solidFill>
                <a:schemeClr val="accent5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>
              <a:lnSpc>
                <a:spcPct val="120000"/>
              </a:lnSpc>
              <a:spcAft>
                <a:spcPts val="1800"/>
              </a:spcAft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自带</a:t>
            </a: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Shell、Logging、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测试体系等开发常用工具</a:t>
            </a:r>
          </a:p>
          <a:p>
            <a:pPr>
              <a:lnSpc>
                <a:spcPct val="120000"/>
              </a:lnSpc>
              <a:spcAft>
                <a:spcPts val="1800"/>
              </a:spcAft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自带</a:t>
            </a: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MCU bootloader</a:t>
            </a:r>
          </a:p>
          <a:p>
            <a:pPr>
              <a:lnSpc>
                <a:spcPct val="120000"/>
              </a:lnSpc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altLang="zh-CN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7. </a:t>
            </a:r>
            <a:r>
              <a:rPr lang="zh-CN" altLang="en-US" sz="2325" b="1">
                <a:solidFill>
                  <a:schemeClr val="accent5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最最重要的是沟通成本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为什么选择</a:t>
            </a:r>
            <a:r>
              <a:rPr lang="en-US" altLang="zh-CN"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</a:t>
            </a:r>
            <a:r>
              <a:rPr lang="zh-CN" altLang="en-US"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？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57A9701-041C-41BD-A130-358A547294F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本期的操作顺序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6210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714500" y="156210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终端与国内源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0" y="160020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确认 UCRT64，备份配置，完成更新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60985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260985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工具准备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0" y="264795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29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本册装 Git 与解压工具；P002 再装构建工具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65760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14500" y="365760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源码下载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0" y="369570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选择 Git 克隆或 ZIP 快照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705350"/>
            <a:ext cx="904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14500" y="4705350"/>
            <a:ext cx="3524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4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 恢复与验收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0" y="4743450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核对提交，恢复索引，按需补历史</a:t>
            </a:r>
          </a:p>
        </p:txBody>
      </p:sp>
      <p:sp>
        <p:nvSpPr>
          <p:cNvPr id="1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E627A91-B325-437C-96FF-3E0CCFA805D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终端环境中的三个名称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33375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名称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它是什么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本期用途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MSYS2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Windows 上的工具环境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提供软件包与命令行工具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Bash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解释并执行命令的 shell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执行本期命令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UCRT64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使用 UCRT 的 64 位环境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选择匹配的工具与搜索路径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4292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本期命令在 MSYS2 UCRT64 中执行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E8942CC-1228-4049-873E-826129B1D84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Windows 电脑架构选择安装包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4859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1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查看“设置 → 系统 → 系统信息 → 系统类型”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2764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Intel / AMD x64 电脑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8098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msys2-x86_64-日期.exe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6576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Windows 11 ARM64 电脑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1910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msys2-arm64-日期.exe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1054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从 msys2.org 对应入口下载；国内镜像缺包时返回官网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6769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安装器按电脑选择，HC32 开发板的 ARM 架构不决定安装包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11BD902-7504-4547-94D4-96621142F06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MSYS2 安装流程（以 x64 为例）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1363980"/>
            <a:ext cx="3105150" cy="19907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607935" y="5877560"/>
            <a:ext cx="4417942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0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x64 安装完成后打开 UCRT64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" y="1211580"/>
            <a:ext cx="2606040" cy="22948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363980"/>
            <a:ext cx="3114675" cy="19913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144010"/>
            <a:ext cx="3114675" cy="19913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775" y="4149090"/>
            <a:ext cx="3114675" cy="19907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1815" y="4149090"/>
            <a:ext cx="3087370" cy="1541780"/>
          </a:xfrm>
          <a:prstGeom prst="rect">
            <a:avLst/>
          </a:prstGeom>
        </p:spPr>
      </p:pic>
      <p:cxnSp>
        <p:nvCxnSpPr>
          <p:cNvPr id="15" name="直接箭头连接符 14"/>
          <p:cNvCxnSpPr>
            <a:stCxn id="9" idx="3"/>
            <a:endCxn id="4" idx="1"/>
          </p:cNvCxnSpPr>
          <p:nvPr/>
        </p:nvCxnSpPr>
        <p:spPr>
          <a:xfrm>
            <a:off x="3228975" y="2359025"/>
            <a:ext cx="1066800" cy="63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" idx="3"/>
            <a:endCxn id="10" idx="1"/>
          </p:cNvCxnSpPr>
          <p:nvPr/>
        </p:nvCxnSpPr>
        <p:spPr>
          <a:xfrm>
            <a:off x="7400925" y="2359660"/>
            <a:ext cx="782955" cy="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连接符: 肘形 6"/>
          <p:cNvCxnSpPr>
            <a:stCxn id="10" idx="2"/>
            <a:endCxn id="11" idx="0"/>
          </p:cNvCxnSpPr>
          <p:nvPr/>
        </p:nvCxnSpPr>
        <p:spPr>
          <a:xfrm rot="5400000">
            <a:off x="5559743" y="-37465"/>
            <a:ext cx="788670" cy="757428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" idx="3"/>
            <a:endCxn id="12" idx="1"/>
          </p:cNvCxnSpPr>
          <p:nvPr/>
        </p:nvCxnSpPr>
        <p:spPr>
          <a:xfrm>
            <a:off x="3724275" y="5139690"/>
            <a:ext cx="571500" cy="47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连接符: 肘形 17"/>
          <p:cNvCxnSpPr>
            <a:stCxn id="12" idx="3"/>
            <a:endCxn id="14" idx="1"/>
          </p:cNvCxnSpPr>
          <p:nvPr/>
        </p:nvCxnSpPr>
        <p:spPr>
          <a:xfrm flipV="1">
            <a:off x="7410450" y="4919980"/>
            <a:ext cx="761365" cy="22447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255E36F-DC8B-437D-9AA3-99E5C7E7E2C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安装后的终端与工具架构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5621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x64 主线：ucrt64.exe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0669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 · 原生工具为 x86_64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9337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ARM64 分支：clangarm64.exe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4385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CLANGARM64 · 原生工具为 aarch64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305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在所选终端执行：echo </a:t>
            </a:r>
            <a:r>
              <a:rPr sz="210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210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$MSYSTEM</a:t>
            </a:r>
            <a:r>
              <a:rPr sz="210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9815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通用 Bash 等 MSYS 工具当前仍为 x64，ARM64 主机通过模拟运行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5626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后续安装包名前缀随环境变化；编译 HC32 还需要 ARM 交叉编译器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653CE8B1-CE99-4A74-9686-20C11F352E2E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国内源影响哪些下载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61950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下载对象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下载渠道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本次换源是否影响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Git、解压工具、UCRT64 工具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MSYS2 软件仓库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影响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Zephyr Git 仓库或 ZIP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GitHub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不影响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Python 包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pip 的软件包索引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不影响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Zephyr SDK 安装包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SDK 发布渠道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不影响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734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本期采用中科大优先、清华后备；顺序可按网络情况调整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87DF7FA-B28B-4199-85E0-8216CCCBC81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换源前先备份原始配置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609600" y="1552575"/>
            <a:ext cx="10972800" cy="24688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6372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任意目录；MSYS2 的 Bash 终端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cfg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9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/etc/pacman.d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-e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/mirrorlist.msys.before-cn"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];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cp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/mirrorlist.msys"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/mirrorlist.msys.before-cn"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-e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/mirrorlist.mingw.before-cn"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];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cp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/mirrorlist.mingw"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$cfg</a:t>
            </a:r>
            <a:r>
              <a:rPr sz="19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/mirrorlist.mingw.before-cn"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5530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首次备份保留原始列表。复制报错时先处理，再继续换源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1E434D39-F206-49D2-9659-9CFBE2D6D562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9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国内镜像配置：中科大优先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09600" y="1495425"/>
            <a:ext cx="10972800" cy="302895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6372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任意目录；MSYS2 的 Bash 终端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cat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/etc/pacman.d/mirrorlist.msys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&lt;&lt;</a:t>
            </a:r>
            <a:r>
              <a:rPr sz="18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'EOF'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https://mirrors.ustc.edu.cn/msys2/msys/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$arch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https://mirrors.tuna.tsinghua.edu.cn/msys2/msys/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$arch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875" b="0">
              <a:solidFill>
                <a:srgbClr val="005CC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cat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/etc/pacman.d/mirrorlist.mingw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&lt;&lt;</a:t>
            </a:r>
            <a:r>
              <a:rPr sz="18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'EOF'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https://mirrors.ustc.edu.cn/msys2/mingw/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$repo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https://mirrors.tuna.tsinghua.edu.cn/msys2/mingw/</a:t>
            </a:r>
            <a:r>
              <a:rPr sz="18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$repo</a:t>
            </a:r>
            <a:r>
              <a:rPr sz="18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EOF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'EOF' 保留 $arch / $repo 原文；覆盖写入不会累积重复行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E143381B-D7A7-4E5A-8AED-3B26D208955F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$arch 与 $repo 如何决定目录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573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1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</a:t>
            </a:r>
            <a:r>
              <a:rPr sz="2100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通用工具：</a:t>
            </a:r>
            <a:r>
              <a:rPr sz="2100" b="1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</a:t>
            </a:r>
            <a:r>
              <a:rPr sz="2100" b="1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  <a:r>
              <a:rPr sz="2100" b="1">
                <a:solidFill>
                  <a:srgbClr val="B84E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$arch</a:t>
            </a:r>
            <a:r>
              <a:rPr sz="2100" b="1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33362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当前 Architecture 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x86_64，因此使用 </a:t>
            </a:r>
            <a:r>
              <a:rPr sz="19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msys</a:t>
            </a:r>
            <a:r>
              <a:rPr sz="19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/x86_64/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43499" y="3524251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原生工具仓库：</a:t>
            </a:r>
            <a:r>
              <a:rPr sz="2100" b="1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mingw</a:t>
            </a:r>
            <a:r>
              <a:rPr sz="2100" b="1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  <a:r>
              <a:rPr sz="2100" b="1">
                <a:solidFill>
                  <a:srgbClr val="B84E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$repo</a:t>
            </a:r>
            <a:r>
              <a:rPr sz="2100" b="1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095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ucrt64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使用 </a:t>
            </a:r>
            <a:r>
              <a:rPr sz="19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mingw</a:t>
            </a:r>
            <a:r>
              <a:rPr sz="19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/ucrt64/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clangarm64</a:t>
            </a:r>
            <a:r>
              <a:rPr sz="19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使用 </a:t>
            </a:r>
            <a:r>
              <a:rPr sz="19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mingw</a:t>
            </a:r>
            <a:r>
              <a:rPr sz="1950" b="0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/clangarm64/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4483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025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修改镜像域名时保留占位符，不把所有目录都改成 x86_64 或 arm64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CFA5F4-8934-46F5-B199-F0536C0B1FF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更新前检查实际展开的仓库地址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447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6C657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6C657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6372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任意目录；MSYS2 Bash。先查看已启用的仓库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828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--repo-list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4669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msys </a:t>
            </a: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8765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中科大首选地址应以 /msys/x86_64/ 结尾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5528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ucrt64 </a:t>
            </a: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9624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 应以 /mingw/ucrt64/ 结尾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6386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pacman-conf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--repo</a:t>
            </a:r>
            <a:r>
              <a:rPr sz="210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clangarm64 </a:t>
            </a:r>
            <a:r>
              <a:rPr sz="210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Server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0482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CLANGARM64 应以 /mingw/clangarm64/ 结尾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7912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只查询已启用的仓库；看到 mingw/x86_64/ 时先修正配置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D01CFFCA-336D-4830-AAF4-0A4845B44D4E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换源后的完整更新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2A14C607-96B2-424A-AB76-A23054E9E13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621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确认地址正确后，首次换源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4765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2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</a:t>
            </a:r>
            <a:r>
              <a:rPr sz="32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32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-Syyu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857625"/>
            <a:ext cx="8096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按提示重开原环境终端后继续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2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</a:t>
            </a:r>
            <a:r>
              <a:rPr sz="32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32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-Syu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6578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MSYS2 使用完整升级。仅刷新索引后就安装新包，可能造成版本不配套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下载与解压工具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A149F048-50F4-4EE6-8F0C-286E4EFEB8A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14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95450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pacman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-S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--needed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curl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wget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unzip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tar</a:t>
            </a:r>
            <a:r>
              <a:rPr sz="262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62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xz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457575"/>
            <a:ext cx="104775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 用于克隆与版本操作</a:t>
            </a:r>
          </a:p>
          <a:p>
            <a:pPr>
              <a:buNone/>
              <a:defRPr sz="225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curl、wget 用于网址下载</a:t>
            </a:r>
          </a:p>
          <a:p>
            <a:pPr>
              <a:buNone/>
              <a:defRPr sz="225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unzip、tar、xz 用于解压与归档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6007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025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安装后执行 git --version 和 command -v 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后续构建所需的辅助工具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476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工具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职责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验证命令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CMake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生成工程构建配置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cmake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--version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Ninja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执行编译和链接规则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ninja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--version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dtc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处理设备树数据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dtc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--version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gperf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根据关键字生成查找代码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gperf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--version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5245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00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官方安装来源：Windows 用 </a:t>
            </a:r>
            <a:r>
              <a:rPr sz="1900" b="1">
                <a:solidFill>
                  <a:srgbClr val="A02B9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winget</a:t>
            </a:r>
            <a:r>
              <a:rPr sz="1900" b="1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；详见 Windows P002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2F76508-00E5-4159-A1E8-2632379E56F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Zephyr 官方源码入口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192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仓库地址</a:t>
            </a:r>
          </a:p>
          <a:p>
            <a:pPr>
              <a:lnSpc>
                <a:spcPct val="120000"/>
              </a:lnSpc>
              <a:buNone/>
              <a:def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hlinkClick r:id="rId3"/>
              </a:rPr>
              <a:t>zephyrproject-rtos/zephyr</a:t>
            </a:r>
            <a:endParaRPr sz="2175" b="0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809875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main 会持续变化。</a:t>
            </a:r>
          </a:p>
          <a:p>
            <a:pPr>
              <a:lnSpc>
                <a:spcPct val="120000"/>
              </a:lnSpc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正式工程固定标签或提交号。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581150"/>
            <a:ext cx="6019800" cy="3254502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09600" y="58959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Windows 源码根：</a:t>
            </a:r>
            <a:r>
              <a:rPr sz="1875" b="1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G:\zephyr_practice\zephyr-main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09600" y="4629150"/>
            <a:ext cx="109728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lnSpc>
                <a:spcPct val="120000"/>
              </a:lnSpc>
              <a:spcAft>
                <a:spcPts val="5"/>
              </a:spcAft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UCRT64：先 </a:t>
            </a:r>
            <a:r>
              <a:rPr sz="2025">
                <a:solidFill>
                  <a:srgbClr val="A02B9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cd</a:t>
            </a:r>
            <a:r>
              <a:rPr sz="2025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25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/g/zephyr_practice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>
                <a:solidFill>
                  <a:srgbClr val="A02B9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025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clone </a:t>
            </a:r>
            <a:r>
              <a:rPr sz="2025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25"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025">
                <a:solidFill>
                  <a:srgbClr val="0070C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https://github.com/zephyrproject-rtos/zephyr.git</a:t>
            </a:r>
            <a:r>
              <a:rPr sz="2025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zephyr-main</a:t>
            </a:r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BF7BA14-0FBC-409A-9519-FBC4BAD2DF4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22D80A6-EA82-49F4-8228-BAA292FF5C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下载前的本地代理配置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EF2D85-E084-423F-A809-6C7CA8195C71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1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v2rayN 示例：混合监听端口 10808，第二监听端口未开启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ABDF01-E22F-44A4-8FA0-13FDC0F999B4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40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rPr>
              <a:t>代理入口：http://127.0.0.1:10808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77CC8D-F2D6-4B3B-A3DF-F98EAA3F8E80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git config --global --replace-all http.proxy \</a:t>
            </a:r>
          </a:p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  http://127.0.0.1:10808</a:t>
            </a:r>
          </a:p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git config --show-origin --get-all http.proxy</a:t>
            </a:r>
          </a:p>
          <a:p>
            <a:pPr>
              <a:defRPr sz="1950" b="0">
                <a:solidFill>
                  <a:srgbClr val="6545A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6545AF"/>
                </a:solidFill>
                <a:latin typeface="Consolas"/>
                <a:ea typeface="Consolas"/>
                <a:cs typeface="Consolas"/>
              </a:rPr>
              <a:t>curl -I -x http://127.0.0.1:10808 https://github.com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1A03EA-DBF2-4F58-92DD-BC902B3C8873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95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http:// 是连接本地代理的协议；访问 GitHub 仍使用 HTTPS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5DBF19-C8C5-49C1-8D21-D01427FD5ED9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52035"/>
                </a:solidFill>
                <a:latin typeface="Noto Sans SC"/>
                <a:ea typeface="Noto Sans SC"/>
                <a:cs typeface="Noto Sans SC"/>
              </a:rPr>
              <a:t>Git 的 http.proxy 同时用于 HTTP / HTTPS 请求，无需另设 https.proxy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C0A02E-EA54-44CA-A74A-8FF258A91D0F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65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545AF"/>
                </a:solidFill>
                <a:latin typeface="Noto Sans SC"/>
                <a:ea typeface="Noto Sans SC"/>
                <a:cs typeface="Noto Sans SC"/>
              </a:rPr>
              <a:t>ZIP 由浏览器下载，需在 v2rayN 开启系统代理或配置浏览器代理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9B2615-B23C-9078-EBCB-C83235711581}"/>
              </a:ext>
            </a:extLst>
          </p:cNvPr>
          <p:cNvSpPr txBox="1"/>
          <p:nvPr/>
        </p:nvSpPr>
        <p:spPr>
          <a:xfrm>
            <a:off x="11144250" y="6400800"/>
            <a:ext cx="47625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fld id="{642D8B5A-75F7-4906-9278-BD591711C965}" type="slidenum">
              <a:rPr lang="zh-CN" altLang="en-US" sz="1275" smtClean="0">
                <a:solidFill>
                  <a:srgbClr val="6C657C"/>
                </a:solidFill>
                <a:latin typeface="Noto Sans SC" panose="020B0200000000000000" pitchFamily="34" charset="-122"/>
              </a:rPr>
              <a:t>17</a:t>
            </a:fld>
            <a:endParaRPr lang="zh-CN" altLang="en-US" sz="1275">
              <a:solidFill>
                <a:srgbClr val="6C657C"/>
              </a:solidFill>
              <a:latin typeface="Noto Sans SC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922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ZIP 下载得到源码快照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95450"/>
            <a:ext cx="4381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如果github克隆链接不稳定，那么用zip下载是个不错的选择，后续会讲解怎么补充git历史。快速开始和git完整性两不误。</a:t>
            </a:r>
            <a:endParaRPr sz="2400" b="0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619500"/>
            <a:ext cx="438150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Windows 解压目录：</a:t>
            </a:r>
          </a:p>
          <a:p>
            <a:pPr>
              <a:lnSpc>
                <a:spcPct val="120000"/>
              </a:lnSpc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G:\zephyr_practice\zephyr-main</a:t>
            </a:r>
          </a:p>
          <a:p>
            <a:pPr>
              <a:lnSpc>
                <a:spcPct val="120000"/>
              </a:lnSpc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根目录直接包含 </a:t>
            </a:r>
            <a:r>
              <a:rPr sz="2100" b="0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VERSION</a:t>
            </a: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、boards、samples</a:t>
            </a:r>
          </a:p>
          <a:p>
            <a:pPr>
              <a:lnSpc>
                <a:spcPct val="120000"/>
              </a:lnSpc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版本历史需要另外获取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714500"/>
            <a:ext cx="6172200" cy="3336798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09600" y="57816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浏览器能下载 ZIP，不代表 Git 网络故障已经解决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F017CE9-7609-413F-B509-7FACA1A347D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ZIP 源码与 Git 仓库信息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295275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对象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保存的内容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zephyr-main/ 中的源码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当前版本的工作区文件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.git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/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提交对象、分支、配置等元数据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 索引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Git 用于比较与准备提交的文件状态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1911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操作前保留原 ZIP，确认目标目录没有已有的 </a:t>
            </a:r>
            <a:r>
              <a:rPr sz="2100" b="1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.git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7626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19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同名 main 分支在不同时间可能指向不同提交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28F52E0-EC68-4A5D-98E9-C94254A9483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最小 Git 元数据克隆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7033FB0C-F656-4ED2-9122-38039082A3A5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76375"/>
            <a:ext cx="10953750" cy="3133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clone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--no-checkout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--depth=1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--branch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main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250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https://github.com/zephyrproject-rtos/zephyr.git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git-meta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816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250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先取得最小仓库，再连接 ZIP 工作区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元数据与 ZIP 版本核对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A783159A-FBD3-41C8-B1E1-A0C3F39974DB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21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47825"/>
            <a:ext cx="109537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rev-parse </a:t>
            </a:r>
            <a:r>
              <a:rPr sz="19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HEAD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remote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-v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config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remote.origin.partialclonefilter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-C</a:t>
            </a:r>
            <a:r>
              <a:rPr sz="19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git-meta rev-parse </a:t>
            </a:r>
            <a:r>
              <a:rPr sz="19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--is-shallow-repository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41719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需要观察的结果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8482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提交号与 ZIP 匹配，远程为 Zephyr 官方仓库</a:t>
            </a:r>
          </a:p>
          <a:p>
            <a:pPr>
              <a:buNone/>
              <a:def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过滤器为 blob:none，浅仓库状态为 true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接入元数据并建立索引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2DF68BC8-E312-4F99-BCAC-74102CED1707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22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829050"/>
            <a:ext cx="10972800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mv</a:t>
            </a:r>
            <a:r>
              <a:rPr>
                <a:solidFill>
                  <a:srgbClr val="24292F"/>
                </a:solidFill>
              </a:rPr>
              <a:t> git-meta</a:t>
            </a:r>
            <a:r>
              <a:rPr>
                <a:solidFill>
                  <a:srgbClr val="006C78"/>
                </a:solidFill>
              </a:rPr>
              <a:t>/.git</a:t>
            </a:r>
            <a:r>
              <a:rPr>
                <a:solidFill>
                  <a:srgbClr val="24292F"/>
                </a:solidFill>
              </a:rPr>
              <a:t> zephyr-main</a:t>
            </a:r>
            <a:r>
              <a:rPr>
                <a:solidFill>
                  <a:srgbClr val="006C78"/>
                </a:solidFill>
              </a:rPr>
              <a:t>/.git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rmdir</a:t>
            </a:r>
            <a:r>
              <a:rPr>
                <a:solidFill>
                  <a:srgbClr val="24292F"/>
                </a:solidFill>
              </a:rPr>
              <a:t> git-meta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cd</a:t>
            </a:r>
            <a:r>
              <a:rPr>
                <a:solidFill>
                  <a:srgbClr val="24292F"/>
                </a:solidFill>
              </a:rPr>
              <a:t> zephyr-main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git</a:t>
            </a:r>
            <a:r>
              <a:rPr>
                <a:solidFill>
                  <a:srgbClr val="24292F"/>
                </a:solidFill>
              </a:rPr>
              <a:t> read-tree </a:t>
            </a:r>
            <a:r>
              <a:rPr>
                <a:solidFill>
                  <a:srgbClr val="7A3E9D"/>
                </a:solidFill>
              </a:rPr>
              <a:t>--reset</a:t>
            </a:r>
            <a:r>
              <a:rPr>
                <a:solidFill>
                  <a:srgbClr val="24292F"/>
                </a:solidFill>
              </a:rPr>
              <a:t> </a:t>
            </a:r>
            <a:r>
              <a:rPr>
                <a:solidFill>
                  <a:srgbClr val="A54800"/>
                </a:solidFill>
              </a:rPr>
              <a:t>HEAD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>
                <a:solidFill>
                  <a:srgbClr val="005CC5"/>
                </a:solidFill>
              </a:rPr>
              <a:t>git</a:t>
            </a:r>
            <a:r>
              <a:rPr>
                <a:solidFill>
                  <a:srgbClr val="24292F"/>
                </a:solidFill>
              </a:rPr>
              <a:t> status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这一步重建索引，源码文件继续保留</a:t>
            </a:r>
            <a:endParaRPr sz="2250" b="1">
              <a:solidFill>
                <a:srgbClr val="25203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71625"/>
            <a:ext cx="1097280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我们现在要把补充git记录，先建立进git记录的仓库。</a:t>
            </a:r>
          </a:p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然后把记录移动到zephyr-main文件夹，</a:t>
            </a:r>
          </a:p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然后再刷新或者补充索引就可以得到git clone一样效果。</a:t>
            </a:r>
          </a:p>
          <a:p>
            <a:pPr>
              <a:def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zip下载既能够满足快速开始，可以满足完美主义者，和工程管理。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main 历史的补全与验证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9DA69C8A-240F-49DA-9E45-F2DE4B816C06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23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95450"/>
            <a:ext cx="10953750" cy="261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rev-parse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--is-shallow-repository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fetch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--unshallow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origin main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rev-parse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--is-shallow-repository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rev-list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--count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HEAD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log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--oneline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--decorate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-20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625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浅仓库状态从 true 变为 false，表示浅历史边界解除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历史深度与文件内容是两个维度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19250"/>
          <a:ext cx="10972800" cy="31432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维度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控制选项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解除浅历史之后</a:t>
                      </a:r>
                    </a:p>
                  </a:txBody>
                  <a:tcPr marL="152400" marR="152400" marT="114300" marB="114300" anchor="ctr">
                    <a:solidFill>
                      <a:srgbClr val="6545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历史深度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--depth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 /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--unshallow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可追溯 main 提交历史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文件内容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--filter</a:t>
                      </a: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=blob:none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缺失 blob 仍按需获取</a:t>
                      </a:r>
                    </a:p>
                  </a:txBody>
                  <a:tcPr marL="152400" marR="152400" marT="114300" marB="114300" anchor="ctr">
                    <a:solidFill>
                      <a:srgbClr val="F0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远程分支与标签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fetch 范围 /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--tags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5203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按需求额外获取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3721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需要历史文件时，后续 Git 操作仍可能访问远端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E7A07DC-1B1C-45BC-A1A9-3C27C641FDD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可选的分支与标签获取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3A301DCF-DA6F-4407-A216-CE46CA14183C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25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811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其他远程分支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90750"/>
            <a:ext cx="1095375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remote.origin.fetch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1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"+refs/heads/*:refs/remotes/origin/*"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fetch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origin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branch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-r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3624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发布标签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962525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fetch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--tags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--filter=blob:none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origin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tag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仓库内的 Git 提交身份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32826EB8-4F28-4CE4-8137-BED7636F1677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26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52600"/>
            <a:ext cx="10953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rev-parse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--show-toplevel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user.email </a:t>
            </a:r>
            <a:r>
              <a:rPr sz="22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"xxx@yy.com"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user.name </a:t>
            </a:r>
            <a:r>
              <a:rPr sz="2250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"xxx"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user.email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520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250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--local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50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</a:t>
            </a:r>
            <a:r>
              <a:rPr sz="2250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user.name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816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75" b="1">
                <a:solidFill>
                  <a:srgbClr val="C6B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局部配置需要已存在的 Git 仓库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GitHub 连接故障的定位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275" b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fld id="{BF8120B4-A8AE-419D-A1A1-5A428CBB9DE8}" type="slidenum">
              <a:rPr lang="en-US" altLang="zh-CN" sz="1275" smtClean="0">
                <a:solidFill>
                  <a:srgbClr val="6C657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27</a:t>
            </a:fld>
            <a:endParaRPr sz="1275">
              <a:solidFill>
                <a:srgbClr val="6C657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85925"/>
            <a:ext cx="1095375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config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--show-origin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--get-regexp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175" b="0">
                <a:solidFill>
                  <a:srgbClr val="147D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'^(http|https)\..*proxy$'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env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|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grep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7A3E9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-i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proxy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5CC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ls-remote </a:t>
            </a:r>
            <a:r>
              <a:rPr sz="2175" b="0">
                <a:solidFill>
                  <a:srgbClr val="9945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\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6545A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sz="2175" b="0">
                <a:solidFill>
                  <a:srgbClr val="006C7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https://github.com/zephyrproject-rtos/zephyr.git</a:t>
            </a:r>
            <a:r>
              <a:rPr sz="2175" b="0">
                <a:solidFill>
                  <a:srgbClr val="2429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75" b="0">
                <a:solidFill>
                  <a:srgbClr val="A54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HEAD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3340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小请求成功后，再重试体积较大的 clone 或 fetch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85787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18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MSYS2 换源与 GitHub 连接属于不同下载链路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buNone/>
              <a:def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30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完成标志与下一步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5621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环境正确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524250" y="1628775"/>
            <a:ext cx="7905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B84E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MSYSTEM</a:t>
            </a: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为 UCRT64，工具版本命令可执行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638425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源码可用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524250" y="2705100"/>
            <a:ext cx="7905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UCRT64：</a:t>
            </a:r>
            <a:r>
              <a:rPr sz="2025" b="0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/g/zephyr_practice/zephyr-main</a:t>
            </a: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，检查 </a:t>
            </a:r>
            <a:r>
              <a:rPr sz="2025" b="0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VERSION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71475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545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Git 状态明确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24250" y="3781425"/>
            <a:ext cx="7905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0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区分 ZIP、浅仓库和已补全的 main 历史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28637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>
              <a:lnSpc>
                <a:spcPct val="120000"/>
              </a:lnSpc>
              <a:buNone/>
              <a:defRPr sz="2250" b="1">
                <a:solidFill>
                  <a:srgbClr val="25203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29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下一步 P002：让主机程序读取同一源码；然后准备 ARM SDK 和 CMSIS。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B460D62-546D-4DB8-81B5-7737022A72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</a:p>
        </p:txBody>
      </p:sp>
    </p:spTree>
  </p:cSld>
  <p:clrMapOvr>
    <a:masterClrMapping/>
  </p:clrMapOvr>
</p:sld>
</file>

<file path=ppt/theme/lizhaojunCoverTheme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3135</Words>
  <Application>Microsoft Office PowerPoint</Application>
  <PresentationFormat>宽屏</PresentationFormat>
  <Paragraphs>400</Paragraphs>
  <Slides>44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Noto Sans SC</vt:lpstr>
      <vt:lpstr>Aptos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14</cp:revision>
  <dcterms:created xsi:type="dcterms:W3CDTF">2026-10-02T10:41:00Z</dcterms:created>
  <dcterms:modified xsi:type="dcterms:W3CDTF">2026-10-03T01:26:48Z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953B3E15F5E841E2B82632FF505B06D3_12</vt:lpwstr>
  </property>
</Properties>
</file>