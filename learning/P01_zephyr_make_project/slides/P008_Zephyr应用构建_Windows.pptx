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9.xml" ContentType="application/vnd.openxmlformats-officedocument.theme+xml"/>
  <Override PartName="/ppt/slideLayouts/slideLayout5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lesson_7_1.xml" ContentType="application/vnd.openxmlformats-officedocument.presentationml.slide+xml"/>
  <Override PartName="/ppt/notesSlides/lesson_7_1.xml" ContentType="application/vnd.openxmlformats-officedocument.presentationml.notesSlide+xml"/>
  <Override PartName="/ppt/slides/lesson_7_4.xml" ContentType="application/vnd.openxmlformats-officedocument.presentationml.slide+xml"/>
  <Override PartName="/ppt/notesSlides/lesson_7_4.xml" ContentType="application/vnd.openxmlformats-officedocument.presentationml.notesSlide+xml"/>
  <Override PartName="/ppt/slides/lesson_7_10.xml" ContentType="application/vnd.openxmlformats-officedocument.presentationml.slide+xml"/>
  <Override PartName="/ppt/notesSlides/lesson_7_10.xml" ContentType="application/vnd.openxmlformats-officedocument.presentationml.notesSlide+xml"/>
  <Override PartName="/ppt/slides/lesson_7_13.xml" ContentType="application/vnd.openxmlformats-officedocument.presentationml.slide+xml"/>
  <Override PartName="/ppt/notesSlides/lesson_7_13.xml" ContentType="application/vnd.openxmlformats-officedocument.presentationml.notesSlide+xml"/>
  <Override PartName="/ppt/slides/lesson_7_14.xml" ContentType="application/vnd.openxmlformats-officedocument.presentationml.slide+xml"/>
  <Override PartName="/ppt/notesSlides/lesson_7_14.xml" ContentType="application/vnd.openxmlformats-officedocument.presentationml.notesSlide+xml"/>
  <Override PartName="/ppt/slides/firmware_formats.xml" ContentType="application/vnd.openxmlformats-officedocument.presentationml.slide+xml"/>
  <Override PartName="/ppt/notesSlides/firmware_formats.xml" ContentType="application/vnd.openxmlformats-officedocument.presentationml.notesSlide+xml"/>
  <Override PartName="/ppt/slides/guide26.xml" ContentType="application/vnd.openxmlformats-officedocument.presentationml.slide+xml"/>
  <Override PartName="/ppt/notesSlides/guide26.xml" ContentType="application/vnd.openxmlformats-officedocument.presentationml.notesSlide+xml"/>
  <Override PartName="/ppt/slides/guide27.xml" ContentType="application/vnd.openxmlformats-officedocument.presentationml.slide+xml"/>
  <Override PartName="/ppt/notesSlides/guide2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62" r:id="rId3"/>
    <p:sldMasterId id="2147483669" r:id="rId4"/>
    <p:sldMasterId id="2147483676" r:id="rId5"/>
    <p:sldMasterId id="2147483683" r:id="rId6"/>
    <p:sldMasterId id="2147483690" r:id="rId7"/>
    <p:sldMasterId id="2147483697" r:id="rId8"/>
    <p:sldMasterId id="2147483704" r:id="rId9"/>
    <p:sldMasterId id="2147483712" r:id="rId10"/>
  </p:sldMasterIdLst>
  <p:notesMasterIdLst>
    <p:notesMasterId r:id="rId68"/>
  </p:notesMasterIdLst>
  <p:sldIdLst>
    <p:sldId id="801" r:id="rIdGuideOrder1"/>
    <p:sldId id="802" r:id="rIdGuideOrder2"/>
    <p:sldId id="803" r:id="rIdGuideOrder3"/>
    <p:sldId id="804" r:id="rIdGuideOrder4"/>
    <p:sldId id="805" r:id="rIdGuideOrder5"/>
    <p:sldId id="806" r:id="rIdGuideOrder6"/>
    <p:sldId id="807" r:id="rIdGuideOrder7"/>
    <p:sldId id="808" r:id="rIdGuideOrder8"/>
    <p:sldId id="809" r:id="rIdGuideOrder9"/>
    <p:sldId id="810" r:id="rIdGuideOrder10"/>
    <p:sldId id="811" r:id="rIdGuideOrder11"/>
    <p:sldId id="812" r:id="rIdGuideOrder12"/>
    <p:sldId id="813" r:id="rIdGuideOrder13"/>
    <p:sldId id="814" r:id="rIdGuideOrder14"/>
    <p:sldId id="815" r:id="rIdGuideOrder15"/>
    <p:sldId id="816" r:id="rIdGuideOrder16"/>
    <p:sldId id="817" r:id="rIdGuideOrder17"/>
    <p:sldId id="818" r:id="rIdGuideOrder18"/>
    <p:sldId id="819" r:id="rIdGuideOrder19"/>
    <p:sldId id="820" r:id="rIdGuideOrder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45" autoAdjust="0"/>
  </p:normalViewPr>
  <p:slideViewPr>
    <p:cSldViewPr snapToGrid="0">
      <p:cViewPr varScale="1">
        <p:scale>
          <a:sx n="126" d="100"/>
          <a:sy n="126" d="100"/>
        </p:scale>
        <p:origin x="487" y="75"/>
      </p:cViewPr>
      <p:guideLst/>
    </p:cSldViewPr>
  </p:slideViewPr>
  <p:outlineViewPr>
    <p:cViewPr>
      <p:scale>
        <a:sx n="33" d="100"/>
        <a:sy n="33" d="100"/>
      </p:scale>
      <p:origin x="0" y="-8561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4138" y="5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68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5" Type="http://schemas.openxmlformats.org/officeDocument/2006/relationships/slideMaster" Target="slideMasters/slideMaster5.xml"/><Relationship Id="rId69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GuideOrder1" Type="http://schemas.openxmlformats.org/officeDocument/2006/relationships/slide" Target="slides/slide1.xml"/><Relationship Id="rIdGuideOrder2" Type="http://schemas.openxmlformats.org/officeDocument/2006/relationships/slide" Target="slides/lesson_7_1.xml"/><Relationship Id="rIdGuideOrder3" Type="http://schemas.openxmlformats.org/officeDocument/2006/relationships/slide" Target="slides/slide14.xml"/><Relationship Id="rIdGuideOrder4" Type="http://schemas.openxmlformats.org/officeDocument/2006/relationships/slide" Target="slides/slide15.xml"/><Relationship Id="rIdGuideOrder5" Type="http://schemas.openxmlformats.org/officeDocument/2006/relationships/slide" Target="slides/lesson_7_4.xml"/><Relationship Id="rIdGuideOrder6" Type="http://schemas.openxmlformats.org/officeDocument/2006/relationships/slide" Target="slides/slide16.xml"/><Relationship Id="rIdGuideOrder7" Type="http://schemas.openxmlformats.org/officeDocument/2006/relationships/slide" Target="slides/slide17.xml"/><Relationship Id="rIdGuideOrder8" Type="http://schemas.openxmlformats.org/officeDocument/2006/relationships/slide" Target="slides/slide2.xml"/><Relationship Id="rIdGuideOrder9" Type="http://schemas.openxmlformats.org/officeDocument/2006/relationships/slide" Target="slides/slide5.xml"/><Relationship Id="rIdGuideOrder10" Type="http://schemas.openxmlformats.org/officeDocument/2006/relationships/slide" Target="slides/slide7.xml"/><Relationship Id="rIdGuideOrder11" Type="http://schemas.openxmlformats.org/officeDocument/2006/relationships/slide" Target="slides/lesson_7_10.xml"/><Relationship Id="rIdGuideOrder12" Type="http://schemas.openxmlformats.org/officeDocument/2006/relationships/slide" Target="slides/guide26.xml"/><Relationship Id="rIdGuideOrder13" Type="http://schemas.openxmlformats.org/officeDocument/2006/relationships/slide" Target="slides/slide8.xml"/><Relationship Id="rIdGuideOrder14" Type="http://schemas.openxmlformats.org/officeDocument/2006/relationships/slide" Target="slides/slide9.xml"/><Relationship Id="rIdGuideOrder15" Type="http://schemas.openxmlformats.org/officeDocument/2006/relationships/slide" Target="slides/lesson_7_13.xml"/><Relationship Id="rIdGuideOrder16" Type="http://schemas.openxmlformats.org/officeDocument/2006/relationships/slide" Target="slides/lesson_7_14.xml"/><Relationship Id="rIdGuideOrder17" Type="http://schemas.openxmlformats.org/officeDocument/2006/relationships/slide" Target="slides/slide10.xml"/><Relationship Id="rIdGuideOrder18" Type="http://schemas.openxmlformats.org/officeDocument/2006/relationships/slide" Target="slides/firmware_formats.xml"/><Relationship Id="rIdGuideOrder19" Type="http://schemas.openxmlformats.org/officeDocument/2006/relationships/slide" Target="slides/guide27.xml"/><Relationship Id="rIdGuideOrder20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firmware_formats.xml.rels><?xml version='1.0' encoding='UTF-8' standalone='yes'?>
<Relationships xmlns="http://schemas.openxmlformats.org/package/2006/relationships"><Relationship Id="rId2" Type="http://schemas.openxmlformats.org/officeDocument/2006/relationships/slide" Target="../slides/firmware_formats.xml"/><Relationship Id="rId1" Type="http://schemas.openxmlformats.org/officeDocument/2006/relationships/notesMaster" Target="../notesMasters/notesMaster1.xml"/></Relationships>
</file>

<file path=ppt/notesSlides/_rels/guide26.xml.rels><?xml version='1.0' encoding='UTF-8' standalone='yes'?>
<Relationships xmlns="http://schemas.openxmlformats.org/package/2006/relationships"><Relationship Id="rId2" Type="http://schemas.openxmlformats.org/officeDocument/2006/relationships/slide" Target="../slides/guide26.xml"/><Relationship Id="rId1" Type="http://schemas.openxmlformats.org/officeDocument/2006/relationships/notesMaster" Target="../notesMasters/notesMaster1.xml"/></Relationships>
</file>

<file path=ppt/notesSlides/_rels/guide27.xml.rels><?xml version='1.0' encoding='UTF-8' standalone='yes'?>
<Relationships xmlns="http://schemas.openxmlformats.org/package/2006/relationships"><Relationship Id="rId2" Type="http://schemas.openxmlformats.org/officeDocument/2006/relationships/slide" Target="../slides/guide27.xml"/><Relationship Id="rId1" Type="http://schemas.openxmlformats.org/officeDocument/2006/relationships/notesMaster" Target="../notesMasters/notesMaster1.xml"/></Relationships>
</file>

<file path=ppt/notesSlides/_rels/lesson_7_1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7_1.xml"/><Relationship Id="rId1" Type="http://schemas.openxmlformats.org/officeDocument/2006/relationships/notesMaster" Target="../notesMasters/notesMaster1.xml"/></Relationships>
</file>

<file path=ppt/notesSlides/_rels/lesson_7_4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7_4.xml"/><Relationship Id="rId1" Type="http://schemas.openxmlformats.org/officeDocument/2006/relationships/notesMaster" Target="../notesMasters/notesMaster1.xml"/></Relationships>
</file>

<file path=ppt/notesSlides/_rels/lesson_7_10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7_10.xml"/><Relationship Id="rId1" Type="http://schemas.openxmlformats.org/officeDocument/2006/relationships/notesMaster" Target="../notesMasters/notesMaster1.xml"/></Relationships>
</file>

<file path=ppt/notesSlides/_rels/lesson_7_13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7_13.xml"/><Relationship Id="rId1" Type="http://schemas.openxmlformats.org/officeDocument/2006/relationships/notesMaster" Target="../notesMasters/notesMaster1.xml"/></Relationships>
</file>

<file path=ppt/notesSlides/_rels/lesson_7_14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7_14.xml"/><Relationship Id="rId1" Type="http://schemas.openxmlformats.org/officeDocument/2006/relationships/notesMaster" Target="../notesMasters/notesMaster1.xml"/></Relationships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firmware_formats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对应正文：P008_Zephyr应用构建_Windows.md#firmware-formats。构建先链接 ELF，再由 Kconfig 的 BUILD_OUTPUT_HEX/BIN 和根 CMakeLists.txt 安排派生产物。ELF 是否有 DWARF 取决于调试信息配置。BIN 本身没有加载地址。不能用 MPS2 文件烧录 HC32。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gu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8.2.1。</a:t>
            </a:r>
          </a:p>
          <a:p>
            <a:r>
              <a:t>复位、向量、NVIC 和线程由 Zephyr 的 Cortex-M 架构实现；板/SoC 描述 AN386 能力、内存与时钟；内置 SysTick、UART、GPIO 和 pinctrl 驱动完成具体硬件工作。</a:t>
            </a:r>
          </a:p>
          <a:p>
            <a:r>
              <a:t>外部 CMSIS_6 提供 Cortex-M4 通用头和 NVIC 等内联接口；SDK 提供编译工具。MPS2 有 Keil 独立 BSP Pack，但这次 Zephyr 构建没有直接使用它。</a:t>
            </a:r>
          </a:p>
          <a:p>
            <a:r>
              <a:t>先查主源码实现、活动 west 清单和已下载 CMSIS，再看配置与编译单元。硬件抽象职责必须完成，不要求全部装在一个叫 HAL 或 DDL 的外部目录里。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gu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8.2.3。</a:t>
            </a:r>
          </a:p>
          <a:p>
            <a:r>
              <a:t>compile_commands.json 中不只应该有 main.c，还能查到 mps2/soc.c、Cortex-M reset.S、uart_console.c 和 uart_cmsdk_apb.c。它们分别来自应用、SoC、架构和驱动规则。</a:t>
            </a:r>
          </a:p>
          <a:p>
            <a:r>
              <a:t>再核对 main.c 的命令：CPU 为 -mcpu=cortex-m4，包含路径指向外部 CMSIS/Core/Include。头文件参与构建，不一定有独立的 CMSIS .c 任务。</a:t>
            </a:r>
          </a:p>
          <a:p>
            <a:r>
              <a:t>源码列说明生成了哪些任务；构建退出状态和对应产物才说明执行结果。若混入 HC32 DDL，先查构建目录、BOARD 和追加模块，不能把它当成 MPS2 必备材料。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7_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对应正文：P008_Zephyr应用构建_Windows.md</a:t>
            </a:r>
          </a:p>
          <a:p>
            <a:r>
              <a:t>8.1 → 8.2 · 本册路线</a:t>
            </a:r>
          </a:p>
          <a:p>
            <a:r>
              <a:t>应用、板与驱动在主源码；CMSIS 与编译工具另有来源。</a:t>
            </a:r>
          </a:p>
          <a:p>
            <a:r>
              <a:t>先读官方入口，再核对 MPS2 支持与外部材料，最后构建。</a:t>
            </a:r>
          </a:p>
          <a:p>
            <a:r>
              <a:t>west 列下载项目；配置和编译清单说明本次实际用了什么。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依据：https://docs.zephyrproject.org/latest/build/cmake/index.html</a:t>
            </a:r>
          </a:p>
          <a:p>
            <a:r>
              <a:t>本机原件：doc/build/cmake/index.rst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7_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对应正文：P008_Zephyr应用构建_Windows.md</a:t>
            </a:r>
          </a:p>
          <a:p>
            <a:r>
              <a:t>8.1.2 · 从原生模型提出问题</a:t>
            </a:r>
          </a:p>
          <a:p>
            <a:r>
              <a:t>P007 的 my_app 由读者创建；本例 app 由 Zephyr 初始化创建。</a:t>
            </a:r>
          </a:p>
          <a:p>
            <a:r>
              <a:t>find_package(Zephyr) 执行源码包入口及其 CMake 脚本。</a:t>
            </a:r>
          </a:p>
          <a:p>
            <a:r>
              <a:t>返回应用入口后，target_sources 给已有 app 库添加 main.c。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依据：https://docs.zephyrproject.org/latest/build/cmake/index.html</a:t>
            </a:r>
          </a:p>
          <a:p>
            <a:r>
              <a:t>本机原件：doc/build/cmake/index.rst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7_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对应正文：P008_Zephyr应用构建_Windows.md</a:t>
            </a:r>
          </a:p>
          <a:p>
            <a:r>
              <a:rPr/>
              <a:t>8.2.1 · 逐项成立后才执行配置</a:t>
            </a:r>
          </a:p>
          <a:p>
            <a:r>
              <a:rPr/>
              <a:t>P001：官方 hello_world、MPS2 板与构建脚本完整。</a:t>
            </a:r>
          </a:p>
          <a:p>
            <a:r>
              <a:rPr>
                <a:solidFill>
                  <a:srgbClr val="29263B"/>
                </a:solidFill>
              </a:rPr>
              <a:t>P002：CMake、Ninja 与已激活的 Python venv；</a:t>
            </a:r>
            <a:r>
              <a:rPr>
                <a:solidFill>
                  <a:srgbClr val="A02B93"/>
                </a:solidFill>
              </a:rPr>
              <a:t>dtc</a:t>
            </a:r>
            <a:r>
              <a:rPr>
                <a:solidFill>
                  <a:srgbClr val="29263B"/>
                </a:solidFill>
              </a:rPr>
              <a:t>、</a:t>
            </a:r>
            <a:r>
              <a:rPr>
                <a:solidFill>
                  <a:srgbClr val="A02B93"/>
                </a:solidFill>
              </a:rPr>
              <a:t>gperf</a:t>
            </a:r>
            <a:r>
              <a:rPr>
                <a:solidFill>
                  <a:srgbClr val="29263B"/>
                </a:solidFill>
              </a:rPr>
              <a:t xml:space="preserve"> 按用途准备。</a:t>
            </a:r>
          </a:p>
          <a:p>
            <a:r>
              <a:rPr/>
              <a:t>P003：SDK 包能被发现，而且已包含 ARM 工具链。</a:t>
            </a:r>
          </a:p>
          <a:p>
            <a:r>
              <a:rPr/>
              <a:t>P004：west 指向正确工作区，CMSIS_6 入口与 Core 头确实存在。</a:t>
            </a:r>
          </a:p>
          <a:p>
            <a:r>
              <a:rPr/>
              <a:t>MPS2 的底层支持已在主源码；这次不追加 HC32 HAL。</a:t>
            </a:r>
          </a:p>
          <a:p/>
          <a:p/>
          <a:p>
            <a:r>
              <a:rPr/>
              <a:t>依据：https://docs.zephyrproject.org/latest/build/cmake/index.html</a:t>
            </a:r>
          </a:p>
          <a:p>
            <a:r>
              <a:rPr/>
              <a:t>本机原件：doc/build/cmake/index.rst</a:t>
            </a:r>
          </a:p>
          <a:p/>
          <a:p>
            <a:r>
              <a:rPr/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7_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对应正文：P008_Zephyr应用构建_Windows.md</a:t>
            </a:r>
          </a:p>
          <a:p>
            <a:r>
              <a:t>8.2.2.1 · 用户实际报错对应的阶段</a:t>
            </a:r>
          </a:p>
          <a:p>
            <a:r>
              <a:t>Loading Zephyr default modules 说明已进入源码构建脚本。</a:t>
            </a:r>
          </a:p>
          <a:p>
            <a:r>
              <a:t>Could not find … Zephyr-sdk 表示这次配置未找到所需 SDK 包。</a:t>
            </a:r>
          </a:p>
          <a:p>
            <a:r>
              <a:t>Zephyr_DIR 只指定源码包，不会同时指定 SDK。</a:t>
            </a:r>
          </a:p>
          <a:p>
            <a:r>
              <a:t>配置尚未成功，继续 build 不能补装 SDK 或 CMSIS。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依据：https://docs.zephyrproject.org/latest/build/cmake/index.html</a:t>
            </a:r>
          </a:p>
          <a:p>
            <a:r>
              <a:t>本机原件：doc/build/cmake/index.rst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7_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对应正文：P008_Zephyr应用构建_Windows.md</a:t>
            </a:r>
          </a:p>
          <a:p>
            <a:r>
              <a:t>8.2.2.1 · 操作细节返回 P003</a:t>
            </a:r>
          </a:p>
          <a:p>
            <a:r>
              <a:t>SDK 根含 sdk_version、cmake/Zephyr-sdkConfig.cmake 和 ARM 工具链。</a:t>
            </a:r>
          </a:p>
          <a:p>
            <a:r>
              <a:t>未注册或搬动位置：按 P003 在 PowerShell 的 SDK 根执行 setup.cmd /c。</a:t>
            </a:r>
          </a:p>
          <a:p>
            <a:r>
              <a:t>它持久登记到当前 Windows 用户的 CMake 包注册表，不属于 venv。</a:t>
            </a:r>
          </a:p>
          <a:p>
            <a:r>
              <a:t>主动固定版本时才传 ZEPHYR_SDK_INSTALL_DIR；默认类型不用重写。</a:t>
            </a:r>
          </a:p>
          <a:p>
            <a:r>
              <a:t>纠正后重跑完整配置，核对 Configuring done 与 Generating done。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依据：https://docs.zephyrproject.org/latest/build/cmake/index.html</a:t>
            </a:r>
          </a:p>
          <a:p>
            <a:r>
              <a:t>本机原件：doc/build/cmake/index.rst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承接 P002 主机工具与 Python。本章建立 Zephyr CMake 接口的共同模型：输入由谁读取、默认如何工作、保存在哪里，以及何时需要覆盖。后续 P003—P012 回顾各自接口，并讲解本模块的结构与完整实验。</a:t>
            </a:r>
          </a:p>
          <a:p>
            <a:r>
              <a:t>配套正文：learning/P01_zephyr_make_project/P008_Zephyr应用构建_Windows.md。</a:t>
            </a:r>
          </a:p>
          <a:p>
            <a:r>
              <a:t>源码依据：Zephyr cmake/modules/FindZephyr-sdk.cmake、FindHostTools.cmake、FindTargetTools.cmake、zephyr_module.cmake 与 extensions.cmake；SDK 1.0.1 的 cmake 包。</a:t>
            </a:r>
          </a:p>
          <a:p>
            <a:r>
              <a:t>主讲人：lizhaojun。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19704-445A-E44B-6E1F-67E81ACBF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1A2EF0-698C-0322-2CED-0BDAA4A73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BC89C0-AB42-D4EF-4C02-2520943DE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配套正文：P008_Zephyr应用构建_Windows.md#section-8-1</a:t>
            </a:r>
          </a:p>
          <a:p>
            <a:r>
              <a:t>8.1 · ① 应用与构建</a:t>
            </a:r>
          </a:p>
          <a:p>
            <a:r>
              <a:t>贯穿实例是官方 samples/hello_world，目标为 mps2/an386。</a:t>
            </a:r>
          </a:p>
          <a:p>
            <a:r>
              <a:t>先看谁执行工作，再看应用如何调用 Zephyr。</a:t>
            </a:r>
          </a:p>
          <a:p>
            <a:r>
              <a:t>读懂入口后，再解释板、SDK、模块和变量的作用。</a:t>
            </a:r>
          </a:p>
          <a:p>
            <a:endParaRPr/>
          </a:p>
          <a:p>
            <a:r>
              <a:t>本章补齐构建与缓存操作，依赖准备齐全后再执行。</a:t>
            </a:r>
          </a:p>
          <a:p>
            <a:endParaRPr/>
          </a:p>
          <a:p>
            <a:r>
              <a:t>讲解展开：</a:t>
            </a:r>
          </a:p>
          <a:p>
            <a:r>
              <a:t>## 8.1\_先看一个应用如何变成固件</a:t>
            </a:r>
          </a:p>
          <a:p>
            <a:endParaRPr/>
          </a:p>
          <a:p>
            <a:r>
              <a:t>&lt;a id="section-8-1-1"&gt;&lt;/a&gt;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官方说明：https://docs.zephyrproject.org/latest/develop/application/index.html</a:t>
            </a:r>
          </a:p>
          <a:p>
            <a:r>
              <a:t>仓库原件：https://github.com/zephyrproject-rtos/zephyr/blob/25c8f4a23988dd3b2cfb463613622738298c2d6c/doc/develop/application/index.rst#L3</a:t>
            </a:r>
          </a:p>
          <a:p>
            <a:r>
              <a:t>实现定位：https://github.com/zephyrproject-rtos/zephyr/blob/25c8f4a23988dd3b2cfb463613622738298c2d6c/samples/hello_world/CMakeLists.txt#L3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ED1F6-A2DD-D489-1A3B-F256A0658C1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5708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配套正文：P008_Zephyr应用构建_Windows.md#section-8-1-4</a:t>
            </a:r>
          </a:p>
          <a:p>
            <a:r>
              <a:t>8.1.4 · ① 应用与构建</a:t>
            </a:r>
          </a:p>
          <a:p>
            <a:r>
              <a:t>应用提供 main.c，内核与驱动来自 Zephyr，</a:t>
            </a:r>
          </a:p>
          <a:p>
            <a:r>
              <a:t>板和 SoC 提供硬件描述，CMSIS 来自依赖项目，</a:t>
            </a:r>
          </a:p>
          <a:p>
            <a:r>
              <a:t>编译器安装在源码之外。</a:t>
            </a:r>
          </a:p>
          <a:p>
            <a:endParaRPr/>
          </a:p>
          <a:p>
            <a:r>
              <a:t>Zephyr 用 CMake 把这些对象组织为目标和依赖关系。</a:t>
            </a:r>
          </a:p>
          <a:p>
            <a:r>
              <a:t>应用不用复制内核的全部构建规则，换板也能复用应用。</a:t>
            </a:r>
          </a:p>
          <a:p>
            <a:endParaRPr/>
          </a:p>
          <a:p>
            <a:r>
              <a:t>讲解展开：</a:t>
            </a:r>
          </a:p>
          <a:p>
            <a:r>
              <a:t>### 8.1.4\_这套设计解决什么问题</a:t>
            </a:r>
          </a:p>
          <a:p>
            <a:endParaRPr/>
          </a:p>
          <a:p>
            <a:r>
              <a:t>从上面的分工可以理解设计意图：应用描述“我要加入什么代码”，板/SoC 描述“代码面对什么硬件”，Kconfig 描述“启用什么能力”，工具链规则描述“怎样调用某类编译器”，模块元数据描述“外部项目怎样参加这些步骤”。CMake 把它们组合成同一个构建模型。</a:t>
            </a:r>
          </a:p>
          <a:p>
            <a:endParaRPr/>
          </a:p>
          <a:p>
            <a:r>
              <a:t>这种解释是对官方配置流程和实现边界的归纳，不是官方逐字宣言。它带来的实际效果是：换板时可以复用应用源码；增加一个 HAL 项目可以通过模块入口接入；采用已有工具链类型时不需要修改每个应用的编译器命令；每个构建目录独立保存本次组合。扩展仍须满足接口约定，不是给文件夹起一个名字就自动生效。</a:t>
            </a:r>
          </a:p>
          <a:p>
            <a:endParaRPr/>
          </a:p>
          <a:p>
            <a:r>
              <a:t>下面用思维导图看职责分区。它表示“有哪些部分”，不表示执行顺序；实际先后关系仍看上一节流程图。</a:t>
            </a:r>
          </a:p>
          <a:p>
            <a:endParaRPr/>
          </a:p>
          <a:p>
            <a:r>
              <a:t>```mermaid</a:t>
            </a:r>
          </a:p>
          <a:p>
            <a:r>
              <a:t>%%{init: {"theme": "base", "themeVariables": {"primaryColor": "#344B70", "primaryTextColor": "#FFFFFF", "primaryBorderColor": "#AAB4C5", "lineColor": "#8591A5", "cScale0": "#344B70", "cScaleLabel0": "#FFFFFF", "cScale1": "#435C3A", "cScaleLabel1": "#FFFFFF", "cScale2": "#654778", "cScaleLabel2": "#FFFFFF", "cScale3": "#6D493D", "cScaleLabel3": "#FFFFFF", "cScale4": "#245D63", "cScaleLabel4": "#FFFFFF", "cScale5": "#574D72", "cScaleLabel5": "#FFFFFF", "cScale6": "#344B70", "cScaleLabel6": "#FFFFFF", "cScale7": "#435C3A", "cScaleLabel7": "#FFFFFF", "cScale8": "#654778", "cScaleLabel8": "#FFFFFF", "cScale9": "#6D493D", "cScaleLabel9": "#FFFFFF", "cScale10": "#245D63", "cScaleLabel10": "#FFFFFF", "cScale11": "#574D72", "cScaleLabel11": "#FFFFFF"}}}%%</a:t>
            </a:r>
          </a:p>
          <a:p>
            <a:r>
              <a:t>mindmap</a:t>
            </a:r>
          </a:p>
          <a:p>
            <a:r>
              <a:t>  root((应用的 Zephyr 构建))</a:t>
            </a:r>
          </a:p>
          <a:p>
            <a:r>
              <a:t>    入口与执行者</a:t>
            </a:r>
          </a:p>
          <a:p>
            <a:r>
              <a:t>      应用 CMakeLists</a:t>
            </a:r>
          </a:p>
          <a:p>
            <a:r>
              <a:t>      CMake 与 Ninja</a:t>
            </a:r>
          </a:p>
          <a:p>
            <a:r>
              <a:t>      编译器和生成脚本</a:t>
            </a:r>
          </a:p>
          <a:p>
            <a:r>
              <a:t>    硬件与功能输入</a:t>
            </a:r>
          </a:p>
          <a:p>
            <a:r>
              <a:t>      BOARD 和 SoC</a:t>
            </a:r>
          </a:p>
          <a:p>
            <a:r>
              <a:t>      Kconfig 配置片段</a:t>
            </a:r>
          </a:p>
          <a:p>
            <a:r>
              <a:t>      DTS 和 overlay</a:t>
            </a:r>
          </a:p>
          <a:p>
            <a:r>
              <a:t>    工具来源</a:t>
            </a:r>
          </a:p>
          <a:p>
            <a:r>
              <a:t>      SDK 包发现</a:t>
            </a:r>
          </a:p>
          <a:p>
            <a:r>
              <a:t>      工具链适配规则</a:t>
            </a:r>
          </a:p>
          <a:p>
            <a:r>
              <a:t>    外部源码</a:t>
            </a:r>
          </a:p>
          <a:p>
            <a:r>
              <a:t>      west 项目候选</a:t>
            </a:r>
          </a:p>
          <a:p>
            <a:r>
              <a:t>      模块元数据与入口</a:t>
            </a:r>
          </a:p>
          <a:p>
            <a:r>
              <a:t>    构建结果</a:t>
            </a:r>
          </a:p>
          <a:p>
            <a:r>
              <a:t>      配置与模块记录</a:t>
            </a:r>
          </a:p>
          <a:p>
            <a:r>
              <a:t>      目标和依赖关系</a:t>
            </a:r>
          </a:p>
          <a:p>
            <a:r>
              <a:t>      最终固件</a:t>
            </a:r>
          </a:p>
          <a:p>
            <a:r>
              <a:t>```</a:t>
            </a:r>
          </a:p>
          <a:p>
            <a:endParaRPr/>
          </a:p>
          <a:p>
            <a:r>
              <a:t>&lt;a id="section-9-1"&gt;&lt;/a&gt;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官方说明：https://docs.zephyrproject.org/latest/build/cmake/index.html#build-and-configuration-phases</a:t>
            </a:r>
          </a:p>
          <a:p>
            <a:r>
              <a:t>仓库原件：https://github.com/zephyrproject-rtos/zephyr/blob/25c8f4a23988dd3b2cfb463613622738298c2d6c/doc/build/cmake/index.rst#L52</a:t>
            </a:r>
          </a:p>
          <a:p>
            <a:r>
              <a:t>实现定位：https://github.com/zephyrproject-rtos/zephyr/blob/25c8f4a23988dd3b2cfb463613622738298c2d6c/cmake/modules/zephyr_default.cmake#L71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配套正文：P008_Zephyr应用构建_Windows.md#section-8-1-2</a:t>
            </a:r>
          </a:p>
          <a:p>
            <a:r>
              <a:t>8.2 · ① 应用与构建</a:t>
            </a:r>
          </a:p>
          <a:p>
            <a:r>
              <a:t>配置先确定板、源码、工具、参数与生成顺序。</a:t>
            </a:r>
          </a:p>
          <a:p>
            <a:r>
              <a:t>CMake 据此生成 build.ninja 等规则文件。</a:t>
            </a:r>
          </a:p>
          <a:p>
            <a:r>
              <a:t>构建时 Ninja 执行到期任务，得到对象文件和固件。</a:t>
            </a:r>
          </a:p>
          <a:p>
            <a:r>
              <a:t>普通源码改动可增量构建，配置变化可能触发重新配置。</a:t>
            </a:r>
          </a:p>
          <a:p>
            <a:endParaRPr/>
          </a:p>
          <a:p>
            <a:r>
              <a:t>讲解展开：</a:t>
            </a:r>
          </a:p>
          <a:p>
            <a:r>
              <a:t>### 8.2\_配置阶段和构建阶段为什么分开</a:t>
            </a:r>
          </a:p>
          <a:p>
            <a:endParaRPr/>
          </a:p>
          <a:p>
            <a:r>
              <a:t>假设现在要编译官方 `hello_world`，目标为 `mps2/an386`。配置阶段先回答：应用在哪里、选哪块板、有哪些源码、需要什么编译器和参数、哪些文件必须先生成。CMake 执行脚本得到这些关系，再为 Ninja 生成任务规则。</a:t>
            </a:r>
          </a:p>
          <a:p>
            <a:endParaRPr/>
          </a:p>
          <a:p>
            <a:r>
              <a:t>构建阶段由 Ninja 执行这些规则。普通修改 `main.c` 后，通常只需重新编译受影响对象并链接；改变板、模块或构建配置，可能需要重新运行 CMake。构建规则能够检测一部分变化并自动重新配置，所以日志中偶尔重新出现 CMake 输出是正常的。</a:t>
            </a:r>
          </a:p>
          <a:p>
            <a:endParaRPr/>
          </a:p>
          <a:p>
            <a:r>
              <a:t>```mermaid</a:t>
            </a:r>
          </a:p>
          <a:p>
            <a:r>
              <a:t>flowchart LR</a:t>
            </a:r>
          </a:p>
          <a:p>
            <a:r>
              <a:t>    A["应用与板等输入"] --&gt; B["CMake 配置并生成规则"]</a:t>
            </a:r>
          </a:p>
          <a:p>
            <a:r>
              <a:t>    B --&gt; C["Ninja 执行规则"]</a:t>
            </a:r>
          </a:p>
          <a:p>
            <a:r>
              <a:t>    C --&gt; D["编译器、链接器及生成脚本"]</a:t>
            </a:r>
          </a:p>
          <a:p>
            <a:r>
              <a:t>    D --&gt; E["zephyr.elf"]</a:t>
            </a:r>
          </a:p>
          <a:p>
            <a:r>
              <a:t>```</a:t>
            </a:r>
          </a:p>
          <a:p>
            <a:endParaRPr/>
          </a:p>
          <a:p>
            <a:r>
              <a:t>`cmake -S` 指应用源码目录，`-B` 指本次构建目录，`-G Ninja` 选择规则格式。这三项是 CMake 原生选项。`cmake --build` 则调用所选构建工具。这些命令形式由 CMake 定义；Zephyr 通过脚本决定规则里包含哪些工作。完整可执行构建命令在 P012，本章不要求提前安装尚未介绍的依赖。依据：[构建阶段说明](https://docs.zephyrproject.org/latest/build/cmake/index.html#build-and-configuration-phases)（原件 `doc/build/cmake/index.rst`，第 52 行附近）；[CMake 原生命令索引](https://cmake.org/cmake/help/latest/manual/cmake-commands.7.html)（原件 `CMake 原生命令手册`）。</a:t>
            </a:r>
          </a:p>
          <a:p>
            <a:endParaRPr/>
          </a:p>
          <a:p>
            <a:r>
              <a:t>&lt;a id="section-8-1-3"&gt;&lt;/a&gt;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官方说明：https://docs.zephyrproject.org/latest/build/cmake/index.html#build-and-configuration-phases</a:t>
            </a:r>
          </a:p>
          <a:p>
            <a:r>
              <a:t>仓库原件：https://github.com/zephyrproject-rtos/zephyr/blob/25c8f4a23988dd3b2cfb463613622738298c2d6c/doc/build/cmake/index.rst#L52</a:t>
            </a:r>
          </a:p>
          <a:p>
            <a:r>
              <a:t>实现定位：https://github.com/zephyrproject-rtos/zephyr/blob/25c8f4a23988dd3b2cfb463613622738298c2d6c/cmake/modules/kernel.cmake#L236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对应正文：P008_Zephyr应用构建_Windows.md#cmake-build-methods</a:t>
            </a:r>
          </a:p>
          <a:p>
            <a:r>
              <a:t>8.2.1 · ① 配置和构建</a:t>
            </a:r>
          </a:p>
          <a:p>
            <a:r>
              <a:t>官方 samples/hello_world，目标 BOARD=mps2/an386。</a:t>
            </a:r>
          </a:p>
          <a:p>
            <a:r>
              <a:t>MPS2 AN386 提供 Cortex-M4 模型，本节不连接实板。</a:t>
            </a:r>
          </a:p>
          <a:p>
            <a:r>
              <a:t>先查 west 工作区、CMSIS 文件、SDK 包和 ARM 编译器。</a:t>
            </a:r>
          </a:p>
          <a:p>
            <a:r>
              <a:t>缺项补齐再配置；下载列表本身不证明依赖文件已存在。</a:t>
            </a:r>
          </a:p>
          <a:p>
            <a:endParaRPr/>
          </a:p>
          <a:p>
            <a:r>
              <a:t># Windows UCRT64；进入源码根，激活 P002 已有环境。</a:t>
            </a:r>
          </a:p>
          <a:p>
            <a:r>
              <a:t>cd /g/zephyr_practice/zephyr-main</a:t>
            </a:r>
          </a:p>
          <a:p>
            <a:r>
              <a:t>source .venv/Scripts/activate</a:t>
            </a:r>
          </a:p>
          <a:p>
            <a:r>
              <a:t># Zephyr 原生源码根变量，下一页用于定位这份源码。</a:t>
            </a:r>
          </a:p>
          <a:p>
            <a:r>
              <a:t>export ZEPHYR_BASE="$(cygpath -m "$PWD")"</a:t>
            </a:r>
          </a:p>
          <a:p>
            <a:endParaRPr/>
          </a:p>
          <a:p>
            <a:r>
              <a:t>官方说明：https://cmake.org/cmake/help/latest/manual/cmake.1.html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P003—P005 并完成 P008 首次构建检查。应用、板与依赖均使用已有内容，本节只新增单独的构建输出目录。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对应正文：P008_Zephyr应用构建_Windows.md#cmake-configure-command</a:t>
            </a:r>
          </a:p>
          <a:p>
            <a:r>
              <a:t>8.2.2 · ① 配置和构建</a:t>
            </a:r>
          </a:p>
          <a:p>
            <a:r>
              <a:t>-S 指官方应用，-B 目录由 CMake 创建，保存本次状态。</a:t>
            </a:r>
          </a:p>
          <a:p>
            <a:r>
              <a:t>-G Ninja 选择构建后端，BOARD 由 Zephyr 选硬件。</a:t>
            </a:r>
          </a:p>
          <a:p>
            <a:r>
              <a:t>看到 Configuring done / Generating done 后，才进入编译。</a:t>
            </a:r>
          </a:p>
          <a:p>
            <a:endParaRPr/>
          </a:p>
          <a:p>
            <a:r>
              <a:t># UCRT64；源码根；承接上一页的 .venv 与 ZEPHYR_BASE。</a:t>
            </a:r>
          </a:p>
          <a:p>
            <a:r>
              <a:t>cmake -S samples/hello_world \</a:t>
            </a:r>
          </a:p>
          <a:p>
            <a:r>
              <a:t>  -B build/learning-tools/p003/cmake-demo -G Ninja \</a:t>
            </a:r>
          </a:p>
          <a:p>
            <a:r>
              <a:t>  -DBOARD=mps2/an386 \</a:t>
            </a:r>
          </a:p>
          <a:p>
            <a:r>
              <a:t>  "-DZephyr_DIR=$ZEPHYR_BASE/share/zephyr-package/cmake" \</a:t>
            </a:r>
          </a:p>
          <a:p>
            <a:r>
              <a:t>  "-DPython3_EXECUTABLE=$(cygpath -m "$(command -v python)")"</a:t>
            </a:r>
          </a:p>
          <a:p>
            <a:endParaRPr/>
          </a:p>
          <a:p>
            <a:r>
              <a:t>官方说明：https://cmake.org/cmake/help/latest/manual/cmake.1.html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P003—P005 并完成 P008 首次构建检查。应用、板与依赖均使用已有内容，本节只新增单独的构建输出目录。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对应正文：P008_Zephyr应用构建_Windows.md#cmake-build-command</a:t>
            </a:r>
          </a:p>
          <a:p>
            <a:r>
              <a:rPr/>
              <a:t>8.2.3 · ① 配置和构建</a:t>
            </a:r>
          </a:p>
          <a:p>
            <a:r>
              <a:rPr/>
              <a:t>cmake --build 调用已配置的 Ninja，不再重复选板。</a:t>
            </a:r>
          </a:p>
          <a:p>
            <a:r>
              <a:rPr>
                <a:solidFill>
                  <a:srgbClr val="29263B"/>
                </a:solidFill>
              </a:rPr>
              <a:t xml:space="preserve">本次构建成功才核对 </a:t>
            </a:r>
            <a:r>
              <a:rPr>
                <a:solidFill>
                  <a:srgbClr val="0070C0"/>
                </a:solidFill>
              </a:rPr>
              <a:t>zephyr/zephyr.elf</a:t>
            </a:r>
            <a:r>
              <a:rPr>
                <a:solidFill>
                  <a:srgbClr val="29263B"/>
                </a:solidFill>
              </a:rPr>
              <a:t>；旧文件不能证明本次成功。</a:t>
            </a:r>
          </a:p>
          <a:p>
            <a:r>
              <a:rPr/>
              <a:t>修改 main.c 后仍用这条命令，按依赖更新对象与链接。</a:t>
            </a:r>
          </a:p>
          <a:p/>
          <a:p>
            <a:r>
              <a:rPr>
                <a:solidFill>
                  <a:srgbClr val="646173"/>
                </a:solidFill>
              </a:rPr>
              <a:t># UCRT64；源码根；上一页配置成功，.venv 已激活。</a:t>
            </a:r>
          </a:p>
          <a:p>
            <a:r>
              <a:rPr>
                <a:solidFill>
                  <a:srgbClr val="646173"/>
                </a:solidFill>
              </a:rPr>
              <a:t># 前一步成功后才检查 ELF，再观察增量构建。</a:t>
            </a:r>
          </a:p>
          <a:p>
            <a:r>
              <a:rPr>
                <a:solidFill>
                  <a:srgbClr val="A02B93"/>
                </a:solidFill>
              </a:rPr>
              <a:t>cmake</a:t>
            </a:r>
            <a:r>
              <a:rPr>
                <a:solidFill>
                  <a:srgbClr val="29263B"/>
                </a:solidFill>
              </a:rPr>
              <a:t xml:space="preserve"> </a:t>
            </a:r>
            <a:r>
              <a:rPr>
                <a:solidFill>
                  <a:srgbClr val="B84E00"/>
                </a:solidFill>
              </a:rPr>
              <a:t>--build</a:t>
            </a:r>
            <a:r>
              <a:rPr>
                <a:solidFill>
                  <a:srgbClr val="29263B"/>
                </a:solidFill>
              </a:rPr>
              <a:t xml:space="preserve"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>
                <a:solidFill>
                  <a:srgbClr val="29263B"/>
                </a:solidFill>
              </a:rPr>
              <a:t xml:space="preserve"> </a:t>
            </a:r>
            <a:r>
              <a:rPr>
                <a:solidFill>
                  <a:srgbClr val="B84E00"/>
                </a:solidFill>
              </a:rPr>
              <a:t>--parallel</a:t>
            </a:r>
            <a:r>
              <a:rPr>
                <a:solidFill>
                  <a:srgbClr val="29263B"/>
                </a:solidFill>
              </a:rPr>
              <a:t xml:space="preserve"> 4 &amp;&amp;</a:t>
            </a:r>
          </a:p>
          <a:p>
            <a:r>
              <a:rPr>
                <a:solidFill>
                  <a:srgbClr val="A02B93"/>
                </a:solidFill>
              </a:rPr>
              <a:t>ls</a:t>
            </a:r>
            <a:r>
              <a:rPr>
                <a:solidFill>
                  <a:srgbClr val="29263B"/>
                </a:solidFill>
              </a:rPr>
              <a:t xml:space="preserve"> </a:t>
            </a:r>
            <a:r>
              <a:rPr>
                <a:solidFill>
                  <a:srgbClr val="B84E00"/>
                </a:solidFill>
              </a:rPr>
              <a:t>-l</a:t>
            </a:r>
            <a:r>
              <a:rPr>
                <a:solidFill>
                  <a:srgbClr val="29263B"/>
                </a:solidFill>
              </a:rPr>
              <a:t xml:space="preserve"> </a:t>
            </a:r>
            <a:r>
              <a:rPr>
                <a:solidFill>
                  <a:srgbClr val="0070C0"/>
                </a:solidFill>
              </a:rPr>
              <a:t>build/learning-tools/p003/cmake-demo/zephyr/zephyr.elf</a:t>
            </a:r>
            <a:r>
              <a:rPr>
                <a:solidFill>
                  <a:srgbClr val="29263B"/>
                </a:solidFill>
              </a:rPr>
              <a:t xml:space="preserve"> &amp;&amp;</a:t>
            </a:r>
          </a:p>
          <a:p>
            <a:r>
              <a:rPr/>
              <a:t>cmake --build build/learning-tools/p003/cmake-demo --parallel 4</a:t>
            </a:r>
          </a:p>
          <a:p/>
          <a:p>
            <a:r>
              <a:rPr/>
              <a:t>官方说明：https://cmake.org/cmake/help/latest/manual/cmake.1.html</a:t>
            </a:r>
          </a:p>
          <a:p>
            <a:r>
              <a:rPr/>
              <a:t>固定源码依据：https://github.com/zephyrproject-rtos/zephyr/blob/25c8f4a23988dd3b2cfb463613622738298c2d6c/doc/develop/application/index.rst</a:t>
            </a:r>
          </a:p>
          <a:p>
            <a:r>
              <a:rPr/>
              <a:t>命令前提：Windows UCRT64，G:/zephyr_practice/zephyr-main。配置和构建操作须先完成 P003—P005 并完成 P008 首次构建检查。应用、板与依赖均使用已有内容，本节只新增单独的构建输出目录。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对应正文：P008_Zephyr应用构建_Windows.md#cmake-build-command</a:t>
            </a:r>
          </a:p>
          <a:p>
            <a:r>
              <a:t>8.2.4 · ① 常用构建方式</a:t>
            </a:r>
          </a:p>
          <a:p>
            <a:r>
              <a:t>--parallel 4 限制并行任务，--verbose 打印本次实际命令。</a:t>
            </a:r>
          </a:p>
          <a:p>
            <a:r>
              <a:t>工程已是最新状态时，详细输出不会强制重编译。</a:t>
            </a:r>
          </a:p>
          <a:p>
            <a:r>
              <a:t>--target app 只构建应用库，不能据此认定固件已链接。</a:t>
            </a:r>
          </a:p>
          <a:p>
            <a:r>
              <a:t>cmake --build 后的 -- 把参数交给后端，不接收配置 -D。</a:t>
            </a:r>
          </a:p>
          <a:p>
            <a:endParaRPr/>
          </a:p>
          <a:p>
            <a:r>
              <a:t># UCRT64；源码根；前提：cmake-demo 已配置，.venv 已激活。</a:t>
            </a:r>
          </a:p>
          <a:p>
            <a:r>
              <a:t>cmake --build build/learning-tools/p003/cmake-demo --parallel 4 --verbose</a:t>
            </a:r>
          </a:p>
          <a:p>
            <a:r>
              <a:t># help 列出本例 Ninja 工程可用目标。</a:t>
            </a:r>
          </a:p>
          <a:p>
            <a:r>
              <a:t>cmake --build build/learning-tools/p003/cmake-demo --target help</a:t>
            </a:r>
          </a:p>
          <a:p>
            <a:endParaRPr/>
          </a:p>
          <a:p>
            <a:r>
              <a:t>官方说明：https://cmake.org/cmake/help/latest/manual/cmake.1.html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P003—P005 并完成 P008 首次构建检查。应用、板与依赖均使用已有内容，本节只新增单独的构建输出目录。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配套正文：P008_Zephyr应用构建_Windows.md#section-8-1-2</a:t>
            </a:r>
          </a:p>
          <a:p>
            <a:r>
              <a:t>8.1.2 · ① 应用与构建</a:t>
            </a:r>
          </a:p>
          <a:p>
            <a:r>
              <a:t>samples/hello_world/CMakeLists.txt：官方原有，描述构建入口。</a:t>
            </a:r>
          </a:p>
          <a:p>
            <a:r>
              <a:t>src/main.c：官方原有，应用代码。</a:t>
            </a:r>
          </a:p>
          <a:p>
            <a:r>
              <a:t>prj.conf：官方原有，应用提出的 Kconfig 配置请求。</a:t>
            </a:r>
          </a:p>
          <a:p>
            <a:endParaRPr/>
          </a:p>
          <a:p>
            <a:r>
              <a:t>构建目录的 CMakeCache.txt、build.ninja、zephyr.elf</a:t>
            </a:r>
          </a:p>
          <a:p>
            <a:r>
              <a:t>由工具在后续生成；现在没有它们，不必手动创建。</a:t>
            </a:r>
          </a:p>
          <a:p>
            <a:r>
              <a:t>本章路径相对实验源码根 G:/zephyr_practice/zephyr-main。</a:t>
            </a:r>
          </a:p>
          <a:p>
            <a:endParaRPr/>
          </a:p>
          <a:p>
            <a:r>
              <a:t>讲解展开：</a:t>
            </a:r>
          </a:p>
          <a:p>
            <a:r>
              <a:t>### 8.1.2\_从官方应用入口逐行理解</a:t>
            </a:r>
          </a:p>
          <a:p>
            <a:endParaRPr/>
          </a:p>
          <a:p>
            <a:r>
              <a:t>`samples/hello_world/CMakeLists.txt` 是**官方原有文件**，不是要求读者新建的文件。下面是去掉许可证行后的原有主体，仅供阅读，不要粘贴进终端：</a:t>
            </a:r>
          </a:p>
          <a:p>
            <a:endParaRPr/>
          </a:p>
          <a:p>
            <a:r>
              <a:t>```cmake</a:t>
            </a:r>
          </a:p>
          <a:p>
            <a:r>
              <a:t># 只读：zephyr-main/samples/hello_world/CMakeLists.txt 原有主体。</a:t>
            </a:r>
          </a:p>
          <a:p>
            <a:r>
              <a:t>cmake_minimum_required(VERSION 3.28.0)</a:t>
            </a:r>
          </a:p>
          <a:p>
            <a:endParaRPr/>
          </a:p>
          <a:p>
            <a:r>
              <a:t>find_package(Zephyr REQUIRED HINTS $ENV{ZEPHYR_BASE})</a:t>
            </a:r>
          </a:p>
          <a:p>
            <a:r>
              <a:t>project(hello_world)</a:t>
            </a:r>
          </a:p>
          <a:p>
            <a:endParaRPr/>
          </a:p>
          <a:p>
            <a:r>
              <a:t>target_sources(app PRIVATE src/main.c)</a:t>
            </a:r>
          </a:p>
          <a:p>
            <a:r>
              <a:t>```</a:t>
            </a:r>
          </a:p>
          <a:p>
            <a:endParaRPr/>
          </a:p>
          <a:p>
            <a:r>
              <a:t>第一行要求 CMake 版本满足本源码。第二条命令请求加载名为 Zephyr 的 CMake 包，`REQUIRED` 表示找不到就停止，`HINTS` 给搜索提供线索，`$ENV{ZEPHYR_BASE}` 读取启动 CMake 的进程环境。找到的入口是 `share/zephyr-package/cmake/ZephyrConfig.cmake`，不是 SDK 的包配置。</a:t>
            </a:r>
          </a:p>
          <a:p>
            <a:endParaRPr/>
          </a:p>
          <a:p>
            <a:r>
              <a:t>`project(hello_world)` 给应用工程命名。它位于 `find_package(Zephyr)` 后面，是因为 Zephyr 需要先建立交叉编译和配置环境。最后一行把当前应用目录下的 `src/main.c` 加到已有的 `app` 库目标里。`target_sources` 是 CMake 原生命令；`app` 则是 Zephyr 初始化时创建的目标名。`PRIVATE` 表示该源文件用于 app 自身构建，不把这份源码作为使用要求继续传播给链接它的其他目标。</a:t>
            </a:r>
          </a:p>
          <a:p>
            <a:endParaRPr/>
          </a:p>
          <a:p>
            <a:r>
              <a:t>这里的 target 是 CMake 构建模型中的对象，例如库、可执行文件或生成任务；它不是开发板。一个板上运行的固件可以由很多库目标组成。Zephyr 把应用、内核、驱动等先组织为目标，才能统一继承头文件目录、编译参数和生成顺序，而不必让每个应用复制内核的构建脚本。依据：[hello_world 原有入口](https://github.com/zephyrproject-rtos/zephyr/blob/25c8f4a23988dd3b2cfb463613622738298c2d6c/samples/hello_world/CMakeLists.txt#L3)（原件 `samples/hello_world/CMakeLists.txt`，第 3 行附近）；[app 目标创建处](https://github.com/zephyrproject-rtos/zephyr/blob/25c8f4a23988dd3b2cfb463613622738298c2d6c/cmake/modules/kernel.cmake#L236)（原件 `cmake/modules/kernel.cmake`，第 236 行附近）；[构建阶段说明](https://docs.zephyrproject.org/latest/build/cmake/index.html#build-and-configuration-phases)（原件 `doc/build/cmake/index.rst`，第 52 行附近）。</a:t>
            </a:r>
          </a:p>
          <a:p>
            <a:endParaRPr/>
          </a:p>
          <a:p>
            <a:r>
              <a:t>读者可以执行下面的**只读操作**定位原件。这只需要已经下载源码和安装 UCRT64，不需要 SDK，不新建任何文件：</a:t>
            </a:r>
          </a:p>
          <a:p>
            <a:endParaRPr/>
          </a:p>
          <a:p>
            <a:r>
              <a:t>```bash</a:t>
            </a:r>
          </a:p>
          <a:p>
            <a:r>
              <a:t># 终端：Windows UCRT64；从任意目录进入实验源码根。</a:t>
            </a:r>
          </a:p>
          <a:p>
            <a:r>
              <a:t>cd /g/zephyr_practice/zephyr-main</a:t>
            </a:r>
          </a:p>
          <a:p>
            <a:r>
              <a:t># 读取官方原有的应用入口，应该看到上面五行核心语句。</a:t>
            </a:r>
          </a:p>
          <a:p>
            <a:r>
              <a:t>sed -n '1,30p' samples/hello_world/CMakeLists.txt</a:t>
            </a:r>
          </a:p>
          <a:p>
            <a:r>
              <a:t>```</a:t>
            </a:r>
          </a:p>
          <a:p>
            <a:endParaRPr/>
          </a:p>
          <a:p>
            <a:r>
              <a:t>若提示文件不存在，返回 P001 核对下载是否完整及当前位置；不要为了让命令通过手工补一个同名文件。可复制原件见 [8.1.2 命令](commands/P008_Windows/8.1.2-01.txt)。</a:t>
            </a:r>
          </a:p>
          <a:p>
            <a:endParaRPr/>
          </a:p>
          <a:p>
            <a:r>
              <a:t>&lt;a id="section-8-1-4"&gt;&lt;/a&gt;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官方说明：https://docs.zephyrproject.org/latest/develop/application/index.html</a:t>
            </a:r>
          </a:p>
          <a:p>
            <a:r>
              <a:t>仓库原件：https://github.com/zephyrproject-rtos/zephyr/blob/25c8f4a23988dd3b2cfb463613622738298c2d6c/doc/develop/application/index.rst#L3</a:t>
            </a:r>
          </a:p>
          <a:p>
            <a:r>
              <a:t>实现定位：https://github.com/zephyrproject-rtos/zephyr/blob/25c8f4a23988dd3b2cfb463613622738298c2d6c/samples/hello_world/CMakeLists.txt#L3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配套正文：P008_Zephyr应用构建_Windows.md#section-8-1-2</a:t>
            </a:r>
          </a:p>
          <a:p>
            <a:r>
              <a:t>8.1.2 · ① 应用与构建</a:t>
            </a:r>
          </a:p>
          <a:p>
            <a:r>
              <a:t>先找到并执行 Zephyr 包，建立构建环境，</a:t>
            </a:r>
          </a:p>
          <a:p>
            <a:r>
              <a:t>再给应用命名，把 main.c 放进已创建的 app 目标。</a:t>
            </a:r>
          </a:p>
          <a:p>
            <a:r>
              <a:t>HINTS 中的 $ENV{ZEPHYR_BASE} 读取进程环境提供搜索线索。</a:t>
            </a:r>
          </a:p>
          <a:p>
            <a:endParaRPr/>
          </a:p>
          <a:p>
            <a:r>
              <a:t>讲解展开：</a:t>
            </a:r>
          </a:p>
          <a:p>
            <a:r>
              <a:t>### 8.1.2\_从官方应用入口逐行理解</a:t>
            </a:r>
          </a:p>
          <a:p>
            <a:endParaRPr/>
          </a:p>
          <a:p>
            <a:r>
              <a:t>`samples/hello_world/CMakeLists.txt` 是**官方原有文件**，不是要求读者新建的文件。下面是去掉许可证行后的原有主体，仅供阅读，不要粘贴进终端：</a:t>
            </a:r>
          </a:p>
          <a:p>
            <a:endParaRPr/>
          </a:p>
          <a:p>
            <a:r>
              <a:t>```cmake</a:t>
            </a:r>
          </a:p>
          <a:p>
            <a:r>
              <a:t># 只读：zephyr-main/samples/hello_world/CMakeLists.txt 原有主体。</a:t>
            </a:r>
          </a:p>
          <a:p>
            <a:r>
              <a:t>cmake_minimum_required(VERSION 3.28.0)</a:t>
            </a:r>
          </a:p>
          <a:p>
            <a:endParaRPr/>
          </a:p>
          <a:p>
            <a:r>
              <a:t>find_package(Zephyr REQUIRED HINTS $ENV{ZEPHYR_BASE})</a:t>
            </a:r>
          </a:p>
          <a:p>
            <a:r>
              <a:t>project(hello_world)</a:t>
            </a:r>
          </a:p>
          <a:p>
            <a:endParaRPr/>
          </a:p>
          <a:p>
            <a:r>
              <a:t>target_sources(app PRIVATE src/main.c)</a:t>
            </a:r>
          </a:p>
          <a:p>
            <a:r>
              <a:t>```</a:t>
            </a:r>
          </a:p>
          <a:p>
            <a:endParaRPr/>
          </a:p>
          <a:p>
            <a:r>
              <a:t>第一行要求 CMake 版本满足本源码。第二条命令请求加载名为 Zephyr 的 CMake 包，`REQUIRED` 表示找不到就停止，`HINTS` 给搜索提供线索，`$ENV{ZEPHYR_BASE}` 读取启动 CMake 的进程环境。找到的入口是 `share/zephyr-package/cmake/ZephyrConfig.cmake`，不是 SDK 的包配置。</a:t>
            </a:r>
          </a:p>
          <a:p>
            <a:endParaRPr/>
          </a:p>
          <a:p>
            <a:r>
              <a:t>`project(hello_world)` 给应用工程命名。它位于 `find_package(Zephyr)` 后面，是因为 Zephyr 需要先建立交叉编译和配置环境。最后一行把当前应用目录下的 `src/main.c` 加到已有的 `app` 库目标里。`target_sources` 是 CMake 原生命令；`app` 则是 Zephyr 初始化时创建的目标名。`PRIVATE` 表示该源文件用于 app 自身构建，不把这份源码作为使用要求继续传播给链接它的其他目标。</a:t>
            </a:r>
          </a:p>
          <a:p>
            <a:endParaRPr/>
          </a:p>
          <a:p>
            <a:r>
              <a:t>这里的 target 是 CMake 构建模型中的对象，例如库、可执行文件或生成任务；它不是开发板。一个板上运行的固件可以由很多库目标组成。Zephyr 把应用、内核、驱动等先组织为目标，才能统一继承头文件目录、编译参数和生成顺序，而不必让每个应用复制内核的构建脚本。依据：[hello_world 原有入口](https://github.com/zephyrproject-rtos/zephyr/blob/25c8f4a23988dd3b2cfb463613622738298c2d6c/samples/hello_world/CMakeLists.txt#L3)（原件 `samples/hello_world/CMakeLists.txt`，第 3 行附近）；[app 目标创建处](https://github.com/zephyrproject-rtos/zephyr/blob/25c8f4a23988dd3b2cfb463613622738298c2d6c/cmake/modules/kernel.cmake#L236)（原件 `cmake/modules/kernel.cmake`，第 236 行附近）；[构建阶段说明](https://docs.zephyrproject.org/latest/build/cmake/index.html#build-and-configuration-phases)（原件 `doc/build/cmake/index.rst`，第 52 行附近）。</a:t>
            </a:r>
          </a:p>
          <a:p>
            <a:endParaRPr/>
          </a:p>
          <a:p>
            <a:r>
              <a:t>读者可以执行下面的**只读操作**定位原件。这只需要已经下载源码和安装 UCRT64，不需要 SDK，不新建任何文件：</a:t>
            </a:r>
          </a:p>
          <a:p>
            <a:endParaRPr/>
          </a:p>
          <a:p>
            <a:r>
              <a:t>```bash</a:t>
            </a:r>
          </a:p>
          <a:p>
            <a:r>
              <a:t># 终端：Windows UCRT64；从任意目录进入实验源码根。</a:t>
            </a:r>
          </a:p>
          <a:p>
            <a:r>
              <a:t>cd /g/zephyr_practice/zephyr-main</a:t>
            </a:r>
          </a:p>
          <a:p>
            <a:r>
              <a:t># 读取官方原有的应用入口，应该看到上面五行核心语句。</a:t>
            </a:r>
          </a:p>
          <a:p>
            <a:r>
              <a:t>sed -n '1,30p' samples/hello_world/CMakeLists.txt</a:t>
            </a:r>
          </a:p>
          <a:p>
            <a:r>
              <a:t>```</a:t>
            </a:r>
          </a:p>
          <a:p>
            <a:endParaRPr/>
          </a:p>
          <a:p>
            <a:r>
              <a:t>若提示文件不存在，返回 P001 核对下载是否完整及当前位置；不要为了让命令通过手工补一个同名文件。可复制原件见 [8.1.2 命令](commands/P008_Windows/8.1.2-01.txt)。</a:t>
            </a:r>
          </a:p>
          <a:p>
            <a:endParaRPr/>
          </a:p>
          <a:p>
            <a:r>
              <a:t>&lt;a id="section-8-1-4"&gt;&lt;/a&gt;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官方说明：https://docs.zephyrproject.org/latest/develop/application/index.html</a:t>
            </a:r>
          </a:p>
          <a:p>
            <a:r>
              <a:t>仓库原件：https://github.com/zephyrproject-rtos/zephyr/blob/25c8f4a23988dd3b2cfb463613622738298c2d6c/doc/develop/application/index.rst#L3</a:t>
            </a:r>
          </a:p>
          <a:p>
            <a:r>
              <a:t>实现定位：https://github.com/zephyrproject-rtos/zephyr/blob/25c8f4a23988dd3b2cfb463613622738298c2d6c/samples/hello_world/CMakeLists.txt#L3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配套正文：P008_Zephyr应用构建_Windows.md#section-8-1-2</a:t>
            </a:r>
          </a:p>
          <a:p>
            <a:r>
              <a:t>8.1.2 · ① 应用与构建</a:t>
            </a:r>
          </a:p>
          <a:p>
            <a:r>
              <a:t>CMake target 可以表示库、可执行文件或生成任务。</a:t>
            </a:r>
          </a:p>
          <a:p>
            <a:r>
              <a:t>Zephyr 在 kernel.cmake 中创建名为 app 的库。</a:t>
            </a:r>
          </a:p>
          <a:p>
            <a:r>
              <a:t>应用的 target_sources(app PRIVATE src/main.c) 给它添加源码。</a:t>
            </a:r>
          </a:p>
          <a:p>
            <a:endParaRPr/>
          </a:p>
          <a:p>
            <a:r>
              <a:t>PRIVATE 表示该源码用于 app 自身，不继续传播给其他目标。</a:t>
            </a:r>
          </a:p>
          <a:p>
            <a:r>
              <a:t>内核和驱动也形成目标，最终共同链接成固件。</a:t>
            </a:r>
          </a:p>
          <a:p>
            <a:r>
              <a:t>因此文件在目录里存在，不等于它已经加入构建。</a:t>
            </a:r>
          </a:p>
          <a:p>
            <a:endParaRPr/>
          </a:p>
          <a:p>
            <a:r>
              <a:t>讲解展开：</a:t>
            </a:r>
          </a:p>
          <a:p>
            <a:r>
              <a:t>### 8.1.2\_从官方应用入口逐行理解</a:t>
            </a:r>
          </a:p>
          <a:p>
            <a:endParaRPr/>
          </a:p>
          <a:p>
            <a:r>
              <a:t>`samples/hello_world/CMakeLists.txt` 是**官方原有文件**，不是要求读者新建的文件。下面是去掉许可证行后的原有主体，仅供阅读，不要粘贴进终端：</a:t>
            </a:r>
          </a:p>
          <a:p>
            <a:endParaRPr/>
          </a:p>
          <a:p>
            <a:r>
              <a:t>```cmake</a:t>
            </a:r>
          </a:p>
          <a:p>
            <a:r>
              <a:t># 只读：zephyr-main/samples/hello_world/CMakeLists.txt 原有主体。</a:t>
            </a:r>
          </a:p>
          <a:p>
            <a:r>
              <a:t>cmake_minimum_required(VERSION 3.28.0)</a:t>
            </a:r>
          </a:p>
          <a:p>
            <a:endParaRPr/>
          </a:p>
          <a:p>
            <a:r>
              <a:t>find_package(Zephyr REQUIRED HINTS $ENV{ZEPHYR_BASE})</a:t>
            </a:r>
          </a:p>
          <a:p>
            <a:r>
              <a:t>project(hello_world)</a:t>
            </a:r>
          </a:p>
          <a:p>
            <a:endParaRPr/>
          </a:p>
          <a:p>
            <a:r>
              <a:t>target_sources(app PRIVATE src/main.c)</a:t>
            </a:r>
          </a:p>
          <a:p>
            <a:r>
              <a:t>```</a:t>
            </a:r>
          </a:p>
          <a:p>
            <a:endParaRPr/>
          </a:p>
          <a:p>
            <a:r>
              <a:t>第一行要求 CMake 版本满足本源码。第二条命令请求加载名为 Zephyr 的 CMake 包，`REQUIRED` 表示找不到就停止，`HINTS` 给搜索提供线索，`$ENV{ZEPHYR_BASE}` 读取启动 CMake 的进程环境。找到的入口是 `share/zephyr-package/cmake/ZephyrConfig.cmake`，不是 SDK 的包配置。</a:t>
            </a:r>
          </a:p>
          <a:p>
            <a:endParaRPr/>
          </a:p>
          <a:p>
            <a:r>
              <a:t>`project(hello_world)` 给应用工程命名。它位于 `find_package(Zephyr)` 后面，是因为 Zephyr 需要先建立交叉编译和配置环境。最后一行把当前应用目录下的 `src/main.c` 加到已有的 `app` 库目标里。`target_sources` 是 CMake 原生命令；`app` 则是 Zephyr 初始化时创建的目标名。`PRIVATE` 表示该源文件用于 app 自身构建，不把这份源码作为使用要求继续传播给链接它的其他目标。</a:t>
            </a:r>
          </a:p>
          <a:p>
            <a:endParaRPr/>
          </a:p>
          <a:p>
            <a:r>
              <a:t>这里的 target 是 CMake 构建模型中的对象，例如库、可执行文件或生成任务；它不是开发板。一个板上运行的固件可以由很多库目标组成。Zephyr 把应用、内核、驱动等先组织为目标，才能统一继承头文件目录、编译参数和生成顺序，而不必让每个应用复制内核的构建脚本。依据：[hello_world 原有入口](https://github.com/zephyrproject-rtos/zephyr/blob/25c8f4a23988dd3b2cfb463613622738298c2d6c/samples/hello_world/CMakeLists.txt#L3)（原件 `samples/hello_world/CMakeLists.txt`，第 3 行附近）；[app 目标创建处](https://github.com/zephyrproject-rtos/zephyr/blob/25c8f4a23988dd3b2cfb463613622738298c2d6c/cmake/modules/kernel.cmake#L236)（原件 `cmake/modules/kernel.cmake`，第 236 行附近）；[构建阶段说明](https://docs.zephyrproject.org/latest/build/cmake/index.html#build-and-configuration-phases)（原件 `doc/build/cmake/index.rst`，第 52 行附近）。</a:t>
            </a:r>
          </a:p>
          <a:p>
            <a:endParaRPr/>
          </a:p>
          <a:p>
            <a:r>
              <a:t>读者可以执行下面的**只读操作**定位原件。这只需要已经下载源码和安装 UCRT64，不需要 SDK，不新建任何文件：</a:t>
            </a:r>
          </a:p>
          <a:p>
            <a:endParaRPr/>
          </a:p>
          <a:p>
            <a:r>
              <a:t>```bash</a:t>
            </a:r>
          </a:p>
          <a:p>
            <a:r>
              <a:t># 终端：Windows UCRT64；从任意目录进入实验源码根。</a:t>
            </a:r>
          </a:p>
          <a:p>
            <a:r>
              <a:t>cd /g/zephyr_practice/zephyr-main</a:t>
            </a:r>
          </a:p>
          <a:p>
            <a:r>
              <a:t># 读取官方原有的应用入口，应该看到上面五行核心语句。</a:t>
            </a:r>
          </a:p>
          <a:p>
            <a:r>
              <a:t>sed -n '1,30p' samples/hello_world/CMakeLists.txt</a:t>
            </a:r>
          </a:p>
          <a:p>
            <a:r>
              <a:t>```</a:t>
            </a:r>
          </a:p>
          <a:p>
            <a:endParaRPr/>
          </a:p>
          <a:p>
            <a:r>
              <a:t>若提示文件不存在，返回 P001 核对下载是否完整及当前位置；不要为了让命令通过手工补一个同名文件。可复制原件见 [8.1.2 命令](commands/P008_Windows/8.1.2-01.txt)。</a:t>
            </a:r>
          </a:p>
          <a:p>
            <a:endParaRPr/>
          </a:p>
          <a:p>
            <a:r>
              <a:t>&lt;a id="section-8-1-4"&gt;&lt;/a&gt;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官方说明：https://docs.zephyrproject.org/latest/build/cmake/index.html#build-and-configuration-phases</a:t>
            </a:r>
          </a:p>
          <a:p>
            <a:r>
              <a:t>仓库原件：https://github.com/zephyrproject-rtos/zephyr/blob/25c8f4a23988dd3b2cfb463613622738298c2d6c/doc/build/cmake/index.rst#L52</a:t>
            </a:r>
          </a:p>
          <a:p>
            <a:r>
              <a:t>实现定位：https://github.com/zephyrproject-rtos/zephyr/blob/25c8f4a23988dd3b2cfb463613622738298c2d6c/cmake/modules/kernel.cmake#L236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配套正文：P008_Zephyr应用构建_Windows.md#section-8-1-4</a:t>
            </a:r>
          </a:p>
          <a:p>
            <a:r>
              <a:t>8.1.3 · ① 应用与构建</a:t>
            </a:r>
          </a:p>
          <a:p>
            <a:r>
              <a:t>ZephyrConfig.cmake 确定源码根，并让 CMake 找到 Zephyr 脚本。</a:t>
            </a:r>
          </a:p>
          <a:p>
            <a:r>
              <a:t>zephyr_default.cmake 按规定顺序执行初始化。</a:t>
            </a:r>
          </a:p>
          <a:p>
            <a:r>
              <a:t>kernel.cmake 创建 app，再进入 Zephyr 根 CMakeLists.txt。</a:t>
            </a:r>
          </a:p>
          <a:p>
            <a:r>
              <a:t>完成后返回应用，继续执行 target_sources。</a:t>
            </a:r>
          </a:p>
          <a:p>
            <a:endParaRPr/>
          </a:p>
          <a:p>
            <a:r>
              <a:t>讲解展开：</a:t>
            </a:r>
          </a:p>
          <a:p>
            <a:r>
              <a:t>### 8.1.3\_find_package 里面实际走了哪条路</a:t>
            </a:r>
          </a:p>
          <a:p>
            <a:endParaRPr/>
          </a:p>
          <a:p>
            <a:r>
              <a:t>不要把 `find_package(Zephyr)` 理解为只保存一个路径。它会执行包配置里的初始化代码。在本章版本中，普通单应用、未指定特殊 COMPONENTS 时，主线是：</a:t>
            </a:r>
          </a:p>
          <a:p>
            <a:endParaRPr/>
          </a:p>
          <a:p>
            <a:r>
              <a:t>```mermaid</a:t>
            </a:r>
          </a:p>
          <a:p>
            <a:r>
              <a:t>flowchart TD</a:t>
            </a:r>
          </a:p>
          <a:p>
            <a:r>
              <a:t>    A["应用 CMakeLists.txt"] --&gt; B["ZephyrConfig.cmake：确定源码根"]</a:t>
            </a:r>
          </a:p>
          <a:p>
            <a:r>
              <a:t>    B --&gt; C["zephyr_default.cmake：按顺序加载构建模块"]</a:t>
            </a:r>
          </a:p>
          <a:p>
            <a:r>
              <a:t>    C --&gt; D["先识别外部模块与额外搜索根"]</a:t>
            </a:r>
          </a:p>
          <a:p>
            <a:r>
              <a:t>    D --&gt; E["选板、配置文件、设备树和 Kconfig"]</a:t>
            </a:r>
          </a:p>
          <a:p>
            <a:r>
              <a:t>    E --&gt; F["kernel.cmake：目标工具与 app 库"]</a:t>
            </a:r>
          </a:p>
          <a:p>
            <a:r>
              <a:t>    F --&gt; G["Zephyr 根 CMakeLists.txt：内核、驱动和外部模块目标"]</a:t>
            </a:r>
          </a:p>
          <a:p>
            <a:r>
              <a:t>    G --&gt; H["返回应用，target_sources 添加 main.c"]</a:t>
            </a:r>
          </a:p>
          <a:p>
            <a:r>
              <a:t>```</a:t>
            </a:r>
          </a:p>
          <a:p>
            <a:endParaRPr/>
          </a:p>
          <a:p>
            <a:r>
              <a:t>包入口把 Zephyr 的 `cmake/modules` 加入 `CMAKE_MODULE_PATH`，所以随后 `include(zephyr_default)` 能找到 Zephyr 自己的脚本。这里 CMake module 指 `.cmake` 脚本；下一节所说的外部 Zephyr module 则是符合接入约定的源码项目。两者都叫 module，但不是同一种对象。</a:t>
            </a:r>
          </a:p>
          <a:p>
            <a:endParaRPr/>
          </a:p>
          <a:p>
            <a:r>
              <a:t>默认顺序不是随意安排。外部源码模块可能提供新的 `board_root`、`soc_root` 或 `dts_root`，必须先取得这些位置，才能找板；Kconfig 可以使用设备树信息，所以先处理设备树，再计算功能配置；有了硬件与功能配置，才确定目标参数、建立库和链接关系。处理设备树已经需要 C 预处理器，因此工具发现也不是全部等到最后：`dts.cmake` 会先请求 HostTools，`kernel.cmake` 随后请求 TargetTools 完成目标工具设置。</a:t>
            </a:r>
          </a:p>
          <a:p>
            <a:endParaRPr/>
          </a:p>
          <a:p>
            <a:r>
              <a:t>最后 Zephyr 根 `CMakeLists.txt` 收集各部分目标，之后返回应用继续执行 `project` 和 `target_sources`。这也解释了为什么正常应用构建的 `-S` 应指向 `samples/hello_world` 等**应用目录**，不能仅因源码根也有 CMakeLists.txt 就指向根目录。依据：[包入口 include_boilerplate](https://github.com/zephyrproject-rtos/zephyr/blob/25c8f4a23988dd3b2cfb463613622738298c2d6c/share/zephyr-package/cmake/ZephyrConfig.cmake#L28)（原件 `share/zephyr-package/cmake/ZephyrConfig.cmake`，第 28 行附近）；[默认初始化顺序](https://github.com/zephyrproject-rtos/zephyr/blob/25c8f4a23988dd3b2cfb463613622738298c2d6c/cmake/modules/zephyr_default.cmake#L71)（原件 `cmake/modules/zephyr_default.cmake`，第 71 行附近）；[设备树配置入口](https://github.com/zephyrproject-rtos/zephyr/blob/25c8f4a23988dd3b2cfb463613622738298c2d6c/cmake/modules/dts.cmake#L9)（原件 `cmake/modules/dts.cmake`，第 9 行附近）；[app 目标创建处](https://github.com/zephyrproject-rtos/zephyr/blob/25c8f4a23988dd3b2cfb463613622738298c2d6c/cmake/modules/kernel.cmake#L236)（原件 `cmake/modules/kernel.cmake`，第 236 行附近）；[外部模块 CMake 入口加载处](https://github.com/zephyrproject-rtos/zephyr/blob/25c8f4a23988dd3b2cfb463613622738298c2d6c/CMakeLists.txt#L778)（原件 `CMakeLists.txt`，第 778 行附近）。</a:t>
            </a:r>
          </a:p>
          <a:p>
            <a:endParaRPr/>
          </a:p>
          <a:p>
            <a:r>
              <a:t>&lt;a id="section-8-1-5"&gt;&lt;/a&gt;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官方说明：https://docs.zephyrproject.org/latest/build/zephyr_cmake_package.html</a:t>
            </a:r>
          </a:p>
          <a:p>
            <a:r>
              <a:t>仓库原件：https://github.com/zephyrproject-rtos/zephyr/blob/25c8f4a23988dd3b2cfb463613622738298c2d6c/doc/build/zephyr_cmake_package.rst#L3</a:t>
            </a:r>
          </a:p>
          <a:p>
            <a:r>
              <a:t>实现定位：https://github.com/zephyrproject-rtos/zephyr/blob/25c8f4a23988dd3b2cfb463613622738298c2d6c/share/zephyr-package/cmake/ZephyrConfig.cmake#L28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09EFEC-A256-4351-8E97-7435A86F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30F8346-A555-47D3-A2E1-BCC543F08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FFD06F-FE24-49EC-9194-56ADD2F7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AC000BD-3078-4113-9B52-8F4DA1A5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CD6595-793E-4B5C-9A13-3CF885E93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BB22602-462A-4044-8815-D4D7F3722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E035DCF-B384-44F7-973A-284F6383E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F8291D3-BA4E-489C-A187-B06D1729689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399FC7-8945-4254-8CD9-64E421CA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03ED6C9-C27E-4C55-88EE-9831E748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5D4413F-A4F9-4B51-AFFD-82864AF6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FD08B3B-12D0-41D2-8648-0D0790686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FCE3EA2-4F10-45DA-B0F9-258DCBCC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38891C-D6D9-446A-AA0F-2E808D94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EE30FA7-471B-4F2E-909C-EB3A4775D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E93EF2-48DD-4353-892F-7737D8D0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3B0FB94-361B-4E83-BDD7-72F259E4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C0F9B30-F258-4C66-9BAE-8E6CCCBEB1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9B7AF1-5458-40DC-A2A4-C3E940EA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53A861C-2F71-4C8D-BA0B-22424FAA9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B36E5FB-B942-4F81-863B-14311E9F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AF2B295-21D1-4984-B654-FBF7CAE9D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3D17426-DC83-4E87-92D1-C42F39DE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AA50F02-7FF7-4768-AAE3-6D461A8E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8FD79E2-AB77-4BDF-8B79-A0298C13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1A1B3CA-10A8-42A1-A449-401A8E29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5583886-4F04-4841-AF3F-4DA161B10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EC602EA-9C36-498E-96AE-A097FAF559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2BC890-15D0-44AE-9D82-5FBCB33A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0CC2291-CE8F-48FC-89EB-53256BB32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C598CAA-C856-4FEE-A978-34E621BA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829FEA2-767A-4E79-B26D-7FA7A3B10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9C698EE-F7BC-472F-B0AE-719B18E8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E4F364-3711-43C3-B07A-3F13F1CE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5597017-FD42-445A-A879-4A45D335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DD197A-8666-4022-AE39-C778E2BD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08BA7AF-E378-4A60-8E19-7FA3870E8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65E0796-E8CF-4125-A4B7-5124534404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840989-4046-4F67-8519-5CAC5F92F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71EAF3-957C-48C2-B0E2-F32C7C847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2F728ED-C843-4E3D-B8CB-B19A2035F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11DF1EC-56E5-4C33-849E-1A55A3202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04FB50E-9440-418F-AEBC-C0C082EE8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D4E580-EA8C-4260-AE81-4E793E49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FF1DF06-173D-4620-9B12-18F05E5C3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5EAD1C6-4DD4-4A65-9B8A-B62315FE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C3A2051-86A6-450D-93E1-4CA1394BB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CFCC3E3-BC99-4A46-9206-9E90D8F7444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478AD7-3F2E-4904-BBBE-EC7CFCDA2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358C676-B293-45B8-ADCE-18F796344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3B24EA-8579-4A7F-BFCD-E4FFA887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B6F869A-59A0-43E8-9F21-B67A7103F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672EB19-2E93-4233-9A53-912C17E7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B0D8C91-F5E1-41E0-84C6-ECDE1D0A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28322EB-D798-4141-BA0A-3447C6565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7D8381E-58A3-4F99-B440-89507AF6B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CA5C48-DFF3-4541-8AD8-65F68C6FC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263B4A2-54D7-4E0A-9501-D01FF940171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B62F69-FD43-4A6B-B9C0-11F83020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D3B2FF7-D4E7-4EEC-933D-DD35C92C4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AA2868-E8E9-49AB-8A3B-B4FC708E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0266387-2782-4A3F-9870-F042E2FBD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BF6B388-0C1C-4EA3-83B8-6F2F71CD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426D79A-BF0D-4F26-8411-4E82B234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CCAC56B-7E9F-4B09-9ED0-A3A6E5A27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DE1107C-8FD5-461A-8F34-B7D2C96F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6D141E0-5B82-4D36-A319-BE6154D3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CD4BFC1-10CD-4521-83BA-5960561193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F454303-BC41-44C1-AE26-65F1721C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35CEBDC-4BFF-405F-B2FA-1E7F2185B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6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8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4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51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10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>
            <a:extLst>
              <a:ext uri="{FF2B5EF4-FFF2-40B4-BE49-F238E27FC236}">
                <a16:creationId xmlns:a16="http://schemas.microsoft.com/office/drawing/2014/main" id="{F2514CA8-5324-427A-8F58-A1771CD4AD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firmware_formats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182a3ec523274f0a"/><Relationship Type="http://schemas.openxmlformats.org/officeDocument/2006/relationships/hyperlink" Target="https://github.com/zephyrproject-rtos/zephyr/blob/3777ab91262f93c2c2da7e1ab8cff4e8ea5f4ce4/Kconfig.zephyr" TargetMode="External" Id="R58b8de9fee2f41a6"/><Relationship Type="http://schemas.openxmlformats.org/officeDocument/2006/relationships/hyperlink" Target="../commands/P008_Windows/firmware-formats.txt" TargetMode="External" Id="R7f70a22e877549dd"/><Relationship Type="http://schemas.openxmlformats.org/officeDocument/2006/relationships/notesSlide" Target="../notesSlides/firmware_formats.xml" Id="R599e5639da884f6c"/></Relationships>
</file>

<file path=ppt/slides/_rels/guide26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54.xml"/><Relationship Id="rIdNotes" Type="http://schemas.openxmlformats.org/officeDocument/2006/relationships/notesSlide" Target="../notesSlides/guide26.xml"/><Relationship Id="rIdReading" Type="http://schemas.openxmlformats.org/officeDocument/2006/relationships/hyperlink" Target="../P008_Zephyr&#24212;&#29992;&#26500;&#24314;_Windows.md" TargetMode="External"/></Relationships>
</file>

<file path=ppt/slides/_rels/guide27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54.xml"/><Relationship Id="rIdNotes" Type="http://schemas.openxmlformats.org/officeDocument/2006/relationships/notesSlide" Target="../notesSlides/guide27.xml"/><Relationship Id="rIdReading" Type="http://schemas.openxmlformats.org/officeDocument/2006/relationships/hyperlink" Target="../P008_Zephyr&#24212;&#29992;&#26500;&#24314;_Windows.md" TargetMode="External"/></Relationships>
</file>

<file path=ppt/slides/_rels/lesson_7_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95dc8204e33e4fcc"/><Relationship Type="http://schemas.openxmlformats.org/officeDocument/2006/relationships/hyperlink" Target="https://docs.zephyrproject.org/latest/build/cmake/index.html" TargetMode="External" Id="R3ab6acf61648498d"/><Relationship Type="http://schemas.openxmlformats.org/officeDocument/2006/relationships/hyperlink" Target="../P008_Zephyr&#24212;&#29992;&#26500;&#24314;_Windows.md" TargetMode="External" Id="Rbcfc39f9128245e8"/><Relationship Type="http://schemas.openxmlformats.org/officeDocument/2006/relationships/notesSlide" Target="../notesSlides/lesson_7_1.xml" Id="R7fd106782bfc410c"/></Relationships>
</file>

<file path=ppt/slides/_rels/lesson_7_4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c4824b55fffc4702"/><Relationship Type="http://schemas.openxmlformats.org/officeDocument/2006/relationships/hyperlink" Target="https://docs.zephyrproject.org/latest/build/cmake/index.html" TargetMode="External" Id="Rbe60049566c84ff9"/><Relationship Type="http://schemas.openxmlformats.org/officeDocument/2006/relationships/hyperlink" Target="../P008_Zephyr&#24212;&#29992;&#26500;&#24314;_Windows.md" TargetMode="External" Id="R02c9b2abcaac4fa5"/><Relationship Type="http://schemas.openxmlformats.org/officeDocument/2006/relationships/notesSlide" Target="../notesSlides/lesson_7_4.xml" Id="R315df1a93a8e4e7e"/></Relationships>
</file>

<file path=ppt/slides/_rels/lesson_7_10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e727bf2601864c6c"/><Relationship Type="http://schemas.openxmlformats.org/officeDocument/2006/relationships/hyperlink" Target="https://docs.zephyrproject.org/latest/build/cmake/index.html" TargetMode="External" Id="R231611b620514867"/><Relationship Type="http://schemas.openxmlformats.org/officeDocument/2006/relationships/hyperlink" Target="../P008_Zephyr&#24212;&#29992;&#26500;&#24314;_Windows.md" TargetMode="External" Id="R736ea6e292f546b7"/><Relationship Type="http://schemas.openxmlformats.org/officeDocument/2006/relationships/notesSlide" Target="../notesSlides/lesson_7_10.xml" Id="R5430c41c282b4cf9"/></Relationships>
</file>

<file path=ppt/slides/_rels/lesson_7_13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f3543816a016457f"/><Relationship Type="http://schemas.openxmlformats.org/officeDocument/2006/relationships/hyperlink" Target="https://docs.zephyrproject.org/latest/build/cmake/index.html" TargetMode="External" Id="R37ef79222a54451f"/><Relationship Type="http://schemas.openxmlformats.org/officeDocument/2006/relationships/hyperlink" Target="../P008_Zephyr&#24212;&#29992;&#26500;&#24314;_Windows.md" TargetMode="External" Id="R1dc79c6f2e6c4769"/><Relationship Type="http://schemas.openxmlformats.org/officeDocument/2006/relationships/notesSlide" Target="../notesSlides/lesson_7_13.xml" Id="R9c140eba24f641d6"/></Relationships>
</file>

<file path=ppt/slides/_rels/lesson_7_14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dda7f08b1d1b4cf1"/><Relationship Type="http://schemas.openxmlformats.org/officeDocument/2006/relationships/hyperlink" Target="https://docs.zephyrproject.org/latest/build/cmake/index.html" TargetMode="External" Id="Rf626473907134571"/><Relationship Type="http://schemas.openxmlformats.org/officeDocument/2006/relationships/hyperlink" Target="../P008_Zephyr&#24212;&#29992;&#26500;&#24314;_Windows.md" TargetMode="External" Id="R88b352b350fc421c"/><Relationship Type="http://schemas.openxmlformats.org/officeDocument/2006/relationships/notesSlide" Target="../notesSlides/lesson_7_14.xml" Id="R609d5dd199a24002"/></Relationships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5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4.xml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/index.html#build-and-configuration-phase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8_Zephyr&#24212;&#29992;&#26500;&#24314;_Windows.md#section-8-1-4" TargetMode="External"/><Relationship Id="rId4" Type="http://schemas.openxmlformats.org/officeDocument/2006/relationships/hyperlink" Target="https://github.com/zephyrproject-rtos/zephyr/blob/25c8f4a23988dd3b2cfb463613622738298c2d6c/cmake/modules/zephyr_default.cmake#L71" TargetMode="Externa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/index.html#build-and-configuration-phase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8_Zephyr&#24212;&#29992;&#26500;&#24314;_Windows.md#section-8-1-2" TargetMode="External"/><Relationship Id="rId4" Type="http://schemas.openxmlformats.org/officeDocument/2006/relationships/hyperlink" Target="https://github.com/zephyrproject-rtos/zephyr/blob/25c8f4a23988dd3b2cfb463613622738298c2d6c/cmake/modules/kernel.cmake#L236" TargetMode="External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.1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4.xml"/><Relationship Id="rId6" Type="http://schemas.openxmlformats.org/officeDocument/2006/relationships/hyperlink" Target="../P008_Zephyr&#24212;&#29992;&#26500;&#24314;_Windows.md#cmake-build-methods" TargetMode="External"/><Relationship Id="rId5" Type="http://schemas.openxmlformats.org/officeDocument/2006/relationships/hyperlink" Target="../commands/P008_Windows/8.2.2-01.txt" TargetMode="External"/><Relationship Id="rId4" Type="http://schemas.openxmlformats.org/officeDocument/2006/relationships/hyperlink" Target="https://github.com/zephyrproject-rtos/zephyr/blob/25c8f4a23988dd3b2cfb463613622738298c2d6c/doc/develop/application/index.rst" TargetMode="External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.1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4.xml"/><Relationship Id="rId6" Type="http://schemas.openxmlformats.org/officeDocument/2006/relationships/hyperlink" Target="../P008_Zephyr&#24212;&#29992;&#26500;&#24314;_Windows.md#cmake-configure-command" TargetMode="External"/><Relationship Id="rId5" Type="http://schemas.openxmlformats.org/officeDocument/2006/relationships/hyperlink" Target="../commands/P008_Windows/8.2.2-01.txt" TargetMode="External"/><Relationship Id="rId4" Type="http://schemas.openxmlformats.org/officeDocument/2006/relationships/hyperlink" Target="https://github.com/zephyrproject-rtos/zephyr/blob/25c8f4a23988dd3b2cfb463613622738298c2d6c/doc/develop/application/index.rst" TargetMode="External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.1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4.xml"/><Relationship Id="rId6" Type="http://schemas.openxmlformats.org/officeDocument/2006/relationships/hyperlink" Target="../P008_Zephyr&#24212;&#29992;&#26500;&#24314;_Windows.md#cmake-build-command" TargetMode="External"/><Relationship Id="rId5" Type="http://schemas.openxmlformats.org/officeDocument/2006/relationships/hyperlink" Target="../commands/P008_Windows/8.2.3-01.txt" TargetMode="External"/><Relationship Id="rId4" Type="http://schemas.openxmlformats.org/officeDocument/2006/relationships/hyperlink" Target="https://github.com/zephyrproject-rtos/zephyr/blob/25c8f4a23988dd3b2cfb463613622738298c2d6c/doc/develop/application/index.rst" TargetMode="External"/></Relationships>
</file>

<file path=ppt/slides/_rels/slide11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.1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4.xml"/><Relationship Id="rId6" Type="http://schemas.openxmlformats.org/officeDocument/2006/relationships/hyperlink" Target="../P008_Zephyr&#24212;&#29992;&#26500;&#24314;_Windows.md#cmake-build-command" TargetMode="External"/><Relationship Id="rId5" Type="http://schemas.openxmlformats.org/officeDocument/2006/relationships/hyperlink" Target="../commands/P008_Windows/8.2.4-01.txt" TargetMode="External"/><Relationship Id="rId4" Type="http://schemas.openxmlformats.org/officeDocument/2006/relationships/hyperlink" Target="https://github.com/zephyrproject-rtos/zephyr/blob/25c8f4a23988dd3b2cfb463613622738298c2d6c/doc/develop/application/index.rst" TargetMode="External"/></Relationships>
</file>

<file path=ppt/slides/_rels/slide14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application/index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8_Zephyr&#24212;&#29992;&#26500;&#24314;_Windows.md#section-8-1-2" TargetMode="External"/><Relationship Id="rId4" Type="http://schemas.openxmlformats.org/officeDocument/2006/relationships/hyperlink" Target="https://github.com/zephyrproject-rtos/zephyr/blob/25c8f4a23988dd3b2cfb463613622738298c2d6c/samples/hello_world/CMakeLists.txt#L3" TargetMode="External"/></Relationships>
</file>

<file path=ppt/slides/_rels/slide15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application/index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8_Zephyr&#24212;&#29992;&#26500;&#24314;_Windows.md#section-8-1-2" TargetMode="External"/><Relationship Id="rId4" Type="http://schemas.openxmlformats.org/officeDocument/2006/relationships/hyperlink" Target="https://github.com/zephyrproject-rtos/zephyr/blob/25c8f4a23988dd3b2cfb463613622738298c2d6c/samples/hello_world/CMakeLists.txt#L3" TargetMode="External"/></Relationships>
</file>

<file path=ppt/slides/_rels/slide16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/index.html#build-and-configuration-phase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8_Zephyr&#24212;&#29992;&#26500;&#24314;_Windows.md#section-8-1-2" TargetMode="External"/><Relationship Id="rId4" Type="http://schemas.openxmlformats.org/officeDocument/2006/relationships/hyperlink" Target="https://github.com/zephyrproject-rtos/zephyr/blob/25c8f4a23988dd3b2cfb463613622738298c2d6c/cmake/modules/kernel.cmake#L236" TargetMode="External"/></Relationships>
</file>

<file path=ppt/slides/_rels/slide17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zephyr_cmake_package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8_Zephyr&#24212;&#29992;&#26500;&#24314;_Windows.md#section-8-1-4" TargetMode="External"/><Relationship Id="rId4" Type="http://schemas.openxmlformats.org/officeDocument/2006/relationships/hyperlink" Target="https://github.com/zephyrproject-rtos/zephyr/blob/25c8f4a23988dd3b2cfb463613622738298c2d6c/share/zephyr-package/cmake/ZephyrConfig.cmake#L28" TargetMode="External"/></Relationships>
</file>

<file path=ppt/slides/firmware_formats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">
            <a:extLst>
              <a:ext uri="{FF2B5EF4-FFF2-40B4-BE49-F238E27FC236}">
                <a16:creationId xmlns:a16="http://schemas.microsoft.com/office/drawing/2014/main" id="{E74BB42B-9BC5-425C-ADEA-A0E7DBBF41C4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7829550" y="2333625"/>
            <a:ext cx="285750" cy="0"/>
          </a:xfrm>
          <a:prstGeom prst="straightConnector1">
            <a:avLst/>
          </a:prstGeom>
          <a:ln w="14288">
            <a:solidFill>
              <a:srgbClr val="7756AD"/>
            </a:solidFill>
            <a:tailEnd type="triangle" w="med" len="med"/>
          </a:ln>
        </p:spPr>
      </p:cxnSp>
      <p:cxnSp>
        <p:nvCxnSpPr>
          <p:cNvPr id="6" name="">
            <a:extLst>
              <a:ext uri="{FF2B5EF4-FFF2-40B4-BE49-F238E27FC236}">
                <a16:creationId xmlns:a16="http://schemas.microsoft.com/office/drawing/2014/main" id="{88BB5AB7-F69E-4A07-AC01-022D1F406A3F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076700" y="2333625"/>
            <a:ext cx="285750" cy="0"/>
          </a:xfrm>
          <a:prstGeom prst="straightConnector1">
            <a:avLst/>
          </a:prstGeom>
          <a:ln w="14288">
            <a:solidFill>
              <a:srgbClr val="7756AD"/>
            </a:solidFill>
            <a:tailEnd type="triangle" w="med" len="med"/>
          </a:ln>
        </p:spPr>
      </p:cxnSp>
      <p:sp>
        <p:nvSpPr>
          <p:cNvPr id="12" name="Title">
            <a:extLst>
              <a:ext uri="{FF2B5EF4-FFF2-40B4-BE49-F238E27FC236}">
                <a16:creationId xmlns:a16="http://schemas.microsoft.com/office/drawing/2014/main" id="{9A9F516C-5C5C-4296-B403-D6F7C9FCD2F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ELF 是链接产物，HEX / BIN 按配置派生</a:t>
            </a:r>
          </a:p>
        </p:txBody>
      </p:sp>
      <p:sp>
        <p:nvSpPr>
          <p:cNvPr id="2" name="Stage">
            <a:extLst>
              <a:ext uri="{FF2B5EF4-FFF2-40B4-BE49-F238E27FC236}">
                <a16:creationId xmlns:a16="http://schemas.microsoft.com/office/drawing/2014/main" id="{E2A528CD-FA21-46EC-9CA1-856DF6D7A6D8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8.2.3.1 · 构建成功后，核对本次输出</a:t>
            </a:r>
          </a:p>
        </p:txBody>
      </p:sp>
      <p:sp>
        <p:nvSpPr>
          <p:cNvPr id="3" name="Pipeline 0">
            <a:extLst>
              <a:ext uri="{FF2B5EF4-FFF2-40B4-BE49-F238E27FC236}">
                <a16:creationId xmlns:a16="http://schemas.microsoft.com/office/drawing/2014/main" id="{9F974D83-DBCC-4A58-8331-9F670E3CE818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3467100" cy="819150"/>
          </a:xfrm>
          <a:prstGeom prst="rect">
            <a:avLst/>
          </a:prstGeom>
          <a:solidFill>
            <a:srgbClr val="F1EDF7"/>
          </a:solidFill>
          <a:ln w="14288">
            <a:solidFill>
              <a:srgbClr val="7756AD"/>
            </a:solidFill>
          </a:ln>
        </p:spPr>
        <p:txBody>
          <a:bodyPr anchor="ctr" lIns="0" rIns="0" tIns="0" bIns="0">
            <a:noAutofit/>
          </a:bodyPr>
          <a:lstStyle>
            <a:defPPr algn="ctr">
              <a:defRPr sz="19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9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源码 → 目标文件 / 库</a:t>
            </a:r>
          </a:p>
        </p:txBody>
      </p:sp>
      <p:sp>
        <p:nvSpPr>
          <p:cNvPr id="4" name="Pipeline 1">
            <a:extLst>
              <a:ext uri="{FF2B5EF4-FFF2-40B4-BE49-F238E27FC236}">
                <a16:creationId xmlns:a16="http://schemas.microsoft.com/office/drawing/2014/main" id="{4C5B4247-6F9F-4768-B36B-CE6F99EEF1E7}"/>
              </a:ext>
            </a:extLst>
          </p:cNvPr>
          <p:cNvSpPr>
            <a:spLocks noGrp="1"/>
          </p:cNvSpPr>
          <p:nvPr/>
        </p:nvSpPr>
        <p:spPr>
          <a:xfrm>
            <a:off x="4362450" y="1924050"/>
            <a:ext cx="3467100" cy="819150"/>
          </a:xfrm>
          <a:prstGeom prst="rect">
            <a:avLst/>
          </a:prstGeom>
          <a:solidFill>
            <a:srgbClr val="F1EDF7"/>
          </a:solidFill>
          <a:ln w="14288">
            <a:solidFill>
              <a:srgbClr val="7756AD"/>
            </a:solidFill>
          </a:ln>
        </p:spPr>
        <p:txBody>
          <a:bodyPr anchor="ctr" lIns="0" rIns="0" tIns="0" bIns="0">
            <a:noAutofit/>
          </a:bodyPr>
          <a:lstStyle>
            <a:defPPr algn="ctr">
              <a:defRPr sz="19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9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链接 → </a:t>
            </a:r>
            <a:r>
              <a:rPr sz="195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zephyr.elf</a:t>
            </a:r>
          </a:p>
        </p:txBody>
      </p:sp>
      <p:sp>
        <p:nvSpPr>
          <p:cNvPr id="5" name="Pipeline 2">
            <a:extLst>
              <a:ext uri="{FF2B5EF4-FFF2-40B4-BE49-F238E27FC236}">
                <a16:creationId xmlns:a16="http://schemas.microsoft.com/office/drawing/2014/main" id="{6DB165A1-AAC5-4651-8972-317FAC4BE079}"/>
              </a:ext>
            </a:extLst>
          </p:cNvPr>
          <p:cNvSpPr>
            <a:spLocks noGrp="1"/>
          </p:cNvSpPr>
          <p:nvPr/>
        </p:nvSpPr>
        <p:spPr>
          <a:xfrm>
            <a:off x="8115300" y="1924050"/>
            <a:ext cx="3467100" cy="819150"/>
          </a:xfrm>
          <a:prstGeom prst="rect">
            <a:avLst/>
          </a:prstGeom>
          <a:solidFill>
            <a:srgbClr val="F1EDF7"/>
          </a:solidFill>
          <a:ln w="14288">
            <a:solidFill>
              <a:srgbClr val="7756AD"/>
            </a:solidFill>
          </a:ln>
        </p:spPr>
        <p:txBody>
          <a:bodyPr anchor="ctr" lIns="0" rIns="0" tIns="0" bIns="0">
            <a:noAutofit/>
          </a:bodyPr>
          <a:lstStyle>
            <a:defPPr algn="ctr">
              <a:defRPr sz="19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9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按配置 → HEX / BIN</a:t>
            </a:r>
          </a:p>
        </p:txBody>
      </p:sp>
      <p:sp>
        <p:nvSpPr>
          <p:cNvPr id="8" name="Formats">
            <a:extLst>
              <a:ext uri="{FF2B5EF4-FFF2-40B4-BE49-F238E27FC236}">
                <a16:creationId xmlns:a16="http://schemas.microsoft.com/office/drawing/2014/main" id="{4ED194D4-54A4-4C30-975A-D99D800DA5F6}"/>
              </a:ext>
            </a:extLst>
          </p:cNvPr>
          <p:cNvSpPr>
            <a:spLocks noGrp="1"/>
          </p:cNvSpPr>
          <p:nvPr/>
        </p:nvSpPr>
        <p:spPr>
          <a:xfrm>
            <a:off x="609600" y="3086100"/>
            <a:ext cx="10972800" cy="13335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</a:rPr>
              <a:t>zephyr.elf</a:t>
            </a:r>
            <a:r>
              <a:rPr/>
              <a:t>：含加载段、符号；启用的调试信息供 GDB 使用。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</a:rPr>
              <a:t>zephyr.hex</a:t>
            </a:r>
            <a:r>
              <a:rPr/>
              <a:t>：Intel HEX 地址与数据记录。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</a:rPr>
              <a:t>zephyr.bin</a:t>
            </a:r>
            <a:r>
              <a:rPr/>
              <a:t>：裸数据；写入地址由板 / runner / 工具参数提供。</a:t>
            </a:r>
          </a:p>
        </p:txBody>
      </p:sp>
      <p:sp>
        <p:nvSpPr>
          <p:cNvPr id="9" name="Configuration">
            <a:extLst>
              <a:ext uri="{FF2B5EF4-FFF2-40B4-BE49-F238E27FC236}">
                <a16:creationId xmlns:a16="http://schemas.microsoft.com/office/drawing/2014/main" id="{ECBB42FD-800A-4850-BDED-C41AE13448A5}"/>
              </a:ext>
            </a:extLst>
          </p:cNvPr>
          <p:cNvSpPr>
            <a:spLocks noGrp="1"/>
          </p:cNvSpPr>
          <p:nvPr/>
        </p:nvSpPr>
        <p:spPr>
          <a:xfrm>
            <a:off x="609600" y="4724400"/>
            <a:ext cx="10972800" cy="108585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CONFIG_BUILD_OUTPUT_HEX</a:t>
            </a:r>
            <a:r>
              <a:rPr/>
              <a:t> / </a:t>
            </a:r>
            <a:r>
              <a:rPr>
                <a:solidFill>
                  <a:srgbClr val="B84E00"/>
                </a:solidFill>
              </a:rPr>
              <a:t>CONFIG_BUILD_OUTPUT_BIN</a:t>
            </a:r>
            <a:r>
              <a:rPr/>
              <a:t> 控制派生格式。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查看构建目录的 </a:t>
            </a:r>
            <a:r>
              <a:rPr>
                <a:solidFill>
                  <a:srgbClr val="0070C0"/>
                </a:solidFill>
              </a:rPr>
              <a:t>zephyr/.config</a:t>
            </a:r>
            <a:r>
              <a:rPr/>
              <a:t>；芯片型号不直接决定文件格式。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本页只核对产物，烧录格式由具体 runner 选择。</a:t>
            </a:r>
          </a:p>
        </p:txBody>
      </p:sp>
      <p:sp>
        <p:nvSpPr>
          <p:cNvPr id="10" name="Source">
            <a:extLst>
              <a:ext uri="{FF2B5EF4-FFF2-40B4-BE49-F238E27FC236}">
                <a16:creationId xmlns:a16="http://schemas.microsoft.com/office/drawing/2014/main" id="{22CDF416-B8E0-4146-9325-44B0807F9702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>
              <a:defRPr sz="12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solidFill>
                  <a:srgbClr val="397589"/>
                </a:solidFill>
                <a:hlinkClick r:id="R58b8de9fee2f41a6"/>
              </a:rPr>
              <a:t>依据：</a:t>
            </a:r>
            <a:r>
              <a:rPr u="sng">
                <a:solidFill>
                  <a:srgbClr val="0070C0"/>
                </a:solidFill>
                <a:hlinkClick r:id="R58b8de9fee2f41a6"/>
              </a:rPr>
              <a:t>Kconfig.zephyr</a:t>
            </a:r>
            <a:r>
              <a:rPr u="sng">
                <a:solidFill>
                  <a:srgbClr val="397589"/>
                </a:solidFill>
                <a:hlinkClick r:id="R58b8de9fee2f41a6"/>
              </a:rPr>
              <a:t> 的 BUILD_OUTPUT_*；根 </a:t>
            </a:r>
            <a:r>
              <a:rPr u="sng">
                <a:solidFill>
                  <a:srgbClr val="0070C0"/>
                </a:solidFill>
                <a:hlinkClick r:id="R58b8de9fee2f41a6"/>
              </a:rPr>
              <a:t>CMakeLists.txt</a:t>
            </a:r>
          </a:p>
        </p:txBody>
      </p:sp>
      <p:sp>
        <p:nvSpPr>
          <p:cNvPr id="11" name="Links">
            <a:extLst>
              <a:ext uri="{FF2B5EF4-FFF2-40B4-BE49-F238E27FC236}">
                <a16:creationId xmlns:a16="http://schemas.microsoft.com/office/drawing/2014/main" id="{68C3577D-779B-420F-8657-61F7C95B56F5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219075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>
            <a:defPPr>
              <a:defRPr sz="12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solidFill>
                  <a:srgbClr val="397589"/>
                </a:solidFill>
                <a:hlinkClick r:id="R7f70a22e877549dd"/>
              </a:rPr>
              <a:t>完整检查命令</a:t>
            </a:r>
          </a:p>
        </p:txBody>
      </p:sp>
      <p:sp>
        <p:nvSpPr>
          <p:cNvPr id="90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43222B3-0B71-4A1C-95BC-988978A5EB9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gu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MPS2 的硬件支持分别来自哪里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8.2.1 · 从当前任务理解工程组织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11696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复位、向量、NVIC 和线程由 Zephyr 的 Cortex-M 架构实现；板/SoC 描述 AN386 能力、内存与时钟；内置 SysTick、UART、GPIO 和 pinctrl 驱动完成具体硬件工作。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311277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外部 CMSIS_6 提供 Cortex-M4 通用头和 NVIC 等内联接口；SDK 提供编译工具。MPS2 有 Keil 独立 BSP Pack，但这次 Zephyr 构建没有直接使用它。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407670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先查主源码实现、活动 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清单和已下载 CMSIS，再看配置与编译单元。硬件抽象职责必须完成，不要求全部装在一个叫 HAL 或 DDL 的外部目录里。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Reading"/>
              </a:rPr>
              <a:t>完整解释与操作：配套 Markdown 8.2.1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1EE64DD-26E9-4BEC-A18F-3897A637B62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gu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从生成 ELF 追到实际编译的源码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8.2.3 · 从当前任务理解工程组织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11696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  <a:ea typeface="Microsoft YaHei"/>
              </a:rPr>
              <a:t>compile_commands.json</a:t>
            </a:r>
            <a:r>
              <a:t> 中不只应该有 </a:t>
            </a:r>
            <a:r>
              <a:rPr>
                <a:solidFill>
                  <a:srgbClr val="0070C0"/>
                </a:solidFill>
                <a:ea typeface="Microsoft YaHei"/>
              </a:rPr>
              <a:t>main.c</a:t>
            </a:r>
            <a:r>
              <a:t>，还能查到 </a:t>
            </a:r>
            <a:r>
              <a:rPr>
                <a:solidFill>
                  <a:srgbClr val="0070C0"/>
                </a:solidFill>
                <a:ea typeface="Microsoft YaHei"/>
              </a:rPr>
              <a:t>mps2/soc.c</a:t>
            </a:r>
            <a:r>
              <a:t>、Cortex-M </a:t>
            </a:r>
            <a:r>
              <a:rPr>
                <a:solidFill>
                  <a:srgbClr val="0070C0"/>
                </a:solidFill>
                <a:ea typeface="Microsoft YaHei"/>
              </a:rPr>
              <a:t>reset.S</a:t>
            </a:r>
            <a:r>
              <a:t>、</a:t>
            </a:r>
            <a:r>
              <a:rPr>
                <a:solidFill>
                  <a:srgbClr val="0070C0"/>
                </a:solidFill>
                <a:ea typeface="Microsoft YaHei"/>
              </a:rPr>
              <a:t>uart_console.c</a:t>
            </a:r>
            <a:r>
              <a:t> 和 </a:t>
            </a:r>
            <a:r>
              <a:rPr>
                <a:solidFill>
                  <a:srgbClr val="0070C0"/>
                </a:solidFill>
                <a:ea typeface="Microsoft YaHei"/>
              </a:rPr>
              <a:t>uart_cmsdk_apb.c</a:t>
            </a:r>
            <a:r>
              <a:t>。它们分别来自应用、SoC、架构和驱动规则。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311277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再核对 </a:t>
            </a:r>
            <a:r>
              <a:rPr>
                <a:solidFill>
                  <a:srgbClr val="0070C0"/>
                </a:solidFill>
                <a:ea typeface="Microsoft YaHei"/>
              </a:rPr>
              <a:t>main.c</a:t>
            </a:r>
            <a:r>
              <a:t> 的命令：CPU 为 -mcpu=cortex-m4，包含路径指向外部 CMSIS/Core/Include。头文件参与构建，不一定有独立的 CMSIS .c 任务。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407670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源码列说明生成了哪些任务；构建退出状态和对应产物才说明执行结果。若混入 HC32 DDL，先查构建目录、</a:t>
            </a:r>
            <a:r>
              <a:rPr>
                <a:solidFill>
                  <a:srgbClr val="B84E00"/>
                </a:solidFill>
                <a:ea typeface="Microsoft YaHei"/>
              </a:rPr>
              <a:t>BOARD</a:t>
            </a:r>
            <a:r>
              <a:t> 和追加模块，不能把它当成 MPS2 必备材料。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Reading"/>
              </a:rPr>
              <a:t>完整解释与操作：配套 Markdown 8.2.3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340212A-9543-42E0-B1FE-C1C01501C81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lesson_7_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61B0A85-8BB8-4DB7-B026-CFED622AFD0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先确认材料，再解释固件怎样组成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82FC30A-D204-42A2-AF85-98C3EEB3E3E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8.1 → 8.2 · 本册路线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EA1957BF-D899-43A7-B791-699418BF363D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应用、板与驱动在主源码；CMSIS 与编译工具另有来源。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先读官方入口，再核对 MPS2 支持与外部材料，最后构建。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列下载项目；配置和编译清单说明本次实际用了什么。</a:t>
            </a:r>
          </a:p>
        </p:txBody>
      </p:sp>
      <p:sp>
        <p:nvSpPr>
          <p:cNvPr id="5" name="Model 官方应用入口">
            <a:extLst>
              <a:ext uri="{FF2B5EF4-FFF2-40B4-BE49-F238E27FC236}">
                <a16:creationId xmlns:a16="http://schemas.microsoft.com/office/drawing/2014/main" id="{E98F3475-40D1-4783-A348-343991A443A0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官方应用入口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710BC675-8018-4500-A1D8-99DB306CE8E3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Zephyr 创建目标">
            <a:extLst>
              <a:ext uri="{FF2B5EF4-FFF2-40B4-BE49-F238E27FC236}">
                <a16:creationId xmlns:a16="http://schemas.microsoft.com/office/drawing/2014/main" id="{F1C15A36-328C-4748-90AF-6757A9C680E5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创建目标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DBD25F88-0C31-4C95-8875-6E5433EEFCB9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输入准备检查">
            <a:extLst>
              <a:ext uri="{FF2B5EF4-FFF2-40B4-BE49-F238E27FC236}">
                <a16:creationId xmlns:a16="http://schemas.microsoft.com/office/drawing/2014/main" id="{D4E87D25-51F5-4D07-99A7-72E52716ADB9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输入准备检查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6BC2A2D5-0FCE-400A-9792-F850F3DE89C3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CMake 两阶段">
            <a:extLst>
              <a:ext uri="{FF2B5EF4-FFF2-40B4-BE49-F238E27FC236}">
                <a16:creationId xmlns:a16="http://schemas.microsoft.com/office/drawing/2014/main" id="{A58EFBBB-0C96-450F-960F-C6168EEAAA5E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两阶段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4F11ACCE-8C33-4C03-9C43-6981C7093028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3ab6acf61648498d"/>
              </a:rPr>
              <a:t>依据：</a:t>
            </a:r>
            <a:r>
              <a:rPr u="sng">
                <a:solidFill>
                  <a:srgbClr val="0070C0"/>
                </a:solidFill>
                <a:hlinkClick r:id="R3ab6acf61648498d"/>
              </a:rPr>
              <a:t>doc/build/cmake/index.rst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94342804-5196-46F8-AE83-456753710A22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bcfc39f9128245e8"/>
              </a:rPr>
              <a:t>配套正文 · 8.1 → 8.2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AE9C2E6-9DA7-4D86-9B94-5806C93C626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Semantic color legend">
            <a:extLst>
              <a:ext uri="{FF2B5EF4-FFF2-40B4-BE49-F238E27FC236}">
                <a16:creationId xmlns:a16="http://schemas.microsoft.com/office/drawing/2014/main" id="{39154CEE-9E0E-4815-8A42-342F49989EDD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t>阅读标色： </a:t>
            </a:r>
            <a:r>
              <a:rPr>
                <a:solidFill>
                  <a:srgbClr val="B84E00"/>
                </a:solidFill>
              </a:rPr>
              <a:t>变量 / 参数</a:t>
            </a:r>
            <a:r>
              <a:t>     </a:t>
            </a:r>
            <a:r>
              <a:rPr>
                <a:solidFill>
                  <a:srgbClr val="0070C0"/>
                </a:solidFill>
              </a:rPr>
              <a:t>文件 / 路径</a:t>
            </a:r>
            <a:r>
              <a:t>     </a:t>
            </a:r>
            <a:r>
              <a:rPr>
                <a:solidFill>
                  <a:srgbClr val="087B3D"/>
                </a:solidFill>
              </a:rPr>
              <a:t>接口函数</a:t>
            </a:r>
            <a:r>
              <a:t>     </a:t>
            </a:r>
            <a:r>
              <a:rPr>
                <a:solidFill>
                  <a:srgbClr val="A02B93"/>
                </a:solidFill>
              </a:rPr>
              <a:t>终端命令</a:t>
            </a: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7_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DFF3C7-1D7C-40AA-BA4F-4B9F9049F8C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为什么这里没有 add_executable(app)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C460BE62-C923-4594-A872-5F12150707E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8.1.2 · 从原生模型提出问题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78878F26-02E6-43C2-8E0F-199F932AD196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P007 的 my_app 由读者创建；本例 app 由 Zephyr 初始化创建。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find_package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(Zephyr) 执行源码包入口及其 CMake 脚本。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返回应用入口后，</a:t>
            </a: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target_sources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给已有 app 库添加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main.c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Model 加载 Zephyr 包">
            <a:extLst>
              <a:ext uri="{FF2B5EF4-FFF2-40B4-BE49-F238E27FC236}">
                <a16:creationId xmlns:a16="http://schemas.microsoft.com/office/drawing/2014/main" id="{B88BE0A2-6608-493E-8A36-950B43B02D88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加载 Zephyr 包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AB81D85C-3F28-4A24-B34A-F718C5E88DE9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建立 app 等目标">
            <a:extLst>
              <a:ext uri="{FF2B5EF4-FFF2-40B4-BE49-F238E27FC236}">
                <a16:creationId xmlns:a16="http://schemas.microsoft.com/office/drawing/2014/main" id="{682D62A1-53CB-4520-B3AC-AF1233AEF313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建立 app 等目标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374211F8-7339-4E52-BEE2-B5888C1AF9F8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返回应用入口">
            <a:extLst>
              <a:ext uri="{FF2B5EF4-FFF2-40B4-BE49-F238E27FC236}">
                <a16:creationId xmlns:a16="http://schemas.microsoft.com/office/drawing/2014/main" id="{77A0BAFE-85D1-4C48-9FA6-02846593E0A6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返回应用入口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DF1E090C-A8B7-4EC6-9016-A9D5C799A3E8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加入应用源码">
            <a:extLst>
              <a:ext uri="{FF2B5EF4-FFF2-40B4-BE49-F238E27FC236}">
                <a16:creationId xmlns:a16="http://schemas.microsoft.com/office/drawing/2014/main" id="{0057391D-03E7-428C-8AC3-E03C2DE4C817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加入应用源码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E240D2A9-4D6D-4EBA-AAED-A6393923FE38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be60049566c84ff9"/>
              </a:rPr>
              <a:t>依据：</a:t>
            </a:r>
            <a:r>
              <a:rPr u="sng">
                <a:solidFill>
                  <a:srgbClr val="0070C0"/>
                </a:solidFill>
                <a:hlinkClick r:id="Rbe60049566c84ff9"/>
              </a:rPr>
              <a:t>doc/build/cmake/index.rst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5E2061F6-F2C4-4A91-9AD2-2EF1FBEB1C5A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02c9b2abcaac4fa5"/>
              </a:rPr>
              <a:t>配套正文 · 8.1.2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CB944F5-9889-4912-B9C4-24DA8B3992E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7_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06A22F1-7E14-44FB-9500-114D353B7D19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解压源码以后，还需要哪几项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21375705-D9B1-4C03-AAA9-BA8F84F5C63C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8.2.1 · 逐项成立后才执行配置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CD4A4157-A429-4D79-B6E3-A8608AFCA24C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P001：官方 hello_world、MPS2 板与构建脚本完整。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P002：CMake、Ninja 与已激活的 Python venv；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dtc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gperf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 xml:space="preserve"> 按用途准备。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P003：SDK 包能被发现，而且已包含 ARM 工具链。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P004：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 xml:space="preserve"> 指向正确工作区，CMSIS_6 入口与 Core 头确实存在。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MPS2 的底层支持已在主源码；这次不追加 HC32 HAL。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81E977A5-6D4D-4F36-820C-D085C7F81A2E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231611b620514867"/>
              </a:rPr>
              <a:t>依据：</a:t>
            </a:r>
            <a:r>
              <a:rPr u="sng">
                <a:solidFill>
                  <a:srgbClr val="0070C0"/>
                </a:solidFill>
                <a:hlinkClick r:id="R231611b620514867"/>
              </a:rPr>
              <a:t>doc/build/cmake/index.rst</a:t>
            </a:r>
          </a:p>
        </p:txBody>
      </p:sp>
      <p:sp>
        <p:nvSpPr>
          <p:cNvPr id="6" name="Reading link">
            <a:extLst>
              <a:ext uri="{FF2B5EF4-FFF2-40B4-BE49-F238E27FC236}">
                <a16:creationId xmlns:a16="http://schemas.microsoft.com/office/drawing/2014/main" id="{14B8A44A-75C0-4E14-A673-EEE463685973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736ea6e292f546b7"/>
              </a:rPr>
              <a:t>配套正文 · 8.2.1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04F2D55-F403-474B-B9B5-A638E85EDB5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7_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AB3EA54-AFDD-4ED1-AA94-5F6C76322E8E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源码包找到了，SDK 包仍可能没找到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E65F16BC-728C-47C5-99D1-3E0A37C3C10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8.2.2.1 · 用户实际报错对应的阶段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0EE16600-13A7-4110-89A8-0935F77E7263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Loading Zephyr default modules 说明已进入源码构建脚本。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Could not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find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… Zephyr-sdk 表示这次配置未找到所需 SDK 包。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Zephyr_DIR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只指定源码包，不会同时指定 SDK。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配置尚未成功，继续 build 不能补装 SDK 或 CMSIS。</a:t>
            </a:r>
          </a:p>
        </p:txBody>
      </p:sp>
      <p:sp>
        <p:nvSpPr>
          <p:cNvPr id="5" name="Model 应用已找到">
            <a:extLst>
              <a:ext uri="{FF2B5EF4-FFF2-40B4-BE49-F238E27FC236}">
                <a16:creationId xmlns:a16="http://schemas.microsoft.com/office/drawing/2014/main" id="{833370F6-DC26-4509-8AFE-4CF35C7CC4E7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应用已找到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7FE52F3A-099A-4372-8788-AFB3212A271F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Zephyr 脚本已执行">
            <a:extLst>
              <a:ext uri="{FF2B5EF4-FFF2-40B4-BE49-F238E27FC236}">
                <a16:creationId xmlns:a16="http://schemas.microsoft.com/office/drawing/2014/main" id="{D6EA667F-B655-43CF-A36B-839025A1D585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脚本已执行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BDDD0F4C-B661-4DBF-8A2F-00C50010B0D5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SDK 查找失败">
            <a:extLst>
              <a:ext uri="{FF2B5EF4-FFF2-40B4-BE49-F238E27FC236}">
                <a16:creationId xmlns:a16="http://schemas.microsoft.com/office/drawing/2014/main" id="{5EDCC548-6756-4035-BC9F-FCC7C9DCEC16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查找失败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42414A2D-5828-4E53-9C12-C1C799E96639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停止在配置阶段">
            <a:extLst>
              <a:ext uri="{FF2B5EF4-FFF2-40B4-BE49-F238E27FC236}">
                <a16:creationId xmlns:a16="http://schemas.microsoft.com/office/drawing/2014/main" id="{3E5328A0-D689-4039-9065-0B8FD21E7214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停止在配置阶段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B8D47C66-4DA6-4CED-A455-23AAAD25F838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37ef79222a54451f"/>
              </a:rPr>
              <a:t>依据：</a:t>
            </a:r>
            <a:r>
              <a:rPr u="sng">
                <a:solidFill>
                  <a:srgbClr val="0070C0"/>
                </a:solidFill>
                <a:hlinkClick r:id="R37ef79222a54451f"/>
              </a:rPr>
              <a:t>doc/build/cmake/index.rst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7A325FAE-EBB9-4DF5-819A-DCDA0A6E994C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1dc79c6f2e6c4769"/>
              </a:rPr>
              <a:t>配套正文 · 8.2.2.1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1E33157-94C5-4A70-BD0F-54B9EC399FA0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7_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C6483D1-03F4-4019-BD6A-1B45614D5B8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在正确的发现层处理 SDK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4843122B-6E7E-4054-B832-DBB0CA6A0024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8.2.2.1 · 操作细节返回 P003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C4C34913-2F07-40AD-8E52-F299E84A7490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根含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sdk_version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cmake/Zephyr-sdkConfig.cmake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和 ARM 工具链。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未注册或搬动位置：按 P003 在 PowerShell 的 SDK 根执行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setup.cmd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/c。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它持久登记到当前 Windows 用户的 CMake 包注册表，不属于 venv。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主动固定版本时才传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ZEPHYR_SDK_INSTALL_DIR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；默认类型不用重写。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纠正后重跑完整配置，核对 Configuring done 与 Generating done。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92F64FDC-6751-437C-B249-B3F8CA48A9DE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f626473907134571"/>
              </a:rPr>
              <a:t>依据：</a:t>
            </a:r>
            <a:r>
              <a:rPr u="sng">
                <a:solidFill>
                  <a:srgbClr val="0070C0"/>
                </a:solidFill>
                <a:hlinkClick r:id="Rf626473907134571"/>
              </a:rPr>
              <a:t>doc/build/cmake/index.rst</a:t>
            </a:r>
          </a:p>
        </p:txBody>
      </p:sp>
      <p:sp>
        <p:nvSpPr>
          <p:cNvPr id="6" name="Reading link">
            <a:extLst>
              <a:ext uri="{FF2B5EF4-FFF2-40B4-BE49-F238E27FC236}">
                <a16:creationId xmlns:a16="http://schemas.microsoft.com/office/drawing/2014/main" id="{188F5270-71CD-47C6-8D31-B3DFD042D3C0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88b352b350fc421c"/>
              </a:rPr>
              <a:t>配套正文 · 8.2.2.1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65F7CF4-29CD-49B2-9A40-8AF4652872B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D686CA-009C-46C0-9649-59779F457B10}"/>
              </a:ext>
            </a:extLst>
          </p:cNvPr>
          <p:cNvSpPr>
            <a:spLocks noGrp="1"/>
          </p:cNvSpPr>
          <p:nvPr/>
        </p:nvSpPr>
        <p:spPr>
          <a:xfrm>
            <a:off x="647700" y="91440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P008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3EA0C4-B462-4BE3-B25A-16FBB35A6FF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7572375" cy="1666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Zephyr应用构建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3B33A2-9A6E-4A0A-9111-996B334312DA}"/>
              </a:ext>
            </a:extLst>
          </p:cNvPr>
          <p:cNvSpPr>
            <a:spLocks noGrp="1"/>
          </p:cNvSpPr>
          <p:nvPr/>
        </p:nvSpPr>
        <p:spPr>
          <a:xfrm>
            <a:off x="647700" y="4248150"/>
            <a:ext cx="73342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Windows x64  UCRT64 实操教程</a:t>
            </a:r>
          </a:p>
        </p:txBody>
      </p:sp>
      <p:sp>
        <p:nvSpPr>
          <p:cNvPr id="6" name="Presenter lizhaojun">
            <a:extLst>
              <a:ext uri="{FF2B5EF4-FFF2-40B4-BE49-F238E27FC236}">
                <a16:creationId xmlns:a16="http://schemas.microsoft.com/office/drawing/2014/main" id="{133315A9-327F-4AF3-9469-360FC6999EB2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rPr>
              <a:t>主讲人：lizhaojun</a:t>
            </a:r>
          </a:p>
        </p:txBody>
      </p:sp>
    </p:spTree>
    <p:extLst>
      <p:ext uri="{BB962C8B-B14F-4D97-AF65-F5344CB8AC3E}">
        <p14:creationId xmlns:p14="http://schemas.microsoft.com/office/powerpoint/2010/main" val="1122830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F1799-B78F-96B3-B5B0-3E5FEB186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0BD48BF-4645-7361-C1CE-93E617E72A3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3000" b="1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源码目录、外部模块和编译工具</a:t>
            </a:r>
            <a:endParaRPr sz="3000" b="1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0941CF6-80E4-C946-A540-EC36CFC9340C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8.1.3 · </a:t>
            </a:r>
            <a:r>
              <a:rPr lang="zh-CN" altLang="en-US" sz="1575" b="0" dirty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包结构讲解</a:t>
            </a:r>
            <a:endParaRPr sz="1575" b="0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3CDE0A4C-402D-3585-0608-B40F8456F679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295C072-A642-4D92-8E8F-E175934CE64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Mindmap root">
            <a:extLst>
              <a:ext uri="{FF2B5EF4-FFF2-40B4-BE49-F238E27FC236}">
                <a16:creationId xmlns:a16="http://schemas.microsoft.com/office/drawing/2014/main" id="{460AB65A-D2A4-8480-FED7-788D0C9425DE}"/>
              </a:ext>
            </a:extLst>
          </p:cNvPr>
          <p:cNvSpPr>
            <a:spLocks noGrp="1"/>
          </p:cNvSpPr>
          <p:nvPr/>
        </p:nvSpPr>
        <p:spPr>
          <a:xfrm>
            <a:off x="890881" y="3207544"/>
            <a:ext cx="3084430" cy="3952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250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本次工程的组件来源</a:t>
            </a:r>
            <a:endParaRPr sz="2250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Diagram connector">
            <a:extLst>
              <a:ext uri="{FF2B5EF4-FFF2-40B4-BE49-F238E27FC236}">
                <a16:creationId xmlns:a16="http://schemas.microsoft.com/office/drawing/2014/main" id="{4070282B-07F1-089C-312B-8484F090690C}"/>
              </a:ext>
            </a:extLst>
          </p:cNvPr>
          <p:cNvSpPr>
            <a:spLocks noGrp="1"/>
          </p:cNvSpPr>
          <p:nvPr/>
        </p:nvSpPr>
        <p:spPr>
          <a:xfrm>
            <a:off x="3651461" y="3390900"/>
            <a:ext cx="40005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22" name="Diagram connector">
            <a:extLst>
              <a:ext uri="{FF2B5EF4-FFF2-40B4-BE49-F238E27FC236}">
                <a16:creationId xmlns:a16="http://schemas.microsoft.com/office/drawing/2014/main" id="{7A943A5A-8D61-A13F-5B09-180FE0A4421F}"/>
              </a:ext>
            </a:extLst>
          </p:cNvPr>
          <p:cNvSpPr>
            <a:spLocks noGrp="1"/>
          </p:cNvSpPr>
          <p:nvPr/>
        </p:nvSpPr>
        <p:spPr>
          <a:xfrm>
            <a:off x="4032461" y="2047875"/>
            <a:ext cx="19050" cy="3048000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Diagram connector">
            <a:extLst>
              <a:ext uri="{FF2B5EF4-FFF2-40B4-BE49-F238E27FC236}">
                <a16:creationId xmlns:a16="http://schemas.microsoft.com/office/drawing/2014/main" id="{97627334-61F3-3054-88EE-CAAEBA05A274}"/>
              </a:ext>
            </a:extLst>
          </p:cNvPr>
          <p:cNvSpPr>
            <a:spLocks noGrp="1"/>
          </p:cNvSpPr>
          <p:nvPr/>
        </p:nvSpPr>
        <p:spPr>
          <a:xfrm>
            <a:off x="4032461" y="2047875"/>
            <a:ext cx="45720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26" name="Mindmap branch 0">
            <a:extLst>
              <a:ext uri="{FF2B5EF4-FFF2-40B4-BE49-F238E27FC236}">
                <a16:creationId xmlns:a16="http://schemas.microsoft.com/office/drawing/2014/main" id="{F8F7908D-F977-DA7B-FD24-F4C4D1C2B419}"/>
              </a:ext>
            </a:extLst>
          </p:cNvPr>
          <p:cNvSpPr>
            <a:spLocks noGrp="1"/>
          </p:cNvSpPr>
          <p:nvPr/>
        </p:nvSpPr>
        <p:spPr>
          <a:xfrm>
            <a:off x="4603961" y="1676400"/>
            <a:ext cx="562588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875" b="1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west.yml</a:t>
            </a:r>
            <a:r>
              <a:rPr lang="en-US" sz="1875" b="1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：外部项目清单</a:t>
            </a:r>
            <a:endParaRPr sz="1875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Mindmap details 0">
            <a:extLst>
              <a:ext uri="{FF2B5EF4-FFF2-40B4-BE49-F238E27FC236}">
                <a16:creationId xmlns:a16="http://schemas.microsoft.com/office/drawing/2014/main" id="{5ECD893D-2264-C9AE-486D-2730CF966554}"/>
              </a:ext>
            </a:extLst>
          </p:cNvPr>
          <p:cNvSpPr>
            <a:spLocks noGrp="1"/>
          </p:cNvSpPr>
          <p:nvPr/>
        </p:nvSpPr>
        <p:spPr>
          <a:xfrm>
            <a:off x="4603961" y="1990725"/>
            <a:ext cx="5625889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 dirty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lang="en-US" altLang="zh-CN" sz="1725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读取来源与修订，下载候选项目</a:t>
            </a:r>
            <a:endParaRPr sz="172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Diagram connector">
            <a:extLst>
              <a:ext uri="{FF2B5EF4-FFF2-40B4-BE49-F238E27FC236}">
                <a16:creationId xmlns:a16="http://schemas.microsoft.com/office/drawing/2014/main" id="{4A5E47EC-72DD-5291-D888-078D97765180}"/>
              </a:ext>
            </a:extLst>
          </p:cNvPr>
          <p:cNvSpPr>
            <a:spLocks noGrp="1"/>
          </p:cNvSpPr>
          <p:nvPr/>
        </p:nvSpPr>
        <p:spPr>
          <a:xfrm>
            <a:off x="4032461" y="2809875"/>
            <a:ext cx="45720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32" name="Mindmap branch 1">
            <a:extLst>
              <a:ext uri="{FF2B5EF4-FFF2-40B4-BE49-F238E27FC236}">
                <a16:creationId xmlns:a16="http://schemas.microsoft.com/office/drawing/2014/main" id="{29DA2F88-4E94-ED22-4868-5219EB70A836}"/>
              </a:ext>
            </a:extLst>
          </p:cNvPr>
          <p:cNvSpPr>
            <a:spLocks noGrp="1"/>
          </p:cNvSpPr>
          <p:nvPr/>
        </p:nvSpPr>
        <p:spPr>
          <a:xfrm>
            <a:off x="4603962" y="2438400"/>
            <a:ext cx="624839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875" b="1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arch：架构实现</a:t>
            </a:r>
            <a:endParaRPr sz="1875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Mindmap details 1">
            <a:extLst>
              <a:ext uri="{FF2B5EF4-FFF2-40B4-BE49-F238E27FC236}">
                <a16:creationId xmlns:a16="http://schemas.microsoft.com/office/drawing/2014/main" id="{79595921-A088-ADCC-E1D2-A30F34FAD07A}"/>
              </a:ext>
            </a:extLst>
          </p:cNvPr>
          <p:cNvSpPr>
            <a:spLocks noGrp="1"/>
          </p:cNvSpPr>
          <p:nvPr/>
        </p:nvSpPr>
        <p:spPr>
          <a:xfrm>
            <a:off x="4603961" y="2752725"/>
            <a:ext cx="5625889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复位、向量、NVIC、线程等共用代码</a:t>
            </a:r>
            <a:endParaRPr sz="172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Diagram connector">
            <a:extLst>
              <a:ext uri="{FF2B5EF4-FFF2-40B4-BE49-F238E27FC236}">
                <a16:creationId xmlns:a16="http://schemas.microsoft.com/office/drawing/2014/main" id="{27D48EE1-5F74-8C72-6B5D-DFBBB0A00497}"/>
              </a:ext>
            </a:extLst>
          </p:cNvPr>
          <p:cNvSpPr>
            <a:spLocks noGrp="1"/>
          </p:cNvSpPr>
          <p:nvPr/>
        </p:nvSpPr>
        <p:spPr>
          <a:xfrm>
            <a:off x="4032461" y="3571875"/>
            <a:ext cx="45720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38" name="Mindmap branch 2">
            <a:extLst>
              <a:ext uri="{FF2B5EF4-FFF2-40B4-BE49-F238E27FC236}">
                <a16:creationId xmlns:a16="http://schemas.microsoft.com/office/drawing/2014/main" id="{A2317DE6-7378-9806-D849-0CA51AC29FD0}"/>
              </a:ext>
            </a:extLst>
          </p:cNvPr>
          <p:cNvSpPr>
            <a:spLocks noGrp="1"/>
          </p:cNvSpPr>
          <p:nvPr/>
        </p:nvSpPr>
        <p:spPr>
          <a:xfrm>
            <a:off x="4603961" y="3200400"/>
            <a:ext cx="562588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875" b="1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</a:t>
            </a:r>
            <a:endParaRPr sz="1875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" name="Mindmap details 2">
            <a:extLst>
              <a:ext uri="{FF2B5EF4-FFF2-40B4-BE49-F238E27FC236}">
                <a16:creationId xmlns:a16="http://schemas.microsoft.com/office/drawing/2014/main" id="{F3C548E7-C741-8EE3-2646-2730468C278F}"/>
              </a:ext>
            </a:extLst>
          </p:cNvPr>
          <p:cNvSpPr>
            <a:spLocks noGrp="1"/>
          </p:cNvSpPr>
          <p:nvPr/>
        </p:nvSpPr>
        <p:spPr>
          <a:xfrm>
            <a:off x="4603961" y="3514725"/>
            <a:ext cx="6978439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发现、工具链接入与模块发现规则</a:t>
            </a:r>
            <a:endParaRPr sz="172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Diagram connector">
            <a:extLst>
              <a:ext uri="{FF2B5EF4-FFF2-40B4-BE49-F238E27FC236}">
                <a16:creationId xmlns:a16="http://schemas.microsoft.com/office/drawing/2014/main" id="{9855EB71-CB50-ED70-EFE7-6B6EBFAF73A2}"/>
              </a:ext>
            </a:extLst>
          </p:cNvPr>
          <p:cNvSpPr>
            <a:spLocks noGrp="1"/>
          </p:cNvSpPr>
          <p:nvPr/>
        </p:nvSpPr>
        <p:spPr>
          <a:xfrm>
            <a:off x="4032461" y="4333875"/>
            <a:ext cx="45720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</p:sp>
      <p:sp>
        <p:nvSpPr>
          <p:cNvPr id="44" name="Mindmap branch 3">
            <a:extLst>
              <a:ext uri="{FF2B5EF4-FFF2-40B4-BE49-F238E27FC236}">
                <a16:creationId xmlns:a16="http://schemas.microsoft.com/office/drawing/2014/main" id="{34E74E65-4423-D6D3-01C7-B3814ECD5EB4}"/>
              </a:ext>
            </a:extLst>
          </p:cNvPr>
          <p:cNvSpPr>
            <a:spLocks noGrp="1"/>
          </p:cNvSpPr>
          <p:nvPr/>
        </p:nvSpPr>
        <p:spPr>
          <a:xfrm>
            <a:off x="4603961" y="3962400"/>
            <a:ext cx="562588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875" b="1" dirty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modules</a:t>
            </a:r>
            <a:endParaRPr sz="1875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" name="Mindmap details 3">
            <a:extLst>
              <a:ext uri="{FF2B5EF4-FFF2-40B4-BE49-F238E27FC236}">
                <a16:creationId xmlns:a16="http://schemas.microsoft.com/office/drawing/2014/main" id="{2E297108-28FB-B6BB-4B4D-5E4C8ADCFBA7}"/>
              </a:ext>
            </a:extLst>
          </p:cNvPr>
          <p:cNvSpPr>
            <a:spLocks noGrp="1"/>
          </p:cNvSpPr>
          <p:nvPr/>
        </p:nvSpPr>
        <p:spPr>
          <a:xfrm>
            <a:off x="4603961" y="4276725"/>
            <a:ext cx="5625889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主源码中的适配脚本；外部库位于工作区</a:t>
            </a:r>
            <a:endParaRPr sz="172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Diagram connector">
            <a:extLst>
              <a:ext uri="{FF2B5EF4-FFF2-40B4-BE49-F238E27FC236}">
                <a16:creationId xmlns:a16="http://schemas.microsoft.com/office/drawing/2014/main" id="{97CF39AB-E367-F596-001B-4C845D5E2274}"/>
              </a:ext>
            </a:extLst>
          </p:cNvPr>
          <p:cNvSpPr>
            <a:spLocks noGrp="1"/>
          </p:cNvSpPr>
          <p:nvPr/>
        </p:nvSpPr>
        <p:spPr>
          <a:xfrm>
            <a:off x="4032461" y="5095875"/>
            <a:ext cx="457200" cy="14288"/>
          </a:xfrm>
          <a:prstGeom prst="rect">
            <a:avLst/>
          </a:prstGeom>
          <a:solidFill>
            <a:srgbClr val="76668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Mindmap branch 4">
            <a:extLst>
              <a:ext uri="{FF2B5EF4-FFF2-40B4-BE49-F238E27FC236}">
                <a16:creationId xmlns:a16="http://schemas.microsoft.com/office/drawing/2014/main" id="{DB6425B1-6062-262B-3002-E1A215B6E18D}"/>
              </a:ext>
            </a:extLst>
          </p:cNvPr>
          <p:cNvSpPr>
            <a:spLocks noGrp="1"/>
          </p:cNvSpPr>
          <p:nvPr/>
        </p:nvSpPr>
        <p:spPr>
          <a:xfrm>
            <a:off x="4603961" y="4724400"/>
            <a:ext cx="562588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1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1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boards / soc / drivers</a:t>
            </a:r>
            <a:endParaRPr sz="1875" b="1" dirty="0">
              <a:solidFill>
                <a:srgbClr val="6845A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Mindmap details 4">
            <a:extLst>
              <a:ext uri="{FF2B5EF4-FFF2-40B4-BE49-F238E27FC236}">
                <a16:creationId xmlns:a16="http://schemas.microsoft.com/office/drawing/2014/main" id="{F3AFF392-AA3A-4B42-EFCD-7B64EA0D6617}"/>
              </a:ext>
            </a:extLst>
          </p:cNvPr>
          <p:cNvSpPr>
            <a:spLocks noGrp="1"/>
          </p:cNvSpPr>
          <p:nvPr/>
        </p:nvSpPr>
        <p:spPr>
          <a:xfrm>
            <a:off x="4603961" y="5038725"/>
            <a:ext cx="5625889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板描述、芯片支持与外设驱动</a:t>
            </a:r>
            <a:endParaRPr sz="172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63431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9416F39-258F-4666-924B-127CD8EDF06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少量应用文件怎样组成一份固件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2387957-D6B9-49C1-91F5-0C6EDA19A3B9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8.1.4 · ① 应用与构建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9E918BFF-FC88-4305-8B9D-7F963D502DEE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main.c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加入应用；MPS2 板、SoC、Cortex-M 和 CMSDK 驱动来自 Zephyr。CMSIS_6 提供通用 Core 头，SDK 提供工具。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endParaRPr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用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把这些对象组织为目标和依赖关系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应用不用复制内核的全部构建规则，换板也能复用应用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D4375138-268B-429E-AE07-4628F48614BB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doc/build/cmake/index.rst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BB7415FE-A590-4500-8A33-8BFBCF864192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cmake/modules/zephyr_default.cmake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71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B961DC2F-375F-4A38-BA46-803CAF90BEB5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E80EDD2-90F5-4C6F-ABB8-6DE528D8F50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4B20BB6-7AB3-4DF9-903A-5309DF2EFAE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配置阶段与构建阶段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CF29D0FA-2F1D-4FF5-86A0-6623BCC43B7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8.2 · ① 应用与构建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F7175F8F-4DBF-461C-83EE-0D5EEE204973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配置先确定板、源码、工具、参数与生成顺序。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据此生成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build.ninja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等规则文件。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构建时 Ninja 执行到期任务，得到对象文件和固件。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普通源码改动可增量构建，配置变化可能触发重新配置。</a:t>
            </a:r>
          </a:p>
        </p:txBody>
      </p:sp>
      <p:sp>
        <p:nvSpPr>
          <p:cNvPr id="5" name="Flow stage 0">
            <a:extLst>
              <a:ext uri="{FF2B5EF4-FFF2-40B4-BE49-F238E27FC236}">
                <a16:creationId xmlns:a16="http://schemas.microsoft.com/office/drawing/2014/main" id="{E7ED26D5-AD21-4698-8236-B5C961D1BB50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输入文件</a:t>
            </a:r>
          </a:p>
        </p:txBody>
      </p:sp>
      <p:sp>
        <p:nvSpPr>
          <p:cNvPr id="6" name="Flow arrow 0">
            <a:extLst>
              <a:ext uri="{FF2B5EF4-FFF2-40B4-BE49-F238E27FC236}">
                <a16:creationId xmlns:a16="http://schemas.microsoft.com/office/drawing/2014/main" id="{595A0021-2FA5-44F0-A288-77F08A8BD76E}"/>
              </a:ext>
            </a:extLst>
          </p:cNvPr>
          <p:cNvSpPr>
            <a:spLocks noGrp="1"/>
          </p:cNvSpPr>
          <p:nvPr/>
        </p:nvSpPr>
        <p:spPr>
          <a:xfrm>
            <a:off x="3148013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Flow stage 1">
            <a:extLst>
              <a:ext uri="{FF2B5EF4-FFF2-40B4-BE49-F238E27FC236}">
                <a16:creationId xmlns:a16="http://schemas.microsoft.com/office/drawing/2014/main" id="{954BF384-A26D-474A-B18A-64184F7C6578}"/>
              </a:ext>
            </a:extLst>
          </p:cNvPr>
          <p:cNvSpPr>
            <a:spLocks noGrp="1"/>
          </p:cNvSpPr>
          <p:nvPr/>
        </p:nvSpPr>
        <p:spPr>
          <a:xfrm>
            <a:off x="3433763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配置</a:t>
            </a:r>
          </a:p>
        </p:txBody>
      </p:sp>
      <p:sp>
        <p:nvSpPr>
          <p:cNvPr id="8" name="Flow arrow 1">
            <a:extLst>
              <a:ext uri="{FF2B5EF4-FFF2-40B4-BE49-F238E27FC236}">
                <a16:creationId xmlns:a16="http://schemas.microsoft.com/office/drawing/2014/main" id="{F8920491-3F5B-4FC9-A33C-FB7AD619D28B}"/>
              </a:ext>
            </a:extLst>
          </p:cNvPr>
          <p:cNvSpPr>
            <a:spLocks noGrp="1"/>
          </p:cNvSpPr>
          <p:nvPr/>
        </p:nvSpPr>
        <p:spPr>
          <a:xfrm>
            <a:off x="5972175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Flow stage 2">
            <a:extLst>
              <a:ext uri="{FF2B5EF4-FFF2-40B4-BE49-F238E27FC236}">
                <a16:creationId xmlns:a16="http://schemas.microsoft.com/office/drawing/2014/main" id="{44AA2737-5B3E-4122-8760-D3920AE736D2}"/>
              </a:ext>
            </a:extLst>
          </p:cNvPr>
          <p:cNvSpPr>
            <a:spLocks noGrp="1"/>
          </p:cNvSpPr>
          <p:nvPr/>
        </p:nvSpPr>
        <p:spPr>
          <a:xfrm>
            <a:off x="6257925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Ninja 执行</a:t>
            </a:r>
          </a:p>
        </p:txBody>
      </p:sp>
      <p:sp>
        <p:nvSpPr>
          <p:cNvPr id="10" name="Flow arrow 2">
            <a:extLst>
              <a:ext uri="{FF2B5EF4-FFF2-40B4-BE49-F238E27FC236}">
                <a16:creationId xmlns:a16="http://schemas.microsoft.com/office/drawing/2014/main" id="{07CED9F1-BD1A-4F8F-8BE3-B8C60DE49EC9}"/>
              </a:ext>
            </a:extLst>
          </p:cNvPr>
          <p:cNvSpPr>
            <a:spLocks noGrp="1"/>
          </p:cNvSpPr>
          <p:nvPr/>
        </p:nvSpPr>
        <p:spPr>
          <a:xfrm>
            <a:off x="8796338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Flow stage 3">
            <a:extLst>
              <a:ext uri="{FF2B5EF4-FFF2-40B4-BE49-F238E27FC236}">
                <a16:creationId xmlns:a16="http://schemas.microsoft.com/office/drawing/2014/main" id="{688BCBC3-BF7F-4955-BEF8-83BEE2890C81}"/>
              </a:ext>
            </a:extLst>
          </p:cNvPr>
          <p:cNvSpPr>
            <a:spLocks noGrp="1"/>
          </p:cNvSpPr>
          <p:nvPr/>
        </p:nvSpPr>
        <p:spPr>
          <a:xfrm>
            <a:off x="9082088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zephyr.elf</a:t>
            </a:r>
          </a:p>
        </p:txBody>
      </p:sp>
      <p:sp>
        <p:nvSpPr>
          <p:cNvPr id="12" name="Official doc link">
            <a:extLst>
              <a:ext uri="{FF2B5EF4-FFF2-40B4-BE49-F238E27FC236}">
                <a16:creationId xmlns:a16="http://schemas.microsoft.com/office/drawing/2014/main" id="{E7C4DBC7-989C-4E0A-A8B3-734643BA1F12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doc/build/cmake/index.rst</a:t>
            </a:r>
          </a:p>
        </p:txBody>
      </p:sp>
      <p:sp>
        <p:nvSpPr>
          <p:cNvPr id="13" name="Implementation link">
            <a:extLst>
              <a:ext uri="{FF2B5EF4-FFF2-40B4-BE49-F238E27FC236}">
                <a16:creationId xmlns:a16="http://schemas.microsoft.com/office/drawing/2014/main" id="{F8D49C88-07BD-466C-AB89-CD752E77230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cmake/modules/kernel.cmake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236 行附近</a:t>
            </a:r>
          </a:p>
        </p:txBody>
      </p:sp>
      <p:sp>
        <p:nvSpPr>
          <p:cNvPr id="14" name="Chapter link">
            <a:extLst>
              <a:ext uri="{FF2B5EF4-FFF2-40B4-BE49-F238E27FC236}">
                <a16:creationId xmlns:a16="http://schemas.microsoft.com/office/drawing/2014/main" id="{211C9B2C-56BF-46C5-8B94-8745A2F21A63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B0A624F-9EB7-48E3-8CF2-D412E531F63E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D051367-DCC3-4F90-93CB-B40E8FF683E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构建实例的输入与执行前提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A9477E9C-26A9-4DC9-A967-470E043AA355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8.2.1 · ① 配置和构建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59F50196-2EF4-428E-9C0F-C38D4419E42F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10972800" cy="160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官方 </a:t>
            </a:r>
            <a:r>
              <a:rPr>
                <a:solidFill>
                  <a:srgbClr val="0070C0"/>
                </a:solidFill>
              </a:rPr>
              <a:t>samples/hello_world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，目标 </a:t>
            </a:r>
            <a:r>
              <a:rPr>
                <a:solidFill>
                  <a:srgbClr val="B84E00"/>
                </a:solidFill>
              </a:rPr>
              <a:t>BOARD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=mps2/an386。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MPS2 AN386 提供 Cortex-M4 模型，本节不连接实板。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先查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工作区、CMSIS 文件、SDK 包和 ARM 编译器。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缺项补齐再配置；下载列表本身不证明依赖文件已存在。</a:t>
            </a:r>
          </a:p>
        </p:txBody>
      </p:sp>
      <p:sp>
        <p:nvSpPr>
          <p:cNvPr id="5" name="Copyable command">
            <a:extLst>
              <a:ext uri="{FF2B5EF4-FFF2-40B4-BE49-F238E27FC236}">
                <a16:creationId xmlns:a16="http://schemas.microsoft.com/office/drawing/2014/main" id="{648BD0A9-6ACC-4304-9D54-112F8D760FDB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10972800" cy="1971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Windows UCRT64；进入源码根，激活 P002 </a:t>
            </a:r>
            <a:r>
              <a:rPr sz="1800" b="0" dirty="0" err="1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已有环境</a:t>
            </a:r>
            <a:r>
              <a:rPr sz="1800" b="0" dirty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A02B93"/>
                </a:solidFill>
              </a:rPr>
              <a:t>cd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dirty="0">
                <a:solidFill>
                  <a:srgbClr val="0070C0"/>
                </a:solidFill>
              </a:rPr>
              <a:t>/g/</a:t>
            </a:r>
            <a:r>
              <a:rPr dirty="0" err="1">
                <a:solidFill>
                  <a:srgbClr val="0070C0"/>
                </a:solidFill>
              </a:rPr>
              <a:t>zephyr_practice</a:t>
            </a:r>
            <a:r>
              <a:rPr dirty="0">
                <a:solidFill>
                  <a:srgbClr val="0070C0"/>
                </a:solidFill>
              </a:rPr>
              <a:t>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A02B93"/>
                </a:solidFill>
              </a:rPr>
              <a:t>source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dirty="0">
                <a:solidFill>
                  <a:srgbClr val="0070C0"/>
                </a:solidFill>
              </a:rPr>
              <a:t>.</a:t>
            </a:r>
            <a:r>
              <a:rPr dirty="0" err="1">
                <a:solidFill>
                  <a:srgbClr val="0070C0"/>
                </a:solidFill>
              </a:rPr>
              <a:t>venv</a:t>
            </a:r>
            <a:r>
              <a:rPr dirty="0">
                <a:solidFill>
                  <a:srgbClr val="0070C0"/>
                </a:solidFill>
              </a:rPr>
              <a:t>/Scripts/activate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Zephyr </a:t>
            </a:r>
            <a:r>
              <a:rPr sz="1800" b="0" dirty="0" err="1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原生源码根变量，下一页用于定位这份源码</a:t>
            </a:r>
            <a:r>
              <a:rPr sz="1800" b="0" dirty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A02B93"/>
                </a:solidFill>
              </a:rPr>
              <a:t>export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dirty="0">
                <a:solidFill>
                  <a:srgbClr val="B84E00"/>
                </a:solidFill>
              </a:rPr>
              <a:t>ZEPHYR_BASE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="$(</a:t>
            </a:r>
            <a:r>
              <a:rPr dirty="0" err="1">
                <a:solidFill>
                  <a:srgbClr val="A02B93"/>
                </a:solidFill>
              </a:rPr>
              <a:t>cygpath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-m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"</a:t>
            </a:r>
            <a:r>
              <a:rPr sz="1800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$PWD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")"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4810DF50-8328-45FF-B7D6-0ECFF973A9FB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官方说明：CMake 官方命令行手册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DEEB29AA-6A44-4C1F-B475-6442C5CD13E1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源码定位：</a:t>
            </a:r>
            <a:r>
              <a:rPr u="sng">
                <a:solidFill>
                  <a:srgbClr val="0070C0"/>
                </a:solidFill>
                <a:hlinkClick r:id="rId4"/>
              </a:rPr>
              <a:t>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D4540E97-1BE0-4286-8CC7-A9A77A6A71A6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完整命令 8.2-01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6CFB15D7-52F3-4F9D-9011-41A6CD01A82B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6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ABC8B17-B23A-426D-ABDD-BF1D7D2C5D1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B947405-1832-45C2-B64F-596D5E594E0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首次配置与规则生成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7E7B328-5C37-4613-8B31-A6DD08BA10DE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8.2.2 · ① 配置和构建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75E440E0-0C8A-4E3E-AA3E-11532E2D495A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10972800" cy="20471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UCRT64；源码根；承接上一页的 .</a:t>
            </a:r>
            <a:r>
              <a:rPr sz="1800" b="0" dirty="0" err="1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venv</a:t>
            </a:r>
            <a:r>
              <a:rPr sz="1800" b="0" dirty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 与 </a:t>
            </a:r>
            <a:r>
              <a:rPr dirty="0">
                <a:solidFill>
                  <a:srgbClr val="646173"/>
                </a:solidFill>
              </a:rPr>
              <a:t>ZEPHYR_BASE</a:t>
            </a:r>
            <a:r>
              <a:rPr sz="1800" b="0" dirty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 err="1">
                <a:solidFill>
                  <a:srgbClr val="A02B93"/>
                </a:solidFill>
              </a:rPr>
              <a:t>cmake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dirty="0">
                <a:solidFill>
                  <a:srgbClr val="B84E00"/>
                </a:solidFill>
              </a:rPr>
              <a:t>-S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dirty="0">
                <a:solidFill>
                  <a:srgbClr val="0070C0"/>
                </a:solidFill>
              </a:rPr>
              <a:t>samples/</a:t>
            </a:r>
            <a:r>
              <a:rPr dirty="0" err="1">
                <a:solidFill>
                  <a:srgbClr val="0070C0"/>
                </a:solidFill>
              </a:rPr>
              <a:t>hello_world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dirty="0">
                <a:solidFill>
                  <a:srgbClr val="B84E00"/>
                </a:solidFill>
              </a:rPr>
              <a:t>-B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dirty="0">
                <a:solidFill>
                  <a:srgbClr val="0070C0"/>
                </a:solidFill>
              </a:rPr>
              <a:t>build/learning-tools/p003/</a:t>
            </a:r>
            <a:r>
              <a:rPr dirty="0" err="1">
                <a:solidFill>
                  <a:srgbClr val="0070C0"/>
                </a:solidFill>
              </a:rPr>
              <a:t>cmake</a:t>
            </a:r>
            <a:r>
              <a:rPr dirty="0">
                <a:solidFill>
                  <a:srgbClr val="0070C0"/>
                </a:solidFill>
              </a:rPr>
              <a:t>-demo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dirty="0">
                <a:solidFill>
                  <a:srgbClr val="B84E00"/>
                </a:solidFill>
              </a:rPr>
              <a:t>-G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Ninja \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dirty="0">
                <a:solidFill>
                  <a:srgbClr val="B84E00"/>
                </a:solidFill>
              </a:rPr>
              <a:t>-DBOARD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=mps2/an386 \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"</a:t>
            </a:r>
            <a:r>
              <a:rPr dirty="0">
                <a:solidFill>
                  <a:srgbClr val="B84E00"/>
                </a:solidFill>
              </a:rPr>
              <a:t>-</a:t>
            </a:r>
            <a:r>
              <a:rPr dirty="0" err="1">
                <a:solidFill>
                  <a:srgbClr val="B84E00"/>
                </a:solidFill>
              </a:rPr>
              <a:t>DZephyr_DIR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800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$</a:t>
            </a:r>
            <a:r>
              <a:rPr dirty="0">
                <a:solidFill>
                  <a:srgbClr val="B84E00"/>
                </a:solidFill>
              </a:rPr>
              <a:t>ZEPHYR_BASE</a:t>
            </a:r>
            <a:r>
              <a:rPr dirty="0">
                <a:solidFill>
                  <a:srgbClr val="0070C0"/>
                </a:solidFill>
              </a:rPr>
              <a:t>/share/zephyr-package/</a:t>
            </a:r>
            <a:r>
              <a:rPr dirty="0" err="1">
                <a:solidFill>
                  <a:srgbClr val="0070C0"/>
                </a:solidFill>
              </a:rPr>
              <a:t>cmake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" \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"</a:t>
            </a:r>
            <a:r>
              <a:rPr dirty="0">
                <a:solidFill>
                  <a:srgbClr val="B84E00"/>
                </a:solidFill>
              </a:rPr>
              <a:t>-DPython3_EXECUTABLE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=$(</a:t>
            </a:r>
            <a:r>
              <a:rPr dirty="0" err="1">
                <a:solidFill>
                  <a:srgbClr val="A02B93"/>
                </a:solidFill>
              </a:rPr>
              <a:t>cygpath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-m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"$(</a:t>
            </a:r>
            <a:r>
              <a:rPr sz="1800" b="0" dirty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command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-v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b="0" dirty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python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)")"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E488FBF7-8BF2-4430-B9A2-9596289E3A92}"/>
              </a:ext>
            </a:extLst>
          </p:cNvPr>
          <p:cNvSpPr>
            <a:spLocks noGrp="1"/>
          </p:cNvSpPr>
          <p:nvPr/>
        </p:nvSpPr>
        <p:spPr>
          <a:xfrm>
            <a:off x="609600" y="3804560"/>
            <a:ext cx="10972800" cy="187710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solidFill>
                  <a:srgbClr val="B84E00"/>
                </a:solidFill>
              </a:rPr>
              <a:t>-S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指官方应用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solidFill>
                  <a:srgbClr val="B84E00"/>
                </a:solidFill>
              </a:rPr>
              <a:t>-B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目录由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创建，保存本次状态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solidFill>
                  <a:srgbClr val="B84E00"/>
                </a:solidFill>
              </a:rPr>
              <a:t>-G</a:t>
            </a:r>
            <a:r>
              <a:rPr dirty="0">
                <a:solidFill>
                  <a:srgbClr val="B84E00"/>
                </a:solidFill>
              </a:rPr>
              <a:t> Ninja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选择构建后端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solidFill>
                  <a:srgbClr val="B84E00"/>
                </a:solidFill>
              </a:rPr>
              <a:t>BOARD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由 Zephyr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选硬件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看到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Configuring done / Generating done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后，才进入编译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6E989194-5B80-4DC2-B087-A122F902C37E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官方说明：CMake 官方命令行手册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8F7F853A-C71A-4AD2-99B5-45CF8A01C722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源码定位：</a:t>
            </a:r>
            <a:r>
              <a:rPr u="sng">
                <a:solidFill>
                  <a:srgbClr val="0070C0"/>
                </a:solidFill>
                <a:hlinkClick r:id="rId4"/>
              </a:rPr>
              <a:t>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B8E35B89-3716-4FDA-A6A4-B30C50E21B58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完整命令 8.2-01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EAA6828E-04EC-421B-A39A-8A306878DE3A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6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0359848-F517-41CF-80BA-AA6F036D13F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1ABD51-CA7E-4F85-A0F8-E6134EAA95D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编译与增量构建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1E976A9D-B880-4571-BB5A-09B13DB19EEB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8.2.3 · ① 配置和构建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FB08065D-0DD1-4A34-BFCA-04CD2ADF8F19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76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UCRT64；源码根；上一页配置成功，.venv 已激活。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前一步成功后才检查 ELF，再观察增量构建。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 xml:space="preserve"> </a:t>
            </a:r>
            <a:r>
              <a:rPr>
                <a:solidFill>
                  <a:srgbClr val="B84E00"/>
                </a:solidFill>
              </a:rPr>
              <a:t>--build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 xml:space="preserve"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 xml:space="preserve"> </a:t>
            </a:r>
            <a:r>
              <a:rPr>
                <a:solidFill>
                  <a:srgbClr val="B84E00"/>
                </a:solidFill>
              </a:rPr>
              <a:t>--parallel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 xml:space="preserve"> 4</a:t>
            </a:r>
            <a:r>
              <a:rPr>
                <a:solidFill>
                  <a:srgbClr val="29263B"/>
                </a:solidFill>
              </a:rPr>
              <a:t xml:space="preserve"> &amp;&amp;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ls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 xml:space="preserve"> </a:t>
            </a:r>
            <a:r>
              <a:rPr sz="18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-l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 xml:space="preserve"> </a:t>
            </a:r>
            <a:r>
              <a:rPr>
                <a:solidFill>
                  <a:srgbClr val="0070C0"/>
                </a:solidFill>
              </a:rPr>
              <a:t>build/learning-tools/p003/cmake-demo/zephyr/zephyr.elf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 xml:space="preserve"> &amp;&amp;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 xml:space="preserve"> </a:t>
            </a:r>
            <a:r>
              <a:rPr>
                <a:solidFill>
                  <a:srgbClr val="B84E00"/>
                </a:solidFill>
              </a:rPr>
              <a:t>--build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 xml:space="preserve"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 xml:space="preserve"> </a:t>
            </a:r>
            <a:r>
              <a:rPr>
                <a:solidFill>
                  <a:srgbClr val="B84E00"/>
                </a:solidFill>
              </a:rPr>
              <a:t>--parallel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 xml:space="preserve"> 4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B380A353-D010-4677-BF45-31CFBED9405A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097280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</a:rPr>
              <a:t xml:space="preserve">cmake </a:t>
            </a:r>
            <a:r>
              <a:rPr>
                <a:solidFill>
                  <a:srgbClr val="B84E00"/>
                </a:solidFill>
              </a:rPr>
              <a:t>--build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 xml:space="preserve"> 调用已配置的 Ninja，不再重复选板。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 xml:space="preserve">本次构建成功才核对 </a:t>
            </a:r>
            <a:r>
              <a:rPr>
                <a:solidFill>
                  <a:srgbClr val="0070C0"/>
                </a:solidFill>
              </a:rPr>
              <a:t>zephyr/zephyr.elf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；旧文件不能证明本次成功。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 xml:space="preserve">修改 </a:t>
            </a:r>
            <a:r>
              <a:rPr>
                <a:solidFill>
                  <a:srgbClr val="0070C0"/>
                </a:solidFill>
              </a:rPr>
              <a:t>main.c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 xml:space="preserve"> 后仍用这条命令，按依赖更新对象与链接。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9D03A7BD-5433-4A96-9307-6300DBF13B6F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官方说明：CMake 官方命令行手册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4AC590AF-014C-45D2-810D-0CE20F661380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源码定位：</a:t>
            </a:r>
            <a:r>
              <a:rPr u="sng">
                <a:solidFill>
                  <a:srgbClr val="0070C0"/>
                </a:solidFill>
                <a:hlinkClick r:id="rId4"/>
              </a:rPr>
              <a:t>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5B976304-8D65-4FB8-9B30-5C44109FE42E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完整命令 8.2-02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282DFC75-21BE-4413-8A7A-0672C09F5D9C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6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4449D21-4994-45A6-A9CE-E66E87F5A53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458C979-C879-4A4F-9C02-41A4D1C8263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并行、详细输出与指定目标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B3CCEFDF-EB05-43F3-8C9B-1700C87E6CC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8.2.4 · ① 常用构建方式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3E06BD91-635B-4BD4-A28F-67406A6FD036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76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UCRT64；源码根；前提：</a:t>
            </a:r>
            <a:r>
              <a:rPr>
                <a:solidFill>
                  <a:srgbClr val="646173"/>
                </a:solidFill>
              </a:rPr>
              <a:t>cmake</a:t>
            </a: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-demo 已配置，.venv 已激活。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--build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--parallel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4 </a:t>
            </a:r>
            <a:r>
              <a:rPr>
                <a:solidFill>
                  <a:srgbClr val="B84E00"/>
                </a:solidFill>
              </a:rPr>
              <a:t>--verbose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help 列出本例 Ninja 工程可用目标。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--build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--target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help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4159FC9B-FFDD-44CF-A5EC-0CAC4649312A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097280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--parallel</a:t>
            </a:r>
            <a:r>
              <a:rPr>
                <a:solidFill>
                  <a:srgbClr val="B84E00"/>
                </a:solidFill>
              </a:rPr>
              <a:t> 4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限制并行任务，</a:t>
            </a:r>
            <a:r>
              <a:rPr>
                <a:solidFill>
                  <a:srgbClr val="B84E00"/>
                </a:solidFill>
              </a:rPr>
              <a:t>--verbose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打印本次实际命令。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工程已是最新状态时，详细输出不会强制重编译。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--target</a:t>
            </a:r>
            <a:r>
              <a:rPr>
                <a:solidFill>
                  <a:srgbClr val="B84E00"/>
                </a:solidFill>
              </a:rPr>
              <a:t> app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只构建应用库，不能据此认定固件已链接。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>
                <a:solidFill>
                  <a:srgbClr val="A02B93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--build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后的 </a:t>
            </a:r>
            <a:r>
              <a:rPr>
                <a:solidFill>
                  <a:srgbClr val="B84E00"/>
                </a:solidFill>
              </a:rPr>
              <a:t>--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把参数交给后端，不接收配置 </a:t>
            </a:r>
            <a:r>
              <a:rPr>
                <a:solidFill>
                  <a:srgbClr val="B84E00"/>
                </a:solidFill>
              </a:rPr>
              <a:t>-D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A4FFF865-5AE4-41AE-9A55-19BCE4509666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官方说明：CMake 官方命令行手册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700B0AC1-EAE1-4D04-B4AC-E63D01DB0D4A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源码定位：</a:t>
            </a:r>
            <a:r>
              <a:rPr u="sng">
                <a:solidFill>
                  <a:srgbClr val="0070C0"/>
                </a:solidFill>
                <a:hlinkClick r:id="rId4"/>
              </a:rPr>
              <a:t>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B3C5F1CB-561F-498A-8B55-E8BDBEEF20FA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完整命令 8.2-03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8641ECEA-5634-4C81-9A85-413EE0BF5C2F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6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ED233F4-C191-485E-8251-98A63409E07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3CFF0FD-8AC7-434E-938F-FBAD6EFF5AF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官方应用入口中的文件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FD9FBF25-961F-42FB-9B83-250A4EB7F653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8.1.2 · ① 应用与构建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65403285-4382-4463-8E7D-BCB26555DB30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samples/hello_world/CMakeLists.txt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：官方原有，描述构建入口。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src/main.c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：官方原有，应用代码。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prj.conf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：官方原有，应用提出的 Kconfig 配置请求。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构建目录的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CMakeCache.txt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build.ninja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zephyr.elf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由工具在后续生成；现在没有它们，不必手动创建。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本章路径相对实验源码根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G:/zephyr_practice/zephyr-main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7A7CBD66-761F-480B-8E69-925090E28D0C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doc/develop/application/index.rst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34261846-3FBC-4B0F-919B-7B0B195AD4A4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samples/hello_world/CMakeLists.txt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3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50F19F64-DCF7-4165-88D3-C3CE7101E418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778BDDE-4070-45EC-A1F6-973E41709C1E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1AAB036-67E8-4EE9-AA77-176E0D609E3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五行入口怎样让应用使用 Zephyr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67C477CA-7F8B-415D-AF1C-CB420BC2B593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8.1.2 · ① 应用与构建</a:t>
            </a:r>
          </a:p>
        </p:txBody>
      </p:sp>
      <p:sp>
        <p:nvSpPr>
          <p:cNvPr id="4" name="Read-only source code">
            <a:extLst>
              <a:ext uri="{FF2B5EF4-FFF2-40B4-BE49-F238E27FC236}">
                <a16:creationId xmlns:a16="http://schemas.microsoft.com/office/drawing/2014/main" id="{13545568-022F-4673-B7E6-B555903F6AF7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47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800" b="0" dirty="0" err="1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只读：</a:t>
            </a:r>
            <a:r>
              <a:rPr sz="1800" b="0" dirty="0" err="1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samples</a:t>
            </a:r>
            <a:r>
              <a:rPr sz="1800" b="0" dirty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800" b="0" dirty="0" err="1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hello_world</a:t>
            </a:r>
            <a:r>
              <a:rPr sz="1800" b="0" dirty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/CMakeLists.txt</a:t>
            </a:r>
            <a:r>
              <a:rPr sz="1800" b="0" dirty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b="0" dirty="0" err="1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原有主体</a:t>
            </a:r>
            <a:r>
              <a:rPr sz="1800" b="0" dirty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。</a:t>
            </a:r>
          </a:p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 err="1">
                <a:solidFill>
                  <a:srgbClr val="087B3D"/>
                </a:solidFill>
                <a:latin typeface="Consolas"/>
                <a:ea typeface="Consolas"/>
                <a:cs typeface="Consolas"/>
              </a:rPr>
              <a:t>cmake_minimum_required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800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VERSION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3.28.0)</a:t>
            </a:r>
          </a:p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 err="1">
                <a:solidFill>
                  <a:srgbClr val="087B3D"/>
                </a:solidFill>
                <a:latin typeface="Consolas"/>
                <a:ea typeface="Consolas"/>
                <a:cs typeface="Consolas"/>
              </a:rPr>
              <a:t>find_package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(Zephyr </a:t>
            </a:r>
            <a:r>
              <a:rPr sz="1800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REQUIRED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HINTS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$ENV{</a:t>
            </a:r>
            <a:r>
              <a:rPr sz="1800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ZEPHYR_BASE</a:t>
            </a:r>
            <a:r>
              <a:rPr sz="1800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>
                <a:solidFill>
                  <a:srgbClr val="087B3D"/>
                </a:solidFill>
                <a:latin typeface="Consolas"/>
                <a:ea typeface="Consolas"/>
                <a:cs typeface="Consolas"/>
              </a:rPr>
              <a:t>project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800" b="0" dirty="0" err="1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hello_world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20000"/>
              </a:lnSpc>
              <a:defRPr sz="1800" b="0">
                <a:solidFill>
                  <a:srgbClr val="006579"/>
                </a:solidFill>
                <a:latin typeface="Consolas"/>
                <a:ea typeface="Consolas"/>
                <a:cs typeface="Consolas"/>
              </a:defRPr>
            </a:pPr>
            <a:r>
              <a:rPr sz="1800" b="0" dirty="0" err="1">
                <a:solidFill>
                  <a:srgbClr val="087B3D"/>
                </a:solidFill>
                <a:latin typeface="Consolas"/>
                <a:ea typeface="Consolas"/>
                <a:cs typeface="Consolas"/>
              </a:rPr>
              <a:t>target_sources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(app </a:t>
            </a:r>
            <a:r>
              <a:rPr sz="1800" b="0" dirty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PRIVATE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b="0" dirty="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src</a:t>
            </a:r>
            <a:r>
              <a:rPr sz="1800" b="0" dirty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800" b="0" dirty="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main.c</a:t>
            </a:r>
            <a:r>
              <a:rPr sz="1800" b="0" dirty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73DAD6A9-8335-42A0-9CB0-B280E9407715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10972800" cy="1314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先找到并执行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Zephyr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包，建立构建环境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再给应用命名，把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main.c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放进已创建的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app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目标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HINTS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中的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$ENV{</a:t>
            </a: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ZEPHYR_BASE</a:t>
            </a: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}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读取进程环境提供搜索线索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008CAF84-FE30-4E1A-9BD5-A610E1428016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doc/develop/application/index.rst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5E5DDA30-44FA-4277-90AE-13354A215F58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samples/hello_world/CMakeLists.txt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3 行附近</a:t>
            </a:r>
          </a:p>
        </p:txBody>
      </p:sp>
      <p:sp>
        <p:nvSpPr>
          <p:cNvPr id="8" name="Chapter link">
            <a:extLst>
              <a:ext uri="{FF2B5EF4-FFF2-40B4-BE49-F238E27FC236}">
                <a16:creationId xmlns:a16="http://schemas.microsoft.com/office/drawing/2014/main" id="{236675D9-4AA2-4170-91E8-2D8C7B278F8C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A4F7719-26F7-4D8C-829C-891C8E686F9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096EECE-4447-4490-A76D-998CF2C0CD5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app 是构建目标，不是开发板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DA38A59F-7FB6-43D2-9E26-7ADA80FB519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8.1.2 · ① 应用与构建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3329301E-6BF5-41F6-88C3-34EFDFE94CE0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target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可以表示库、可执行文件或生成任务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在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kernel.cmake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中创建名为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app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的库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应用的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target_sources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(app </a:t>
            </a: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PRIVATE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src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main.c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)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给它添加源码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PRIVATE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表示该源码用于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app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自身，不继续传播给其他目标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内核和驱动也形成目标，最终共同链接成固件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因此文件在目录里存在，不等于它已经加入构建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1B760202-E757-4A0C-8846-11CF6A184037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doc/build/cmake/index.rst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E79FEFB9-A702-490D-81E1-8DE5F293D3AE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cmake/modules/kernel.cmake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236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D074DF1F-1625-4459-BFB0-ABDDA2F4F1FE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3A7CE05-8F44-48B6-B66B-88FEA57F233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950C720-B032-411B-8823-60E5C43C0FC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find_package</a:t>
            </a: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进入的实际调用链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DE7E7F5F-8948-4416-ACDE-84D034F3F85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8.1.3 · ① 应用与构建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B37D756E-733E-4F7C-8AE1-B229F5C601DB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ZephyrConfig.cmake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确定源码根，并让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找到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Zephyr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zephyr_default.cmake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按规定顺序执行初始化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alt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kernel.cmake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创建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app，再进入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Zephyr 根 </a:t>
            </a:r>
            <a:r>
              <a:rPr sz="1950" b="0" dirty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CMakeLists.txt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altLang="en-US" sz="1950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完成后返回应用，继续执行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target_sources</a:t>
            </a:r>
            <a:r>
              <a:rPr sz="1950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Flow stage 0">
            <a:extLst>
              <a:ext uri="{FF2B5EF4-FFF2-40B4-BE49-F238E27FC236}">
                <a16:creationId xmlns:a16="http://schemas.microsoft.com/office/drawing/2014/main" id="{69C8DF8A-B91C-480E-91E2-434E7E643BBE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应用入口</a:t>
            </a:r>
          </a:p>
        </p:txBody>
      </p:sp>
      <p:sp>
        <p:nvSpPr>
          <p:cNvPr id="6" name="Flow arrow 0">
            <a:extLst>
              <a:ext uri="{FF2B5EF4-FFF2-40B4-BE49-F238E27FC236}">
                <a16:creationId xmlns:a16="http://schemas.microsoft.com/office/drawing/2014/main" id="{6AF928D8-C71B-4865-9C3E-1D75FB64A415}"/>
              </a:ext>
            </a:extLst>
          </p:cNvPr>
          <p:cNvSpPr>
            <a:spLocks noGrp="1"/>
          </p:cNvSpPr>
          <p:nvPr/>
        </p:nvSpPr>
        <p:spPr>
          <a:xfrm>
            <a:off x="3148013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Flow stage 1">
            <a:extLst>
              <a:ext uri="{FF2B5EF4-FFF2-40B4-BE49-F238E27FC236}">
                <a16:creationId xmlns:a16="http://schemas.microsoft.com/office/drawing/2014/main" id="{B0E052F0-FCB3-4FC0-8D5E-65F139215B3D}"/>
              </a:ext>
            </a:extLst>
          </p:cNvPr>
          <p:cNvSpPr>
            <a:spLocks noGrp="1"/>
          </p:cNvSpPr>
          <p:nvPr/>
        </p:nvSpPr>
        <p:spPr>
          <a:xfrm>
            <a:off x="3433763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ZephyrConfig</a:t>
            </a:r>
          </a:p>
        </p:txBody>
      </p:sp>
      <p:sp>
        <p:nvSpPr>
          <p:cNvPr id="8" name="Flow arrow 1">
            <a:extLst>
              <a:ext uri="{FF2B5EF4-FFF2-40B4-BE49-F238E27FC236}">
                <a16:creationId xmlns:a16="http://schemas.microsoft.com/office/drawing/2014/main" id="{6C852093-CA0C-4D89-A2F2-DE7EFFDEDA6F}"/>
              </a:ext>
            </a:extLst>
          </p:cNvPr>
          <p:cNvSpPr>
            <a:spLocks noGrp="1"/>
          </p:cNvSpPr>
          <p:nvPr/>
        </p:nvSpPr>
        <p:spPr>
          <a:xfrm>
            <a:off x="5972175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Flow stage 2">
            <a:extLst>
              <a:ext uri="{FF2B5EF4-FFF2-40B4-BE49-F238E27FC236}">
                <a16:creationId xmlns:a16="http://schemas.microsoft.com/office/drawing/2014/main" id="{063F9A39-FDEF-401B-ACB5-D75C77D808D9}"/>
              </a:ext>
            </a:extLst>
          </p:cNvPr>
          <p:cNvSpPr>
            <a:spLocks noGrp="1"/>
          </p:cNvSpPr>
          <p:nvPr/>
        </p:nvSpPr>
        <p:spPr>
          <a:xfrm>
            <a:off x="6257925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默认初始化</a:t>
            </a:r>
          </a:p>
        </p:txBody>
      </p:sp>
      <p:sp>
        <p:nvSpPr>
          <p:cNvPr id="10" name="Flow arrow 2">
            <a:extLst>
              <a:ext uri="{FF2B5EF4-FFF2-40B4-BE49-F238E27FC236}">
                <a16:creationId xmlns:a16="http://schemas.microsoft.com/office/drawing/2014/main" id="{952603A1-BA8D-4E9D-B07F-604CAC8EC9D6}"/>
              </a:ext>
            </a:extLst>
          </p:cNvPr>
          <p:cNvSpPr>
            <a:spLocks noGrp="1"/>
          </p:cNvSpPr>
          <p:nvPr/>
        </p:nvSpPr>
        <p:spPr>
          <a:xfrm>
            <a:off x="8796338" y="4905375"/>
            <a:ext cx="2571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Flow stage 3">
            <a:extLst>
              <a:ext uri="{FF2B5EF4-FFF2-40B4-BE49-F238E27FC236}">
                <a16:creationId xmlns:a16="http://schemas.microsoft.com/office/drawing/2014/main" id="{CA3B00EB-F501-49D4-A447-7B21700E7140}"/>
              </a:ext>
            </a:extLst>
          </p:cNvPr>
          <p:cNvSpPr>
            <a:spLocks noGrp="1"/>
          </p:cNvSpPr>
          <p:nvPr/>
        </p:nvSpPr>
        <p:spPr>
          <a:xfrm>
            <a:off x="9082088" y="4762500"/>
            <a:ext cx="2500313" cy="695325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内核与各库</a:t>
            </a:r>
          </a:p>
        </p:txBody>
      </p:sp>
      <p:sp>
        <p:nvSpPr>
          <p:cNvPr id="12" name="Official doc link">
            <a:extLst>
              <a:ext uri="{FF2B5EF4-FFF2-40B4-BE49-F238E27FC236}">
                <a16:creationId xmlns:a16="http://schemas.microsoft.com/office/drawing/2014/main" id="{2309D9A3-57A0-427B-9E12-D4F94FA82C4F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doc/build/zephyr_cmake_package.rst</a:t>
            </a:r>
          </a:p>
        </p:txBody>
      </p:sp>
      <p:sp>
        <p:nvSpPr>
          <p:cNvPr id="13" name="Implementation link">
            <a:extLst>
              <a:ext uri="{FF2B5EF4-FFF2-40B4-BE49-F238E27FC236}">
                <a16:creationId xmlns:a16="http://schemas.microsoft.com/office/drawing/2014/main" id="{C222BE8C-A435-4B3F-9286-F765BC70B9C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share/zephyr-package/cmake/ZephyrConfig.cmake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28 行附近</a:t>
            </a:r>
          </a:p>
        </p:txBody>
      </p:sp>
      <p:sp>
        <p:nvSpPr>
          <p:cNvPr id="14" name="Chapter link">
            <a:extLst>
              <a:ext uri="{FF2B5EF4-FFF2-40B4-BE49-F238E27FC236}">
                <a16:creationId xmlns:a16="http://schemas.microsoft.com/office/drawing/2014/main" id="{29B42598-FFE0-4D39-8C78-F3A2981EF687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F0BF9F1-192B-446B-AA0A-5A81D7BF29DE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26890</Words>
  <Application>Microsoft Office PowerPoint</Application>
  <DocSecurity>0</DocSecurity>
  <PresentationFormat>宽屏</PresentationFormat>
  <Paragraphs>2401</Paragraphs>
  <Slides>20</Slides>
  <Notes>57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57</vt:i4>
      </vt:variant>
    </vt:vector>
  </HeadingPairs>
  <TitlesOfParts>
    <vt:vector size="71" baseType="lpstr">
      <vt:lpstr>Noto Sans SC</vt:lpstr>
      <vt:lpstr>Microsoft YaHei</vt:lpstr>
      <vt:lpstr>Aptos</vt:lpstr>
      <vt:lpstr>Consolas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兆军 李</cp:lastModifiedBy>
  <cp:revision>182</cp:revision>
  <dcterms:created xsi:type="dcterms:W3CDTF">2026-10-06T03:23:18Z</dcterms:created>
  <dcterms:modified xsi:type="dcterms:W3CDTF">2026-10-07T07:14:56Z</dcterms:modified>
</cp:coreProperties>
</file>