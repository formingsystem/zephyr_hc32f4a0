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8_1.xml" ContentType="application/vnd.openxmlformats-officedocument.presentationml.slide+xml"/>
  <Override PartName="/ppt/notesSlides/lesson_8_1.xml" ContentType="application/vnd.openxmlformats-officedocument.presentationml.notesSlide+xml"/>
  <Override PartName="/ppt/slides/lesson_8_2.xml" ContentType="application/vnd.openxmlformats-officedocument.presentationml.slide+xml"/>
  <Override PartName="/ppt/notesSlides/lesson_8_2.xml" ContentType="application/vnd.openxmlformats-officedocument.presentationml.notesSlide+xml"/>
  <Override PartName="/ppt/slides/lesson_8_3.xml" ContentType="application/vnd.openxmlformats-officedocument.presentationml.slide+xml"/>
  <Override PartName="/ppt/notesSlides/lesson_8_3.xml" ContentType="application/vnd.openxmlformats-officedocument.presentationml.notesSlide+xml"/>
  <Override PartName="/ppt/slides/lesson_8_4.xml" ContentType="application/vnd.openxmlformats-officedocument.presentationml.slide+xml"/>
  <Override PartName="/ppt/notesSlides/lesson_8_4.xml" ContentType="application/vnd.openxmlformats-officedocument.presentationml.notesSlide+xml"/>
  <Override PartName="/ppt/slides/lesson_8_5.xml" ContentType="application/vnd.openxmlformats-officedocument.presentationml.slide+xml"/>
  <Override PartName="/ppt/notesSlides/lesson_8_5.xml" ContentType="application/vnd.openxmlformats-officedocument.presentationml.notesSlide+xml"/>
  <Override PartName="/ppt/slides/lesson_8_6.xml" ContentType="application/vnd.openxmlformats-officedocument.presentationml.slide+xml"/>
  <Override PartName="/ppt/notesSlides/lesson_8_6.xml" ContentType="application/vnd.openxmlformats-officedocument.presentationml.notesSlide+xml"/>
  <Override PartName="/ppt/slides/lesson_8_7.xml" ContentType="application/vnd.openxmlformats-officedocument.presentationml.slide+xml"/>
  <Override PartName="/ppt/notesSlides/lesson_8_7.xml" ContentType="application/vnd.openxmlformats-officedocument.presentationml.notesSlide+xml"/>
  <Override PartName="/ppt/slides/lesson_8_8.xml" ContentType="application/vnd.openxmlformats-officedocument.presentationml.slide+xml"/>
  <Override PartName="/ppt/notesSlides/lesson_8_8.xml" ContentType="application/vnd.openxmlformats-officedocument.presentationml.notesSlide+xml"/>
  <Override PartName="/ppt/slides/lesson_8_9.xml" ContentType="application/vnd.openxmlformats-officedocument.presentationml.slide+xml"/>
  <Override PartName="/ppt/notesSlides/lesson_8_9.xml" ContentType="application/vnd.openxmlformats-officedocument.presentationml.notesSlide+xml"/>
  <Override PartName="/ppt/slides/lesson_8_10.xml" ContentType="application/vnd.openxmlformats-officedocument.presentationml.slide+xml"/>
  <Override PartName="/ppt/notesSlides/lesson_8_10.xml" ContentType="application/vnd.openxmlformats-officedocument.presentationml.notesSlide+xml"/>
  <Override PartName="/ppt/slides/lesson_8_11.xml" ContentType="application/vnd.openxmlformats-officedocument.presentationml.slide+xml"/>
  <Override PartName="/ppt/notesSlides/lesson_8_11.xml" ContentType="application/vnd.openxmlformats-officedocument.presentationml.notesSlide+xml"/>
  <Override PartName="/ppt/slides/lesson_8_12.xml" ContentType="application/vnd.openxmlformats-officedocument.presentationml.slide+xml"/>
  <Override PartName="/ppt/notesSlides/lesson_8_12.xml" ContentType="application/vnd.openxmlformats-officedocument.presentationml.notesSlide+xml"/>
  <Override PartName="/ppt/slides/lesson_8_13.xml" ContentType="application/vnd.openxmlformats-officedocument.presentationml.slide+xml"/>
  <Override PartName="/ppt/notesSlides/lesson_8_13.xml" ContentType="application/vnd.openxmlformats-officedocument.presentationml.notesSlide+xml"/>
  <Override PartName="/ppt/slides/lesson_8_14.xml" ContentType="application/vnd.openxmlformats-officedocument.presentationml.slide+xml"/>
  <Override PartName="/ppt/notesSlides/lesson_8_14.xml" ContentType="application/vnd.openxmlformats-officedocument.presentationml.notesSlide+xml"/>
  <Override PartName="/ppt/slides/lesson_8_15.xml" ContentType="application/vnd.openxmlformats-officedocument.presentationml.slide+xml"/>
  <Override PartName="/ppt/notesSlides/lesson_8_15.xml" ContentType="application/vnd.openxmlformats-officedocument.presentationml.notesSlide+xml"/>
  <Override PartName="/ppt/slides/lesson_8_16.xml" ContentType="application/vnd.openxmlformats-officedocument.presentationml.slide+xml"/>
  <Override PartName="/ppt/notesSlides/lesson_8_16.xml" ContentType="application/vnd.openxmlformats-officedocument.presentationml.notesSlide+xml"/>
  <Override PartName="/ppt/slides/lesson_8_17.xml" ContentType="application/vnd.openxmlformats-officedocument.presentationml.slide+xml"/>
  <Override PartName="/ppt/notesSlides/lesson_8_17.xml" ContentType="application/vnd.openxmlformats-officedocument.presentationml.notesSlide+xml"/>
  <Override PartName="/ppt/slides/lesson_8_18.xml" ContentType="application/vnd.openxmlformats-officedocument.presentationml.slide+xml"/>
  <Override PartName="/ppt/notesSlides/lesson_8_18.xml" ContentType="application/vnd.openxmlformats-officedocument.presentationml.notesSlide+xml"/>
  <Override PartName="/ppt/slides/lesson_8_19.xml" ContentType="application/vnd.openxmlformats-officedocument.presentationml.slide+xml"/>
  <Override PartName="/ppt/notesSlides/lesson_8_19.xml" ContentType="application/vnd.openxmlformats-officedocument.presentationml.notesSlide+xml"/>
  <Override PartName="/ppt/slides/lesson_8_20.xml" ContentType="application/vnd.openxmlformats-officedocument.presentationml.slide+xml"/>
  <Override PartName="/ppt/notesSlides/lesson_8_20.xml" ContentType="application/vnd.openxmlformats-officedocument.presentationml.notesSlide+xml"/>
  <Override PartName="/ppt/slides/lesson_8_21.xml" ContentType="application/vnd.openxmlformats-officedocument.presentationml.slide+xml"/>
  <Override PartName="/ppt/notesSlides/lesson_8_21.xml" ContentType="application/vnd.openxmlformats-officedocument.presentationml.notesSlide+xml"/>
  <Override PartName="/ppt/slides/lesson_8_22.xml" ContentType="application/vnd.openxmlformats-officedocument.presentationml.slide+xml"/>
  <Override PartName="/ppt/notesSlides/lesson_8_22.xml" ContentType="application/vnd.openxmlformats-officedocument.presentationml.notesSlide+xml"/>
  <Override PartName="/ppt/slides/lesson_8_23.xml" ContentType="application/vnd.openxmlformats-officedocument.presentationml.slide+xml"/>
  <Override PartName="/ppt/notesSlides/lesson_8_23.xml" ContentType="application/vnd.openxmlformats-officedocument.presentationml.notesSlide+xml"/>
  <Override PartName="/ppt/slides/lesson_8_24.xml" ContentType="application/vnd.openxmlformats-officedocument.presentationml.slide+xml"/>
  <Override PartName="/ppt/notesSlides/lesson_8_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256" r:id="rIdLesson1"/>
    <p:sldId id="257" r:id="rIdLesson2"/>
    <p:sldId id="258" r:id="rIdLesson3"/>
    <p:sldId id="259" r:id="rIdLesson4"/>
    <p:sldId id="260" r:id="rIdLesson5"/>
    <p:sldId id="261" r:id="rIdLesson6"/>
    <p:sldId id="262" r:id="rIdLesson7"/>
    <p:sldId id="263" r:id="rIdLesson8"/>
    <p:sldId id="264" r:id="rIdLesson9"/>
    <p:sldId id="265" r:id="rIdLesson10"/>
    <p:sldId id="266" r:id="rIdLesson11"/>
    <p:sldId id="267" r:id="rIdLesson12"/>
    <p:sldId id="268" r:id="rIdLesson13"/>
    <p:sldId id="269" r:id="rIdLesson14"/>
    <p:sldId id="270" r:id="rIdLesson15"/>
    <p:sldId id="271" r:id="rIdLesson16"/>
    <p:sldId id="272" r:id="rIdLesson17"/>
    <p:sldId id="273" r:id="rIdLesson18"/>
    <p:sldId id="274" r:id="rIdLesson19"/>
    <p:sldId id="275" r:id="rIdLesson20"/>
    <p:sldId id="276" r:id="rIdLesson21"/>
    <p:sldId id="277" r:id="rIdLesson22"/>
    <p:sldId id="278" r:id="rIdLesson23"/>
    <p:sldId id="279" r:id="rIdLesson24"/>
    <p:sldId id="280" r:id="rIdLesson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Lesson1" Type="http://schemas.openxmlformats.org/officeDocument/2006/relationships/slide" Target="slides/slide1.xml"/><Relationship Id="rIdLesson2" Type="http://schemas.openxmlformats.org/officeDocument/2006/relationships/slide" Target="slides/lesson_8_1.xml"/><Relationship Id="rIdLesson3" Type="http://schemas.openxmlformats.org/officeDocument/2006/relationships/slide" Target="slides/lesson_8_2.xml"/><Relationship Id="rIdLesson4" Type="http://schemas.openxmlformats.org/officeDocument/2006/relationships/slide" Target="slides/lesson_8_3.xml"/><Relationship Id="rIdLesson5" Type="http://schemas.openxmlformats.org/officeDocument/2006/relationships/slide" Target="slides/lesson_8_4.xml"/><Relationship Id="rIdLesson6" Type="http://schemas.openxmlformats.org/officeDocument/2006/relationships/slide" Target="slides/lesson_8_5.xml"/><Relationship Id="rIdLesson7" Type="http://schemas.openxmlformats.org/officeDocument/2006/relationships/slide" Target="slides/lesson_8_6.xml"/><Relationship Id="rIdLesson8" Type="http://schemas.openxmlformats.org/officeDocument/2006/relationships/slide" Target="slides/lesson_8_7.xml"/><Relationship Id="rIdLesson9" Type="http://schemas.openxmlformats.org/officeDocument/2006/relationships/slide" Target="slides/lesson_8_8.xml"/><Relationship Id="rIdLesson10" Type="http://schemas.openxmlformats.org/officeDocument/2006/relationships/slide" Target="slides/lesson_8_9.xml"/><Relationship Id="rIdLesson11" Type="http://schemas.openxmlformats.org/officeDocument/2006/relationships/slide" Target="slides/lesson_8_10.xml"/><Relationship Id="rIdLesson12" Type="http://schemas.openxmlformats.org/officeDocument/2006/relationships/slide" Target="slides/lesson_8_11.xml"/><Relationship Id="rIdLesson13" Type="http://schemas.openxmlformats.org/officeDocument/2006/relationships/slide" Target="slides/lesson_8_12.xml"/><Relationship Id="rIdLesson14" Type="http://schemas.openxmlformats.org/officeDocument/2006/relationships/slide" Target="slides/lesson_8_13.xml"/><Relationship Id="rIdLesson15" Type="http://schemas.openxmlformats.org/officeDocument/2006/relationships/slide" Target="slides/lesson_8_14.xml"/><Relationship Id="rIdLesson16" Type="http://schemas.openxmlformats.org/officeDocument/2006/relationships/slide" Target="slides/lesson_8_15.xml"/><Relationship Id="rIdLesson17" Type="http://schemas.openxmlformats.org/officeDocument/2006/relationships/slide" Target="slides/lesson_8_16.xml"/><Relationship Id="rIdLesson18" Type="http://schemas.openxmlformats.org/officeDocument/2006/relationships/slide" Target="slides/lesson_8_17.xml"/><Relationship Id="rIdLesson19" Type="http://schemas.openxmlformats.org/officeDocument/2006/relationships/slide" Target="slides/lesson_8_18.xml"/><Relationship Id="rIdLesson20" Type="http://schemas.openxmlformats.org/officeDocument/2006/relationships/slide" Target="slides/lesson_8_19.xml"/><Relationship Id="rIdLesson21" Type="http://schemas.openxmlformats.org/officeDocument/2006/relationships/slide" Target="slides/lesson_8_20.xml"/><Relationship Id="rIdLesson22" Type="http://schemas.openxmlformats.org/officeDocument/2006/relationships/slide" Target="slides/lesson_8_21.xml"/><Relationship Id="rIdLesson23" Type="http://schemas.openxmlformats.org/officeDocument/2006/relationships/slide" Target="slides/lesson_8_22.xml"/><Relationship Id="rIdLesson24" Type="http://schemas.openxmlformats.org/officeDocument/2006/relationships/slide" Target="slides/lesson_8_23.xml"/><Relationship Id="rIdLesson25" Type="http://schemas.openxmlformats.org/officeDocument/2006/relationships/slide" Target="slides/lesson_8_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lesson_8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.xml"/><Relationship Id="rId1" Type="http://schemas.openxmlformats.org/officeDocument/2006/relationships/notesMaster" Target="../notesMasters/notesMaster1.xml"/></Relationships>
</file>

<file path=ppt/notesSlides/_rels/lesson_8_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.xml"/><Relationship Id="rId1" Type="http://schemas.openxmlformats.org/officeDocument/2006/relationships/notesMaster" Target="../notesMasters/notesMaster1.xml"/></Relationships>
</file>

<file path=ppt/notesSlides/_rels/lesson_8_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3.xml"/><Relationship Id="rId1" Type="http://schemas.openxmlformats.org/officeDocument/2006/relationships/notesMaster" Target="../notesMasters/notesMaster1.xml"/></Relationships>
</file>

<file path=ppt/notesSlides/_rels/lesson_8_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4.xml"/><Relationship Id="rId1" Type="http://schemas.openxmlformats.org/officeDocument/2006/relationships/notesMaster" Target="../notesMasters/notesMaster1.xml"/></Relationships>
</file>

<file path=ppt/notesSlides/_rels/lesson_8_5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5.xml"/><Relationship Id="rId1" Type="http://schemas.openxmlformats.org/officeDocument/2006/relationships/notesMaster" Target="../notesMasters/notesMaster1.xml"/></Relationships>
</file>

<file path=ppt/notesSlides/_rels/lesson_8_6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6.xml"/><Relationship Id="rId1" Type="http://schemas.openxmlformats.org/officeDocument/2006/relationships/notesMaster" Target="../notesMasters/notesMaster1.xml"/></Relationships>
</file>

<file path=ppt/notesSlides/_rels/lesson_8_7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7.xml"/><Relationship Id="rId1" Type="http://schemas.openxmlformats.org/officeDocument/2006/relationships/notesMaster" Target="../notesMasters/notesMaster1.xml"/></Relationships>
</file>

<file path=ppt/notesSlides/_rels/lesson_8_8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8.xml"/><Relationship Id="rId1" Type="http://schemas.openxmlformats.org/officeDocument/2006/relationships/notesMaster" Target="../notesMasters/notesMaster1.xml"/></Relationships>
</file>

<file path=ppt/notesSlides/_rels/lesson_8_9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9.xml"/><Relationship Id="rId1" Type="http://schemas.openxmlformats.org/officeDocument/2006/relationships/notesMaster" Target="../notesMasters/notesMaster1.xml"/></Relationships>
</file>

<file path=ppt/notesSlides/_rels/lesson_8_1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0.xml"/><Relationship Id="rId1" Type="http://schemas.openxmlformats.org/officeDocument/2006/relationships/notesMaster" Target="../notesMasters/notesMaster1.xml"/></Relationships>
</file>

<file path=ppt/notesSlides/_rels/lesson_8_1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1.xml"/><Relationship Id="rId1" Type="http://schemas.openxmlformats.org/officeDocument/2006/relationships/notesMaster" Target="../notesMasters/notesMaster1.xml"/></Relationships>
</file>

<file path=ppt/notesSlides/_rels/lesson_8_1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2.xml"/><Relationship Id="rId1" Type="http://schemas.openxmlformats.org/officeDocument/2006/relationships/notesMaster" Target="../notesMasters/notesMaster1.xml"/></Relationships>
</file>

<file path=ppt/notesSlides/_rels/lesson_8_1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3.xml"/><Relationship Id="rId1" Type="http://schemas.openxmlformats.org/officeDocument/2006/relationships/notesMaster" Target="../notesMasters/notesMaster1.xml"/></Relationships>
</file>

<file path=ppt/notesSlides/_rels/lesson_8_1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4.xml"/><Relationship Id="rId1" Type="http://schemas.openxmlformats.org/officeDocument/2006/relationships/notesMaster" Target="../notesMasters/notesMaster1.xml"/></Relationships>
</file>

<file path=ppt/notesSlides/_rels/lesson_8_15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5.xml"/><Relationship Id="rId1" Type="http://schemas.openxmlformats.org/officeDocument/2006/relationships/notesMaster" Target="../notesMasters/notesMaster1.xml"/></Relationships>
</file>

<file path=ppt/notesSlides/_rels/lesson_8_16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6.xml"/><Relationship Id="rId1" Type="http://schemas.openxmlformats.org/officeDocument/2006/relationships/notesMaster" Target="../notesMasters/notesMaster1.xml"/></Relationships>
</file>

<file path=ppt/notesSlides/_rels/lesson_8_17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7.xml"/><Relationship Id="rId1" Type="http://schemas.openxmlformats.org/officeDocument/2006/relationships/notesMaster" Target="../notesMasters/notesMaster1.xml"/></Relationships>
</file>

<file path=ppt/notesSlides/_rels/lesson_8_18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8.xml"/><Relationship Id="rId1" Type="http://schemas.openxmlformats.org/officeDocument/2006/relationships/notesMaster" Target="../notesMasters/notesMaster1.xml"/></Relationships>
</file>

<file path=ppt/notesSlides/_rels/lesson_8_19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19.xml"/><Relationship Id="rId1" Type="http://schemas.openxmlformats.org/officeDocument/2006/relationships/notesMaster" Target="../notesMasters/notesMaster1.xml"/></Relationships>
</file>

<file path=ppt/notesSlides/_rels/lesson_8_20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0.xml"/><Relationship Id="rId1" Type="http://schemas.openxmlformats.org/officeDocument/2006/relationships/notesMaster" Target="../notesMasters/notesMaster1.xml"/></Relationships>
</file>

<file path=ppt/notesSlides/_rels/lesson_8_2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1.xml"/><Relationship Id="rId1" Type="http://schemas.openxmlformats.org/officeDocument/2006/relationships/notesMaster" Target="../notesMasters/notesMaster1.xml"/></Relationships>
</file>

<file path=ppt/notesSlides/_rels/lesson_8_22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2.xml"/><Relationship Id="rId1" Type="http://schemas.openxmlformats.org/officeDocument/2006/relationships/notesMaster" Target="../notesMasters/notesMaster1.xml"/></Relationships>
</file>

<file path=ppt/notesSlides/_rels/lesson_8_23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3.xml"/><Relationship Id="rId1" Type="http://schemas.openxmlformats.org/officeDocument/2006/relationships/notesMaster" Target="../notesMasters/notesMaster1.xml"/></Relationships>
</file>

<file path=ppt/notesSlides/_rels/lesson_8_24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8_24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lesson_8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8.1—8.6 · 本册的完整路线</a:t>
            </a:r>
          </a:p>
          <a:p>
            <a:r>
              <a:t>P004 用过下载步骤，本册从零补齐工作区模型。</a:t>
            </a:r>
          </a:p>
          <a:p>
            <a:r>
              <a:t>P007 用过 CMake，本册再展开 west build 的调用。</a:t>
            </a:r>
          </a:p>
          <a:p>
            <a:r>
              <a:t>官方 west.yml 保留原样；独立清单实验在 learning/west。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8.1 · 先分清 Python 程序与项目源码</a:t>
            </a:r>
          </a:p>
          <a:p>
            <a:r>
              <a:t>west 装在 P002 的 .venv 中；新终端激活后复用，不重复安装。</a:t>
            </a:r>
          </a:p>
          <a:p>
            <a:r>
              <a:t>核心命令 init / list / update 管理 Git 项目。</a:t>
            </a:r>
          </a:p>
          <a:p>
            <a:r>
              <a:t>Zephyr 源码通过扩展提供 build / flash / debug 等命令。</a:t>
            </a:r>
          </a:p>
          <a:p>
            <a:r>
              <a:t>west --version 成功不代表 SDK、模块和扩展都已经准备好。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8.1 · Windows UCRT64</a:t>
            </a:r>
          </a:p>
          <a:p>
            <a:r>
              <a:t>预期 Python 3.12.10、west 1.5.0。</a:t>
            </a:r>
          </a:p>
          <a:p>
            <a:r>
              <a:t>找不到 west 时回 P002 检查 venv，不新建或删除 .west。</a:t>
            </a:r>
          </a:p>
          <a:p>
            <a:r>
              <a:t/>
            </a:r>
          </a:p>
          <a:p>
            <a:r>
              <a:t># Windows UCRT64；进入 P001 的源码根，复用 P002 创建的环境。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python --version</a:t>
            </a:r>
          </a:p>
          <a:p>
            <a:r>
              <a:t>west --version</a:t>
            </a:r>
          </a:p>
          <a:p>
            <a:r>
              <a:t>west --help</a:t>
            </a:r>
          </a:p>
          <a:p>
            <a:r>
              <a:t>依据：https://docs.zephyrproject.org/latest/develop/west/basics.html</a:t>
            </a:r>
          </a:p>
          <a:p>
            <a:r>
              <a:t>本机原件：doc/develop/west/basics.rst</a:t>
            </a:r>
          </a:p>
          <a:p>
            <a:r>
              <a:t>完整可复制操作：commands/P008_Windows/step-01.txt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8.2 · 本系列的实际目录</a:t>
            </a:r>
          </a:p>
          <a:p>
            <a:r>
              <a:t>G:/zephyr_practice 是工作区根，.west/config 标记并配置它。</a:t>
            </a:r>
          </a:p>
          <a:p>
            <a:r>
              <a:t>zephyr-main 放官方源码与清单；.venv 是 Python 环境。</a:t>
            </a:r>
          </a:p>
          <a:p>
            <a:r>
              <a:t>modules/hal/cmsis_6 在工作区根下，由 update 下载。</a:t>
            </a:r>
          </a:p>
          <a:p>
            <a:r>
              <a:t>路径字段相对工作区根，不要把外部模块复制覆盖源码内的接入规则。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8.2 · 文件不是自行创建的说明模板</a:t>
            </a:r>
          </a:p>
          <a:p>
            <a:r>
              <a:t>west 向上定位 .west，读取 config 的 manifest.path / manifest.file。</a:t>
            </a:r>
          </a:p>
          <a:p>
            <a:r>
              <a:t>本次组合成 zephyr-main/west.yml。</a:t>
            </a:r>
          </a:p>
          <a:p>
            <a:r>
              <a:t>该文件由官方源码提供，本章不替换它。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8.2 · 不无条件重复 init</a:t>
            </a:r>
          </a:p>
          <a:p>
            <a:r>
              <a:t>本次预期：G:/zephyr_practice、zephyr-main、west.yml。</a:t>
            </a:r>
          </a:p>
          <a:p>
            <a:r>
              <a:t>already initialized 说明已有工作区；核对位置，不删除 .west。</a:t>
            </a:r>
          </a:p>
          <a:p>
            <a:r>
              <a:t/>
            </a:r>
          </a:p>
          <a:p>
            <a:r>
              <a:t># Windows UCRT64；源码根；P002 环境已经存在。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west topdir</a:t>
            </a:r>
          </a:p>
          <a:p>
            <a:r>
              <a:t>west config manifest.path</a:t>
            </a:r>
          </a:p>
          <a:p>
            <a:r>
              <a:t>west config manifest.file</a:t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>完整可复制操作：commands/P008_Windows/step-02.txt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8.2 · 与上一页是互斥分支</a:t>
            </a:r>
          </a:p>
          <a:p>
            <a:r>
              <a:t>-l . 使用当前官方清单，生成父级 .west/config。</a:t>
            </a:r>
          </a:p>
          <a:p>
            <a:r>
              <a:t>不下载另一份 Zephyr，也不替读者下载 CMSIS。</a:t>
            </a:r>
          </a:p>
          <a:p>
            <a:r>
              <a:t>已有工作区的读者跳过本页操作。</a:t>
            </a:r>
          </a:p>
          <a:p>
            <a:r>
              <a:t/>
            </a:r>
          </a:p>
          <a:p>
            <a:r>
              <a:t># Windows UCRT64；仅“尚无工作区”分支。已有工作区跳过整块。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test -f west.yml &amp;&amp; west init -l . &amp;&amp;</a:t>
            </a:r>
          </a:p>
          <a:p>
            <a:r>
              <a:t>  west topdir &amp;&amp; west config manifest.path &amp;&amp; west config manifest.file</a:t>
            </a:r>
          </a:p>
          <a:p>
            <a:r>
              <a:t>依据：https://docs.zephyrproject.org/latest/develop/west/workspaces.html</a:t>
            </a:r>
          </a:p>
          <a:p>
            <a:r>
              <a:t>本机原件：doc/develop/west/workspaces.rst</a:t>
            </a:r>
          </a:p>
          <a:p>
            <a:r>
              <a:t>完整可复制操作：commands/P008_Windows/step-03.txt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8.3 · name / URL / revision / path</a:t>
            </a:r>
          </a:p>
          <a:p>
            <a:r>
              <a:t>name：命令中选择哪个项目；URL：从哪个仓库取。</a:t>
            </a:r>
          </a:p>
          <a:p>
            <a:r>
              <a:t>revision：源码配套的修订；path：工作区内落点。</a:t>
            </a:r>
          </a:p>
          <a:p>
            <a:r>
              <a:t>清单可导入其他清单，所以让 west 解析实际结果。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8.3 · CMSIS_6 是已声明的项目</a:t>
            </a:r>
          </a:p>
          <a:p>
            <a:r>
              <a:t>预期 URL 指向 Zephyr 组织的 CMSIS_6，路径在工作区 modules/hal 下。</a:t>
            </a:r>
          </a:p>
          <a:p>
            <a:r>
              <a:t>本次 SHA 以清单为准；升级后不永久照抄旧 SHA。</a:t>
            </a:r>
          </a:p>
          <a:p>
            <a:r>
              <a:t/>
            </a:r>
          </a:p>
          <a:p>
            <a:r>
              <a:t># Windows UCRT64；源码根；8.2 已确认正确工作区。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# 只读解析结果，不下载、不修改清单。</a:t>
            </a:r>
          </a:p>
          <a:p>
            <a:r>
              <a:t>west list cmsis_6 -f '{name} {url} {revision} {abspath}'</a:t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>完整可复制操作：commands/P008_Windows/step-04.txt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8.3 · P004 已下载成功就先复用</a:t>
            </a:r>
          </a:p>
          <a:p>
            <a:r>
              <a:t>更新前先保存模块中的本地修改，并确认 Git for Windows。</a:t>
            </a:r>
          </a:p>
          <a:p>
            <a:r>
              <a:t>west update cmsis_6 只请求该项目，成功后检查入口与版本。</a:t>
            </a:r>
          </a:p>
          <a:p>
            <a:r>
              <a:t>完整带失败停止条件的下载块见“完整命令”，不要只复制一句 update。</a:t>
            </a:r>
          </a:p>
          <a:p>
            <a:r>
              <a:t>update 不会自动升级 Zephyr 清单仓库，也不会下载 SDK。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>完整可复制操作：commands/P008_Windows/step-05.txt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8.3 · 目录存在还不够</a:t>
            </a:r>
          </a:p>
          <a:p>
            <a:r>
              <a:t>检查 zephyr/module.yml 与 CMSIS/Core/Include/core_cm4.h。</a:t>
            </a:r>
          </a:p>
          <a:p>
            <a:r>
              <a:t>HEAD、manifest-rev 与当前清单要求相符。</a:t>
            </a:r>
          </a:p>
          <a:p>
            <a:r>
              <a:t>not a valid SHA1：先查 Git、来源、修订和下载日志。</a:t>
            </a:r>
          </a:p>
          <a:p>
            <a:r>
              <a:t>清单未声明 hal_xhsc，就不能用同名 update 凭空发现它。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依据：https://docs.zephyrproject.org/latest/develop/west/built-in.html</a:t>
            </a:r>
          </a:p>
          <a:p>
            <a:r>
              <a:t>本机原件：doc/develop/west/built-in.rst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8.4 · 命令来自当前 Zephyr 源码</a:t>
            </a:r>
          </a:p>
          <a:p>
            <a:r>
              <a:t>官方 west.yml 的 self.west-commands 指向扩展声明文件。</a:t>
            </a:r>
          </a:p>
          <a:p>
            <a:r>
              <a:t>声明列出 build 的名字、Python 文件和 Build 类。</a:t>
            </a:r>
          </a:p>
          <a:p>
            <a:r>
              <a:t>west 核心读取声明，再加载命令实现；不是 SDK 安装出的命令。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依据：https://docs.zephyrproject.org/latest/develop/west/extensions.html</a:t>
            </a:r>
          </a:p>
          <a:p>
            <a:r>
              <a:t>本机原件：west.yml → scripts/west-commands.yml → scripts/west_commands/build.py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8.4 · 只读摘录，不新建或覆盖文件</a:t>
            </a:r>
          </a:p>
          <a:p>
            <a:r>
              <a:t>上游 west.yml 的 self.west-commands 指向 scripts/west-commands.yml。</a:t>
            </a:r>
          </a:p>
          <a:p>
            <a:r>
              <a:t>下面是该声明文件内 build 项；路径相对提供扩展的项目根。</a:t>
            </a:r>
          </a:p>
          <a:p>
            <a:r>
              <a:t/>
            </a:r>
          </a:p>
          <a:p>
            <a:r>
              <a:t>- file: scripts/west_commands/build.py</a:t>
            </a:r>
          </a:p>
          <a:p>
            <a:r>
              <a:t>  commands:</a:t>
            </a:r>
          </a:p>
          <a:p>
            <a:r>
              <a:t>    - name: build</a:t>
            </a:r>
          </a:p>
          <a:p>
            <a:r>
              <a:t>      class: Build</a:t>
            </a:r>
          </a:p>
          <a:p>
            <a:r>
              <a:t>      help: compile a Zephyr application</a:t>
            </a:r>
          </a:p>
          <a:p>
            <a:r>
              <a:t>依据：https://docs.zephyrproject.org/latest/develop/west/extensions.html</a:t>
            </a:r>
          </a:p>
          <a:p>
            <a:r>
              <a:t>本机原件：scripts/west-commands.yml；只读官方原文件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8.4 · 工作区正确，声明文件完整</a:t>
            </a:r>
          </a:p>
          <a:p>
            <a:r>
              <a:t>应看到 board、build-dir、cmake-only、pristine 等选项。</a:t>
            </a:r>
          </a:p>
          <a:p>
            <a:r>
              <a:t>只有 update、没有 build：先查活动清单与扩展声明，不重装 SDK。</a:t>
            </a:r>
          </a:p>
          <a:p>
            <a:r>
              <a:t/>
            </a:r>
          </a:p>
          <a:p>
            <a:r>
              <a:t># Windows UCRT64；源码根；工作区检查已通过。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west help build</a:t>
            </a:r>
          </a:p>
          <a:p>
            <a:r>
              <a:t>west build --help</a:t>
            </a:r>
          </a:p>
          <a:p>
            <a:r>
              <a:t>依据：https://docs.zephyrproject.org/latest/develop/west/extensions.html</a:t>
            </a:r>
          </a:p>
          <a:p>
            <a:r>
              <a:t>本机原件：doc/develop/west/extensions.rst</a:t>
            </a:r>
          </a:p>
          <a:p>
            <a:r>
              <a:t>完整可复制操作：commands/P008_Windows/step-06.txt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8.5 · 箭头跨程序调用，脚本在 CMake 内执行</a:t>
            </a:r>
          </a:p>
          <a:p>
            <a:r>
              <a:t>west 解析板、应用、目录与参数，需要时先调用 CMake 配置。</a:t>
            </a:r>
          </a:p>
          <a:p>
            <a:r>
              <a:t>随后调用 cmake --build；CMake 再调用 Ninja。</a:t>
            </a:r>
          </a:p>
          <a:p>
            <a:r>
              <a:t>Ninja 执行编译、链接及 Python 生成任务，最终产生固件。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本机原件：Build._run_cmake → zcmake.run_cmake；Build._run_build → zcmake.run_build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8.5.1 · 核心等价关系</a:t>
            </a:r>
          </a:p>
          <a:p>
            <a:r>
              <a:t>west 的应用位置 → CMake -S；-d → -B；-b → -DBOARD。</a:t>
            </a:r>
          </a:p>
          <a:p>
            <a:r>
              <a:t>默认生成器 Ninja → -G Ninja；-- 后参数交给 CMake 配置器。</a:t>
            </a:r>
          </a:p>
          <a:p>
            <a:r>
              <a:t>west 还传 WEST_PYTHON / WEST_TOPDIR 等上下文，不要求手填。</a:t>
            </a:r>
          </a:p>
          <a:p>
            <a:r>
              <a:t>这不是第二套编译器：与 P007 采用同一目标和规则模型。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8.5.1 · 依赖已通过 P007 检查</a:t>
            </a:r>
          </a:p>
          <a:p>
            <a:r>
              <a:t>完整命令保留终端、目录、venv 和源码包路径，见下方链接。</a:t>
            </a:r>
          </a:p>
          <a:p>
            <a:r>
              <a:t>-v 放在 build 前；--cmake-only 只配置与生成，不编译固件。</a:t>
            </a:r>
          </a:p>
          <a:p>
            <a:r>
              <a:t>使用新 west-demo 与 P007 对照；找不到 SDK 时仍回 P003。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完整可复制操作：commands/P008_Windows/step-07.txt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8.5.2 · 不重复传已经保存的板与应用</a:t>
            </a:r>
          </a:p>
          <a:p>
            <a:r>
              <a:t>本次成功才核对 ELF；已有 ELF 本身不证明刚才构建成功。</a:t>
            </a:r>
          </a:p>
          <a:p>
            <a:r>
              <a:t/>
            </a:r>
          </a:p>
          <a:p>
            <a:r>
              <a:t># Windows UCRT64；源码根；上一块 west-demo 已配置、生成成功。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if west build -d build/learning-tools/west-demo; then</a:t>
            </a:r>
          </a:p>
          <a:p>
            <a:r>
              <a:t>  ls -l build/learning-tools/west-demo/zephyr/zephyr.elf</a:t>
            </a:r>
          </a:p>
          <a:p>
            <a:r>
              <a:t>else</a:t>
            </a:r>
          </a:p>
          <a:p>
            <a:r>
              <a:t>  printf '%s\n' '本次构建失败，不把已有 ELF 当成本次成功。'</a:t>
            </a:r>
          </a:p>
          <a:p>
            <a:r>
              <a:t>fi</a:t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完整可复制操作：commands/P008_Windows/step-08.txt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8.5.2 · 同一套缓存、规则和后端</a:t>
            </a:r>
          </a:p>
          <a:p>
            <a:r>
              <a:t>west-demo 配置成功后，cmake --build 可直接复用。</a:t>
            </a:r>
          </a:p>
          <a:p>
            <a:r>
              <a:t>P007 的 cmake-demo 配置成功后，west build -d 也可复用。</a:t>
            </a:r>
          </a:p>
          <a:p>
            <a:r>
              <a:t>MD 给出完整对照命令；二选一日常使用，不同时操作同一目录。</a:t>
            </a:r>
          </a:p>
          <a:p>
            <a:r>
              <a:t>切换入口不会清除旧 SDK、BOARD 或生成器选择。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完整可复制操作：commands/P008_Windows/step-09.txt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8.6 · 命令名字相似，作用层不同</a:t>
            </a:r>
          </a:p>
          <a:p>
            <a:r>
              <a:t>-c：强制重跑 CMake，保留缓存；加 --cmake-only 才只配置。</a:t>
            </a:r>
          </a:p>
          <a:p>
            <a:r>
              <a:t>-- -D名字=值：给 CMake 配置阶段，值可能写入缓存。</a:t>
            </a:r>
          </a:p>
          <a:p>
            <a:r>
              <a:t>-t help：后端目标；-o=-j4：把并行选项交给 Ninja。</a:t>
            </a:r>
          </a:p>
          <a:p>
            <a:r>
              <a:t>不要把 BOARD 交给 Ninja；它由 Zephyr 的配置脚本解释。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>完整可复制操作：commands/P008_Windows/step-10.txt</a:t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8.6 · 工作区、构建目录、Python</a:t>
            </a:r>
          </a:p>
          <a:p>
            <a:r>
              <a:t>.west/config：west 工作区及扩展选项。</a:t>
            </a:r>
          </a:p>
          <a:p>
            <a:r>
              <a:t>CMakeCache.txt：一份构建目录保存的配置。</a:t>
            </a:r>
          </a:p>
          <a:p>
            <a:r>
              <a:t>.venv：Python 包和入口；不保存 BOARD 或 SDK 包注册表。</a:t>
            </a:r>
          </a:p>
          <a:p>
            <a:r>
              <a:t>新 -d 是独立配置；-p always 会清空所选构建状态，不是日常必做。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8.6 · 两个包，两次不同的发现</a:t>
            </a:r>
          </a:p>
          <a:p>
            <a:r>
              <a:t>west zephyr-export 注册 Zephyr 源码的 CMake 包。</a:t>
            </a:r>
          </a:p>
          <a:p>
            <a:r>
              <a:t>SDK setup.cmd /c 注册 SDK 自己的 CMake 包。</a:t>
            </a:r>
          </a:p>
          <a:p>
            <a:r>
              <a:t>本例显式给了 Zephyr_DIR，无须再重复 export。</a:t>
            </a:r>
          </a:p>
          <a:p>
            <a:r>
              <a:t>它们都不下载 CMSIS，也不把 SDK 安装进 venv。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8.6.1 · 回到正确入口</a:t>
            </a:r>
          </a:p>
          <a:p>
            <a:r>
              <a:t>找不到 west → Python / venv；找不到 build → 清单与扩展。</a:t>
            </a:r>
          </a:p>
          <a:p>
            <a:r>
              <a:t>update 失败 → Git、URL、revision；SDK 包缺失 → P003。</a:t>
            </a:r>
          </a:p>
          <a:p>
            <a:r>
              <a:t>编译错误 → 首个失败任务；换板缓存冲突 → 新构建目录。</a:t>
            </a:r>
          </a:p>
          <a:p>
            <a:r>
              <a:t>不能靠反复 init 或 update 修复所有构建问题。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lesson_8_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对应正文：P008_west零基础与Zephyr构建_Windows.md</a:t>
            </a:r>
          </a:p>
          <a:p>
            <a:r>
              <a:t>8.6.1 · 本册完成条件</a:t>
            </a:r>
          </a:p>
          <a:p>
            <a:r>
              <a:t>能指出工作区、活动清单、CMSIS 落点与 Build 实现。</a:t>
            </a:r>
          </a:p>
          <a:p>
            <a:r>
              <a:t>能解释 west 传什么给 CMake，CMake 再调用哪个后端。</a:t>
            </a:r>
          </a:p>
          <a:p>
            <a:r>
              <a:t>能区分 update、configure、build、flash/debug 的对象。</a:t>
            </a:r>
          </a:p>
          <a:p>
            <a:r>
              <a:t>下一册 P009 深入输入发现；自编清单与扩展去 learning/west。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依据：https://docs.zephyrproject.org/latest/develop/west/build-flash-debug.html</a:t>
            </a:r>
          </a:p>
          <a:p>
            <a:r>
              <a:t>本机原件：doc/develop/west/build-flash-debug.rst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P003—P011 回顾各自接口，并讲解本模块的结构与完整实验。</a:t>
            </a:r>
          </a:p>
          <a:p>
            <a:r>
              <a:t>配套正文：learning/P01_zephyr_make_project/P008_Zephyr应用构建_Windows.md。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lesson_8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e4b5a518f174801"/><Relationship Type="http://schemas.openxmlformats.org/officeDocument/2006/relationships/hyperlink" Target="https://docs.zephyrproject.org/latest/develop/west/basics.html" TargetMode="External" Id="R65ea137ea1704ffe"/><Relationship Type="http://schemas.openxmlformats.org/officeDocument/2006/relationships/hyperlink" Target="../P008_west&#38646;&#22522;&#30784;&#19982;Zephyr&#26500;&#24314;_Windows.md" TargetMode="External" Id="Rf12de2fa68134120"/><Relationship Type="http://schemas.openxmlformats.org/officeDocument/2006/relationships/notesSlide" Target="../notesSlides/lesson_8_1.xml" Id="R7aa08cfeb7dd4c42"/></Relationships>
</file>

<file path=ppt/slides/_rels/lesson_8_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9638ac2524524599"/><Relationship Type="http://schemas.openxmlformats.org/officeDocument/2006/relationships/hyperlink" Target="https://docs.zephyrproject.org/latest/develop/west/basics.html" TargetMode="External" Id="Rc8cdcd61dc6241b5"/><Relationship Type="http://schemas.openxmlformats.org/officeDocument/2006/relationships/hyperlink" Target="../P008_west&#38646;&#22522;&#30784;&#19982;Zephyr&#26500;&#24314;_Windows.md" TargetMode="External" Id="Rdfd0c6ea099748e4"/><Relationship Type="http://schemas.openxmlformats.org/officeDocument/2006/relationships/notesSlide" Target="../notesSlides/lesson_8_2.xml" Id="Rf5bce69e208e4030"/></Relationships>
</file>

<file path=ppt/slides/_rels/lesson_8_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cf44c2b1e9e41fa"/><Relationship Type="http://schemas.openxmlformats.org/officeDocument/2006/relationships/hyperlink" Target="https://docs.zephyrproject.org/latest/develop/west/basics.html" TargetMode="External" Id="R45ddd308b4c7451b"/><Relationship Type="http://schemas.openxmlformats.org/officeDocument/2006/relationships/hyperlink" Target="../commands/P008_Windows/step-01.txt" TargetMode="External" Id="Ra32d652a74eb47e4"/><Relationship Type="http://schemas.openxmlformats.org/officeDocument/2006/relationships/hyperlink" Target="../P008_west&#38646;&#22522;&#30784;&#19982;Zephyr&#26500;&#24314;_Windows.md" TargetMode="External" Id="R4d8cfb4821cb480f"/><Relationship Type="http://schemas.openxmlformats.org/officeDocument/2006/relationships/notesSlide" Target="../notesSlides/lesson_8_3.xml" Id="R852063cf83274acb"/></Relationships>
</file>

<file path=ppt/slides/_rels/lesson_8_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1429e0f0ae74d56"/><Relationship Type="http://schemas.openxmlformats.org/officeDocument/2006/relationships/hyperlink" Target="https://docs.zephyrproject.org/latest/develop/west/workspaces.html" TargetMode="External" Id="Rb83716599f184209"/><Relationship Type="http://schemas.openxmlformats.org/officeDocument/2006/relationships/hyperlink" Target="../P008_west&#38646;&#22522;&#30784;&#19982;Zephyr&#26500;&#24314;_Windows.md" TargetMode="External" Id="R4be0436b34e248a3"/><Relationship Type="http://schemas.openxmlformats.org/officeDocument/2006/relationships/notesSlide" Target="../notesSlides/lesson_8_4.xml" Id="R734611c378444f5d"/></Relationships>
</file>

<file path=ppt/slides/_rels/lesson_8_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71142ce52374495"/><Relationship Type="http://schemas.openxmlformats.org/officeDocument/2006/relationships/hyperlink" Target="https://docs.zephyrproject.org/latest/develop/west/workspaces.html" TargetMode="External" Id="Rd8a4ca25c17e4227"/><Relationship Type="http://schemas.openxmlformats.org/officeDocument/2006/relationships/hyperlink" Target="../P008_west&#38646;&#22522;&#30784;&#19982;Zephyr&#26500;&#24314;_Windows.md" TargetMode="External" Id="R55540a4d96284659"/><Relationship Type="http://schemas.openxmlformats.org/officeDocument/2006/relationships/notesSlide" Target="../notesSlides/lesson_8_5.xml" Id="R6399fc82834947aa"/></Relationships>
</file>

<file path=ppt/slides/_rels/lesson_8_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8db249b7fd34daf"/><Relationship Type="http://schemas.openxmlformats.org/officeDocument/2006/relationships/hyperlink" Target="https://docs.zephyrproject.org/latest/develop/west/workspaces.html" TargetMode="External" Id="R059108a9fa724a64"/><Relationship Type="http://schemas.openxmlformats.org/officeDocument/2006/relationships/hyperlink" Target="../commands/P008_Windows/step-02.txt" TargetMode="External" Id="Rd62327d5495d4816"/><Relationship Type="http://schemas.openxmlformats.org/officeDocument/2006/relationships/hyperlink" Target="../P008_west&#38646;&#22522;&#30784;&#19982;Zephyr&#26500;&#24314;_Windows.md" TargetMode="External" Id="R6f6ca3e9afda4b74"/><Relationship Type="http://schemas.openxmlformats.org/officeDocument/2006/relationships/notesSlide" Target="../notesSlides/lesson_8_6.xml" Id="R3d52bda3966a43db"/></Relationships>
</file>

<file path=ppt/slides/_rels/lesson_8_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a508a997b9ea4621"/><Relationship Type="http://schemas.openxmlformats.org/officeDocument/2006/relationships/hyperlink" Target="https://docs.zephyrproject.org/latest/develop/west/workspaces.html" TargetMode="External" Id="R7f135e9cb5934813"/><Relationship Type="http://schemas.openxmlformats.org/officeDocument/2006/relationships/hyperlink" Target="../commands/P008_Windows/step-03.txt" TargetMode="External" Id="R495b08567ae64cf2"/><Relationship Type="http://schemas.openxmlformats.org/officeDocument/2006/relationships/hyperlink" Target="../P008_west&#38646;&#22522;&#30784;&#19982;Zephyr&#26500;&#24314;_Windows.md" TargetMode="External" Id="Raf108e6923a545e3"/><Relationship Type="http://schemas.openxmlformats.org/officeDocument/2006/relationships/notesSlide" Target="../notesSlides/lesson_8_7.xml" Id="Rb0b72faf8e8244e3"/></Relationships>
</file>

<file path=ppt/slides/_rels/lesson_8_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f169eaac6724905"/><Relationship Type="http://schemas.openxmlformats.org/officeDocument/2006/relationships/hyperlink" Target="https://docs.zephyrproject.org/latest/develop/west/built-in.html" TargetMode="External" Id="R0d05332c27114ce0"/><Relationship Type="http://schemas.openxmlformats.org/officeDocument/2006/relationships/hyperlink" Target="../P008_west&#38646;&#22522;&#30784;&#19982;Zephyr&#26500;&#24314;_Windows.md" TargetMode="External" Id="R4de9cf56397c4ea0"/><Relationship Type="http://schemas.openxmlformats.org/officeDocument/2006/relationships/notesSlide" Target="../notesSlides/lesson_8_8.xml" Id="R0842b0ebf96e4af4"/></Relationships>
</file>

<file path=ppt/slides/_rels/lesson_8_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596ba35bba04667"/><Relationship Type="http://schemas.openxmlformats.org/officeDocument/2006/relationships/hyperlink" Target="https://docs.zephyrproject.org/latest/develop/west/built-in.html" TargetMode="External" Id="R68c43775ed504d94"/><Relationship Type="http://schemas.openxmlformats.org/officeDocument/2006/relationships/hyperlink" Target="../commands/P008_Windows/step-04.txt" TargetMode="External" Id="Rc19a92ea79e140a0"/><Relationship Type="http://schemas.openxmlformats.org/officeDocument/2006/relationships/hyperlink" Target="../P008_west&#38646;&#22522;&#30784;&#19982;Zephyr&#26500;&#24314;_Windows.md" TargetMode="External" Id="R8d18cb319ba0416d"/><Relationship Type="http://schemas.openxmlformats.org/officeDocument/2006/relationships/notesSlide" Target="../notesSlides/lesson_8_9.xml" Id="R08a5c2f264954c1f"/></Relationships>
</file>

<file path=ppt/slides/_rels/lesson_8_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5bfd64d6c4e492c"/><Relationship Type="http://schemas.openxmlformats.org/officeDocument/2006/relationships/hyperlink" Target="https://docs.zephyrproject.org/latest/develop/west/built-in.html" TargetMode="External" Id="R377d2d9040c240c1"/><Relationship Type="http://schemas.openxmlformats.org/officeDocument/2006/relationships/hyperlink" Target="../commands/P008_Windows/step-05.txt" TargetMode="External" Id="R4f5a9d9901194586"/><Relationship Type="http://schemas.openxmlformats.org/officeDocument/2006/relationships/hyperlink" Target="../P008_west&#38646;&#22522;&#30784;&#19982;Zephyr&#26500;&#24314;_Windows.md" TargetMode="External" Id="Rcfefcc98decd4759"/><Relationship Type="http://schemas.openxmlformats.org/officeDocument/2006/relationships/notesSlide" Target="../notesSlides/lesson_8_10.xml" Id="R0ef529e454b24908"/></Relationships>
</file>

<file path=ppt/slides/_rels/lesson_8_1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08a678ed8b3f4ede"/><Relationship Type="http://schemas.openxmlformats.org/officeDocument/2006/relationships/hyperlink" Target="https://docs.zephyrproject.org/latest/develop/west/built-in.html" TargetMode="External" Id="Rb41859c392824241"/><Relationship Type="http://schemas.openxmlformats.org/officeDocument/2006/relationships/hyperlink" Target="../P008_west&#38646;&#22522;&#30784;&#19982;Zephyr&#26500;&#24314;_Windows.md" TargetMode="External" Id="R3da4dbbd0b3244c6"/><Relationship Type="http://schemas.openxmlformats.org/officeDocument/2006/relationships/notesSlide" Target="../notesSlides/lesson_8_11.xml" Id="Rf3fd84f430544e2a"/></Relationships>
</file>

<file path=ppt/slides/_rels/lesson_8_1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37db63f87634553"/><Relationship Type="http://schemas.openxmlformats.org/officeDocument/2006/relationships/hyperlink" Target="https://docs.zephyrproject.org/latest/develop/west/extensions.html" TargetMode="External" Id="R7807fd4918ee4807"/><Relationship Type="http://schemas.openxmlformats.org/officeDocument/2006/relationships/hyperlink" Target="../P008_west&#38646;&#22522;&#30784;&#19982;Zephyr&#26500;&#24314;_Windows.md" TargetMode="External" Id="Ra74ada52440948da"/><Relationship Type="http://schemas.openxmlformats.org/officeDocument/2006/relationships/notesSlide" Target="../notesSlides/lesson_8_12.xml" Id="Ra974a3f235e04d74"/></Relationships>
</file>

<file path=ppt/slides/_rels/lesson_8_1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5bca07f9a17248cd"/><Relationship Type="http://schemas.openxmlformats.org/officeDocument/2006/relationships/hyperlink" Target="https://docs.zephyrproject.org/latest/develop/west/extensions.html" TargetMode="External" Id="R8186c331b11a462c"/><Relationship Type="http://schemas.openxmlformats.org/officeDocument/2006/relationships/hyperlink" Target="../P008_west&#38646;&#22522;&#30784;&#19982;Zephyr&#26500;&#24314;_Windows.md" TargetMode="External" Id="Rfd39ac1d6a92495b"/><Relationship Type="http://schemas.openxmlformats.org/officeDocument/2006/relationships/notesSlide" Target="../notesSlides/lesson_8_13.xml" Id="R619f3d1f4cfc4e1c"/></Relationships>
</file>

<file path=ppt/slides/_rels/lesson_8_1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b56f8e3570e423e"/><Relationship Type="http://schemas.openxmlformats.org/officeDocument/2006/relationships/hyperlink" Target="https://docs.zephyrproject.org/latest/develop/west/extensions.html" TargetMode="External" Id="R2f1cf53dd0214bf3"/><Relationship Type="http://schemas.openxmlformats.org/officeDocument/2006/relationships/hyperlink" Target="../commands/P008_Windows/step-06.txt" TargetMode="External" Id="Rcc63c9aeb38042b5"/><Relationship Type="http://schemas.openxmlformats.org/officeDocument/2006/relationships/hyperlink" Target="../P008_west&#38646;&#22522;&#30784;&#19982;Zephyr&#26500;&#24314;_Windows.md" TargetMode="External" Id="Rd8077accc3b94d8c"/><Relationship Type="http://schemas.openxmlformats.org/officeDocument/2006/relationships/notesSlide" Target="../notesSlides/lesson_8_14.xml" Id="Raf98dacde0ae41e8"/></Relationships>
</file>

<file path=ppt/slides/_rels/lesson_8_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65ebd712eee045c0"/><Relationship Type="http://schemas.openxmlformats.org/officeDocument/2006/relationships/hyperlink" Target="https://docs.zephyrproject.org/latest/develop/west/build-flash-debug.html" TargetMode="External" Id="R745a759117fb4044"/><Relationship Type="http://schemas.openxmlformats.org/officeDocument/2006/relationships/hyperlink" Target="../P008_west&#38646;&#22522;&#30784;&#19982;Zephyr&#26500;&#24314;_Windows.md" TargetMode="External" Id="R955277f858a94eee"/><Relationship Type="http://schemas.openxmlformats.org/officeDocument/2006/relationships/notesSlide" Target="../notesSlides/lesson_8_15.xml" Id="R79cb2ac0e74d4c6f"/></Relationships>
</file>

<file path=ppt/slides/_rels/lesson_8_1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eafd1975ad04c6a"/><Relationship Type="http://schemas.openxmlformats.org/officeDocument/2006/relationships/hyperlink" Target="https://docs.zephyrproject.org/latest/develop/west/build-flash-debug.html" TargetMode="External" Id="R2a153fc397e74d6b"/><Relationship Type="http://schemas.openxmlformats.org/officeDocument/2006/relationships/hyperlink" Target="../P008_west&#38646;&#22522;&#30784;&#19982;Zephyr&#26500;&#24314;_Windows.md" TargetMode="External" Id="R0926ad1ba0f34ddf"/><Relationship Type="http://schemas.openxmlformats.org/officeDocument/2006/relationships/notesSlide" Target="../notesSlides/lesson_8_16.xml" Id="R817a51c8ba164ef4"/></Relationships>
</file>

<file path=ppt/slides/_rels/lesson_8_1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774bef4d1184a35"/><Relationship Type="http://schemas.openxmlformats.org/officeDocument/2006/relationships/hyperlink" Target="https://docs.zephyrproject.org/latest/develop/west/build-flash-debug.html" TargetMode="External" Id="Rdbcb7bf678b64f60"/><Relationship Type="http://schemas.openxmlformats.org/officeDocument/2006/relationships/hyperlink" Target="../commands/P008_Windows/step-07.txt" TargetMode="External" Id="R50bc0d3e1fd842a8"/><Relationship Type="http://schemas.openxmlformats.org/officeDocument/2006/relationships/hyperlink" Target="../P008_west&#38646;&#22522;&#30784;&#19982;Zephyr&#26500;&#24314;_Windows.md" TargetMode="External" Id="Rca521a82a2dd4f8b"/><Relationship Type="http://schemas.openxmlformats.org/officeDocument/2006/relationships/notesSlide" Target="../notesSlides/lesson_8_17.xml" Id="Raaa555dc57b4459c"/></Relationships>
</file>

<file path=ppt/slides/_rels/lesson_8_1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c361a8b4a49f4e7b"/><Relationship Type="http://schemas.openxmlformats.org/officeDocument/2006/relationships/hyperlink" Target="https://docs.zephyrproject.org/latest/develop/west/build-flash-debug.html" TargetMode="External" Id="R0ee6aa2ddd1b4c8d"/><Relationship Type="http://schemas.openxmlformats.org/officeDocument/2006/relationships/hyperlink" Target="../commands/P008_Windows/step-08.txt" TargetMode="External" Id="R0284581c8e2145ab"/><Relationship Type="http://schemas.openxmlformats.org/officeDocument/2006/relationships/hyperlink" Target="../P008_west&#38646;&#22522;&#30784;&#19982;Zephyr&#26500;&#24314;_Windows.md" TargetMode="External" Id="Ra9cccc0f03624667"/><Relationship Type="http://schemas.openxmlformats.org/officeDocument/2006/relationships/notesSlide" Target="../notesSlides/lesson_8_18.xml" Id="R1cacc6e29bdb44a9"/></Relationships>
</file>

<file path=ppt/slides/_rels/lesson_8_1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91cab0e75274925"/><Relationship Type="http://schemas.openxmlformats.org/officeDocument/2006/relationships/hyperlink" Target="https://docs.zephyrproject.org/latest/develop/west/build-flash-debug.html" TargetMode="External" Id="R3e649a1468834255"/><Relationship Type="http://schemas.openxmlformats.org/officeDocument/2006/relationships/hyperlink" Target="../commands/P008_Windows/step-09.txt" TargetMode="External" Id="R3b41da5bed06426b"/><Relationship Type="http://schemas.openxmlformats.org/officeDocument/2006/relationships/hyperlink" Target="../P008_west&#38646;&#22522;&#30784;&#19982;Zephyr&#26500;&#24314;_Windows.md" TargetMode="External" Id="Rfb5b5c87c2fe4588"/><Relationship Type="http://schemas.openxmlformats.org/officeDocument/2006/relationships/notesSlide" Target="../notesSlides/lesson_8_19.xml" Id="Rf38572d6f73c4c16"/></Relationships>
</file>

<file path=ppt/slides/_rels/lesson_8_2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f433a94e14e64c6f"/><Relationship Type="http://schemas.openxmlformats.org/officeDocument/2006/relationships/hyperlink" Target="https://docs.zephyrproject.org/latest/develop/west/build-flash-debug.html" TargetMode="External" Id="R86bed5304f6c4784"/><Relationship Type="http://schemas.openxmlformats.org/officeDocument/2006/relationships/hyperlink" Target="../commands/P008_Windows/step-10.txt" TargetMode="External" Id="Rcb89ba923c4148b4"/><Relationship Type="http://schemas.openxmlformats.org/officeDocument/2006/relationships/hyperlink" Target="../P008_west&#38646;&#22522;&#30784;&#19982;Zephyr&#26500;&#24314;_Windows.md" TargetMode="External" Id="Re14aae25afe944cf"/><Relationship Type="http://schemas.openxmlformats.org/officeDocument/2006/relationships/notesSlide" Target="../notesSlides/lesson_8_20.xml" Id="R1e68072afd0b45af"/></Relationships>
</file>

<file path=ppt/slides/_rels/lesson_8_2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d4cdf449a92a437e"/><Relationship Type="http://schemas.openxmlformats.org/officeDocument/2006/relationships/hyperlink" Target="https://docs.zephyrproject.org/latest/develop/west/build-flash-debug.html" TargetMode="External" Id="Rc2daeb10a60443dd"/><Relationship Type="http://schemas.openxmlformats.org/officeDocument/2006/relationships/hyperlink" Target="../P008_west&#38646;&#22522;&#30784;&#19982;Zephyr&#26500;&#24314;_Windows.md" TargetMode="External" Id="Ra4f3365b4963432d"/><Relationship Type="http://schemas.openxmlformats.org/officeDocument/2006/relationships/notesSlide" Target="../notesSlides/lesson_8_21.xml" Id="R7b9c311ab643434d"/></Relationships>
</file>

<file path=ppt/slides/_rels/lesson_8_2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8909e71868d1438e"/><Relationship Type="http://schemas.openxmlformats.org/officeDocument/2006/relationships/hyperlink" Target="https://docs.zephyrproject.org/latest/develop/west/build-flash-debug.html" TargetMode="External" Id="Rbe9868c3e3f3460d"/><Relationship Type="http://schemas.openxmlformats.org/officeDocument/2006/relationships/hyperlink" Target="../P008_west&#38646;&#22522;&#30784;&#19982;Zephyr&#26500;&#24314;_Windows.md" TargetMode="External" Id="Rb364b9a61194412a"/><Relationship Type="http://schemas.openxmlformats.org/officeDocument/2006/relationships/notesSlide" Target="../notesSlides/lesson_8_22.xml" Id="R2ee4452fd7d34aa0"/></Relationships>
</file>

<file path=ppt/slides/_rels/lesson_8_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231e056ed326435e"/><Relationship Type="http://schemas.openxmlformats.org/officeDocument/2006/relationships/hyperlink" Target="https://docs.zephyrproject.org/latest/develop/west/build-flash-debug.html" TargetMode="External" Id="Rca2b13e8a631496e"/><Relationship Type="http://schemas.openxmlformats.org/officeDocument/2006/relationships/hyperlink" Target="../P008_west&#38646;&#22522;&#30784;&#19982;Zephyr&#26500;&#24314;_Windows.md" TargetMode="External" Id="Ra8c7778673264fd1"/><Relationship Type="http://schemas.openxmlformats.org/officeDocument/2006/relationships/notesSlide" Target="../notesSlides/lesson_8_23.xml" Id="R8563a6a7529742d3"/></Relationships>
</file>

<file path=ppt/slides/_rels/lesson_8_2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724a21cf196a45c5"/><Relationship Type="http://schemas.openxmlformats.org/officeDocument/2006/relationships/hyperlink" Target="https://docs.zephyrproject.org/latest/develop/west/build-flash-debug.html" TargetMode="External" Id="R49279acf272f490d"/><Relationship Type="http://schemas.openxmlformats.org/officeDocument/2006/relationships/hyperlink" Target="../P008_west&#38646;&#22522;&#30784;&#19982;Zephyr&#26500;&#24314;_Windows.md" TargetMode="External" Id="R8fd9ad8664f14eb6"/><Relationship Type="http://schemas.openxmlformats.org/officeDocument/2006/relationships/notesSlide" Target="../notesSlides/lesson_8_24.xml" Id="R1637047c7aea47e6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lesson_8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B1A1031-DED7-4ED4-8BDF-9DF10E88D84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west 核心走到 Zephyr 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52323A7-0819-48FB-8C64-2FA165C826D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8.1—8.6 · 本册的完整路线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3489FB7-7973-43D8-90C9-08FC4BD808D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P004 用过下载步骤，本册从零补齐工作区模型。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用过 CMake，本册再展开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的调用。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保留原样；独立清单实验在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learning/west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Model west 核心">
            <a:extLst>
              <a:ext uri="{FF2B5EF4-FFF2-40B4-BE49-F238E27FC236}">
                <a16:creationId xmlns:a16="http://schemas.microsoft.com/office/drawing/2014/main" id="{1F6E30A3-D493-4F7C-9FCD-3F99D31182E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核心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A54FD2EA-13BD-43F0-BD26-2B73710C6DE8}"/>
              </a:ext>
            </a:extLst>
          </p:cNvPr>
          <p:cNvSpPr>
            <a:spLocks noGrp="1"/>
          </p:cNvSpPr>
          <p:nvPr/>
        </p:nvSpPr>
        <p:spPr>
          <a:xfrm>
            <a:off x="3838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工作区与清单">
            <a:extLst>
              <a:ext uri="{FF2B5EF4-FFF2-40B4-BE49-F238E27FC236}">
                <a16:creationId xmlns:a16="http://schemas.microsoft.com/office/drawing/2014/main" id="{D1BB16AC-A9C3-4DB2-9CE7-AF9249D573D7}"/>
              </a:ext>
            </a:extLst>
          </p:cNvPr>
          <p:cNvSpPr>
            <a:spLocks noGrp="1"/>
          </p:cNvSpPr>
          <p:nvPr/>
        </p:nvSpPr>
        <p:spPr>
          <a:xfrm>
            <a:off x="417195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工作区与清单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B603333-AEB4-437D-8760-76C57B8509E3}"/>
              </a:ext>
            </a:extLst>
          </p:cNvPr>
          <p:cNvSpPr>
            <a:spLocks noGrp="1"/>
          </p:cNvSpPr>
          <p:nvPr/>
        </p:nvSpPr>
        <p:spPr>
          <a:xfrm>
            <a:off x="74009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源码下载">
            <a:extLst>
              <a:ext uri="{FF2B5EF4-FFF2-40B4-BE49-F238E27FC236}">
                <a16:creationId xmlns:a16="http://schemas.microsoft.com/office/drawing/2014/main" id="{E9BEF28E-D064-4E1F-9EE8-23F5B8E62583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源码下载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383C826C-3D06-4914-83EF-6FCEBDB71D65}"/>
              </a:ext>
            </a:extLst>
          </p:cNvPr>
          <p:cNvSpPr>
            <a:spLocks noGrp="1"/>
          </p:cNvSpPr>
          <p:nvPr/>
        </p:nvSpPr>
        <p:spPr>
          <a:xfrm>
            <a:off x="9182100" y="4514850"/>
            <a:ext cx="3048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Model Zephyr 扩展">
            <a:extLst>
              <a:ext uri="{FF2B5EF4-FFF2-40B4-BE49-F238E27FC236}">
                <a16:creationId xmlns:a16="http://schemas.microsoft.com/office/drawing/2014/main" id="{F44B54D2-4D44-4FFE-AD35-3E0C7C639BEB}"/>
              </a:ext>
            </a:extLst>
          </p:cNvPr>
          <p:cNvSpPr>
            <a:spLocks noGrp="1"/>
          </p:cNvSpPr>
          <p:nvPr/>
        </p:nvSpPr>
        <p:spPr>
          <a:xfrm>
            <a:off x="77343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扩展</a:t>
            </a:r>
          </a:p>
        </p:txBody>
      </p:sp>
      <p:sp>
        <p:nvSpPr>
          <p:cNvPr id="12" name="Arrow 3">
            <a:extLst>
              <a:ext uri="{FF2B5EF4-FFF2-40B4-BE49-F238E27FC236}">
                <a16:creationId xmlns:a16="http://schemas.microsoft.com/office/drawing/2014/main" id="{EB698107-3EEA-4293-84E0-BA6C2DE305B8}"/>
              </a:ext>
            </a:extLst>
          </p:cNvPr>
          <p:cNvSpPr>
            <a:spLocks noGrp="1"/>
          </p:cNvSpPr>
          <p:nvPr/>
        </p:nvSpPr>
        <p:spPr>
          <a:xfrm>
            <a:off x="740092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3" name="Model 调用 CMake">
            <a:extLst>
              <a:ext uri="{FF2B5EF4-FFF2-40B4-BE49-F238E27FC236}">
                <a16:creationId xmlns:a16="http://schemas.microsoft.com/office/drawing/2014/main" id="{78E0EC60-2AFE-47A4-8867-F783B185A793}"/>
              </a:ext>
            </a:extLst>
          </p:cNvPr>
          <p:cNvSpPr>
            <a:spLocks noGrp="1"/>
          </p:cNvSpPr>
          <p:nvPr/>
        </p:nvSpPr>
        <p:spPr>
          <a:xfrm>
            <a:off x="417195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调用 CMake</a:t>
            </a:r>
          </a:p>
        </p:txBody>
      </p:sp>
      <p:sp>
        <p:nvSpPr>
          <p:cNvPr id="14" name="Arrow 4">
            <a:extLst>
              <a:ext uri="{FF2B5EF4-FFF2-40B4-BE49-F238E27FC236}">
                <a16:creationId xmlns:a16="http://schemas.microsoft.com/office/drawing/2014/main" id="{47C6FBE4-9567-4C52-8325-BA864439CB5C}"/>
              </a:ext>
            </a:extLst>
          </p:cNvPr>
          <p:cNvSpPr>
            <a:spLocks noGrp="1"/>
          </p:cNvSpPr>
          <p:nvPr/>
        </p:nvSpPr>
        <p:spPr>
          <a:xfrm>
            <a:off x="383857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5" name="Model 缓存与排错">
            <a:extLst>
              <a:ext uri="{FF2B5EF4-FFF2-40B4-BE49-F238E27FC236}">
                <a16:creationId xmlns:a16="http://schemas.microsoft.com/office/drawing/2014/main" id="{D7F85D29-7E6A-48A5-9AFA-2F3140792E65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缓存与排错</a:t>
            </a:r>
          </a:p>
        </p:txBody>
      </p:sp>
      <p:sp>
        <p:nvSpPr>
          <p:cNvPr id="16" name="Evidence">
            <a:extLst>
              <a:ext uri="{FF2B5EF4-FFF2-40B4-BE49-F238E27FC236}">
                <a16:creationId xmlns:a16="http://schemas.microsoft.com/office/drawing/2014/main" id="{DA8CC7E7-8A58-48D0-AB81-BE04938A17F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5ea137ea1704ffe"/>
              </a:rPr>
              <a:t>依据：</a:t>
            </a:r>
            <a:r>
              <a:rPr u="sng">
                <a:solidFill>
                  <a:srgbClr val="0070C0"/>
                </a:solidFill>
                <a:hlinkClick r:id="R65ea137ea1704ffe"/>
              </a:rPr>
              <a:t>doc/develop/west/basics.rst</a:t>
            </a:r>
          </a:p>
        </p:txBody>
      </p:sp>
      <p:sp>
        <p:nvSpPr>
          <p:cNvPr id="17" name="Reading link">
            <a:extLst>
              <a:ext uri="{FF2B5EF4-FFF2-40B4-BE49-F238E27FC236}">
                <a16:creationId xmlns:a16="http://schemas.microsoft.com/office/drawing/2014/main" id="{92A22B6E-DB9B-4536-8D4E-53A9140694ED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12de2fa68134120"/>
              </a:rPr>
              <a:t>配套正文 · 8.1—8.6</a:t>
            </a:r>
          </a:p>
        </p:txBody>
      </p: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7B4135-8B52-42F6-A732-A775E200A1E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安装在哪里，负责什么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EA01B83-E181-4EED-B33E-75BB8B6087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 · 先分清 Python 程序与项目源码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C8A0068-82E0-41AD-89FE-8DA94C83A80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装在 P002 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中；新终端激活后复用，不重复安装。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核心命令 init / list / update 管理 Git 项目。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源码通过扩展提供 build / flash / debug 等命令。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--version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成功不代表 SDK、模块和扩展都已经准备好。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C185E596-20B5-4C7B-8E55-648317B08A17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8cdcd61dc6241b5"/>
              </a:rPr>
              <a:t>依据：</a:t>
            </a:r>
            <a:r>
              <a:rPr u="sng">
                <a:solidFill>
                  <a:srgbClr val="0070C0"/>
                </a:solidFill>
                <a:hlinkClick r:id="Rc8cdcd61dc6241b5"/>
              </a:rPr>
              <a:t>doc/develop/west/basics.rst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8302A3D3-7DB3-424C-9F3A-CF24BDDF263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fd0c6ea099748e4"/>
              </a:rPr>
              <a:t>配套正文 · 8.1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122156-27CB-448A-97D0-27ED0438D4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先确认当前运行的是哪套工具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DFBD0BC-4A80-44ED-A754-2FE63404CE6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9EE4AC34-9720-4775-B836-87E0A2C0EA3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574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UCRT64；进入 P001 的源码根，复用 P002 创建的环境。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F7171C3-27FF-4183-88DD-ED85BE5AB573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16478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Python 3.12.10、</a:t>
            </a:r>
            <a:r>
              <a:rPr sz="18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1.5.0。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找不到 </a:t>
            </a:r>
            <a:r>
              <a:rPr sz="180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时回 P002 检查 venv，不新建或删除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E2F28E35-47E8-4DCC-A3FA-EBBDC8D406A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5ddd308b4c7451b"/>
              </a:rPr>
              <a:t>依据：</a:t>
            </a:r>
            <a:r>
              <a:rPr u="sng">
                <a:solidFill>
                  <a:srgbClr val="0070C0"/>
                </a:solidFill>
                <a:hlinkClick r:id="R45ddd308b4c7451b"/>
              </a:rPr>
              <a:t>doc/develop/west/basics.rst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800AC19-75E8-45DA-8D19-06B37B5D5025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32d652a74eb47e4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422D06E5-55C3-4EB7-98EB-1257915F0F3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d8cfb4821cb480f"/>
              </a:rPr>
              <a:t>配套正文 · 8.1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092C3EB-7F48-494D-BDF6-DB5A1730B3A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工作区根不是 Zephyr 源码根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388F66F-86D8-447E-B9FE-EDC5193E818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 · 本系列的实际目录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85E36FF-91FA-41AD-A126-6D4A9A53049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是工作区根，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标记并配置它。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zephyr-main 放官方源码与清单；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Python 环境。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在工作区根下，由 update 下载。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路径字段相对工作区根，不要把外部模块复制覆盖源码内的接入规则。</a:t>
            </a:r>
          </a:p>
        </p:txBody>
      </p:sp>
      <p:sp>
        <p:nvSpPr>
          <p:cNvPr id="5" name="Model .west/config">
            <a:extLst>
              <a:ext uri="{FF2B5EF4-FFF2-40B4-BE49-F238E27FC236}">
                <a16:creationId xmlns:a16="http://schemas.microsoft.com/office/drawing/2014/main" id="{71647DDD-93F1-4D48-A455-CE7F92838523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E74EB7E-EE23-44CC-8CFA-FD748FE7722B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zephyr-main/west.yml">
            <a:extLst>
              <a:ext uri="{FF2B5EF4-FFF2-40B4-BE49-F238E27FC236}">
                <a16:creationId xmlns:a16="http://schemas.microsoft.com/office/drawing/2014/main" id="{4F9298A2-EEBC-453B-8490-18714B1A5281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zephyr-main/west.yml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D07B1E0A-B774-4490-AC6B-0561EF8EC00F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modules/hal/cmsis_6">
            <a:extLst>
              <a:ext uri="{FF2B5EF4-FFF2-40B4-BE49-F238E27FC236}">
                <a16:creationId xmlns:a16="http://schemas.microsoft.com/office/drawing/2014/main" id="{8356F613-0F98-4A89-A85D-3B0F10C84315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modules/hal/cmsis_6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FB791B20-9CFE-42B3-829B-5596809F2C1C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83716599f184209"/>
              </a:rPr>
              <a:t>依据：</a:t>
            </a:r>
            <a:r>
              <a:rPr u="sng">
                <a:solidFill>
                  <a:srgbClr val="0070C0"/>
                </a:solidFill>
                <a:hlinkClick r:id="Rb83716599f184209"/>
              </a:rPr>
              <a:t>doc/develop/west/workspaces.rst</a:t>
            </a:r>
          </a:p>
        </p:txBody>
      </p:sp>
      <p:sp>
        <p:nvSpPr>
          <p:cNvPr id="11" name="Reading link">
            <a:extLst>
              <a:ext uri="{FF2B5EF4-FFF2-40B4-BE49-F238E27FC236}">
                <a16:creationId xmlns:a16="http://schemas.microsoft.com/office/drawing/2014/main" id="{EA425006-0354-4228-9505-A0B531E1EA5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be0436b34e248a3"/>
              </a:rPr>
              <a:t>配套正文 · 8.2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1B7DA5F-B35C-4329-A7D5-153FF358915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怎样找到正在使用的清单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BB7C43D-FC47-40BB-BC75-7FBB175457C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 · 文件不是自行创建的说明模板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47B14BF-3AB0-443A-A109-641A6A10D4D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向上定位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，读取 config 的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manifest.path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manifest.file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本次组合成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zephyr-main/west.yml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该文件由官方源码提供，本章不替换它。</a:t>
            </a:r>
          </a:p>
        </p:txBody>
      </p:sp>
      <p:sp>
        <p:nvSpPr>
          <p:cNvPr id="5" name="Model 当前目录">
            <a:extLst>
              <a:ext uri="{FF2B5EF4-FFF2-40B4-BE49-F238E27FC236}">
                <a16:creationId xmlns:a16="http://schemas.microsoft.com/office/drawing/2014/main" id="{05007A41-3FA2-4F06-8A25-B4380866A31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当前目录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428CC09D-F124-4EBA-A3E6-56EE65C97E33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向上找 .west">
            <a:extLst>
              <a:ext uri="{FF2B5EF4-FFF2-40B4-BE49-F238E27FC236}">
                <a16:creationId xmlns:a16="http://schemas.microsoft.com/office/drawing/2014/main" id="{A2DE7CAC-DFFB-4219-9110-46672D8C9812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向上找 </a:t>
            </a: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576EA256-574A-4F0E-A0CB-58D11681F7F4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读取 config">
            <a:extLst>
              <a:ext uri="{FF2B5EF4-FFF2-40B4-BE49-F238E27FC236}">
                <a16:creationId xmlns:a16="http://schemas.microsoft.com/office/drawing/2014/main" id="{016E25A8-EFF6-4DDB-BAA9-8D64FB759595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 config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741950E0-456A-4499-85B3-58E63DECFA87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解析官方清单">
            <a:extLst>
              <a:ext uri="{FF2B5EF4-FFF2-40B4-BE49-F238E27FC236}">
                <a16:creationId xmlns:a16="http://schemas.microsoft.com/office/drawing/2014/main" id="{5F16A3C5-300B-48C3-B074-EA3B8DAD17D1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解析官方清单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FA9F22FF-AA87-4706-B4F4-4AA1904C2F05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8a4ca25c17e4227"/>
              </a:rPr>
              <a:t>依据：</a:t>
            </a:r>
            <a:r>
              <a:rPr u="sng">
                <a:solidFill>
                  <a:srgbClr val="0070C0"/>
                </a:solidFill>
                <a:hlinkClick r:id="Rd8a4ca25c17e4227"/>
              </a:rPr>
              <a:t>doc/develop/west/workspaces.rst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B466288B-C1F1-4500-8F28-85DE3700EC17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5540a4d96284659"/>
              </a:rPr>
              <a:t>配套正文 · 8.2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458DA41-3EB8-46C0-B76B-BF2F456D2BE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先检查，已有工作区直接复用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56A7F95-D9DC-432A-BB98-9E93425A072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 · 不无条件重复 init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A6B63ECF-E9B1-4B42-A82C-4F1B3A9115B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574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UCRT64；源码根；P002 环境已经存在。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manifest.path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manifest.file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E7A4B115-C5DC-406D-A999-39DE749CBBAA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16478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本次预期：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G:/zephyr_practice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、zephyr-main、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already initialized 说明已有工作区；核对位置，不删除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ED1016C3-538E-45F5-A67F-D17711B6147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59108a9fa724a64"/>
              </a:rPr>
              <a:t>依据：</a:t>
            </a:r>
            <a:r>
              <a:rPr u="sng">
                <a:solidFill>
                  <a:srgbClr val="0070C0"/>
                </a:solidFill>
                <a:hlinkClick r:id="R059108a9fa724a64"/>
              </a:rPr>
              <a:t>doc/develop/west/workspaces.rst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561EB2F7-B809-48D5-A412-50E25269D13A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62327d5495d4816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878882D6-DA8A-45B8-BB62-9738FFBFD133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f6ca3e9afda4b74"/>
              </a:rPr>
              <a:t>配套正文 · 8.2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E7DAA7D-CF40-44BC-848B-39080B39FA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仅在尚无工作区时初始化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2C2E217-AA15-4BE6-B1A5-6E6F4717079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8.2 · 与上一页是互斥分支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1B5B519-CDBC-4F81-B426-07A23F5E4B6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UCRT64；仅“尚无工作区”分支。已有工作区跳过整块。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test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west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.yml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init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.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topdir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manifest.path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config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manifest.file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DACAF14-B4E7-4698-8C56-F808743972C9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. 使用当前官方清单，生成父级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不下载另一份 Zephyr，也不替读者下载 CMSIS。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已有工作区的读者跳过本页操作。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431D0E4C-EB1D-4BEE-BE0F-DB741276F1F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f135e9cb5934813"/>
              </a:rPr>
              <a:t>依据：</a:t>
            </a:r>
            <a:r>
              <a:rPr u="sng">
                <a:solidFill>
                  <a:srgbClr val="0070C0"/>
                </a:solidFill>
                <a:hlinkClick r:id="R7f135e9cb5934813"/>
              </a:rPr>
              <a:t>doc/develop/west/workspaces.rst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F5A1CB29-53ED-4624-94AD-88907039242F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95b08567ae64cf2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E8BB04DC-F7AD-4DA1-AB1A-B7466BFE30E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f108e6923a545e3"/>
              </a:rPr>
              <a:t>配套正文 · 8.2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C840AA4-4427-471E-A73F-750803423A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清单的四项信息决定一次下载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A1E09A9-54CA-4456-9314-BED74ACB47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8.3 · name / URL / revision / path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39BD64C-D0EB-4F54-8B9F-73D13D0CAD2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name：命令中选择哪个项目；URL：从哪个仓库取。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revision：源码配套的修订；path：工作区内落点。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清单可导入其他清单，所以让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解析实际结果。</a:t>
            </a:r>
          </a:p>
        </p:txBody>
      </p:sp>
      <p:sp>
        <p:nvSpPr>
          <p:cNvPr id="5" name="Model 项目名">
            <a:extLst>
              <a:ext uri="{FF2B5EF4-FFF2-40B4-BE49-F238E27FC236}">
                <a16:creationId xmlns:a16="http://schemas.microsoft.com/office/drawing/2014/main" id="{757F73DE-311B-41CC-9AD6-4B2AB4492FA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项目名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8FCF498-A26F-41C6-93F3-0C69B2171F1C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仓库来源">
            <a:extLst>
              <a:ext uri="{FF2B5EF4-FFF2-40B4-BE49-F238E27FC236}">
                <a16:creationId xmlns:a16="http://schemas.microsoft.com/office/drawing/2014/main" id="{93DC0BF7-E6FD-4D07-A420-61CB756FEC93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仓库来源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E653FA20-4539-4288-8EB2-59D80FA53867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固定修订">
            <a:extLst>
              <a:ext uri="{FF2B5EF4-FFF2-40B4-BE49-F238E27FC236}">
                <a16:creationId xmlns:a16="http://schemas.microsoft.com/office/drawing/2014/main" id="{5800E754-CB0A-425D-AB74-6BF53C7AD7D2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固定修订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B83A7B35-9E5E-4636-A28F-D230BBA1DF26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工作区路径">
            <a:extLst>
              <a:ext uri="{FF2B5EF4-FFF2-40B4-BE49-F238E27FC236}">
                <a16:creationId xmlns:a16="http://schemas.microsoft.com/office/drawing/2014/main" id="{93A212A8-C283-467D-B2C6-D10296B02345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工作区路径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0861CB38-3F4B-4E8E-8AF5-8F7AB37858ED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d05332c27114ce0"/>
              </a:rPr>
              <a:t>依据：</a:t>
            </a:r>
            <a:r>
              <a:rPr u="sng">
                <a:solidFill>
                  <a:srgbClr val="0070C0"/>
                </a:solidFill>
                <a:hlinkClick r:id="R0d05332c27114ce0"/>
              </a:rPr>
              <a:t>doc/develop/west/built-in.rst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672E4A6B-D015-4785-BEDD-17EFCA4C457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de9cf56397c4ea0"/>
              </a:rPr>
              <a:t>配套正文 · 8.3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675514E-5E1A-4FDD-B65E-EB8840E541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先只读解析结果，再决定是否更新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78722FB-72A8-4F3B-841E-CFE6B1A754D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8.3 · CMSIS_6 是已声明的项目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681F5C6-B61A-4FBB-81C1-8343157FB30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UCRT64；源码根；8.2 已确认正确工作区。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只读解析结果，不下载、不修改清单。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list cmsis_6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'{name} {url} {revision} {abspath}'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61F4000E-C5CC-4028-BF70-826D7045870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URL 指向 Zephyr 组织的 CMSIS_6，路径在工作区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modules/hal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下。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 SHA 以清单为准；升级后不永久照抄旧 SHA。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FDC57039-70F7-4B17-8D38-77C2AF4E00F4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68c43775ed504d94"/>
              </a:rPr>
              <a:t>依据：</a:t>
            </a:r>
            <a:r>
              <a:rPr u="sng">
                <a:solidFill>
                  <a:srgbClr val="0070C0"/>
                </a:solidFill>
                <a:hlinkClick r:id="R68c43775ed504d94"/>
              </a:rPr>
              <a:t>doc/develop/west/built-in.rst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C9040A4-AD32-43CB-B6F6-F49C593676A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19a92ea79e140a0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8D2D2D70-FAFD-4C4F-BB62-4D9CCF1A047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d18cb319ba0416d"/>
              </a:rPr>
              <a:t>配套正文 · 8.3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41E740-4C2F-4623-8F15-5A33630518A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让依赖匹配当前清单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2C84805-50EA-4A42-BCED-A6FF5122F45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8.3 · P004 已下载成功就先复用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2857EB8-5FD7-49EF-80F3-44E48AF8266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更新前先保存模块中的本地修改，并确认 Git for Windows。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update cmsis_6 只请求该项目，成功后检查入口与版本。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完整带失败停止条件的下载块见“完整命令”，不要只复制一句 update。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不会自动升级 Zephyr 清单仓库，也不会下载 SDK。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0AD00064-D476-4B59-847D-411C14ADA110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77d2d9040c240c1"/>
              </a:rPr>
              <a:t>依据：</a:t>
            </a:r>
            <a:r>
              <a:rPr u="sng">
                <a:solidFill>
                  <a:srgbClr val="0070C0"/>
                </a:solidFill>
                <a:hlinkClick r:id="R377d2d9040c240c1"/>
              </a:rPr>
              <a:t>doc/develop/west/built-in.rst</a:t>
            </a:r>
          </a:p>
        </p:txBody>
      </p:sp>
      <p:sp>
        <p:nvSpPr>
          <p:cNvPr id="6" name="Command file">
            <a:extLst>
              <a:ext uri="{FF2B5EF4-FFF2-40B4-BE49-F238E27FC236}">
                <a16:creationId xmlns:a16="http://schemas.microsoft.com/office/drawing/2014/main" id="{4B392010-ACD3-4C1D-AEB7-3290CDF8C7D6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f5a9d9901194586"/>
              </a:rPr>
              <a:t>完整命令（含终端与前提）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71A79E66-3A5A-4542-B43F-A49202CCBD0B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fefcc98decd4759"/>
              </a:rPr>
              <a:t>配套正文 · 8.3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610C8D9-086A-47A7-8B3B-1AE93E8FC49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下载完成要核对什么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499B11F-4CA5-4C05-8C57-00F6E72CBC0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8.3 · 目录存在还不够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EAC5A37-76C9-46CA-8967-F586933E1A1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CMSIS/Core/Include/core_cm4.h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HEAD、manifest-rev 与当前清单要求相符。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not a valid SHA1：先查 Git、来源、修订和下载日志。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清单未声明 hal_xhsc，就不能用同名 update 凭空发现它。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F125E1E6-FFE7-4FEE-AC44-7781CCCB37FB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41859c392824241"/>
              </a:rPr>
              <a:t>依据：</a:t>
            </a:r>
            <a:r>
              <a:rPr u="sng">
                <a:solidFill>
                  <a:srgbClr val="0070C0"/>
                </a:solidFill>
                <a:hlinkClick r:id="Rb41859c392824241"/>
              </a:rPr>
              <a:t>doc/develop/west/built-in.rst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BB05CD21-B7BE-40D1-9048-8A5009CFBAD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da4dbbd0b3244c6"/>
              </a:rPr>
              <a:t>配套正文 · 8.3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ED2349-7F8D-401E-AF6A-C76ADBCAB29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为什么 west 会认识 build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4486355-127D-4A85-8924-65E4F471187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8.4 · 命令来自当前 Zephyr 源码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715B7A-C28C-43C6-9D17-015A715219F1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self.west-commands 指向扩展声明文件。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声明列出 build 的名字、Python 文件和 Build 类。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核心读取声明，再加载命令实现；不是 SDK 安装出的命令。</a:t>
            </a:r>
          </a:p>
        </p:txBody>
      </p:sp>
      <p:sp>
        <p:nvSpPr>
          <p:cNvPr id="5" name="Model west.yml">
            <a:extLst>
              <a:ext uri="{FF2B5EF4-FFF2-40B4-BE49-F238E27FC236}">
                <a16:creationId xmlns:a16="http://schemas.microsoft.com/office/drawing/2014/main" id="{FEEB995D-6746-4DB0-B803-EE22481F0EDC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8EED56E8-7C57-4FA8-8DA5-CF901DC97096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west-commands.yml">
            <a:extLst>
              <a:ext uri="{FF2B5EF4-FFF2-40B4-BE49-F238E27FC236}">
                <a16:creationId xmlns:a16="http://schemas.microsoft.com/office/drawing/2014/main" id="{BFDC4E00-EB64-41DD-AEB1-D34C0B682168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west-commands.yml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31442C8-A1C0-49F4-894C-FA574EA70455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py / Build">
            <a:extLst>
              <a:ext uri="{FF2B5EF4-FFF2-40B4-BE49-F238E27FC236}">
                <a16:creationId xmlns:a16="http://schemas.microsoft.com/office/drawing/2014/main" id="{1A6C0A12-5847-461C-A283-AC5928C48775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build.py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Build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375A8C55-A087-436C-A1C9-F27932340A4C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west build">
            <a:extLst>
              <a:ext uri="{FF2B5EF4-FFF2-40B4-BE49-F238E27FC236}">
                <a16:creationId xmlns:a16="http://schemas.microsoft.com/office/drawing/2014/main" id="{86A8C06C-B84E-4049-A43F-E079299ED991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7C21A98E-8699-4A72-8C42-60A09E88F83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807fd4918ee4807"/>
              </a:rPr>
              <a:t>依据：</a:t>
            </a:r>
            <a:r>
              <a:rPr u="sng">
                <a:solidFill>
                  <a:srgbClr val="0070C0"/>
                </a:solidFill>
                <a:hlinkClick r:id="R7807fd4918ee4807"/>
              </a:rPr>
              <a:t>west.yml</a:t>
            </a:r>
            <a:r>
              <a:rPr u="sng">
                <a:hlinkClick r:id="R7807fd4918ee4807"/>
              </a:rPr>
              <a:t> → </a:t>
            </a:r>
            <a:r>
              <a:rPr u="sng">
                <a:solidFill>
                  <a:srgbClr val="0070C0"/>
                </a:solidFill>
                <a:hlinkClick r:id="R7807fd4918ee4807"/>
              </a:rPr>
              <a:t>scripts/west-commands.yml</a:t>
            </a:r>
            <a:r>
              <a:rPr u="sng">
                <a:hlinkClick r:id="R7807fd4918ee4807"/>
              </a:rPr>
              <a:t> → </a:t>
            </a:r>
            <a:r>
              <a:rPr u="sng">
                <a:solidFill>
                  <a:srgbClr val="0070C0"/>
                </a:solidFill>
                <a:hlinkClick r:id="R7807fd4918ee4807"/>
              </a:rPr>
              <a:t>scripts/west_commands/build.py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7B3D3EDC-1848-4D52-9F0C-5CF458D406DD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74ada52440948da"/>
              </a:rPr>
              <a:t>配套正文 · 8.4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27A1C7D-AF50-43C2-A639-4140212EB01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沿官方已有声明找到实现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86D5584-1361-4A0B-9697-0053A8D40A5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8.4 · 只读摘录，不新建或覆盖文件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3B95561D-422E-47A0-8001-A9CAFF486EA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-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file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scripts</a:t>
            </a:r>
            <a:r>
              <a:rPr>
                <a:solidFill>
                  <a:srgbClr val="0070C0"/>
                </a:solidFill>
              </a:rPr>
              <a:t>/west_commands/build.py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commands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help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compile a Zephyr application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8108C8B-B5EC-4C13-A3E9-6A1B199594C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上游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self.west-commands 指向 </a:t>
            </a:r>
            <a:r>
              <a:rPr sz="18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scripts/west-commands.yml</a:t>
            </a: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下面是该声明文件内 build 项；路径相对提供扩展的项目根。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5B627138-1845-47D6-A39D-2B1B08DCBEC3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186c331b11a462c"/>
              </a:rPr>
              <a:t>依据：</a:t>
            </a:r>
            <a:r>
              <a:rPr u="sng">
                <a:solidFill>
                  <a:srgbClr val="0070C0"/>
                </a:solidFill>
                <a:hlinkClick r:id="R8186c331b11a462c"/>
              </a:rPr>
              <a:t>scripts/west-commands.yml</a:t>
            </a:r>
            <a:r>
              <a:rPr u="sng">
                <a:hlinkClick r:id="R8186c331b11a462c"/>
              </a:rPr>
              <a:t>；只读官方原文件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492FE8CE-8BB2-4306-B585-55B37F5B3530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d39ac1d6a92495b"/>
              </a:rPr>
              <a:t>配套正文 · 8.4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C28E4C0-8220-466B-A1FF-3FD2234F49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用帮助确认扩展已经被加载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FDE5F21-9DEF-4163-9AF0-5BCA24DEBCC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8.4 · 工作区正确，声明文件完整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8A0DAD49-6422-4D6C-8ED2-8533AA3F4EE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UCRT64；源码根；工作区检查已通过。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help build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--help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673ACB0-7489-46D9-B2E2-933CFC3573C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72800" cy="19716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应看到 board、build-dir、cmake-only、pristine 等选项。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 update、没有 build：先查活动清单与扩展声明，不重装 SDK。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3637F7B1-A345-4A61-ABD3-8FBA7AEA713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f1cf53dd0214bf3"/>
              </a:rPr>
              <a:t>依据：</a:t>
            </a:r>
            <a:r>
              <a:rPr u="sng">
                <a:solidFill>
                  <a:srgbClr val="0070C0"/>
                </a:solidFill>
                <a:hlinkClick r:id="R2f1cf53dd0214bf3"/>
              </a:rPr>
              <a:t>doc/develop/west/extensions.rst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40E62660-5A27-4A45-859C-82134593E96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c63c9aeb38042b5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00336F76-2C88-478C-A62E-74D39A7B1874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8077accc3b94d8c"/>
              </a:rPr>
              <a:t>配套正文 · 8.4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E918AC3-0087-4DC2-A4C1-FE30D5330B8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build 的调用链展开后是什么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038156-58EB-4830-ABA0-E395C0FA686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8.5 · 箭头跨程序调用，脚本在 CMake 内执行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5CC26E8-FD4C-4163-BCF7-7E12F0BD681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解析板、应用、目录与参数，需要时先调用 CMake 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随后调用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；CMake 再调用 Ninja。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执行编译、链接及 Python 生成任务，最终产生固件。</a:t>
            </a:r>
          </a:p>
        </p:txBody>
      </p:sp>
      <p:sp>
        <p:nvSpPr>
          <p:cNvPr id="5" name="Model west / Build">
            <a:extLst>
              <a:ext uri="{FF2B5EF4-FFF2-40B4-BE49-F238E27FC236}">
                <a16:creationId xmlns:a16="http://schemas.microsoft.com/office/drawing/2014/main" id="{B2B32CDB-0BCF-4410-92AD-A5E0560CE74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Build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9D1BA3FA-EEA2-4E08-998B-E8FB0A79F0BD}"/>
              </a:ext>
            </a:extLst>
          </p:cNvPr>
          <p:cNvSpPr>
            <a:spLocks noGrp="1"/>
          </p:cNvSpPr>
          <p:nvPr/>
        </p:nvSpPr>
        <p:spPr>
          <a:xfrm>
            <a:off x="3838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CMake 配置">
            <a:extLst>
              <a:ext uri="{FF2B5EF4-FFF2-40B4-BE49-F238E27FC236}">
                <a16:creationId xmlns:a16="http://schemas.microsoft.com/office/drawing/2014/main" id="{DFFC661E-75CA-44D7-BD2A-EEADE49385FF}"/>
              </a:ext>
            </a:extLst>
          </p:cNvPr>
          <p:cNvSpPr>
            <a:spLocks noGrp="1"/>
          </p:cNvSpPr>
          <p:nvPr/>
        </p:nvSpPr>
        <p:spPr>
          <a:xfrm>
            <a:off x="417195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718879F4-DA5B-4AB1-AB90-84DB2086BB5D}"/>
              </a:ext>
            </a:extLst>
          </p:cNvPr>
          <p:cNvSpPr>
            <a:spLocks noGrp="1"/>
          </p:cNvSpPr>
          <p:nvPr/>
        </p:nvSpPr>
        <p:spPr>
          <a:xfrm>
            <a:off x="74009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build.ninja">
            <a:extLst>
              <a:ext uri="{FF2B5EF4-FFF2-40B4-BE49-F238E27FC236}">
                <a16:creationId xmlns:a16="http://schemas.microsoft.com/office/drawing/2014/main" id="{EDBF75D3-1825-46D9-8F9D-4EFCAC125B97}"/>
              </a:ext>
            </a:extLst>
          </p:cNvPr>
          <p:cNvSpPr>
            <a:spLocks noGrp="1"/>
          </p:cNvSpPr>
          <p:nvPr/>
        </p:nvSpPr>
        <p:spPr>
          <a:xfrm>
            <a:off x="7734300" y="3905250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E11C92F9-0650-4126-B342-28B77BBB5D8D}"/>
              </a:ext>
            </a:extLst>
          </p:cNvPr>
          <p:cNvSpPr>
            <a:spLocks noGrp="1"/>
          </p:cNvSpPr>
          <p:nvPr/>
        </p:nvSpPr>
        <p:spPr>
          <a:xfrm>
            <a:off x="9182100" y="4514850"/>
            <a:ext cx="304800" cy="342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" name="Model cmake --build">
            <a:extLst>
              <a:ext uri="{FF2B5EF4-FFF2-40B4-BE49-F238E27FC236}">
                <a16:creationId xmlns:a16="http://schemas.microsoft.com/office/drawing/2014/main" id="{9E3497C5-80FC-4B6F-B584-625E391C1E41}"/>
              </a:ext>
            </a:extLst>
          </p:cNvPr>
          <p:cNvSpPr>
            <a:spLocks noGrp="1"/>
          </p:cNvSpPr>
          <p:nvPr/>
        </p:nvSpPr>
        <p:spPr>
          <a:xfrm>
            <a:off x="77343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</a:p>
        </p:txBody>
      </p:sp>
      <p:sp>
        <p:nvSpPr>
          <p:cNvPr id="12" name="Arrow 3">
            <a:extLst>
              <a:ext uri="{FF2B5EF4-FFF2-40B4-BE49-F238E27FC236}">
                <a16:creationId xmlns:a16="http://schemas.microsoft.com/office/drawing/2014/main" id="{438CAD69-401D-44C1-A216-9E4886198574}"/>
              </a:ext>
            </a:extLst>
          </p:cNvPr>
          <p:cNvSpPr>
            <a:spLocks noGrp="1"/>
          </p:cNvSpPr>
          <p:nvPr/>
        </p:nvSpPr>
        <p:spPr>
          <a:xfrm>
            <a:off x="740092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3" name="Model Ninja / 工具">
            <a:extLst>
              <a:ext uri="{FF2B5EF4-FFF2-40B4-BE49-F238E27FC236}">
                <a16:creationId xmlns:a16="http://schemas.microsoft.com/office/drawing/2014/main" id="{30EB4107-AF00-4F1A-9EA6-85F042F9AC20}"/>
              </a:ext>
            </a:extLst>
          </p:cNvPr>
          <p:cNvSpPr>
            <a:spLocks noGrp="1"/>
          </p:cNvSpPr>
          <p:nvPr/>
        </p:nvSpPr>
        <p:spPr>
          <a:xfrm>
            <a:off x="417195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 / 工具</a:t>
            </a:r>
          </a:p>
        </p:txBody>
      </p:sp>
      <p:sp>
        <p:nvSpPr>
          <p:cNvPr id="14" name="Arrow 4">
            <a:extLst>
              <a:ext uri="{FF2B5EF4-FFF2-40B4-BE49-F238E27FC236}">
                <a16:creationId xmlns:a16="http://schemas.microsoft.com/office/drawing/2014/main" id="{1E2098CA-69B5-4585-ABA1-5C8A58C5DE5E}"/>
              </a:ext>
            </a:extLst>
          </p:cNvPr>
          <p:cNvSpPr>
            <a:spLocks noGrp="1"/>
          </p:cNvSpPr>
          <p:nvPr/>
        </p:nvSpPr>
        <p:spPr>
          <a:xfrm>
            <a:off x="3838575" y="4943475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5" name="Model zephyr.elf">
            <a:extLst>
              <a:ext uri="{FF2B5EF4-FFF2-40B4-BE49-F238E27FC236}">
                <a16:creationId xmlns:a16="http://schemas.microsoft.com/office/drawing/2014/main" id="{DAB105F6-32A1-44E4-B2A1-17B2CFAA0731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1813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6" name="Evidence">
            <a:extLst>
              <a:ext uri="{FF2B5EF4-FFF2-40B4-BE49-F238E27FC236}">
                <a16:creationId xmlns:a16="http://schemas.microsoft.com/office/drawing/2014/main" id="{7BFA55BA-5AF4-47F0-8389-8C118287CFEE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745a759117fb4044"/>
              </a:rPr>
              <a:t>依据：Build._run_cmake → zcmake.run_cmake；Build._run_build → zcmake.run_build</a:t>
            </a:r>
          </a:p>
        </p:txBody>
      </p:sp>
      <p:sp>
        <p:nvSpPr>
          <p:cNvPr id="17" name="Reading link">
            <a:extLst>
              <a:ext uri="{FF2B5EF4-FFF2-40B4-BE49-F238E27FC236}">
                <a16:creationId xmlns:a16="http://schemas.microsoft.com/office/drawing/2014/main" id="{7BBF00EA-7307-4648-96B9-8766A1C94B69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955277f858a94eee"/>
              </a:rPr>
              <a:t>配套正文 · 8.5</a:t>
            </a:r>
          </a:p>
        </p:txBody>
      </p: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50D5D3-B958-491E-96D7-2AFE60C074F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每个输入交给哪一层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3C6CA30-6D05-4473-A537-DC8F718B1E9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8.5.1 · 核心等价关系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844C0AD-784A-4ACE-B51D-309884F1AAAB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的应用位置 → CMake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默认生成器 Ninja →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Ninja；-- 后参数交给 CMake 配置器。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还传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WEST_PYTHON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WEST_TOPDIR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等上下文，不要求手填。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这不是第二套编译器：与 P007 采用同一目标和规则模型。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8C1B91B-4565-4037-926B-CF46017C136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2a153fc397e74d6b"/>
              </a:rPr>
              <a:t>依据：</a:t>
            </a:r>
            <a:r>
              <a:rPr u="sng">
                <a:solidFill>
                  <a:srgbClr val="0070C0"/>
                </a:solidFill>
                <a:hlinkClick r:id="R2a153fc397e74d6b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1527B12A-9393-4E6F-AD8F-7E31892DC7BE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926ad1ba0f34ddf"/>
              </a:rPr>
              <a:t>配套正文 · 8.5.1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A81E45-D1EF-4FE2-8057-E097CDCB7FB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先只配置，观察详细调用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F042E0-BCDC-4C76-989F-B71643BCD30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8.5.1 · 依赖已通过 P007 检查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B49527E-B426-4A4D-B86B-2DFC063127C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完整命令保留终端、目录、venv 和源码包路径，见下方链接。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放在 build 前；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--cmake-only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只配置与生成，不编译固件。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使用新 west-demo 与 P007 对照；找不到 SDK 时仍回 P003。</a:t>
            </a:r>
          </a:p>
        </p:txBody>
      </p:sp>
      <p:sp>
        <p:nvSpPr>
          <p:cNvPr id="5" name="Model 相同应用与板">
            <a:extLst>
              <a:ext uri="{FF2B5EF4-FFF2-40B4-BE49-F238E27FC236}">
                <a16:creationId xmlns:a16="http://schemas.microsoft.com/office/drawing/2014/main" id="{1E6DE1FF-BE3E-43B1-AAEC-81F41AD32CA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相同应用与板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8A50E849-C334-4357-BC81-02FCF9431BB5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独立 west-demo">
            <a:extLst>
              <a:ext uri="{FF2B5EF4-FFF2-40B4-BE49-F238E27FC236}">
                <a16:creationId xmlns:a16="http://schemas.microsoft.com/office/drawing/2014/main" id="{9067D8EA-B982-42D7-A6E6-515B16D011C5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west-demo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A5020617-F336-4DA7-9E61-C3A47BBBE8A6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核对 CMake 调用">
            <a:extLst>
              <a:ext uri="{FF2B5EF4-FFF2-40B4-BE49-F238E27FC236}">
                <a16:creationId xmlns:a16="http://schemas.microsoft.com/office/drawing/2014/main" id="{4D475FEE-4D39-4258-84B6-A39055221267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CMake 调用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A43C4643-62EF-4B95-B102-8EA68727424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Configuring / Generating done">
            <a:extLst>
              <a:ext uri="{FF2B5EF4-FFF2-40B4-BE49-F238E27FC236}">
                <a16:creationId xmlns:a16="http://schemas.microsoft.com/office/drawing/2014/main" id="{A4F13CD3-1BB5-4F57-8C8F-AE5061FE89F9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Configuring / Generating done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7B5CAC86-FC98-423D-A8CF-BB6FFF5F5D5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dbcb7bf678b64f60"/>
              </a:rPr>
              <a:t>依据：</a:t>
            </a:r>
            <a:r>
              <a:rPr u="sng">
                <a:solidFill>
                  <a:srgbClr val="0070C0"/>
                </a:solidFill>
                <a:hlinkClick r:id="Rdbcb7bf678b64f60"/>
              </a:rPr>
              <a:t>doc/develop/west/build-flash-debug.rst</a:t>
            </a:r>
          </a:p>
        </p:txBody>
      </p:sp>
      <p:sp>
        <p:nvSpPr>
          <p:cNvPr id="13" name="Command file">
            <a:extLst>
              <a:ext uri="{FF2B5EF4-FFF2-40B4-BE49-F238E27FC236}">
                <a16:creationId xmlns:a16="http://schemas.microsoft.com/office/drawing/2014/main" id="{D5F1DAB0-7224-4A92-96D8-62E00D6FEF64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50bc0d3e1fd842a8"/>
              </a:rPr>
              <a:t>完整命令（含终端与前提）</a:t>
            </a:r>
          </a:p>
        </p:txBody>
      </p:sp>
      <p:sp>
        <p:nvSpPr>
          <p:cNvPr id="14" name="Reading link">
            <a:extLst>
              <a:ext uri="{FF2B5EF4-FFF2-40B4-BE49-F238E27FC236}">
                <a16:creationId xmlns:a16="http://schemas.microsoft.com/office/drawing/2014/main" id="{5890CC51-0870-4C97-8D5E-66050B4A4EE2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a521a82a2dd4f8b"/>
              </a:rPr>
              <a:t>配套正文 · 8.5.1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6708F79-0DAF-4539-B37E-4A7C3ED110F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生成成功后，用 west 执行构建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B481BE4-3E81-4AD7-B728-154A02D27F2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8.5.2 · 不重复传已经保存的板与应用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D14D3B41-4F13-4D83-ACAC-7820A01EDF3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051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UCRT64；源码根；上一块 </a:t>
            </a:r>
            <a:r>
              <a:rPr>
                <a:solidFill>
                  <a:srgbClr val="646173"/>
                </a:solidFill>
              </a:rPr>
              <a:t>west</a:t>
            </a: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已配置、生成成功。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source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</a:t>
            </a:r>
            <a:r>
              <a:rPr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build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/learning-tools/west-demo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; </a:t>
            </a: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then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ls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>
                <a:solidFill>
                  <a:srgbClr val="0070C0"/>
                </a:solidFill>
              </a:rPr>
              <a:t>/learning-tools/west-demo/zephyr/zephyr.elf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A02B93"/>
                </a:solidFill>
              </a:rPr>
              <a:t>printf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'%s\n' '本次构建失败，不把已有 ELF 当成本次成功。'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fi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11D4F961-3FDB-40B4-AA77-8BA2E92BA9C9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0972800" cy="1000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本次成功才核对 ELF；已有 ELF 本身不证明刚才构建成功。</a:t>
            </a:r>
          </a:p>
        </p:txBody>
      </p:sp>
      <p:sp>
        <p:nvSpPr>
          <p:cNvPr id="6" name="Evidence">
            <a:extLst>
              <a:ext uri="{FF2B5EF4-FFF2-40B4-BE49-F238E27FC236}">
                <a16:creationId xmlns:a16="http://schemas.microsoft.com/office/drawing/2014/main" id="{AA2CD71B-3659-472B-B016-41D6BA2F73A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ee6aa2ddd1b4c8d"/>
              </a:rPr>
              <a:t>依据：</a:t>
            </a:r>
            <a:r>
              <a:rPr u="sng">
                <a:solidFill>
                  <a:srgbClr val="0070C0"/>
                </a:solidFill>
                <a:hlinkClick r:id="R0ee6aa2ddd1b4c8d"/>
              </a:rPr>
              <a:t>doc/develop/west/build-flash-debug.rst</a:t>
            </a:r>
          </a:p>
        </p:txBody>
      </p:sp>
      <p:sp>
        <p:nvSpPr>
          <p:cNvPr id="7" name="Command file">
            <a:extLst>
              <a:ext uri="{FF2B5EF4-FFF2-40B4-BE49-F238E27FC236}">
                <a16:creationId xmlns:a16="http://schemas.microsoft.com/office/drawing/2014/main" id="{04714BDB-261B-4249-8738-7F309B157800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0284581c8e2145ab"/>
              </a:rPr>
              <a:t>完整命令（含终端与前提）</a:t>
            </a:r>
          </a:p>
        </p:txBody>
      </p:sp>
      <p:sp>
        <p:nvSpPr>
          <p:cNvPr id="8" name="Reading link">
            <a:extLst>
              <a:ext uri="{FF2B5EF4-FFF2-40B4-BE49-F238E27FC236}">
                <a16:creationId xmlns:a16="http://schemas.microsoft.com/office/drawing/2014/main" id="{97F2BD19-B792-49D6-B671-0E28CB7FCA7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9cccc0f03624667"/>
              </a:rPr>
              <a:t>配套正文 · 8.5.2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0240442-37C4-402C-9C7F-1D80E88FE5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与直接 CMake 可以共用目录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D9A6369-DA55-4604-B147-41F1076D9E8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8.5.2 · 同一套缓存、规则和后端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1392C47-4BAD-4248-968C-BF327F79A48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west-demo 配置成功后，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可直接复用。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的 cmake-demo 配置成功后，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也可复用。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MD 给出完整对照命令；二选一日常使用，不同时操作同一目录。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切换入口不会清除旧 SDK、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或生成器选择。</a:t>
            </a:r>
          </a:p>
        </p:txBody>
      </p:sp>
      <p:sp>
        <p:nvSpPr>
          <p:cNvPr id="5" name="Model west build -d">
            <a:extLst>
              <a:ext uri="{FF2B5EF4-FFF2-40B4-BE49-F238E27FC236}">
                <a16:creationId xmlns:a16="http://schemas.microsoft.com/office/drawing/2014/main" id="{E871126E-4AAF-4CB0-9716-6D27769E41C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build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FB135B1C-1E57-499D-B9AC-1891EE1F7429}"/>
              </a:ext>
            </a:extLst>
          </p:cNvPr>
          <p:cNvSpPr>
            <a:spLocks noGrp="1"/>
          </p:cNvSpPr>
          <p:nvPr/>
        </p:nvSpPr>
        <p:spPr>
          <a:xfrm>
            <a:off x="40608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同一个构建目录">
            <a:extLst>
              <a:ext uri="{FF2B5EF4-FFF2-40B4-BE49-F238E27FC236}">
                <a16:creationId xmlns:a16="http://schemas.microsoft.com/office/drawing/2014/main" id="{18E730F1-7F61-4676-A9ED-1C4F8DC94ADA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同一个构建目录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28EB27D7-88AF-4165-B9A9-5B2689A463D2}"/>
              </a:ext>
            </a:extLst>
          </p:cNvPr>
          <p:cNvSpPr>
            <a:spLocks noGrp="1"/>
          </p:cNvSpPr>
          <p:nvPr/>
        </p:nvSpPr>
        <p:spPr>
          <a:xfrm>
            <a:off x="78454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cmake --build">
            <a:extLst>
              <a:ext uri="{FF2B5EF4-FFF2-40B4-BE49-F238E27FC236}">
                <a16:creationId xmlns:a16="http://schemas.microsoft.com/office/drawing/2014/main" id="{60952EA1-4FA5-4C15-ACDF-2F191EF05B44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--build</a:t>
            </a:r>
          </a:p>
        </p:txBody>
      </p:sp>
      <p:sp>
        <p:nvSpPr>
          <p:cNvPr id="10" name="Evidence">
            <a:extLst>
              <a:ext uri="{FF2B5EF4-FFF2-40B4-BE49-F238E27FC236}">
                <a16:creationId xmlns:a16="http://schemas.microsoft.com/office/drawing/2014/main" id="{51DBF6AB-15CA-4ED9-A675-3DFD24A07A9F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e649a1468834255"/>
              </a:rPr>
              <a:t>依据：</a:t>
            </a:r>
            <a:r>
              <a:rPr u="sng">
                <a:solidFill>
                  <a:srgbClr val="0070C0"/>
                </a:solidFill>
                <a:hlinkClick r:id="R3e649a1468834255"/>
              </a:rPr>
              <a:t>doc/develop/west/build-flash-debug.rst</a:t>
            </a:r>
          </a:p>
        </p:txBody>
      </p:sp>
      <p:sp>
        <p:nvSpPr>
          <p:cNvPr id="11" name="Command file">
            <a:extLst>
              <a:ext uri="{FF2B5EF4-FFF2-40B4-BE49-F238E27FC236}">
                <a16:creationId xmlns:a16="http://schemas.microsoft.com/office/drawing/2014/main" id="{E98A3C8F-3719-4378-ACC3-4065CB11AEA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3b41da5bed06426b"/>
              </a:rPr>
              <a:t>完整命令（含终端与前提）</a:t>
            </a:r>
          </a:p>
        </p:txBody>
      </p:sp>
      <p:sp>
        <p:nvSpPr>
          <p:cNvPr id="12" name="Reading link">
            <a:extLst>
              <a:ext uri="{FF2B5EF4-FFF2-40B4-BE49-F238E27FC236}">
                <a16:creationId xmlns:a16="http://schemas.microsoft.com/office/drawing/2014/main" id="{E6B98976-A7EF-484E-BF02-E0E7FDE19E66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fb5b5c87c2fe4588"/>
              </a:rPr>
              <a:t>配套正文 · 8.5.2</a:t>
            </a:r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C6B0D3-5B45-4A4A-B652-A4D5A67F599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重新配置、只配置、给后端传参数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6DB9583-A22A-4FC9-B9DC-DA84B940375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8.6 · 命令名字相似，作用层不同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EA75C88-1FFD-4679-B0BC-BF4EE5F5BB6F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-c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：强制重跑 CMake，保留缓存；加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--cmake-only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才只配置。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--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-D名字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=值：给 CMake 配置阶段，值可能写入缓存。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help：后端目标；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-o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-j4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：把并行选项交给 Ninja。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不要把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交给 Ninja；它由 Zephyr 的配置脚本解释。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22FEF042-5C26-4BE1-9866-3B4D1DC0535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6bed5304f6c4784"/>
              </a:rPr>
              <a:t>依据：</a:t>
            </a:r>
            <a:r>
              <a:rPr u="sng">
                <a:solidFill>
                  <a:srgbClr val="0070C0"/>
                </a:solidFill>
                <a:hlinkClick r:id="R86bed5304f6c4784"/>
              </a:rPr>
              <a:t>doc/develop/west/build-flash-debug.rst</a:t>
            </a:r>
          </a:p>
        </p:txBody>
      </p:sp>
      <p:sp>
        <p:nvSpPr>
          <p:cNvPr id="6" name="Command file">
            <a:extLst>
              <a:ext uri="{FF2B5EF4-FFF2-40B4-BE49-F238E27FC236}">
                <a16:creationId xmlns:a16="http://schemas.microsoft.com/office/drawing/2014/main" id="{0E7F16CD-24EF-406D-BCB6-D8494E745BAE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55245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b89ba923c4148b4"/>
              </a:rPr>
              <a:t>完整命令（含终端与前提）</a:t>
            </a:r>
          </a:p>
        </p:txBody>
      </p:sp>
      <p:sp>
        <p:nvSpPr>
          <p:cNvPr id="7" name="Reading link">
            <a:extLst>
              <a:ext uri="{FF2B5EF4-FFF2-40B4-BE49-F238E27FC236}">
                <a16:creationId xmlns:a16="http://schemas.microsoft.com/office/drawing/2014/main" id="{DDEC1076-7C46-45ED-B3C1-85840066F21C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e14aae25afe944cf"/>
              </a:rPr>
              <a:t>配套正文 · 8.6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C4EB29-9FCC-48DA-BEFA-88D75C550B2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三处状态不要混成一个环境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B603CE8-357C-4A11-8E50-1FA5ECC7A10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8.6 · 工作区、构建目录、Python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C8DDA16-965D-4667-B7E8-951740EF4B9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.west/config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工作区及扩展选项。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：一份构建目录保存的配置。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：Python 包和入口；不保存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或 SDK 包注册表。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是独立配置；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always 会清空所选构建状态，不是日常必做。</a:t>
            </a:r>
          </a:p>
        </p:txBody>
      </p:sp>
      <p:sp>
        <p:nvSpPr>
          <p:cNvPr id="5" name="Model west 配置">
            <a:extLst>
              <a:ext uri="{FF2B5EF4-FFF2-40B4-BE49-F238E27FC236}">
                <a16:creationId xmlns:a16="http://schemas.microsoft.com/office/drawing/2014/main" id="{F30BC160-7F8E-4CBE-843F-896350E79983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配置</a:t>
            </a:r>
          </a:p>
        </p:txBody>
      </p:sp>
      <p:sp>
        <p:nvSpPr>
          <p:cNvPr id="6" name="Model CMake 缓存">
            <a:extLst>
              <a:ext uri="{FF2B5EF4-FFF2-40B4-BE49-F238E27FC236}">
                <a16:creationId xmlns:a16="http://schemas.microsoft.com/office/drawing/2014/main" id="{24C249F3-FF4A-4EC0-810F-66AC6BB294D5}"/>
              </a:ext>
            </a:extLst>
          </p:cNvPr>
          <p:cNvSpPr>
            <a:spLocks noGrp="1"/>
          </p:cNvSpPr>
          <p:nvPr/>
        </p:nvSpPr>
        <p:spPr>
          <a:xfrm>
            <a:off x="43942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缓存</a:t>
            </a:r>
          </a:p>
        </p:txBody>
      </p:sp>
      <p:sp>
        <p:nvSpPr>
          <p:cNvPr id="7" name="Model Python venv">
            <a:extLst>
              <a:ext uri="{FF2B5EF4-FFF2-40B4-BE49-F238E27FC236}">
                <a16:creationId xmlns:a16="http://schemas.microsoft.com/office/drawing/2014/main" id="{4063DE05-331B-40C9-9FA8-FFDA76884C2E}"/>
              </a:ext>
            </a:extLst>
          </p:cNvPr>
          <p:cNvSpPr>
            <a:spLocks noGrp="1"/>
          </p:cNvSpPr>
          <p:nvPr/>
        </p:nvSpPr>
        <p:spPr>
          <a:xfrm>
            <a:off x="8178800" y="3905250"/>
            <a:ext cx="340360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Python venv</a:t>
            </a:r>
          </a:p>
        </p:txBody>
      </p:sp>
      <p:sp>
        <p:nvSpPr>
          <p:cNvPr id="8" name="Evidence">
            <a:extLst>
              <a:ext uri="{FF2B5EF4-FFF2-40B4-BE49-F238E27FC236}">
                <a16:creationId xmlns:a16="http://schemas.microsoft.com/office/drawing/2014/main" id="{10F1FB46-E0C7-4E4C-A5C4-0E14F94BFC42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2daeb10a60443dd"/>
              </a:rPr>
              <a:t>依据：</a:t>
            </a:r>
            <a:r>
              <a:rPr u="sng">
                <a:solidFill>
                  <a:srgbClr val="0070C0"/>
                </a:solidFill>
                <a:hlinkClick r:id="Rc2daeb10a60443dd"/>
              </a:rPr>
              <a:t>doc/develop/west/build-flash-debug.rst</a:t>
            </a:r>
          </a:p>
        </p:txBody>
      </p:sp>
      <p:sp>
        <p:nvSpPr>
          <p:cNvPr id="9" name="Reading link">
            <a:extLst>
              <a:ext uri="{FF2B5EF4-FFF2-40B4-BE49-F238E27FC236}">
                <a16:creationId xmlns:a16="http://schemas.microsoft.com/office/drawing/2014/main" id="{ABB7A4D2-084A-4061-8E7E-8DB5B474659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4f3365b4963432d"/>
              </a:rPr>
              <a:t>配套正文 · 8.6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D8DA99A-839D-4303-8E5D-5E100B83826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zephyr-export 与 SDK 注册不是一回事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AB14B97-D085-476C-BEB9-19BB80D5E86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8.6 · 两个包，两次不同的发现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25C87DB-D878-44EA-8EE3-D9A65A0080C6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zephyr-export 注册 Zephyr 源码的 CMake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setup.cmd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/c 注册 SDK 自己的 CMake 包。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本例显式给了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，无须再重复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它们都不下载 CMSIS，也不把 SDK 安装进 venv。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F8536196-8682-4E17-B2E2-3932480D4E79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e9868c3e3f3460d"/>
              </a:rPr>
              <a:t>依据：</a:t>
            </a:r>
            <a:r>
              <a:rPr u="sng">
                <a:solidFill>
                  <a:srgbClr val="0070C0"/>
                </a:solidFill>
                <a:hlinkClick r:id="Rbe9868c3e3f3460d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2B186F4B-B2AC-4020-9AFA-7912C6786671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364b9a61194412a"/>
              </a:rPr>
              <a:t>配套正文 · 8.6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2D0F774-AC95-46D5-9461-D8FC9D3CE10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按失败所在的层处理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58097EF-6018-4868-8FEB-7DA9AD9A412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8.6.1 · 回到正确入口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27871FC-6CA5-4805-A2AE-78DE3208FAF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找不到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Python / venv；找不到 build → 清单与扩展。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update 失败 → Git、URL、revision；SDK 包缺失 → P003。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编译错误 → 首个失败任务；换板缓存冲突 → 新构建目录。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不能靠反复 init 或 update 修复所有构建问题。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7BB81772-607C-4279-A701-249742474ED8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ca2b13e8a631496e"/>
              </a:rPr>
              <a:t>依据：</a:t>
            </a:r>
            <a:r>
              <a:rPr u="sng">
                <a:solidFill>
                  <a:srgbClr val="0070C0"/>
                </a:solidFill>
                <a:hlinkClick r:id="Rca2b13e8a631496e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CCEEE29D-0068-4302-B458-30A11F13A91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a8c7778673264fd1"/>
              </a:rPr>
              <a:t>配套正文 · 8.6.1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lesson_8_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B33EB9-A617-4B0F-95D9-634429CFBA3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到这里，读者应该能够展开一条命令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590881B-F897-41E3-8063-3379030B28D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8.6.1 · 本册完成条件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63482439-2666-4545-AD83-322D11BF2948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72800" cy="38100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能指出工作区、活动清单、CMSIS 落点与 Build 实现。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能解释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传什么给 CMake，CMake 再调用哪个后端。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能区分 update、configure、build、flash/debug 的对象。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下一册 P009 深入输入发现；自编清单与扩展去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learning/west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Evidence">
            <a:extLst>
              <a:ext uri="{FF2B5EF4-FFF2-40B4-BE49-F238E27FC236}">
                <a16:creationId xmlns:a16="http://schemas.microsoft.com/office/drawing/2014/main" id="{85C1EF19-4031-44F9-BE16-4504D249AED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49279acf272f490d"/>
              </a:rPr>
              <a:t>依据：</a:t>
            </a:r>
            <a:r>
              <a:rPr u="sng">
                <a:solidFill>
                  <a:srgbClr val="0070C0"/>
                </a:solidFill>
                <a:hlinkClick r:id="R49279acf272f490d"/>
              </a:rPr>
              <a:t>doc/develop/west/build-flash-debug.rst</a:t>
            </a:r>
          </a:p>
        </p:txBody>
      </p:sp>
      <p:sp>
        <p:nvSpPr>
          <p:cNvPr id="6" name="Reading link">
            <a:extLst>
              <a:ext uri="{FF2B5EF4-FFF2-40B4-BE49-F238E27FC236}">
                <a16:creationId xmlns:a16="http://schemas.microsoft.com/office/drawing/2014/main" id="{B150665E-F4C8-4830-98F1-E0ABB689328A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8fd9ad8664f14eb6"/>
              </a:rPr>
              <a:t>配套正文 · 8.6.1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west零基础与Zephyr构建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25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