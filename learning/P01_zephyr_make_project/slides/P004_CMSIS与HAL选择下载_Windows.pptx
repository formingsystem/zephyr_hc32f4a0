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83" r:id="rId5"/>
    <p:sldMasterId id="2147483690" r:id="rId6"/>
    <p:sldMasterId id="2147483697" r:id="rId7"/>
    <p:sldMasterId id="2147483704" r:id="rId8"/>
    <p:sldMasterId id="2147483712" r:id="rId9"/>
  </p:sldMasterIdLst>
  <p:notesMasterIdLst>
    <p:notesMasterId r:id="rId29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5" autoAdjust="0"/>
  </p:normalViewPr>
  <p:slideViewPr>
    <p:cSldViewPr snapToGrid="0">
      <p:cViewPr varScale="1">
        <p:scale>
          <a:sx n="126" d="100"/>
          <a:sy n="126" d="100"/>
        </p:scale>
        <p:origin x="487" y="75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slide" Target="slides/slide17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2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7.xml"/><Relationship Id="rId20" Type="http://schemas.openxmlformats.org/officeDocument/2006/relationships/slide" Target="slides/slide11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presProps" Target="presProps.xml"/><Relationship Id="rId8" Type="http://schemas.openxmlformats.org/officeDocument/2006/relationships/slideMaster" Target="slideMasters/slideMaster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承接第一期的 UCRT64 与源码下载。本期从原生文件查版本，准备 SDK、主机工具、Windows Python 3.12.10、west 1.5.0 与源码根 .venv。完成标志是工具和包环境可以核验、下次可以恢复。CMake 配置、实际编译与新增板实验已独立放入 P011。</a:t>
            </a:r>
          </a:p>
          <a:p>
            <a:r>
              <a:t>配套正文：learning/P01_zephyr_make_project/P004_CMSIS与HAL选择下载_Windows.md</a:t>
            </a:r>
          </a:p>
          <a:p>
            <a:r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004_CMSIS与HAL选择下载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对应正文：前置：P002 工具可用；P003 已理解 SDK 的职责。实验源码根 G:/zephyr_practice/zephyr-main。</a:t>
            </a:r>
          </a:p>
          <a:p>
            <a:r>
              <a:t>本册确定源码依赖来自哪里、由谁固定版本、怎样下载。</a:t>
            </a:r>
          </a:p>
          <a:p>
            <a:r>
              <a:t>CMSIS 优先使用当前 Zephyr 的 west 清单。</a:t>
            </a:r>
          </a:p>
          <a:p>
            <a:r>
              <a:t>清单外 HAL 单独核对与下载；工程接入转到 P005。</a:t>
            </a:r>
          </a:p>
          <a:p>
            <a:r>
              <a:t>
完整正文：learning/P01_zephyr_make_project/P004_CMSIS与HAL选择下载_Windows.md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对应正文：learning/P01_zephyr_make_project/P004_CMSIS与HAL选择下载_Windows.md</a:t>
            </a:r>
          </a:p>
          <a:p>
            <a:r>
              <a:t>4.1 · 已装好工具，再判断源码依赖</a:t>
            </a:r>
          </a:p>
          <a:p>
            <a:r>
              <a:t>CMSIS-DSP/NN 是算法模块，CMSIS-DAP 是调试协议，不能混成同一种固件依赖。</a:t>
            </a:r>
          </a:p>
          <a:p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对应正文：learning/P01_zephyr_make_project/P004_CMSIS与HAL选择下载_Windows.md</a:t>
            </a:r>
          </a:p>
          <a:p>
            <a:r>
              <a:t>4.1.1 · 依赖选择案例</a:t>
            </a:r>
          </a:p>
          <a:p>
            <a:r>
              <a:t>本页不编译。查 boards/arm/mps2、soc/arm/mps2、modules/cmsis_6。板的规格与编译步骤在 P011。</a:t>
            </a:r>
          </a:p>
          <a:p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对应正文：learning/P01_zephyr_make_project/P004_CMSIS与HAL选择下载_Windows.md</a:t>
            </a:r>
          </a:p>
          <a:p>
            <a:r>
              <a:t>4.1.1 · 所选实板</a:t>
            </a:r>
          </a:p>
          <a:p>
            <a:r>
              <a:t>另有4KiB备份SRAM。依据 UYUP-RPI-A-2.5.pdf、DS_HC32F4A0系列数据手册_Rev1.60.pdf、RM_HC32F4A0系列参考手册_Rev1.50.pdf。https://www.xhsc.com.cn/product/1220.html</a:t>
            </a:r>
          </a:p>
          <a:p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对应正文：P002—P005，4.1.2 · 只读 zephyr-main/west.yml</a:t>
            </a:r>
          </a:p>
          <a:p>
            <a:r>
              <a:t>保留整个官方 west.yml。下面只摘出它已有的 cmsis_6 条目，</a:t>
            </a:r>
          </a:p>
          <a:p>
            <a:r>
              <a:t>不能用这几行覆盖原文件，也不需要另存一份同名清单。</a:t>
            </a:r>
          </a:p>
          <a:p>
            <a:endParaRPr/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对应正文：learning/P01_zephyr_make_project/P004_CMSIS与HAL选择下载_Windows.md</a:t>
            </a:r>
          </a:p>
          <a:p>
            <a:r>
              <a:t>4.1.3 · 仓库存在不等于板已支持</a:t>
            </a:r>
          </a:p>
          <a:p>
            <a:r>
              <a:t>已核对self.import的submanifests。仓库 https://github.com/zephyrproject-rtos/hal_xhsc ，移植基线 a84e04900616f68097d80cda2e89eaa8af3afadd。</a:t>
            </a:r>
          </a:p>
          <a:p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对应正文：4.1.3.1 · 下一页保留网页操作截图。实验源码根 G:/zephyr_practice/zephyr-main。</a:t>
            </a:r>
          </a:p>
          <a:p>
            <a:r>
              <a:t>打开 github.com/zephyrproject-rtos 的组织主页。</a:t>
            </a:r>
          </a:p>
          <a:p>
            <a:r>
              <a:t>点击 Repositories，在组织仓库列表的搜索框输入 xhsc。</a:t>
            </a:r>
          </a:p>
          <a:p>
            <a:r>
              <a:t>打开 hal_xhsc；README 1.3 与芯片目录用于核对内容。</a:t>
            </a:r>
          </a:p>
          <a:p>
            <a:endParaRPr/>
          </a:p>
          <a:p>
            <a:r>
              <a:t>Issue #86804 说明申请与建库过程。</a:t>
            </a:r>
          </a:p>
          <a:p>
            <a:r>
              <a:t>仓库存在只说明源码可获取，不能推出当前清单已收录或板可编译。</a:t>
            </a:r>
          </a:p>
          <a:p>
            <a:r>
              <a:t>
完整正文：learning/P01_zephyr_make_project/P004_CMSIS与HAL选择下载_Windows.md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B3460-5FD5-3299-F04F-4B71840F1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71EFA0-C26A-9D31-4B21-64377FC3E5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E00594-C8B3-AA0E-9EC6-03DB5AF8F8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 4.1.3 与 P005 5.1。保留官方 west.yml，不在这里编写新清单。</a:t>
            </a:r>
          </a:p>
          <a:p>
            <a:r>
              <a:t>① Zephyr 组织 → Repositories → 搜索 xhsc → hal_xhsc。</a:t>
            </a:r>
          </a:p>
          <a:p>
            <a:r>
              <a:t>② README 1.3 给出 HC32 HAL 与厂商产品资料入口。</a:t>
            </a:r>
          </a:p>
          <a:p>
            <a:r>
              <a:t>③ 固定修订下核对 hc32f4a0 设备头和 USART DDL。</a:t>
            </a:r>
          </a:p>
          <a:p>
            <a:r>
              <a:t>④ 主仓 Issue #86804 记录厂商申请、早期来源与建库过程。</a:t>
            </a:r>
          </a:p>
          <a:p>
            <a:endParaRPr/>
          </a:p>
          <a:p>
            <a:r>
              <a:t>README 同时提到已支持或计划支持，不能据此认定板已可编译。</a:t>
            </a:r>
          </a:p>
          <a:p>
            <a:r>
              <a:t>https://github.com/zephyrproject-rtos/hal_xhsc</a:t>
            </a:r>
          </a:p>
          <a:p>
            <a:r>
              <a:t>https://github.com/zephyrproject-rtos/zephyr/issues/86804</a:t>
            </a:r>
          </a:p>
          <a:p>
            <a:r>
              <a:t>资料核对日期：2026-10-06。Closed 与 Merged 分开核对；HAL 原有源文件选择与本系列 SoC 显式接法不能同时启用。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E9198-8906-B7E4-266A-EEFDDA3335C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106253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 4.1.3 与 P005 5.1。保留官方 west.yml，不在这里编写新清单。</a:t>
            </a:r>
          </a:p>
          <a:p>
            <a:endParaRPr/>
          </a:p>
          <a:p>
            <a:r>
              <a:t>https://github.com/zephyrproject-rtos/zephyr/issues/95973</a:t>
            </a:r>
          </a:p>
          <a:p>
            <a:r>
              <a:t>https://github.com/zephyrproject-rtos/zephyr/pull/94044</a:t>
            </a:r>
          </a:p>
          <a:p>
            <a:r>
              <a:t>资料核对日期：2026-10-06。Closed 与 Merged 分开核对；HAL 原有源文件选择与本系列 SoC 显式接法不能同时启用。</a:t>
            </a:r>
          </a:p>
          <a:p>
            <a:r>
              <a:t>https://github.com/zephyrproject-rtos/zephyr/pull/111990</a:t>
            </a:r>
          </a:p>
          <a:p>
            <a:r>
              <a:t>https://github.com/zephyrproject-rtos/zephyr/issues/86804#issuecomment-3141734431</a:t>
            </a:r>
          </a:p>
          <a:p>
            <a:r>
              <a:t>https://github.com/zephyrproject-rtos/zephyr/issues/95973#issuecomment-3290779676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对应正文：P002—P005，4.1.2 · 依赖来源已由官方给出</a:t>
            </a:r>
          </a:p>
          <a:p>
            <a:r>
              <a:t>独立专题：learning/west/大纲.md。本页不是新建west.yml的步骤。</a:t>
            </a:r>
          </a:p>
          <a:p>
            <a:endParaRPr/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对应正文：P002_Windows，4.2.2 · 先确定下载对象</a:t>
            </a:r>
          </a:p>
          <a:p>
            <a:endParaRPr/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对应正文：P002—P005，4.2 · 先分清下载对象</a:t>
            </a:r>
          </a:p>
          <a:p>
            <a:r>
              <a:t>只有芯片设备包不代表通用Core缺失。当前已提供的CMSIS_6不替换为厂商捆绑版本。</a:t>
            </a:r>
          </a:p>
          <a:p>
            <a:endParaRPr/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对应正文：P002—P005，4.2.1 · Windows UCRT64</a:t>
            </a:r>
          </a:p>
          <a:p>
            <a:r>
              <a:t>预期依次是 G:/zephyr_practice、zephyr-main、west.yml。</a:t>
            </a:r>
          </a:p>
          <a:p>
            <a:r>
              <a:t>already initialized 表示已建立；不删除 .west，也不重建 west.yml。</a:t>
            </a:r>
          </a:p>
          <a:p>
            <a:r>
              <a:t>完整操作单元：../commands/P004_Windows/4.2.1-03.txt</a:t>
            </a:r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对应正文：P002—P005，4.2.2 · Windows UCRT64</a:t>
            </a:r>
          </a:p>
          <a:p>
            <a:r>
              <a:t>只有最后输出“CMSIS 下载完成”才继续；任一检查失败，后续命令停止。</a:t>
            </a:r>
          </a:p>
          <a:p>
            <a:r>
              <a:t>完整操作单元：../commands/P004_Windows/4.2.2-01.txt</a:t>
            </a:r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对应正文：P002—P005，4.2.2 · 文件位置与来源</a:t>
            </a:r>
          </a:p>
          <a:p>
            <a:r>
              <a:t>省略号为上一行modules/hal/cmsis_6，完整Core路径见MD目录树。</a:t>
            </a:r>
          </a:p>
          <a:p>
            <a:endParaRPr/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对应正文：P002—P005，4.2.2 · 下载成功后留下什么</a:t>
            </a:r>
          </a:p>
          <a:p>
            <a:r>
              <a:t>CMSIS-Core 没有安装向导，不放进 SDK 或 .venv。</a:t>
            </a:r>
          </a:p>
          <a:p>
            <a:r>
              <a:t>west 已把整份模块放在当前工作区，保留原 module.yml。</a:t>
            </a:r>
          </a:p>
          <a:p>
            <a:endParaRPr/>
          </a:p>
          <a:p>
            <a:r>
              <a:t>P011 配置时，Zephyr 根据模块入口加入 Core 头文件目录。</a:t>
            </a:r>
          </a:p>
          <a:p>
            <a:r>
              <a:t>此时只准备好文件，还没有编译、启动或移植新芯片。</a:t>
            </a:r>
          </a:p>
          <a:p>
            <a:endParaRPr/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对应正文：P002_Windows，4.2.3 · 不冒充官方清单项</a:t>
            </a:r>
          </a:p>
          <a:p>
            <a:r>
              <a:t>对应正文：4.2.3 · 不冒充官方清单项。命令默认 UCRT64；先核对当前目录、工作区与 Git for Windows。CMSIS 使用官方 west 清单管理，HC32 额外模块单独追加。</a:t>
            </a:r>
          </a:p>
          <a:p>
            <a:r>
              <a:t>完整操作单元：../commands/P004_Windows/4.2.3-01.txt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对应正文：P002_Windows，4.2.3 · 整个模块由仓库提供</a:t>
            </a:r>
          </a:p>
          <a:p>
            <a:r>
              <a:t>对应正文：4.2.3 · 整个模块由仓库提供。命令默认 UCRT64；先核对当前目录、工作区与 Git for Windows。CMSIS 使用官方 west 清单管理，HC32 额外模块单独追加。</a:t>
            </a:r>
          </a:p>
          <a:p>
            <a:r>
              <a:t>完整操作单元：../commands/P004_Windows/4.2.3-03.txt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rgs/zephyrproject-rtos/repositories?q=xhsc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8.xml"/><Relationship Id="rId4" Type="http://schemas.openxmlformats.org/officeDocument/2006/relationships/hyperlink" Target="https://github.com/zephyrproject-rtos/zephyr/issues/86804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github.com/zephyrproject-rtos/hal_xhsc" TargetMode="External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8.xml"/><Relationship Id="rId6" Type="http://schemas.openxmlformats.org/officeDocument/2006/relationships/hyperlink" Target="https://github.com/orgs/zephyrproject-rtos/repositories" TargetMode="External"/><Relationship Id="rId5" Type="http://schemas.openxmlformats.org/officeDocument/2006/relationships/hyperlink" Target="https://github.com/zephyrproject-rtos" TargetMode="External"/><Relationship Id="rId4" Type="http://schemas.openxmlformats.org/officeDocument/2006/relationships/hyperlink" Target="https://github.com/zephyrproject-rtos/zephyr/issues/86804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issues/95973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8.xml"/><Relationship Id="rId4" Type="http://schemas.openxmlformats.org/officeDocument/2006/relationships/hyperlink" Target="https://github.com/zephyrproject-rtos/zephyr/pull/94044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../../west/&#22823;&#32434;.md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4_Windows/4.2.1-03.txt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4_Windows/4.2.2-01.txt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4_Windows/4.2.3-01.txt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4_Windows/4.2.3-03.txt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CMSIS 与 HAL</a:t>
            </a:r>
          </a:p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选择与下载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3FC0406-394C-4BEB-86E5-B348DD2DC3D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04 · CMSIS 与 HAL 选择下载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393B82C-3C97-4BFD-918B-69283F0A6D75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4.0 · 后续 P009 详解：下载不等于工程接入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90CA4721-1ADE-4D8E-9EF5-66F56E942118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1809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本册确定源码依赖来自哪里、由谁固定版本、怎样下载。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 优先使用当前 Zephyr 的 </a:t>
            </a:r>
            <a:r>
              <a:rPr sz="202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清单。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清单外 HAL 单独核对与下载；工程接入转到 P005。</a:t>
            </a:r>
          </a:p>
        </p:txBody>
      </p:sp>
      <p:sp>
        <p:nvSpPr>
          <p:cNvPr id="5" name="Module stage 1">
            <a:extLst>
              <a:ext uri="{FF2B5EF4-FFF2-40B4-BE49-F238E27FC236}">
                <a16:creationId xmlns:a16="http://schemas.microsoft.com/office/drawing/2014/main" id="{F96598BF-8F2F-4D78-A45A-1F2F99262A21}"/>
              </a:ext>
            </a:extLst>
          </p:cNvPr>
          <p:cNvSpPr>
            <a:spLocks noGrp="1"/>
          </p:cNvSpPr>
          <p:nvPr/>
        </p:nvSpPr>
        <p:spPr>
          <a:xfrm>
            <a:off x="66675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核对芯片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与当前源码</a:t>
            </a:r>
          </a:p>
        </p:txBody>
      </p:sp>
      <p:sp>
        <p:nvSpPr>
          <p:cNvPr id="6" name="flow 0">
            <a:extLst>
              <a:ext uri="{FF2B5EF4-FFF2-40B4-BE49-F238E27FC236}">
                <a16:creationId xmlns:a16="http://schemas.microsoft.com/office/drawing/2014/main" id="{4E5D8EE7-6083-450C-91B9-E008A56B68E3}"/>
              </a:ext>
            </a:extLst>
          </p:cNvPr>
          <p:cNvSpPr>
            <a:spLocks noGrp="1"/>
          </p:cNvSpPr>
          <p:nvPr/>
        </p:nvSpPr>
        <p:spPr>
          <a:xfrm>
            <a:off x="305752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ule stage 2">
            <a:extLst>
              <a:ext uri="{FF2B5EF4-FFF2-40B4-BE49-F238E27FC236}">
                <a16:creationId xmlns:a16="http://schemas.microsoft.com/office/drawing/2014/main" id="{04A257B9-5A86-47C6-B056-00D4BA2F38C5}"/>
              </a:ext>
            </a:extLst>
          </p:cNvPr>
          <p:cNvSpPr>
            <a:spLocks noGrp="1"/>
          </p:cNvSpPr>
          <p:nvPr/>
        </p:nvSpPr>
        <p:spPr>
          <a:xfrm>
            <a:off x="347662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识别 CMSIS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和 HAL 来源</a:t>
            </a:r>
          </a:p>
        </p:txBody>
      </p:sp>
      <p:sp>
        <p:nvSpPr>
          <p:cNvPr id="8" name="flow 1">
            <a:extLst>
              <a:ext uri="{FF2B5EF4-FFF2-40B4-BE49-F238E27FC236}">
                <a16:creationId xmlns:a16="http://schemas.microsoft.com/office/drawing/2014/main" id="{AE2BFC15-BF02-4DDC-ABFB-FBDD4B6A590A}"/>
              </a:ext>
            </a:extLst>
          </p:cNvPr>
          <p:cNvSpPr>
            <a:spLocks noGrp="1"/>
          </p:cNvSpPr>
          <p:nvPr/>
        </p:nvSpPr>
        <p:spPr>
          <a:xfrm>
            <a:off x="5867400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ule stage 3">
            <a:extLst>
              <a:ext uri="{FF2B5EF4-FFF2-40B4-BE49-F238E27FC236}">
                <a16:creationId xmlns:a16="http://schemas.microsoft.com/office/drawing/2014/main" id="{1D9A90E9-BB6A-4619-89E9-42BAAC5BCCE9}"/>
              </a:ext>
            </a:extLst>
          </p:cNvPr>
          <p:cNvSpPr>
            <a:spLocks noGrp="1"/>
          </p:cNvSpPr>
          <p:nvPr/>
        </p:nvSpPr>
        <p:spPr>
          <a:xfrm>
            <a:off x="628650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工具下载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固定修订</a:t>
            </a:r>
          </a:p>
        </p:txBody>
      </p:sp>
      <p:sp>
        <p:nvSpPr>
          <p:cNvPr id="10" name="flow 2">
            <a:extLst>
              <a:ext uri="{FF2B5EF4-FFF2-40B4-BE49-F238E27FC236}">
                <a16:creationId xmlns:a16="http://schemas.microsoft.com/office/drawing/2014/main" id="{4F994E51-6D4D-4BBB-8FAC-578B9EFC7677}"/>
              </a:ext>
            </a:extLst>
          </p:cNvPr>
          <p:cNvSpPr>
            <a:spLocks noGrp="1"/>
          </p:cNvSpPr>
          <p:nvPr/>
        </p:nvSpPr>
        <p:spPr>
          <a:xfrm>
            <a:off x="867727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ule stage 4">
            <a:extLst>
              <a:ext uri="{FF2B5EF4-FFF2-40B4-BE49-F238E27FC236}">
                <a16:creationId xmlns:a16="http://schemas.microsoft.com/office/drawing/2014/main" id="{719CD669-3729-4C7F-A3E7-227130618B6D}"/>
              </a:ext>
            </a:extLst>
          </p:cNvPr>
          <p:cNvSpPr>
            <a:spLocks noGrp="1"/>
          </p:cNvSpPr>
          <p:nvPr/>
        </p:nvSpPr>
        <p:spPr>
          <a:xfrm>
            <a:off x="909637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核对目录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交给 P005 接入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Semantic color legend">
            <a:extLst>
              <a:ext uri="{FF2B5EF4-FFF2-40B4-BE49-F238E27FC236}">
                <a16:creationId xmlns:a16="http://schemas.microsoft.com/office/drawing/2014/main" id="{50D86600-6C01-4931-B388-99E7F9EE9315}"/>
              </a:ext>
            </a:extLst>
          </p:cNvPr>
          <p:cNvSpPr>
            <a:spLocks noGrp="1"/>
          </p:cNvSpPr>
          <p:nvPr/>
        </p:nvSpPr>
        <p:spPr>
          <a:xfrm>
            <a:off x="609600" y="5695950"/>
            <a:ext cx="1097280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72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72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t>阅读标色： </a:t>
            </a:r>
            <a:r>
              <a:rPr>
                <a:solidFill>
                  <a:srgbClr val="B84E00"/>
                </a:solidFill>
              </a:rPr>
              <a:t>字段 / 参数</a:t>
            </a:r>
            <a:r>
              <a:t>     </a:t>
            </a:r>
            <a:r>
              <a:rPr>
                <a:solidFill>
                  <a:srgbClr val="0070C0"/>
                </a:solidFill>
              </a:rPr>
              <a:t>文件 / 路径</a:t>
            </a:r>
            <a:r>
              <a:t>     </a:t>
            </a:r>
            <a:r>
              <a:rPr>
                <a:solidFill>
                  <a:srgbClr val="A02B93"/>
                </a:solidFill>
              </a:rPr>
              <a:t>终端命令</a:t>
            </a: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">
            <a:extLst>
              <a:ext uri="{FF2B5EF4-FFF2-40B4-BE49-F238E27FC236}">
                <a16:creationId xmlns:a16="http://schemas.microsoft.com/office/drawing/2014/main" id="{80AAAE38-5864-46B6-9ABB-635561C6F96E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CMSIS、HAL 与 SDK 的职责</a:t>
            </a:r>
          </a:p>
        </p:txBody>
      </p:sp>
      <p:sp>
        <p:nvSpPr>
          <p:cNvPr id="2" name="content">
            <a:extLst>
              <a:ext uri="{FF2B5EF4-FFF2-40B4-BE49-F238E27FC236}">
                <a16:creationId xmlns:a16="http://schemas.microsoft.com/office/drawing/2014/main" id="{9F27102C-2D05-4B8E-98C1-3AEDECC4EF0C}"/>
              </a:ext>
            </a:extLst>
          </p:cNvPr>
          <p:cNvSpPr>
            <a:spLocks noGrp="1"/>
          </p:cNvSpPr>
          <p:nvPr/>
        </p:nvSpPr>
        <p:spPr>
          <a:xfrm>
            <a:off x="647700" y="1238250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4.1 · 已装好工具，再判断源码依赖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EB80BB2-2D19-4E8F-A0A2-63D12434F87B}"/>
              </a:ext>
            </a:extLst>
          </p:cNvPr>
          <p:cNvGraphicFramePr/>
          <p:nvPr/>
        </p:nvGraphicFramePr>
        <p:xfrm>
          <a:off x="609600" y="1952625"/>
          <a:ext cx="10972800" cy="2781300"/>
        </p:xfrm>
        <a:graphic>
          <a:graphicData uri="http://schemas.openxmlformats.org/drawingml/2006/table">
            <a:tbl>
              <a:tblPr/>
              <a:tblGrid>
                <a:gridCol w="3000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48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24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材料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提供的内容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本期怎么选择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CMSIS-Core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core_cm4.h</a:t>
                      </a: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、NVIC、内核接口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 Zephyr 接入与清单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 HAL / DDL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设备头、GPIO / USART / 时钟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完整型号 + 适配实际调用的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生成 Arm 固件的编译链接工具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源码版本 + Windows x64 GNU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16A2C5F-E552-4C92-98D5-DEE90EC8A3C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069208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">
            <a:extLst>
              <a:ext uri="{FF2B5EF4-FFF2-40B4-BE49-F238E27FC236}">
                <a16:creationId xmlns:a16="http://schemas.microsoft.com/office/drawing/2014/main" id="{E74528BE-CAB1-4716-95BA-6D88A177DFB0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已有目标的依赖从哪里查</a:t>
            </a:r>
          </a:p>
        </p:txBody>
      </p:sp>
      <p:sp>
        <p:nvSpPr>
          <p:cNvPr id="2" name="content">
            <a:extLst>
              <a:ext uri="{FF2B5EF4-FFF2-40B4-BE49-F238E27FC236}">
                <a16:creationId xmlns:a16="http://schemas.microsoft.com/office/drawing/2014/main" id="{FCFA9AC3-0C80-45E7-B037-5C2FCFAD0528}"/>
              </a:ext>
            </a:extLst>
          </p:cNvPr>
          <p:cNvSpPr>
            <a:spLocks noGrp="1"/>
          </p:cNvSpPr>
          <p:nvPr/>
        </p:nvSpPr>
        <p:spPr>
          <a:xfrm>
            <a:off x="647700" y="1238250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4.1.1 · 依赖选择案例</a:t>
            </a:r>
          </a:p>
        </p:txBody>
      </p:sp>
      <p:sp>
        <p:nvSpPr>
          <p:cNvPr id="3" name="content">
            <a:extLst>
              <a:ext uri="{FF2B5EF4-FFF2-40B4-BE49-F238E27FC236}">
                <a16:creationId xmlns:a16="http://schemas.microsoft.com/office/drawing/2014/main" id="{C6BD740A-1FE4-4F1E-A050-C702E8742DC0}"/>
              </a:ext>
            </a:extLst>
          </p:cNvPr>
          <p:cNvSpPr>
            <a:spLocks noGrp="1"/>
          </p:cNvSpPr>
          <p:nvPr/>
        </p:nvSpPr>
        <p:spPr>
          <a:xfrm>
            <a:off x="609600" y="2190750"/>
            <a:ext cx="10972800" cy="3714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案例：mps2/an386，当前官方源码已有支持。</a:t>
            </a:r>
          </a:p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board.yml</a:t>
            </a: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→ </a:t>
            </a:r>
            <a:r>
              <a:rPr sz="22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SOC_AN386</a:t>
            </a: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→ Cortex-M4 → CMSIS_6 接入</a:t>
            </a:r>
          </a:p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west.yml</a:t>
            </a: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决定 CMSIS_6 的仓库和配套提交。</a:t>
            </a:r>
          </a:p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MPS2 的 UART 驱动在 Zephyr 内，不需要 HC32 HAL。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10A76AF-2A82-4FF3-8FA2-81F9CBA22EA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979364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">
            <a:extLst>
              <a:ext uri="{FF2B5EF4-FFF2-40B4-BE49-F238E27FC236}">
                <a16:creationId xmlns:a16="http://schemas.microsoft.com/office/drawing/2014/main" id="{AB5E20DF-A63C-4EC7-BB17-E75E0D584ACB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依赖先从完整型号确认</a:t>
            </a:r>
          </a:p>
        </p:txBody>
      </p:sp>
      <p:sp>
        <p:nvSpPr>
          <p:cNvPr id="2" name="content">
            <a:extLst>
              <a:ext uri="{FF2B5EF4-FFF2-40B4-BE49-F238E27FC236}">
                <a16:creationId xmlns:a16="http://schemas.microsoft.com/office/drawing/2014/main" id="{7EB72BB6-28A3-4D79-9E3D-33CB29CE0D19}"/>
              </a:ext>
            </a:extLst>
          </p:cNvPr>
          <p:cNvSpPr>
            <a:spLocks noGrp="1"/>
          </p:cNvSpPr>
          <p:nvPr/>
        </p:nvSpPr>
        <p:spPr>
          <a:xfrm>
            <a:off x="647700" y="1238250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4.1.1 · 所选实板</a:t>
            </a:r>
          </a:p>
        </p:txBody>
      </p:sp>
      <p:sp>
        <p:nvSpPr>
          <p:cNvPr id="3" name="content">
            <a:extLst>
              <a:ext uri="{FF2B5EF4-FFF2-40B4-BE49-F238E27FC236}">
                <a16:creationId xmlns:a16="http://schemas.microsoft.com/office/drawing/2014/main" id="{9E17618F-DB65-4CE9-89B5-F76C9AF0ADCB}"/>
              </a:ext>
            </a:extLst>
          </p:cNvPr>
          <p:cNvSpPr>
            <a:spLocks noGrp="1"/>
          </p:cNvSpPr>
          <p:nvPr/>
        </p:nvSpPr>
        <p:spPr>
          <a:xfrm>
            <a:off x="609600" y="2190750"/>
            <a:ext cx="10972800" cy="3714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UYUP-RPI-A-2.5 / HC32F4A0PITB / LQFP100</a:t>
            </a:r>
          </a:p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Cortex-M4F；2 MiB Flash；512 KiB 主 SRAM；12 MHz 晶振</a:t>
            </a:r>
          </a:p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完整丝印 → BOM / 原理图 → 数据手册型号与封装表</a:t>
            </a:r>
          </a:p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设备头和 DDL 必须匹配 HC32F4A0，不能套 F460 或 STM32。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25A1CAE-FD4D-49CA-80D8-DD63FF05915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23354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CE41B45-82DA-4AE8-8271-8A6A78A02BD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这是官方清单原文，不是新建文件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9F2B7E59-72A8-4D0D-8A33-AEAA5BE8F9A5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4.1.2 · 只读 zephyr-main/west.yml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84045CD1-52ED-4B7F-89AA-8FB75A783135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762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646173"/>
                </a:solidFill>
                <a:latin typeface="Consolas"/>
                <a:ea typeface="Microsoft YaHei"/>
                <a:cs typeface="Consolas"/>
              </a:rPr>
              <a:t># 只读摘录，不是需要执行或写入的内容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-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name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: cmsis_6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repo-path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: CMSIS_6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revision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: 1c1840af7a7e757d6e2fec3ddb0e5ce0dfcc93c8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path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: 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modules/hal/cmsis_6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3FC7BC49-38E5-4A40-B7B1-D6C3C7D17214}"/>
              </a:ext>
            </a:extLst>
          </p:cNvPr>
          <p:cNvSpPr>
            <a:spLocks noGrp="1"/>
          </p:cNvSpPr>
          <p:nvPr/>
        </p:nvSpPr>
        <p:spPr>
          <a:xfrm>
            <a:off x="609600" y="4048125"/>
            <a:ext cx="10972800" cy="12096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保留整个官方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west.yml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。下面只摘出它已有的 cmsis_6 条目，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不能用这几行覆盖原文件，也不需要另存一份同名清单。</a:t>
            </a:r>
          </a:p>
        </p:txBody>
      </p:sp>
      <p:sp>
        <p:nvSpPr>
          <p:cNvPr id="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A5D4702-268A-46D6-8EB0-228E5317DA3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63548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">
            <a:extLst>
              <a:ext uri="{FF2B5EF4-FFF2-40B4-BE49-F238E27FC236}">
                <a16:creationId xmlns:a16="http://schemas.microsoft.com/office/drawing/2014/main" id="{336EB01D-6067-4BF7-98F2-BCDBC9B2C38E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“有 HAL”需要分三个层次核对</a:t>
            </a:r>
          </a:p>
        </p:txBody>
      </p:sp>
      <p:sp>
        <p:nvSpPr>
          <p:cNvPr id="2" name="content">
            <a:extLst>
              <a:ext uri="{FF2B5EF4-FFF2-40B4-BE49-F238E27FC236}">
                <a16:creationId xmlns:a16="http://schemas.microsoft.com/office/drawing/2014/main" id="{7F8D3D62-101A-4BA7-974B-650F033C94AF}"/>
              </a:ext>
            </a:extLst>
          </p:cNvPr>
          <p:cNvSpPr>
            <a:spLocks noGrp="1"/>
          </p:cNvSpPr>
          <p:nvPr/>
        </p:nvSpPr>
        <p:spPr>
          <a:xfrm>
            <a:off x="647700" y="1238250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4.1.3 · 仓库存在不等于板已支持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0D1DD7E-3947-48BD-8468-9C1B4049D5EF}"/>
              </a:ext>
            </a:extLst>
          </p:cNvPr>
          <p:cNvGraphicFramePr/>
          <p:nvPr/>
        </p:nvGraphicFramePr>
        <p:xfrm>
          <a:off x="609600" y="1952625"/>
          <a:ext cx="10972800" cy="2781300"/>
        </p:xfrm>
        <a:graphic>
          <a:graphicData uri="http://schemas.openxmlformats.org/drawingml/2006/table">
            <a:tbl>
              <a:tblPr/>
              <a:tblGrid>
                <a:gridCol w="3000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48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24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问题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本次 HC32 的结果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对应动作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当前清单有 hal_xhsc？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没有该项目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不能直接 </a:t>
                      </a:r>
                      <a:r>
                        <a:rPr sz="1725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 update</a:t>
                      </a: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hal_xhsc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有可用的 HAL 仓库？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 HC32F4A0 DDL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核对设备头 / API，固定基线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有当前板 / SoC 支持？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原生树没有本系列适配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P011 新增板、芯片与驱动连接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02FA7EA-F2CD-4EB8-9019-F516A5E6796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42672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471F06B-ABAC-42E5-8BC0-78D51B4F17B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 GitHub 的 Zephyr 组织内查找 HAL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A728690F-FDB1-4E6A-ADD4-36C32E54936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4.1.3.1 · 下一页保留网页操作截图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C202E0C7-1D18-40D1-B49A-26B13D96814B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3619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 </a:t>
            </a:r>
            <a:r>
              <a:rPr sz="20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github.com/zephyrproject-rtos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的组织主页。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点击 Repositories，在组织仓库列表的搜索框输入 xhsc。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 hal_xhsc；README 1.3 与芯片目录用于核对内容。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Issue #86804 说明申请与建库过程。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仓库存在只说明源码可获取，不能推出当前清单已收录或板可编译。</a:t>
            </a:r>
          </a:p>
        </p:txBody>
      </p:sp>
      <p:sp>
        <p:nvSpPr>
          <p:cNvPr id="5" name="Source link 0">
            <a:extLst>
              <a:ext uri="{FF2B5EF4-FFF2-40B4-BE49-F238E27FC236}">
                <a16:creationId xmlns:a16="http://schemas.microsoft.com/office/drawing/2014/main" id="{7DD2F012-E2B9-485F-BB4A-F38C9E426745}"/>
              </a:ext>
            </a:extLst>
          </p:cNvPr>
          <p:cNvSpPr>
            <a:spLocks noGrp="1"/>
          </p:cNvSpPr>
          <p:nvPr/>
        </p:nvSpPr>
        <p:spPr>
          <a:xfrm>
            <a:off x="6096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GitHub：Zephyr 组织仓库列表</a:t>
            </a:r>
          </a:p>
        </p:txBody>
      </p:sp>
      <p:sp>
        <p:nvSpPr>
          <p:cNvPr id="6" name="Source link 1">
            <a:extLst>
              <a:ext uri="{FF2B5EF4-FFF2-40B4-BE49-F238E27FC236}">
                <a16:creationId xmlns:a16="http://schemas.microsoft.com/office/drawing/2014/main" id="{022B2636-6137-4244-A19E-E98CA445C998}"/>
              </a:ext>
            </a:extLst>
          </p:cNvPr>
          <p:cNvSpPr>
            <a:spLocks noGrp="1"/>
          </p:cNvSpPr>
          <p:nvPr/>
        </p:nvSpPr>
        <p:spPr>
          <a:xfrm>
            <a:off x="61341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4"/>
              </a:rPr>
              <a:t>模块申请 #86804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CD1A-115E-E7BC-7165-4E263C294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7DC3141-DF7D-EFD2-3F2C-6CCEB3B0F11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hal_xhsc</a:t>
            </a:r>
            <a:r>
              <a:rPr sz="300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300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的地址从哪里来</a:t>
            </a:r>
            <a:endParaRPr sz="3000" b="1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Source link 0">
            <a:extLst>
              <a:ext uri="{FF2B5EF4-FFF2-40B4-BE49-F238E27FC236}">
                <a16:creationId xmlns:a16="http://schemas.microsoft.com/office/drawing/2014/main" id="{D06B06EF-4C04-E0E7-915C-307898E9A7A3}"/>
              </a:ext>
            </a:extLst>
          </p:cNvPr>
          <p:cNvSpPr>
            <a:spLocks noGrp="1"/>
          </p:cNvSpPr>
          <p:nvPr/>
        </p:nvSpPr>
        <p:spPr>
          <a:xfrm>
            <a:off x="609600" y="5991225"/>
            <a:ext cx="1704109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仓库与</a:t>
            </a:r>
            <a:r>
              <a:rPr sz="1425" b="0" dirty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 README</a:t>
            </a:r>
          </a:p>
        </p:txBody>
      </p:sp>
      <p:sp>
        <p:nvSpPr>
          <p:cNvPr id="6" name="Source link 1">
            <a:extLst>
              <a:ext uri="{FF2B5EF4-FFF2-40B4-BE49-F238E27FC236}">
                <a16:creationId xmlns:a16="http://schemas.microsoft.com/office/drawing/2014/main" id="{3399085A-EC90-79D5-1D7E-C6811D1F9E20}"/>
              </a:ext>
            </a:extLst>
          </p:cNvPr>
          <p:cNvSpPr>
            <a:spLocks noGrp="1"/>
          </p:cNvSpPr>
          <p:nvPr/>
        </p:nvSpPr>
        <p:spPr>
          <a:xfrm>
            <a:off x="2273300" y="5991224"/>
            <a:ext cx="208164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4"/>
              </a:rPr>
              <a:t>厂商模块申请</a:t>
            </a:r>
            <a:r>
              <a:rPr sz="1425" b="0" dirty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4"/>
              </a:rPr>
              <a:t> #86804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5716203-1823-8D25-DB38-5CD164029254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77A4390-094F-0842-7E93-608880D06EBC}"/>
              </a:ext>
            </a:extLst>
          </p:cNvPr>
          <p:cNvSpPr txBox="1"/>
          <p:nvPr/>
        </p:nvSpPr>
        <p:spPr>
          <a:xfrm>
            <a:off x="711199" y="1095375"/>
            <a:ext cx="10785475" cy="273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zh-CN" altLang="zh-CN" dirty="0">
                <a:solidFill>
                  <a:srgbClr val="29263B"/>
                </a:solidFill>
              </a:rPr>
              <a:t>在 GitHub 网站上，进入 Zephyr 组织的仓库列表，再搜索。具体操作：</a:t>
            </a:r>
          </a:p>
          <a:p>
            <a:pPr marL="342900" lvl="0" indent="-342900">
              <a:lnSpc>
                <a:spcPct val="120000"/>
              </a:lnSpc>
              <a:buFont typeface="+mj-lt"/>
              <a:buAutoNum type="arabicPeriod"/>
            </a:pPr>
            <a:r>
              <a:rPr lang="zh-CN" altLang="zh-CN" dirty="0">
                <a:solidFill>
                  <a:srgbClr val="29263B"/>
                </a:solidFill>
              </a:rPr>
              <a:t>打开 </a:t>
            </a:r>
            <a:r>
              <a:rPr lang="zh-CN" altLang="zh-CN" dirty="0">
                <a:hlinkClick r:id="rId5"/>
              </a:rPr>
              <a:t>Zephyr 的 GitHub 组织主页</a:t>
            </a:r>
            <a:r>
              <a:rPr lang="zh-CN" altLang="zh-CN" dirty="0">
                <a:solidFill>
                  <a:srgbClr val="29263B"/>
                </a:solidFill>
              </a:rPr>
              <a:t>。</a:t>
            </a:r>
          </a:p>
          <a:p>
            <a:pPr marL="342900" lvl="0" indent="-342900">
              <a:lnSpc>
                <a:spcPct val="120000"/>
              </a:lnSpc>
              <a:buFont typeface="+mj-lt"/>
              <a:buAutoNum type="arabicPeriod"/>
            </a:pPr>
            <a:r>
              <a:rPr lang="zh-CN" altLang="zh-CN" dirty="0">
                <a:solidFill>
                  <a:srgbClr val="29263B"/>
                </a:solidFill>
              </a:rPr>
              <a:t>点击上方与 </a:t>
            </a:r>
            <a:r>
              <a:rPr lang="zh-CN" altLang="zh-CN" b="1" dirty="0">
                <a:solidFill>
                  <a:srgbClr val="29263B"/>
                </a:solidFill>
              </a:rPr>
              <a:t>Overview、Projects</a:t>
            </a:r>
            <a:r>
              <a:rPr lang="zh-CN" altLang="zh-CN" dirty="0">
                <a:solidFill>
                  <a:srgbClr val="29263B"/>
                </a:solidFill>
              </a:rPr>
              <a:t> 并列的 </a:t>
            </a:r>
            <a:r>
              <a:rPr lang="zh-CN" altLang="zh-CN" b="1" dirty="0">
                <a:solidFill>
                  <a:srgbClr val="29263B"/>
                </a:solidFill>
              </a:rPr>
              <a:t>Repositories</a:t>
            </a:r>
            <a:r>
              <a:rPr lang="zh-CN" altLang="zh-CN" dirty="0">
                <a:solidFill>
                  <a:srgbClr val="29263B"/>
                </a:solidFill>
              </a:rPr>
              <a:t> 标签。</a:t>
            </a:r>
          </a:p>
          <a:p>
            <a:pPr marL="342900" lvl="0" indent="-342900">
              <a:lnSpc>
                <a:spcPct val="120000"/>
              </a:lnSpc>
              <a:buFont typeface="+mj-lt"/>
              <a:buAutoNum type="arabicPeriod"/>
            </a:pPr>
            <a:r>
              <a:rPr lang="zh-CN" altLang="zh-CN" dirty="0">
                <a:solidFill>
                  <a:srgbClr val="29263B"/>
                </a:solidFill>
              </a:rPr>
              <a:t>在仓库列表上方的 </a:t>
            </a:r>
            <a:r>
              <a:rPr lang="zh-CN" altLang="zh-CN" b="1" dirty="0">
                <a:solidFill>
                  <a:srgbClr val="29263B"/>
                </a:solidFill>
              </a:rPr>
              <a:t>Search repositories</a:t>
            </a:r>
            <a:r>
              <a:rPr lang="zh-CN" altLang="zh-CN" dirty="0">
                <a:solidFill>
                  <a:srgbClr val="29263B"/>
                </a:solidFill>
              </a:rPr>
              <a:t> 输入框里输入 </a:t>
            </a:r>
            <a:r>
              <a:rPr lang="zh-CN" altLang="zh-CN" dirty="0">
                <a:solidFill>
                  <a:srgbClr val="29263B"/>
                </a:solidFill>
                <a:latin typeface="+mn-lt"/>
              </a:rPr>
              <a:t>xhsc</a:t>
            </a:r>
            <a:r>
              <a:rPr lang="zh-CN" altLang="zh-CN" dirty="0">
                <a:solidFill>
                  <a:srgbClr val="29263B"/>
                </a:solidFill>
              </a:rPr>
              <a:t>，点击 </a:t>
            </a:r>
            <a:r>
              <a:rPr lang="zh-CN" altLang="zh-CN" b="1" dirty="0">
                <a:solidFill>
                  <a:srgbClr val="29263B"/>
                </a:solidFill>
              </a:rPr>
              <a:t>Search</a:t>
            </a:r>
            <a:r>
              <a:rPr lang="zh-CN" altLang="zh-CN" dirty="0">
                <a:solidFill>
                  <a:srgbClr val="29263B"/>
                </a:solidFill>
              </a:rPr>
              <a:t>。</a:t>
            </a:r>
          </a:p>
          <a:p>
            <a:pPr marL="342900" lvl="0" indent="-342900">
              <a:lnSpc>
                <a:spcPct val="120000"/>
              </a:lnSpc>
              <a:buFont typeface="+mj-lt"/>
              <a:buAutoNum type="arabicPeriod"/>
            </a:pPr>
            <a:r>
              <a:rPr lang="zh-CN" altLang="zh-CN" dirty="0">
                <a:solidFill>
                  <a:srgbClr val="29263B"/>
                </a:solidFill>
              </a:rPr>
              <a:t>在结果中打开 </a:t>
            </a:r>
            <a:r>
              <a:rPr lang="zh-CN" altLang="zh-CN" dirty="0">
                <a:solidFill>
                  <a:srgbClr val="29263B"/>
                </a:solidFill>
                <a:latin typeface="+mn-lt"/>
              </a:rPr>
              <a:t>hal_xhsc</a:t>
            </a:r>
            <a:r>
              <a:rPr lang="zh-CN" altLang="zh-CN" dirty="0">
                <a:solidFill>
                  <a:srgbClr val="29263B"/>
                </a:solidFill>
              </a:rPr>
              <a:t>。</a:t>
            </a:r>
          </a:p>
          <a:p>
            <a:pPr>
              <a:lnSpc>
                <a:spcPct val="120000"/>
              </a:lnSpc>
              <a:buNone/>
            </a:pPr>
            <a:r>
              <a:rPr lang="zh-CN" altLang="zh-CN" dirty="0">
                <a:solidFill>
                  <a:srgbClr val="29263B"/>
                </a:solidFill>
              </a:rPr>
              <a:t>你也可以直接打开第 2 步的页面：</a:t>
            </a:r>
            <a:r>
              <a:rPr lang="zh-CN" altLang="zh-CN" dirty="0">
                <a:hlinkClick r:id="rId6"/>
              </a:rPr>
              <a:t>Zephyr 组织仓库列表</a:t>
            </a:r>
            <a:r>
              <a:rPr lang="zh-CN" altLang="zh-CN" dirty="0">
                <a:solidFill>
                  <a:srgbClr val="29263B"/>
                </a:solidFill>
              </a:rPr>
              <a:t>。</a:t>
            </a:r>
          </a:p>
          <a:p>
            <a:pPr>
              <a:lnSpc>
                <a:spcPct val="120000"/>
              </a:lnSpc>
              <a:buNone/>
            </a:pPr>
            <a:r>
              <a:rPr lang="zh-CN" altLang="zh-CN" dirty="0">
                <a:solidFill>
                  <a:srgbClr val="29263B"/>
                </a:solidFill>
              </a:rPr>
              <a:t>这里使用的是</a:t>
            </a:r>
            <a:r>
              <a:rPr lang="zh-CN" altLang="zh-CN" b="1" dirty="0">
                <a:solidFill>
                  <a:srgbClr val="29263B"/>
                </a:solidFill>
              </a:rPr>
              <a:t>组织仓库列表中的搜索框</a:t>
            </a:r>
            <a:r>
              <a:rPr lang="zh-CN" altLang="zh-CN" dirty="0">
                <a:solidFill>
                  <a:srgbClr val="29263B"/>
                </a:solidFill>
              </a:rPr>
              <a:t>，不是 GitHub 页顶的全站搜索框，也不是 </a:t>
            </a:r>
            <a:r>
              <a:rPr lang="zh-CN" altLang="zh-CN" dirty="0">
                <a:solidFill>
                  <a:srgbClr val="29263B"/>
                </a:solidFill>
                <a:latin typeface="+mn-lt"/>
              </a:rPr>
              <a:t>zephyr</a:t>
            </a:r>
            <a:r>
              <a:rPr lang="zh-CN" altLang="zh-CN" dirty="0">
                <a:solidFill>
                  <a:srgbClr val="29263B"/>
                </a:solidFill>
              </a:rPr>
              <a:t> 源码仓库里的文件搜索。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D036A7DE-2CC7-736D-53F3-9CFBB3E684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5302" y="3937000"/>
            <a:ext cx="3476716" cy="18796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D2F55F8A-C7E6-42AA-813B-69A551AD8E1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83207" y="3937000"/>
            <a:ext cx="3476716" cy="18796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25A21F5E-CBB7-C8E9-C135-DFABECB5E90F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>
            <a:off x="4759960" y="4876800"/>
            <a:ext cx="165531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92068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EE27939-DB85-435E-A6B3-2DBBB72E439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建库、清单收录与芯片支持是不同阶段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53887C21-C106-4F3A-9F97-5DEA1CFB2BA9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4.1.3.2 · 查证日期：2026-10-06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B674A815-6558-4F3F-B1D8-34C51A616ED8}"/>
              </a:ext>
            </a:extLst>
          </p:cNvPr>
          <p:cNvGraphicFramePr/>
          <p:nvPr/>
        </p:nvGraphicFramePr>
        <p:xfrm>
          <a:off x="609600" y="1905000"/>
          <a:ext cx="10972800" cy="3619500"/>
        </p:xfrm>
        <a:graphic>
          <a:graphicData uri="http://schemas.openxmlformats.org/drawingml/2006/table">
            <a:tbl>
              <a:tblPr/>
              <a:tblGrid>
                <a:gridCol w="3714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58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记录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能证明什么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#86804：申请与建库确认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XHSC 申请独立 DDL 模块；2025-08-01 确认建库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#95973：请求加入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west.yml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维护者要求把清单修改与使用它的支持代码一起提交 PR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#94044 / #111990：芯片与板支持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查证时均 Closed、未合并；关闭不等于合并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当前实验的活动清单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 hal_xhsc；</a:t>
                      </a: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不会扫描组织内所有仓库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ource link 0">
            <a:extLst>
              <a:ext uri="{FF2B5EF4-FFF2-40B4-BE49-F238E27FC236}">
                <a16:creationId xmlns:a16="http://schemas.microsoft.com/office/drawing/2014/main" id="{F3185071-2F71-4BC7-AD8C-E1F751661F0D}"/>
              </a:ext>
            </a:extLst>
          </p:cNvPr>
          <p:cNvSpPr>
            <a:spLocks noGrp="1"/>
          </p:cNvSpPr>
          <p:nvPr/>
        </p:nvSpPr>
        <p:spPr>
          <a:xfrm>
            <a:off x="6096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清单接入讨论 #95973</a:t>
            </a:r>
          </a:p>
        </p:txBody>
      </p:sp>
      <p:sp>
        <p:nvSpPr>
          <p:cNvPr id="6" name="Source link 1">
            <a:extLst>
              <a:ext uri="{FF2B5EF4-FFF2-40B4-BE49-F238E27FC236}">
                <a16:creationId xmlns:a16="http://schemas.microsoft.com/office/drawing/2014/main" id="{950D3AE1-980F-469B-849D-B7D424A9BDB4}"/>
              </a:ext>
            </a:extLst>
          </p:cNvPr>
          <p:cNvSpPr>
            <a:spLocks noGrp="1"/>
          </p:cNvSpPr>
          <p:nvPr/>
        </p:nvSpPr>
        <p:spPr>
          <a:xfrm>
            <a:off x="61341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4"/>
              </a:rPr>
              <a:t>芯片支持 PR #94044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332983-AD4F-43A4-BCAB-D1F58A583A9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本期使用原清单，west 实验另有专题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4328CD4-C275-4569-A0D4-2CE437EDEC0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4.1.2 · 依赖来源已由官方给出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85F59ECA-C3D3-42C6-B8C6-FD9D2DCC9648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5238750" cy="400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当前任务：取得与这份 Zephyr 源码配套的 CMSIS。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读取官方清单后，让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按指定版本下载。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learning/west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已有初始化、清单编写与版本管理实验。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练习清单留在独立实验中，不搬来替换 Zephyr 的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west.yml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West topic link">
            <a:extLst>
              <a:ext uri="{FF2B5EF4-FFF2-40B4-BE49-F238E27FC236}">
                <a16:creationId xmlns:a16="http://schemas.microsoft.com/office/drawing/2014/main" id="{73FD341A-AB4B-4688-8C31-675D0592108D}"/>
              </a:ext>
            </a:extLst>
          </p:cNvPr>
          <p:cNvSpPr>
            <a:spLocks noGrp="1"/>
          </p:cNvSpPr>
          <p:nvPr/>
        </p:nvSpPr>
        <p:spPr>
          <a:xfrm>
            <a:off x="609600" y="6134100"/>
            <a:ext cx="10839450" cy="276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  <a:hlinkClick r:id="rId3"/>
              </a:rPr>
              <a:t>west</a:t>
            </a: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 实验专题：</a:t>
            </a:r>
            <a:r>
              <a:rPr sz="14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learning/west/</a:t>
            </a: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大纲.md</a:t>
            </a:r>
          </a:p>
        </p:txBody>
      </p:sp>
      <p:pic>
        <p:nvPicPr>
          <p:cNvPr id="6" name="图片 7">
            <a:extLst>
              <a:ext uri="{FF2B5EF4-FFF2-40B4-BE49-F238E27FC236}">
                <a16:creationId xmlns:a16="http://schemas.microsoft.com/office/drawing/2014/main" id="{7BA6427F-DEC9-3326-85A9-A272BB7904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0" y="1952625"/>
            <a:ext cx="5334000" cy="2883693"/>
          </a:xfrm>
          <a:prstGeom prst="rect">
            <a:avLst/>
          </a:prstGeom>
        </p:spPr>
      </p:pic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435BCED-D6E3-4CA2-9484-058B9EB8FCB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8896168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DBB3243F-E3A5-4153-97AD-31373CE0CE16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同名 CMSIS，来源未必相同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473AADB7-02E1-408D-B642-6D8DB3C2051D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4.2.2 · 先确定下载对象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4C58492A-2790-4F41-9F1A-C6E03B4CDA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6525581"/>
              </p:ext>
            </p:extLst>
          </p:nvPr>
        </p:nvGraphicFramePr>
        <p:xfrm>
          <a:off x="628650" y="1671976"/>
          <a:ext cx="10972800" cy="3190875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材料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本次判断依据</a:t>
                      </a:r>
                      <a:endParaRPr sz="1800" b="1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Arm 上游 CMSIS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提供通用内核接口，不能直接猜其版本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厂商例程附带 CMSIS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服务该例程；不自动与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Zephyr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配套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清单指定的 CMSIS_6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本次下载对象，按仓库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URL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和完整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revision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hal_xhsc 中的 DDL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匹配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HC32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芯片与适配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API；不是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Core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替代品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content">
            <a:extLst>
              <a:ext uri="{FF2B5EF4-FFF2-40B4-BE49-F238E27FC236}">
                <a16:creationId xmlns:a16="http://schemas.microsoft.com/office/drawing/2014/main" id="{CCCFF274-25BC-213E-8C0D-B50F468B551D}"/>
              </a:ext>
            </a:extLst>
          </p:cNvPr>
          <p:cNvSpPr>
            <a:spLocks noGrp="1"/>
          </p:cNvSpPr>
          <p:nvPr/>
        </p:nvSpPr>
        <p:spPr>
          <a:xfrm>
            <a:off x="609600" y="4954083"/>
            <a:ext cx="10972800" cy="970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0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因此我们必须要谨慎选择</a:t>
            </a:r>
            <a:r>
              <a:rPr lang="en-US" altLang="zh-CN" sz="20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</a:t>
            </a:r>
            <a:r>
              <a:rPr lang="zh-CN" altLang="en-US" sz="20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包，如果芯片原厂的</a:t>
            </a:r>
            <a:r>
              <a:rPr lang="en-US" altLang="zh-CN" sz="20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</a:t>
            </a:r>
            <a:r>
              <a:rPr lang="zh-CN" altLang="en-US" sz="20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移植到</a:t>
            </a:r>
            <a:r>
              <a:rPr lang="en-US" altLang="zh-CN" sz="20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</a:t>
            </a:r>
            <a:r>
              <a:rPr lang="zh-CN" altLang="en-US" sz="20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，或者</a:t>
            </a:r>
            <a:r>
              <a:rPr lang="en-US" altLang="zh-CN" sz="20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</a:t>
            </a:r>
            <a:r>
              <a:rPr lang="zh-CN" altLang="en-US" sz="20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的</a:t>
            </a:r>
            <a:r>
              <a:rPr lang="en-US" altLang="zh-CN" sz="20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</a:t>
            </a:r>
            <a:r>
              <a:rPr lang="zh-CN" altLang="en-US" sz="20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与芯片原厂的 </a:t>
            </a:r>
            <a:r>
              <a:rPr lang="en-US" altLang="zh-CN" sz="20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HAL/DDL </a:t>
            </a:r>
            <a:r>
              <a:rPr lang="zh-CN" altLang="en-US" sz="20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 存在不适配，可能会导致</a:t>
            </a:r>
            <a:r>
              <a:rPr lang="en-US" altLang="zh-CN" sz="20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core</a:t>
            </a:r>
            <a:r>
              <a:rPr lang="zh-CN" altLang="en-US" sz="20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</a:t>
            </a:r>
            <a:r>
              <a:rPr lang="zh-CN" altLang="en-US" sz="202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适配</a:t>
            </a:r>
            <a:r>
              <a:rPr lang="zh-CN" altLang="en-US" sz="20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sz="20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D4606D1-A2FE-4D07-89A7-A21284F14F0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858782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AC1D5E9-1D26-4137-A8C7-289E0E71C6A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通用 Core 与芯片设备头分别从哪里来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4A8D5272-3D4C-43A4-9D0B-71B6A98F0D6C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4.2 · 先分清下载对象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1C989DE-D825-4920-B625-419E219D1B43}"/>
              </a:ext>
            </a:extLst>
          </p:cNvPr>
          <p:cNvGraphicFramePr/>
          <p:nvPr/>
        </p:nvGraphicFramePr>
        <p:xfrm>
          <a:off x="609600" y="1885950"/>
          <a:ext cx="10972800" cy="2743200"/>
        </p:xfrm>
        <a:graphic>
          <a:graphicData uri="http://schemas.openxmlformats.org/drawingml/2006/table">
            <a:tbl>
              <a:tblPr/>
              <a:tblGrid>
                <a:gridCol w="3762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10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材料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本系列的来源与用途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CMSIS-Core 通用文件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 </a:t>
                      </a: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清单指定 CMSIS_6，提供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core_cm4.h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芯片设备头与 system 文件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芯片厂商设备包或 HAL/DDL，本例在 hal_xhsc 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SoC 与驱动连接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P011 加入适配文件，让芯片资料参与 Zephyr 构建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205940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2EE786F-25B4-4BE2-BDA2-27B32695D50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已有工作区直接复用，不重复 init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E1328B17-4B66-4AF0-B0A8-070F1C8D46B8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4.2.1 · Windows UCRT64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03BB5E06-6224-459F-9DBE-54A53104F7A7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3251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646173"/>
                </a:solidFill>
                <a:latin typeface="Consolas"/>
                <a:ea typeface="Microsoft YaHei"/>
                <a:cs typeface="Consolas"/>
              </a:rPr>
              <a:t># Windows UCRT64；仍在实验源码根，.venv 已激活；复用官方原有 west.yml。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cd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test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-f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west.yml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&amp;&amp; </a:t>
            </a: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if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west topdir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&gt;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/dev/null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2&gt;&amp;1; </a:t>
            </a: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then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</a:t>
            </a: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printf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'已有 </a:t>
            </a: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west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工作区，复用现有配置。\n'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else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</a:t>
            </a: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west init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-l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.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fi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west topdir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west config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manifest.path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west config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manifest.file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986A8565-5579-4E7F-953B-8DC80B53EA89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812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预期依次是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G:/zephyr_practice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、zephyr-main、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west.yml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already initialized 表示已建立；不删除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.west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，也不重建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west.yml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Command file link">
            <a:extLst>
              <a:ext uri="{FF2B5EF4-FFF2-40B4-BE49-F238E27FC236}">
                <a16:creationId xmlns:a16="http://schemas.microsoft.com/office/drawing/2014/main" id="{156C5EFB-7B3A-41B6-8A1D-D35B752033D1}"/>
              </a:ext>
            </a:extLst>
          </p:cNvPr>
          <p:cNvSpPr>
            <a:spLocks noGrp="1"/>
          </p:cNvSpPr>
          <p:nvPr/>
        </p:nvSpPr>
        <p:spPr>
          <a:xfrm>
            <a:off x="609600" y="6134100"/>
            <a:ext cx="10839450" cy="276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完整命令：P004_Windows/4.2.1-03.txt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9406774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9F691F5-3294-4334-9187-405B5D5F170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按原清单下载 CMSIS，并检查关键文件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69F22E9E-47A0-40D1-AE0B-4C5301798323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4.2.2 · Windows UCRT64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45BF6BB9-55AF-4D97-82FB-AD2483B2436C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762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646173"/>
                </a:solidFill>
                <a:latin typeface="Consolas"/>
                <a:ea typeface="Microsoft YaHei"/>
                <a:cs typeface="Consolas"/>
              </a:rPr>
              <a:t># Windows UCRT64；源码根；4.2.1 已核对工作区，.venv 已激活。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646173"/>
                </a:solidFill>
                <a:latin typeface="Consolas"/>
                <a:ea typeface="Microsoft YaHei"/>
                <a:cs typeface="Consolas"/>
              </a:rPr>
              <a:t># 版本标识必须属于 Git for Windows；不匹配则停止，回到 4.2.1 修正 PATH。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git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--version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| </a:t>
            </a: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grep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-q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'\.windows\.'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west list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cmsis_6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-f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'{url} {revision} {abspath}'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west update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cmsis_6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test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-f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../modules/hal/cmsis_6/zephyr/module.yml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test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-f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../modules/hal/cmsis_6/CMSIS/Core/Include/core_cm4.h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printf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'CMSIS 下载完成，模块入口与 Cortex-M4 Core 头文件均存在。\n'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AD3DE21D-95D9-4E34-A5DE-BFDE305E38E9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10972800" cy="12096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只有最后输出“CMSIS 下载完成”才继续；任一检查失败，后续命令停止。</a:t>
            </a:r>
          </a:p>
        </p:txBody>
      </p:sp>
      <p:sp>
        <p:nvSpPr>
          <p:cNvPr id="6" name="Command file link">
            <a:extLst>
              <a:ext uri="{FF2B5EF4-FFF2-40B4-BE49-F238E27FC236}">
                <a16:creationId xmlns:a16="http://schemas.microsoft.com/office/drawing/2014/main" id="{3E91E320-63AE-486A-84ED-59173A7AFA37}"/>
              </a:ext>
            </a:extLst>
          </p:cNvPr>
          <p:cNvSpPr>
            <a:spLocks noGrp="1"/>
          </p:cNvSpPr>
          <p:nvPr/>
        </p:nvSpPr>
        <p:spPr>
          <a:xfrm>
            <a:off x="609600" y="6134100"/>
            <a:ext cx="10839450" cy="276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完整命令：P004_Windows/4.2.2-01.txt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072186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FFA56BC-1696-4C4D-A3F1-66F97A573FB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下载物在源码旁，接入规则在源码内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613F1A2-314C-4FA2-BA55-6A23FC1318E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4.2.2 · 文件位置与来源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5BDDB275-0690-4F79-9C62-33205CBE24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95138753"/>
              </p:ext>
            </p:extLst>
          </p:nvPr>
        </p:nvGraphicFramePr>
        <p:xfrm>
          <a:off x="609600" y="1885949"/>
          <a:ext cx="10972800" cy="3781425"/>
        </p:xfrm>
        <a:graphic>
          <a:graphicData uri="http://schemas.openxmlformats.org/drawingml/2006/table">
            <a:tbl>
              <a:tblPr/>
              <a:tblGrid>
                <a:gridCol w="5487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49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5628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相对于 </a:t>
                      </a:r>
                      <a:r>
                        <a:rPr sz="1800" b="1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G:/zephyr_practice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来源与作用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628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./</a:t>
                      </a: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zephyr-main/</a:t>
                      </a:r>
                      <a:r>
                        <a:rPr sz="1800" b="0" dirty="0" err="1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west.yml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官方原有：指定模块来源与修订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628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./</a:t>
                      </a: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zephyr-main/modules/cmsis_6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官方原有：Zephyr 的 CMSIS 构建接入规则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628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./</a:t>
                      </a: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modules/</a:t>
                      </a:r>
                      <a:r>
                        <a:rPr sz="1800" b="0" dirty="0" err="1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hal</a:t>
                      </a: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/cmsis_6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下载：实际 CMSIS 外部源码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628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./modules/</a:t>
                      </a:r>
                      <a:r>
                        <a:rPr lang="en-US" sz="1800" b="0" dirty="0" err="1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hal</a:t>
                      </a:r>
                      <a:r>
                        <a:rPr lang="en-US"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/cmsis_6/zephyr/</a:t>
                      </a:r>
                      <a:r>
                        <a:rPr lang="en-US" sz="1800" b="0" dirty="0" err="1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module.yml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、Core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头文件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下载模块自带；不新建，不覆盖源码内的规则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788480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0CA466B-C5F9-4683-819E-EDDC50DB8D8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“安装 CMSIS”就是准备源码依赖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5CF64A6-1D64-411B-BF89-3B61E8C46DF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4.2.2 · 下载成功后留下什么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0C0499E-7C2D-4B98-ADFA-5283A612B69E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400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CMSIS-Core 没有安装向导，不放进 SDK 或 </a:t>
            </a:r>
            <a:r>
              <a:rPr sz="21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已把整份模块放在当前工作区，保留原 </a:t>
            </a:r>
            <a:r>
              <a:rPr sz="21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module.yml</a:t>
            </a: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P011 配置时，Zephyr 根据模块入口加入 Core 头文件目录。</a:t>
            </a:r>
          </a:p>
          <a:p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此时只准备好文件，还没有编译、启动或移植新芯片。</a:t>
            </a:r>
          </a:p>
        </p:txBody>
      </p:sp>
      <p:sp>
        <p:nvSpPr>
          <p:cNvPr id="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52552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724FCA47-526A-4C65-ACD4-30944F014A4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清单外的 HC32 HAL 单独处理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45128318-89D2-4AB9-9E18-480C38691E9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4.2.3 · 不冒充官方清单项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AECD7EB1-CE3D-4156-AC23-C5542159A409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646173"/>
                </a:solidFill>
                <a:latin typeface="Consolas"/>
                <a:ea typeface="Microsoft YaHei"/>
                <a:cs typeface="Consolas"/>
              </a:rPr>
              <a:t># Windows UCRT64；实验源码根。仅在 hal_xhsc 目录尚不存在时执行此下载块。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mkdir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87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-p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87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build/learning-tools/deps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test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! </a:t>
            </a:r>
            <a:r>
              <a:rPr sz="187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-e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87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build/learning-tools/deps/hal_xhsc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&amp;&amp;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</a:t>
            </a:r>
            <a:r>
              <a:rPr sz="187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git clone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87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--no-checkout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87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https://github.com/zephyrproject-rtos/hal_xhsc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  </a:t>
            </a:r>
            <a:r>
              <a:rPr sz="187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build/learning-tools/deps/hal_xhsc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&amp;&amp;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</a:t>
            </a:r>
            <a:r>
              <a:rPr sz="187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git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87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-C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87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build/learning-tools/deps/hal_xhsc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checkout </a:t>
            </a:r>
            <a:r>
              <a:rPr sz="187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--detach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  a84e04900616f68097d80cda2e89eaa8af3afadd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27D45BA0-4858-42F1-B183-7819E127612A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当前清单没有 hal_xhsc，不能直接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 update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hal_xhsc。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网页核对 HC32F4A0 设备头和 DDL API，再用 Git 获取固定移植基线。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保留当前官方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west.yml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；P011 以额外模块追加。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399283ED-EABA-436D-A5CD-C6E7047367BA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完整命令：P004_Windows/4.2.3-01.txt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0388254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D460B756-AFA9-43AE-903D-4D28F44EE0DC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 HAL 模块与芯片文件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3AD11F3F-B99C-4C13-B269-B430C43634A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4.2.3 · 整个模块由仓库提供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3D48A7E7-2A7F-4D33-BADB-53E860D83C30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646173"/>
                </a:solidFill>
                <a:latin typeface="Consolas"/>
                <a:ea typeface="Microsoft YaHei"/>
                <a:cs typeface="Consolas"/>
              </a:rPr>
              <a:t># Windows UCRT64；源码根；Git 或已有完整 ZIP 模块都要核对这些原有文件。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cat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87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build/learning-tools/deps/hal_xhsc/zephyr/module.yml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test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87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-f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build/learning-tools/deps/hal_xhsc/hc32_ddl/hc32f4a0/soc/hc32f4a0.h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&amp;&amp; </a:t>
            </a:r>
            <a:r>
              <a:rPr sz="187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printf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'HC32F4A0 OK\n'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test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87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-f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build/learning-tools/deps/hal_xhsc/hc32_ddl/hc32f4a0/drivers/inc/hc32_ll_usart.h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&amp;&amp; </a:t>
            </a:r>
            <a:r>
              <a:rPr sz="187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printf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'USART DDL OK\n'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572B5456-1DF3-4DB4-8069-DF354324501A}"/>
              </a:ext>
            </a:extLst>
          </p:cNvPr>
          <p:cNvSpPr>
            <a:spLocks noGrp="1"/>
          </p:cNvSpPr>
          <p:nvPr/>
        </p:nvSpPr>
        <p:spPr>
          <a:xfrm>
            <a:off x="609600" y="4886325"/>
            <a:ext cx="10972800" cy="1190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Git 路线用 rev-parse HEAD 核对固定基线。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旧的完整 ZIP 可核对来源后复用，无需覆盖重下。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module.yml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、设备头与 DDL 都是下载模块中的原有文件。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F0147FE3-5255-41C9-B0FD-817D615538E9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完整命令：P004_Windows/4.2.3-03.txt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2778153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2720</Words>
  <Application>Microsoft Office PowerPoint</Application>
  <DocSecurity>0</DocSecurity>
  <PresentationFormat>宽屏</PresentationFormat>
  <Paragraphs>315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9</vt:i4>
      </vt:variant>
      <vt:variant>
        <vt:lpstr>幻灯片标题</vt:lpstr>
      </vt:variant>
      <vt:variant>
        <vt:i4>19</vt:i4>
      </vt:variant>
    </vt:vector>
  </HeadingPairs>
  <TitlesOfParts>
    <vt:vector size="32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99</cp:revision>
  <dcterms:created xsi:type="dcterms:W3CDTF">2026-10-06T03:23:18Z</dcterms:created>
  <dcterms:modified xsi:type="dcterms:W3CDTF">2026-10-07T13:00:52Z</dcterms:modified>
</cp:coreProperties>
</file>