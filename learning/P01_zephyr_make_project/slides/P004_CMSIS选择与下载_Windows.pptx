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el1.xml" ContentType="application/vnd.openxmlformats-officedocument.presentationml.slide+xml"/>
  <Override PartName="/ppt/notesSlides/model1.xml" ContentType="application/vnd.openxmlformats-officedocument.presentationml.notesSlide+xml"/>
  <Override PartName="/ppt/slides/model2.xml" ContentType="application/vnd.openxmlformats-officedocument.presentationml.slide+xml"/>
  <Override PartName="/ppt/notesSlides/model2.xml" ContentType="application/vnd.openxmlformats-officedocument.presentationml.notesSlide+xml"/>
  <Override PartName="/ppt/slides/model3.xml" ContentType="application/vnd.openxmlformats-officedocument.presentationml.slide+xml"/>
  <Override PartName="/ppt/notesSlides/model3.xml" ContentType="application/vnd.openxmlformats-officedocument.presentationml.notesSlide+xml"/>
  <Override PartName="/ppt/slides/model4.xml" ContentType="application/vnd.openxmlformats-officedocument.presentationml.slide+xml"/>
  <Override PartName="/ppt/notesSlides/model4.xml" ContentType="application/vnd.openxmlformats-officedocument.presentationml.notesSlide+xml"/>
  <Override PartName="/ppt/slides/model5.xml" ContentType="application/vnd.openxmlformats-officedocument.presentationml.slide+xml"/>
  <Override PartName="/ppt/notesSlides/model5.xml" ContentType="application/vnd.openxmlformats-officedocument.presentationml.notesSlide+xml"/>
  <Override PartName="/ppt/slides/model8.xml" ContentType="application/vnd.openxmlformats-officedocument.presentationml.slide+xml"/>
  <Override PartName="/ppt/notesSlides/model8.xml" ContentType="application/vnd.openxmlformats-officedocument.presentationml.notesSlide+xml"/>
  <Override PartName="/ppt/slides/model10.xml" ContentType="application/vnd.openxmlformats-officedocument.presentationml.slide+xml"/>
  <Override PartName="/ppt/notesSlides/model10.xml" ContentType="application/vnd.openxmlformats-officedocument.presentationml.notesSlide+xml"/>
  <Override PartName="/ppt/slides/model11.xml" ContentType="application/vnd.openxmlformats-officedocument.presentationml.slide+xml"/>
  <Override PartName="/ppt/notesSlides/model11.xml" ContentType="application/vnd.openxmlformats-officedocument.presentationml.notesSlide+xml"/>
  <Override PartName="/ppt/slides/model12.xml" ContentType="application/vnd.openxmlformats-officedocument.presentationml.slide+xml"/>
  <Override PartName="/ppt/notesSlides/model12.xml" ContentType="application/vnd.openxmlformats-officedocument.presentationml.notesSlide+xml"/>
  <Override PartName="/ppt/slides/model13.xml" ContentType="application/vnd.openxmlformats-officedocument.presentationml.slide+xml"/>
  <Override PartName="/ppt/notesSlides/model13.xml" ContentType="application/vnd.openxmlformats-officedocument.presentationml.notesSlide+xml"/>
  <Override PartName="/ppt/slides/model14.xml" ContentType="application/vnd.openxmlformats-officedocument.presentationml.slide+xml"/>
  <Override PartName="/ppt/notesSlides/model14.xml" ContentType="application/vnd.openxmlformats-officedocument.presentationml.notesSlide+xml"/>
  <Override PartName="/ppt/slides/model15.xml" ContentType="application/vnd.openxmlformats-officedocument.presentationml.slide+xml"/>
  <Override PartName="/ppt/notesSlides/model15.xml" ContentType="application/vnd.openxmlformats-officedocument.presentationml.notesSlide+xml"/>
  <Override PartName="/ppt/slides/model16.xml" ContentType="application/vnd.openxmlformats-officedocument.presentationml.slide+xml"/>
  <Override PartName="/ppt/notesSlides/model16.xml" ContentType="application/vnd.openxmlformats-officedocument.presentationml.notesSlide+xml"/>
  <Override PartName="/ppt/slides/model17.xml" ContentType="application/vnd.openxmlformats-officedocument.presentationml.slide+xml"/>
  <Override PartName="/ppt/notesSlides/model17.xml" ContentType="application/vnd.openxmlformats-officedocument.presentationml.notesSlide+xml"/>
  <Override PartName="/ppt/slides/model18.xml" ContentType="application/vnd.openxmlformats-officedocument.presentationml.slide+xml"/>
  <Override PartName="/ppt/notesSlides/model18.xml" ContentType="application/vnd.openxmlformats-officedocument.presentationml.notesSlide+xml"/>
  <Override PartName="/ppt/slides/model19.xml" ContentType="application/vnd.openxmlformats-officedocument.presentationml.slide+xml"/>
  <Override PartName="/ppt/notesSlides/model19.xml" ContentType="application/vnd.openxmlformats-officedocument.presentationml.notesSlide+xml"/>
  <Override PartName="/ppt/slides/model20.xml" ContentType="application/vnd.openxmlformats-officedocument.presentationml.slide+xml"/>
  <Override PartName="/ppt/notesSlides/model20.xml" ContentType="application/vnd.openxmlformats-officedocument.presentationml.notesSlide+xml"/>
  <Override PartName="/ppt/slides/model21.xml" ContentType="application/vnd.openxmlformats-officedocument.presentationml.slide+xml"/>
  <Override PartName="/ppt/notesSlides/model21.xml" ContentType="application/vnd.openxmlformats-officedocument.presentationml.notesSlide+xml"/>
  <Override PartName="/ppt/slides/model22.xml" ContentType="application/vnd.openxmlformats-officedocument.presentationml.slide+xml"/>
  <Override PartName="/ppt/notesSlides/model22.xml" ContentType="application/vnd.openxmlformats-officedocument.presentationml.notesSlide+xml"/>
  <Override PartName="/ppt/slides/model23.xml" ContentType="application/vnd.openxmlformats-officedocument.presentationml.slide+xml"/>
  <Override PartName="/ppt/notesSlides/model23.xml" ContentType="application/vnd.openxmlformats-officedocument.presentationml.notesSlide+xml"/>
  <Override PartName="/ppt/slides/model24.xml" ContentType="application/vnd.openxmlformats-officedocument.presentationml.slide+xml"/>
  <Override PartName="/ppt/notesSlides/model24.xml" ContentType="application/vnd.openxmlformats-officedocument.presentationml.notesSlide+xml"/>
  <Override PartName="/ppt/slides/proof8.xml" ContentType="application/vnd.openxmlformats-officedocument.presentationml.slide+xml"/>
  <Override PartName="/ppt/notesSlides/proof8.xml" ContentType="application/vnd.openxmlformats-officedocument.presentationml.notesSlide+xml"/>
  <Override PartName="/ppt/slides/proof2.xml" ContentType="application/vnd.openxmlformats-officedocument.presentationml.slide+xml"/>
  <Override PartName="/ppt/notesSlides/proof2.xml" ContentType="application/vnd.openxmlformats-officedocument.presentationml.notesSlide+xml"/>
  <Override PartName="/ppt/slides/proof3.xml" ContentType="application/vnd.openxmlformats-officedocument.presentationml.slide+xml"/>
  <Override PartName="/ppt/notesSlides/proof3.xml" ContentType="application/vnd.openxmlformats-officedocument.presentationml.notesSlide+xml"/>
  <Override PartName="/ppt/slides/proof4.xml" ContentType="application/vnd.openxmlformats-officedocument.presentationml.slide+xml"/>
  <Override PartName="/ppt/notesSlides/proof4.xml" ContentType="application/vnd.openxmlformats-officedocument.presentationml.notesSlide+xml"/>
  <Override PartName="/ppt/slides/proof9.xml" ContentType="application/vnd.openxmlformats-officedocument.presentationml.slide+xml"/>
  <Override PartName="/ppt/notesSlides/proof9.xml" ContentType="application/vnd.openxmlformats-officedocument.presentationml.notesSlide+xml"/>
  <Override PartName="/ppt/slides/proof1.xml" ContentType="application/vnd.openxmlformats-officedocument.presentationml.slide+xml"/>
  <Override PartName="/ppt/notesSlides/proof1.xml" ContentType="application/vnd.openxmlformats-officedocument.presentationml.notesSlide+xml"/>
  <Override PartName="/ppt/slides/proof6.xml" ContentType="application/vnd.openxmlformats-officedocument.presentationml.slide+xml"/>
  <Override PartName="/ppt/notesSlides/proof6.xml" ContentType="application/vnd.openxmlformats-officedocument.presentationml.notesSlide+xml"/>
  <Override PartName="/ppt/slides/proof7.xml" ContentType="application/vnd.openxmlformats-officedocument.presentationml.slide+xml"/>
  <Override PartName="/ppt/notesSlides/proof7.xml" ContentType="application/vnd.openxmlformats-officedocument.presentationml.notesSlide+xml"/>
  <Override PartName="/ppt/slides/proof5.xml" ContentType="application/vnd.openxmlformats-officedocument.presentationml.slide+xml"/>
  <Override PartName="/ppt/notesSlides/proof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83" r:id="rId5"/>
    <p:sldMasterId id="2147483690" r:id="rId6"/>
    <p:sldMasterId id="2147483697" r:id="rId7"/>
    <p:sldMasterId id="2147483704" r:id="rId8"/>
    <p:sldMasterId id="2147483712" r:id="rId9"/>
  </p:sldMasterIdLst>
  <p:notesMasterIdLst>
    <p:notesMasterId r:id="rId29"/>
  </p:notesMasterIdLst>
  <p:sldIdLst>
    <p:sldId id="1001" r:id="rProof1"/>
    <p:sldId id="1002" r:id="rProof2"/>
    <p:sldId id="1003" r:id="rProof3"/>
    <p:sldId id="1004" r:id="rProof4"/>
    <p:sldId id="1005" r:id="rProof5"/>
    <p:sldId id="1006" r:id="rProof6"/>
    <p:sldId id="1007" r:id="rProof7"/>
    <p:sldId id="1008" r:id="rProof8"/>
    <p:sldId id="1009" r:id="rProof9"/>
    <p:sldId id="1010" r:id="rProof10"/>
    <p:sldId id="1011" r:id="rProof11"/>
    <p:sldId id="1012" r:id="rProof12"/>
    <p:sldId id="1013" r:id="rProof13"/>
    <p:sldId id="1014" r:id="rProof14"/>
    <p:sldId id="1015" r:id="rProof15"/>
    <p:sldId id="1016" r:id="rProof16"/>
    <p:sldId id="1017" r:id="rProof17"/>
    <p:sldId id="1018" r:id="rProof18"/>
    <p:sldId id="1019" r:id="rProof19"/>
    <p:sldId id="1020" r:id="rProof20"/>
    <p:sldId id="1021" r:id="rProof21"/>
    <p:sldId id="1022" r:id="rProof22"/>
    <p:sldId id="1023" r:id="rProof23"/>
    <p:sldId id="1024" r:id="rProof24"/>
    <p:sldId id="1025" r:id="rProof25"/>
    <p:sldId id="1026" r:id="rProof26"/>
    <p:sldId id="1027" r:id="rProof27"/>
    <p:sldId id="1028" r:id="rProof28"/>
    <p:sldId id="1029" r:id="rProof29"/>
    <p:sldId id="1030" r:id="rProof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Proof1" Type="http://schemas.openxmlformats.org/officeDocument/2006/relationships/slide" Target="slides/model1.xml"/><Relationship Id="rProof2" Type="http://schemas.openxmlformats.org/officeDocument/2006/relationships/slide" Target="slides/model2.xml"/><Relationship Id="rProof3" Type="http://schemas.openxmlformats.org/officeDocument/2006/relationships/slide" Target="slides/model3.xml"/><Relationship Id="rProof4" Type="http://schemas.openxmlformats.org/officeDocument/2006/relationships/slide" Target="slides/proof8.xml"/><Relationship Id="rProof5" Type="http://schemas.openxmlformats.org/officeDocument/2006/relationships/slide" Target="slides/model4.xml"/><Relationship Id="rProof6" Type="http://schemas.openxmlformats.org/officeDocument/2006/relationships/slide" Target="slides/model5.xml"/><Relationship Id="rProof7" Type="http://schemas.openxmlformats.org/officeDocument/2006/relationships/slide" Target="slides/proof2.xml"/><Relationship Id="rProof8" Type="http://schemas.openxmlformats.org/officeDocument/2006/relationships/slide" Target="slides/proof3.xml"/><Relationship Id="rProof9" Type="http://schemas.openxmlformats.org/officeDocument/2006/relationships/slide" Target="slides/proof4.xml"/><Relationship Id="rProof10" Type="http://schemas.openxmlformats.org/officeDocument/2006/relationships/slide" Target="slides/model8.xml"/><Relationship Id="rProof11" Type="http://schemas.openxmlformats.org/officeDocument/2006/relationships/slide" Target="slides/proof9.xml"/><Relationship Id="rProof12" Type="http://schemas.openxmlformats.org/officeDocument/2006/relationships/slide" Target="slides/model10.xml"/><Relationship Id="rProof13" Type="http://schemas.openxmlformats.org/officeDocument/2006/relationships/slide" Target="slides/proof1.xml"/><Relationship Id="rProof14" Type="http://schemas.openxmlformats.org/officeDocument/2006/relationships/slide" Target="slides/proof6.xml"/><Relationship Id="rProof15" Type="http://schemas.openxmlformats.org/officeDocument/2006/relationships/slide" Target="slides/proof7.xml"/><Relationship Id="rProof16" Type="http://schemas.openxmlformats.org/officeDocument/2006/relationships/slide" Target="slides/model11.xml"/><Relationship Id="rProof17" Type="http://schemas.openxmlformats.org/officeDocument/2006/relationships/slide" Target="slides/model12.xml"/><Relationship Id="rProof18" Type="http://schemas.openxmlformats.org/officeDocument/2006/relationships/slide" Target="slides/model13.xml"/><Relationship Id="rProof19" Type="http://schemas.openxmlformats.org/officeDocument/2006/relationships/slide" Target="slides/model14.xml"/><Relationship Id="rProof20" Type="http://schemas.openxmlformats.org/officeDocument/2006/relationships/slide" Target="slides/model15.xml"/><Relationship Id="rProof21" Type="http://schemas.openxmlformats.org/officeDocument/2006/relationships/slide" Target="slides/model16.xml"/><Relationship Id="rProof22" Type="http://schemas.openxmlformats.org/officeDocument/2006/relationships/slide" Target="slides/model17.xml"/><Relationship Id="rProof23" Type="http://schemas.openxmlformats.org/officeDocument/2006/relationships/slide" Target="slides/model18.xml"/><Relationship Id="rProof24" Type="http://schemas.openxmlformats.org/officeDocument/2006/relationships/slide" Target="slides/model19.xml"/><Relationship Id="rProof25" Type="http://schemas.openxmlformats.org/officeDocument/2006/relationships/slide" Target="slides/proof5.xml"/><Relationship Id="rProof26" Type="http://schemas.openxmlformats.org/officeDocument/2006/relationships/slide" Target="slides/model20.xml"/><Relationship Id="rProof27" Type="http://schemas.openxmlformats.org/officeDocument/2006/relationships/slide" Target="slides/model21.xml"/><Relationship Id="rProof28" Type="http://schemas.openxmlformats.org/officeDocument/2006/relationships/slide" Target="slides/model22.xml"/><Relationship Id="rProof29" Type="http://schemas.openxmlformats.org/officeDocument/2006/relationships/slide" Target="slides/model23.xml"/><Relationship Id="rProof30" Type="http://schemas.openxmlformats.org/officeDocument/2006/relationships/slide" Target="slides/model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el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.xml"/></Relationships>
</file>

<file path=ppt/notesSlides/_rels/model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.xml"/></Relationships>
</file>

<file path=ppt/notesSlides/_rels/model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.xml"/></Relationships>
</file>

<file path=ppt/notesSlides/_rels/model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.xml"/></Relationships>
</file>

<file path=ppt/notesSlides/_rels/model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.xml"/></Relationships>
</file>

<file path=ppt/notesSlides/_rels/model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8.xml"/></Relationships>
</file>

<file path=ppt/notesSlides/_rels/model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0.xml"/></Relationships>
</file>

<file path=ppt/notesSlides/_rels/model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1.xml"/></Relationships>
</file>

<file path=ppt/notesSlides/_rels/model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2.xml"/></Relationships>
</file>

<file path=ppt/notesSlides/_rels/model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3.xml"/></Relationships>
</file>

<file path=ppt/notesSlides/_rels/model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4.xml"/></Relationships>
</file>

<file path=ppt/notesSlides/_rels/model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5.xml"/></Relationships>
</file>

<file path=ppt/notesSlides/_rels/model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6.xml"/></Relationships>
</file>

<file path=ppt/notesSlides/_rels/model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7.xml"/></Relationships>
</file>

<file path=ppt/notesSlides/_rels/model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8.xml"/></Relationships>
</file>

<file path=ppt/notesSlides/_rels/model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9.xml"/></Relationships>
</file>

<file path=ppt/notesSlides/_rels/model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0.xml"/></Relationships>
</file>

<file path=ppt/notesSlides/_rels/model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1.xml"/></Relationships>
</file>

<file path=ppt/notesSlides/_rels/model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2.xml"/></Relationships>
</file>

<file path=ppt/notesSlides/_rels/model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3.xml"/></Relationships>
</file>

<file path=ppt/notesSlides/_rels/model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4.xml"/></Relationships>
</file>

<file path=ppt/notesSlides/_rels/proof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1.xml"/></Relationships>
</file>

<file path=ppt/notesSlides/_rels/proof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2.xml"/></Relationships>
</file>

<file path=ppt/notesSlides/_rels/proof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3.xml"/></Relationships>
</file>

<file path=ppt/notesSlides/_rels/proof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4.xml"/></Relationships>
</file>

<file path=ppt/notesSlides/_rels/proof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5.xml"/></Relationships>
</file>

<file path=ppt/notesSlides/_rels/proof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6.xml"/></Relationships>
</file>

<file path=ppt/notesSlides/_rels/proof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7.xml"/></Relationships>
</file>

<file path=ppt/notesSlides/_rels/proof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8.xml"/></Relationships>
</file>

<file path=ppt/notesSlides/_rels/proof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proof9.xml"/></Relationships>
</file>

<file path=ppt/notesSlides/model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P012。</a:t>
            </a:r>
          </a:p>
          <a:p>
            <a:r>
              <a:t>配套正文：learning/P01_zephyr_make_project/P004_CMSIS选择与下载_Windows.md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004_CMSIS选择与下载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先确定 CMSIS-Core 需求，再取得配套源码</a:t>
            </a:r>
          </a:p>
          <a:p>
            <a:r>
              <a:t>已知产品芯片后，先查询仓库的 SoC 支持；沿 CPU 配置、Core 接入 CMake 和头文件消费关系确定所需模块，再查清单中的来源与修订。</a:t>
            </a:r>
          </a:p>
          <a:p>
            <a:r>
              <a:t>沿 west 工作区核对、清单查询、下载与文件校验推进。已有目录和工具先复用，Git 参数兼容故障就在对应操作旁解释。</a:t>
            </a:r>
          </a:p>
          <a:p>
            <a:r>
              <a:t>P005 再解释官方工程的配置和驱动模型。理解源码怎样被选入后，P006 才准备 HC32 的 DDL 并接入外部模块。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对应正文：learning/P01_zephyr_make_project/P004_CMSIS选择与下载_Windows.md</a:t>
            </a:r>
          </a:p>
          <a:p>
            <a:r>
              <a:t>4.1 · 已装好工具，再判断源码依赖</a:t>
            </a:r>
          </a:p>
          <a:p>
            <a:r>
              <a:t>CMSIS-DSP/NN 是算法模块，CMSIS-DAP 是调试协议，不能混成同一种固件依赖。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对应正文：learning/P01_zephyr_make_project/P004_CMSIS选择与下载_Windows.md</a:t>
            </a:r>
          </a:p>
          <a:p>
            <a:r>
              <a:t>4.1.1 · 依赖选择案例</a:t>
            </a:r>
          </a:p>
          <a:p>
            <a:r>
              <a:t>本页不编译。查 boards/arm/mps2、soc/arm/mps2、modules/cmsis_6。板的规格与编译步骤在 P012。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拿到芯片型号，先查仓库有没有对应支持</a:t>
            </a:r>
          </a:p>
          <a:p>
            <a:r>
              <a:t>先在 soc/ 的 soc.yml 与 Kconfig 中查产品芯片或系列，再到 boards/ 查采用它的板。AN386 是 MPS2 的 Cortex-M4F FPGA 配置，这里用它示范一条已有支持的链。</a:t>
            </a:r>
          </a:p>
          <a:p>
            <a:r>
              <a:t>本版可找到 MPS2 的 SoC 和板目录，板声明选择 SOC_AN386。官方根查不到 HC32F4A0PITB，说明需要补适配，不能拿另一块 M4 板代替。</a:t>
            </a:r>
          </a:p>
          <a:p>
            <a:r>
              <a:t>配套操作先运行 list_hardware.py、list_boards.py 并搜索 SoC/CPU 声明；这些查询不要求先成功编译。接下来沿源码找依赖，而不是根据板名猜包。</a:t>
            </a:r>
          </a:p>
          <a:p>
            <a:r>
              <a:t>源码版本25c8f4a23988dd3b2cfb463613622738298c2d6c；scripts/list_hardware.py --soc-root . --socs；scripts/list_boards.py --board-root . --soc-root . --arch-root . --board mps2 --cmakeformat "{NAME} {SOCS} {QUALIFIERS}"；soc/arm/mps2/soc.yml、Kconfig；boards/arm/mps2/board.yml、Kconfig.mps2。已执行AN386和HC32查询。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最终由 core_cm4.h 提供 Cortex-M4 接口</a:t>
            </a:r>
          </a:p>
          <a:p>
            <a:r>
              <a:t>MPS2 的 soc.h 引入 cmsis_core_m_defaults.h；该头根据 CONFIG_CPU_CORTEX_M4 包含 core_cm4.h。后者实际位于外部模块的 CMSIS/Core/Include。</a:t>
            </a:r>
          </a:p>
          <a:p>
            <a:r>
              <a:t>因此主仓负责选择和接入，外部包提供 Core 头文件。下载整个 CMSIS_6 仓库后，编译器按配置使用相应内核接口。</a:t>
            </a:r>
          </a:p>
          <a:p>
            <a:r>
              <a:t>soc/arm/mps2/soc.h；modules/cmsis_6/cmsis_core_m.h；modules/cmsis_6/cmsis_core_m_defaults.h:133；arch/arm/core/cortex_m/irq_manage.c引用cmsis_core.h。文件路径示意相对G:/zephyr_practice。</a:t>
            </a:r>
          </a:p>
          <a:p>
            <a:r>
              <a:t>当前固定Zephyr修订下，官方已有MPS2板/SoC/驱动不等于依赖已下载。需要外部cmsis_6；已有清单修订、关键文件及模块发现核验通过则复用。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对应正文：P002—P005，4.1.2 · 只读 zephyr-main/west.yml</a:t>
            </a:r>
          </a:p>
          <a:p>
            <a:r>
              <a:t>保留整个官方 west.yml。下面只摘出它已有的 cmsis_6 条目，</a:t>
            </a:r>
          </a:p>
          <a:p>
            <a:r>
              <a:t>不能用这几行覆盖原文件，也不需要另存一份同名清单。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对应正文：P002—P005，4.1.2 · 外部项目按当前清单管理</a:t>
            </a:r>
          </a:p>
          <a:p>
            <a:r>
              <a:t>独立专题：learning/west/大纲.md。本页不是新建west.yml的步骤。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对应正文：P002_Windows，4.2.2 · 先确定下载对象</a:t>
            </a:r>
          </a:p>
          <a:p>
            <a:endParaRPr/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 · 先分清下载对象</a:t>
            </a:r>
          </a:p>
          <a:p>
            <a:r>
              <a:t>只有芯片设备包不代表通用Core缺失。当前已提供的CMSIS_6不替换为厂商捆绑版本。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对应正文：P002—P005，4.2.1 · Windows UCRT64</a:t>
            </a:r>
          </a:p>
          <a:p>
            <a:r>
              <a:t>预期依次是 G:/zephyr_practice、zephyr-main、west.yml。</a:t>
            </a:r>
          </a:p>
          <a:p>
            <a:r>
              <a:t>already initialized 表示已建立；不删除 .west，也不重建 west.yml。</a:t>
            </a:r>
          </a:p>
          <a:p>
            <a:r>
              <a:t>完整操作单元：../commands/P004_Windows/init-or-reuse-west.txt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 4.2.1 的原生 Git 和工作区检查。west list 默认活动项目，--all 包含停用项。manifest 是清单主仓。west manifest --path 定位实际读取的顶层清单，imports 由 west 解析。来源：west 1.5.0 list -h；https://docs.zephyrproject.org/latest/develop/west/built-in.html。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本机当前工作区只读核对 cmsis_6 存在，hal_xhsc 返回 unknown project。须先确认 --all 查询成功。显式 west update 项目名可更新停用项目，但不自动改变构建模块候选的活动状态。来源：west 1.5.0 update -h；https://docs.zephyrproject.org/latest/develop/west/built-in.html。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west 项目不等于 Zephyr 模块。modules/ 中的 CMSIS 外置接入规则不等于下载的 Core 源码。特定板、SoC、驱动支持须检查当前源码与对应版本板文档。来源：https://docs.zephyrproject.org/latest/develop/modules.html；当前 scripts/zephyr_module.py 的 west_projects()、parse_modules()。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Windows UCRT64</a:t>
            </a:r>
          </a:p>
          <a:p>
            <a:r>
              <a:t>只有最后输出“CMSIS 下载完成”才继续；任一检查失败，后续命令停止。</a:t>
            </a:r>
          </a:p>
          <a:p>
            <a:r>
              <a:t>完整操作单元：../commands/P004_Windows/download-cmsis.txt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文件位置与来源</a:t>
            </a:r>
          </a:p>
          <a:p>
            <a:r>
              <a:t>省略号为上一行modules/hal/cmsis_6，完整Core路径见MD目录树。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下载成功后留下什么</a:t>
            </a:r>
          </a:p>
          <a:p>
            <a:r>
              <a:t>CMSIS-Core 没有安装向导，不放进 SDK 或 .venv。</a:t>
            </a:r>
          </a:p>
          <a:p>
            <a:r>
              <a:t>west 已把整份模块放在当前工作区，保留原 module.yml。</a:t>
            </a:r>
          </a:p>
          <a:p>
            <a:endParaRPr/>
          </a:p>
          <a:p>
            <a:r>
              <a:t>同一工作区的 Zephyr 配置可发现 CMSIS；MPS2 此时即可进入 P005。</a:t>
            </a:r>
          </a:p>
          <a:p>
            <a:r>
              <a:t>此时只准备好文件，还没有编译、启动或移植新芯片。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本案例的错误来自用户提供的执行记录。^{commit} 要求解析为 commit 类型，^commit 是不同表达式。更换原生 Git 后恢复强烈支持混合运行时调用问题，但不能声称已定位花括号丢失的具体层级。来源：https://git-scm.com/docs/gitrevisions；https://github.com/zephyrproject-rtos/zephyr/discussions/48837。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cat-file 只查询对象类型。直接 rev-parse 不涵盖 Windows Python 调用边界和 update-ref 的完整参数。west 1.5.0 src/west/app/project.py 的 _update_manifest_rev() 更新 refs/heads/manifest-rev。仅用这段实现解释流程，不要求读者手动移动引用。来源：https://github.com/zephyrproject-rtos/west/blob/v1.5.0/src/west/app/project.py；https://github.com/zephyrproject-rtos/zephyr/discussions/48837。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 Windows UCRT64 中已激活 P002 的 Windows Python .venv。/ucrt64/bin/git.exe 不存在才安装 mingw-w64-ucrt-x86_64-git。PATH 修改只影响当前终端与子进程，hash -r 清 Bash 命令缓存。Python 输出必须核对 ucrt64/bin，版本字符串含 .windows. 不是唯一依据。已有 Windows 原生 Git（优先 /ucrt64/bin/git，或已有 Git for Windows） 可按 MD 4.2.1 选择 cmd 目录。来源：https://www.msys2.org/docs/git/。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先保存模块本地修改，再重试相同活动清单。west 退出码 0、清单 revision、HEAD 和 manifest-rev 一致后，还要核对 module.yml 与 core_cm4.h。此示例以本章固定 SHA 为预期，升级源码时按自己的清单。若仍失败，记录 west -v 中的实际子命令，不先重装 SDK、删除 .west 或更换清单。参照配套 MD 4.2.4。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HC32 的 CPU、指令架构与 CMSIS 版本</a:t>
            </a:r>
          </a:p>
          <a:p>
            <a:r>
              <a:t>先查小华资料确定 Cortex-M4，再查当前 Zephyr 怎样为 Cortex-M 提供接口。</a:t>
            </a:r>
          </a:p>
          <a:p>
            <a:r>
              <a:t>小华 https://www.xhsc.com.cn/product/1220.html；Arm https://support.arm.com/compute-ip/cortex-m4。厂商hc32_ddl/hc32f4a0/soc/hc32f4a0.h:31写Cortex-M4，199包含core_cm4.h。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CPU 配置证明需求，还没有指定 CMSIS 版本</a:t>
            </a:r>
          </a:p>
          <a:p>
            <a:r>
              <a:t>这些 select 来自 AN386、M4 和 Cortex-M 的现有 Kconfig。HAS_CMSIS_CORE 表达 Core 接口需求，没有指定软件版本。</a:t>
            </a:r>
          </a:p>
          <a:p>
            <a:r>
              <a:t>HC32 依据芯片资料选择 CPU_CORTEX_M4，接入现有 Cortex-M 架构。</a:t>
            </a:r>
          </a:p>
          <a:p>
            <a:r>
              <a:t>G:/zephyr_practice/zephyr-main soc/arm/mps2/Kconfig；arch/arm/core/cortex_m/Kconfig:41；arch/arm/core/Kconfig:15。教程hc32_port/soc/xhsc/hc32f4a0/Kconfig选择CPU_CORTEX_M4。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未知包名时，搜索谁读取 CPU 配置</a:t>
            </a:r>
          </a:p>
          <a:p>
            <a:r>
              <a:t>先用已知的 CONFIG_CPU_CORTEX_M 查模块接入规则。-w 匹配完整符号，排除更长的配置符号；查询结果给出模块名 cmsis_6。</a:t>
            </a:r>
          </a:p>
          <a:p>
            <a:r>
              <a:t>本版命中 modules/cmsis_6/CMakeLists.txt 第 4 行。还要读取它提供的头目录，并比较旧 cmsis 的条件，才能确定实际使用哪套。</a:t>
            </a:r>
          </a:p>
          <a:p>
            <a:r>
              <a:t>完整可复制查询：commands/P004_Windows/find-cmsis-consumer.txt。已在Zephyr25c8f4a23988dd3b2cfb463613622738298c2d6c实际只读核对。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两套 CMake 条件明确区分当前使用者</a:t>
            </a:r>
          </a:p>
          <a:p>
            <a:r>
              <a:t>AN386 的 M4 满足上方条件，接入外部 Core 头；下方仅面向 Cortex-A/R。本版默认规则由此选中 cmsis_6。</a:t>
            </a:r>
          </a:p>
          <a:p>
            <a:r>
              <a:t>主仓modules/cmsis_6/CMakeLists.txt:4–6实际调用zephyr_include_directories(${ZEPHYR_CURRENT_MODULE_DIR}/CMSIS/Core/Include)；modules/cmsis/CMakeLists.txt:4–6。页面只节选条件，正文给出实际语句。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模块声明把外部源码绑定到主仓接入</a:t>
            </a:r>
          </a:p>
          <a:p>
            <a:r>
              <a:t>根 CMake 将 ZEPHYR_CURRENT_MODULE_DIR 设为外部根，再执行主仓接入。加入的头目录是外部源码中的 CMSIS/Core/Include。</a:t>
            </a:r>
          </a:p>
          <a:p>
            <a:r>
              <a:t>scripts/zephyr_module.py:110–120生成${ZEPHYR_CMSIS_6_CMAKE_DIR}；modules/modules.cmake:3–11建立入口；cmake/modules/zephyr_module.cmake:114–142配对；根CMakeLists.txt:778–789执行。外部根为G:/zephyr_practice/modules/hal/cmsis_6；主仓接入根G:/zephyr_practice/zephyr-main/modules/cmsis_6。详细变量绑定已写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HC32 按硬件事实补 SoC，再复用既有接入</a:t>
            </a:r>
          </a:p>
          <a:p>
            <a:r>
              <a:t>本教程的 HC32 SoC 选择 CPU_CORTEX_M4，进入同一 Cortex-M 接入。厂商 hc32f4a0.h 包含 core_cm4.h；MPS2 则经 Zephyr 默认头包含它，两条入口不同。</a:t>
            </a:r>
          </a:p>
          <a:p>
            <a:r>
              <a:t>HC32厂商头:199；hc32_port/soc/xhsc/hc32f4a0/soc.h:10；MPS2 soc.h:10；modules/cmsis_6/cmsis_core_m_defaults.h:132–133。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迁移记录明确说明了 CMSIS6 的使用范围</a:t>
            </a:r>
          </a:p>
          <a:p>
            <a:r>
              <a:t>2024-12-16，west.yml 收录 cmsis_6。此时只证明可以取得这个包，还不能据此判定某块板已使用它。</a:t>
            </a:r>
          </a:p>
          <a:p>
            <a:r>
              <a:t>2025-05-14，f726cb5123e 将公共 Cortex-M 接入迁到 CMSIS6；5 月 23 日，b853f01010c 在迁移指南写明构建前须取得该模块。</a:t>
            </a:r>
          </a:p>
          <a:p>
            <a:r>
              <a:t>2025-08-05，56a446b4ee0 修正两套头同时进入 M 构建的问题。AN386 的 M4 复用公共路径，因此随之迁移，无需单独改板文件。</a:t>
            </a:r>
          </a:p>
          <a:p>
            <a:r>
              <a:t>迁移说明https://github.com/zephyrproject-rtos/zephyr/commit/f726cb5123eda12feb8746e3acb34a1f7d7b0340；分流修正https://github.com/zephyrproject-rtos/zephyr/commit/56a446b4ee04b3e8cb0a85f60e49a077a8801593。当前west.yml cmsis_6修订1c1840af7a7e757d6e2fec3ddb0e5ce0dfcc93c8。
Git CommitDate。清单初次收录f930d973794214d722d5d1ed04c5c5099b4c6e92；迁移文档b853f01010cb7b15c8a808d037ace5cbf2d9af48。原先已有M4接口不能推出M4硬件只支持CMSIS6。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官方明确要求 Cortex-M 构建准备 CMSIS6</a:t>
            </a:r>
          </a:p>
          <a:p>
            <a:r>
              <a:t>先假定手中只有官方 Zephyr 主仓。随仓的 4.2 迁移说明明确要求：Cortex-M 板和 SoC 构建需要 CMSIS6，构建前应执行 west update 取得模块。</a:t>
            </a:r>
          </a:p>
          <a:p>
            <a:r>
              <a:t>原文在 doc/releases/migration-guide-4.2.rst 的 CMSIS 小节。该文档随主仓提供，下载外部包之前即可查到要求。</a:t>
            </a:r>
          </a:p>
          <a:p>
            <a:r>
              <a:t>接下来确认 AN386 属于 Cortex-M，并查看当前 CMake 是否落实此规则；再用 west.yml 得到项目名、修订和路径，执行对应下载。</a:t>
            </a:r>
          </a:p>
          <a:p>
            <a:r>
              <a:t>直接依据：G:/zephyr_practice/zephyr-main/doc/releases/migration-guide-4.2.rst:793–805。https://github.com/zephyrproject-rtos/zephyr/blob/25c8f4a23988dd3b2cfb463613622738298c2d6c/doc/releases/migration-guide-4.2.rst#L793-L805。doc/develop/getting_started/index.rst:300–306区分主仓与west update所得外部模块。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roof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只取得主仓，还缺少本目标必需的 Core 头</a:t>
            </a:r>
          </a:p>
          <a:p>
            <a:r>
              <a:t>架构 CMake 明确编入 irq_manage.c，其头文件链在 M4 条件下要求 core_cm4.h。这条查询只看官方主仓跟踪的文件，本版正常结束且无输出。</a:t>
            </a:r>
          </a:p>
          <a:p>
            <a:r>
              <a:t>所需头不在主仓，而当前 Cortex-M 接入指定外部 cmsis_6 提供它。因此首次只有主仓时必须取得该包；这项判断不依赖本机已下载的目录。</a:t>
            </a:r>
          </a:p>
          <a:p>
            <a:r>
              <a:t>arch/arm/core/CMakeLists.txt:38；arch/arm/core/cortex_m/CMakeLists.txt:22–34；irq_manage.c:19；MPS2 soc.h:10；modules/cmsis_6/cmsis_core_m_defaults.h:132–133；doc/develop/modules.rst:816–827说明主仓modules为外部模块接入。完整查询commands/P004_Windows/prove-cmsis-required.txt。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el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9.xml"/><Relationship Id="rIdModelNotes" Type="http://schemas.openxmlformats.org/officeDocument/2006/relationships/notesSlide" Target="../notesSlides/model1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3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4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4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5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5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8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8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0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1.xml.rels><?xml version='1.0' encoding='UTF-8' standalone='yes'?>
<Relationships xmlns="http://schemas.openxmlformats.org/package/2006/relationships"><Relationship Id="rId3" Type="http://schemas.openxmlformats.org/officeDocument/2006/relationships/hyperlink" Target="../../west/&#22823;&#32434;.md" TargetMode="External"/><Relationship Id="rId4" Type="http://schemas.openxmlformats.org/officeDocument/2006/relationships/image" Target="../media/P004_image4.png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1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2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3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init-or-reuse-west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4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5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list-west-projects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5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query-cmsis-project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6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7.xml.rels><?xml version='1.0' encoding='UTF-8' standalone='yes'?>
<Relationships xmlns="http://schemas.openxmlformats.org/package/2006/relationships"><Relationship Id="rId3" Type="http://schemas.openxmlformats.org/officeDocument/2006/relationships/hyperlink" Target="../P004_CMSIS&#36873;&#25321;&#19982;&#19979;&#36733;_Windows.md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7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8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download-cmsis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8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19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19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0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1.xml.rels><?xml version='1.0' encoding='UTF-8' standalone='yes'?>
<Relationships xmlns="http://schemas.openxmlformats.org/package/2006/relationships"><Relationship Id="rId3" Type="http://schemas.openxmlformats.org/officeDocument/2006/relationships/hyperlink" Target="../P004_CMSIS&#36873;&#25321;&#19982;&#19979;&#36733;_Windows.md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1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2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zephyrproject-rtos/zephyr/discussions/48837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2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3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select-ucrt-git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3.xml"/><Relationship Id="rIdModelReading" Type="http://schemas.openxmlformats.org/officeDocument/2006/relationships/hyperlink" Target="../P004_CMSIS&#36873;&#25321;&#19982;&#19979;&#36733;_Windows.md" TargetMode="External"/></Relationships>
</file>

<file path=ppt/slides/_rels/model2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retry-cmsis-update.txt" TargetMode="External"/><Relationship Id="rIdModelLayout" Type="http://schemas.openxmlformats.org/officeDocument/2006/relationships/slideLayout" Target="../slideLayouts/slideLayout48.xml"/><Relationship Id="rIdModelNotes" Type="http://schemas.openxmlformats.org/officeDocument/2006/relationships/notesSlide" Target="../notesSlides/model24.xml"/><Relationship Id="rIdModelReading" Type="http://schemas.openxmlformats.org/officeDocument/2006/relationships/hyperlink" Target="../P004_CMSIS&#36873;&#25321;&#19982;&#19979;&#36733;_Windows.md" TargetMode="External"/></Relationships>
</file>

<file path=ppt/slides/_rels/proof1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1.xml"/><Relationship Id="rReading" Type="http://schemas.openxmlformats.org/officeDocument/2006/relationships/hyperlink" Target="../P004_CMSIS&#36873;&#25321;&#19982;&#19979;&#36733;_Windows.md" TargetMode="External"/></Relationships>
</file>

<file path=ppt/slides/_rels/proof2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2.xml"/><Relationship Id="rReading" Type="http://schemas.openxmlformats.org/officeDocument/2006/relationships/hyperlink" Target="../P004_CMSIS&#36873;&#25321;&#19982;&#19979;&#36733;_Windows.md" TargetMode="External"/></Relationships>
</file>

<file path=ppt/slides/_rels/proof3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3.xml"/><Relationship Id="rReading" Type="http://schemas.openxmlformats.org/officeDocument/2006/relationships/hyperlink" Target="../P004_CMSIS&#36873;&#25321;&#19982;&#19979;&#36733;_Windows.md" TargetMode="External"/></Relationships>
</file>

<file path=ppt/slides/_rels/proof4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4.xml"/><Relationship Id="rReading" Type="http://schemas.openxmlformats.org/officeDocument/2006/relationships/hyperlink" Target="../P004_CMSIS&#36873;&#25321;&#19982;&#19979;&#36733;_Windows.md" TargetMode="External"/></Relationships>
</file>

<file path=ppt/slides/_rels/proof5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5.xml"/><Relationship Id="rReading" Type="http://schemas.openxmlformats.org/officeDocument/2006/relationships/hyperlink" Target="../P004_CMSIS&#36873;&#25321;&#19982;&#19979;&#36733;_Windows.md" TargetMode="External"/></Relationships>
</file>

<file path=ppt/slides/_rels/proof6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6.xml"/><Relationship Id="rReading" Type="http://schemas.openxmlformats.org/officeDocument/2006/relationships/hyperlink" Target="../P004_CMSIS&#36873;&#25321;&#19982;&#19979;&#36733;_Windows.md" TargetMode="External"/></Relationships>
</file>

<file path=ppt/slides/_rels/proof7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7.xml"/><Relationship Id="rReading" Type="http://schemas.openxmlformats.org/officeDocument/2006/relationships/hyperlink" Target="../P004_CMSIS&#36873;&#25321;&#19982;&#19979;&#36733;_Windows.md" TargetMode="External"/></Relationships>
</file>

<file path=ppt/slides/_rels/proof8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8.xml"/><Relationship Id="rReading" Type="http://schemas.openxmlformats.org/officeDocument/2006/relationships/hyperlink" Target="../P004_CMSIS&#36873;&#25321;&#19982;&#19979;&#36733;_Windows.md" TargetMode="External"/></Relationships>
</file>

<file path=ppt/slides/_rels/proof9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48.xml"/><Relationship Id="rNotes" Type="http://schemas.openxmlformats.org/officeDocument/2006/relationships/notesSlide" Target="../notesSlides/proof9.xml"/><Relationship Id="rReading" Type="http://schemas.openxmlformats.org/officeDocument/2006/relationships/hyperlink" Target="../P004_CMSIS&#36873;&#25321;&#19982;&#19979;&#36733;_Windows.md" TargetMode="External"/></Relationships>
</file>

<file path=ppt/slides/model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P004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CMSIS-Core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选择与下载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5" name="Presenter lizhaojun"/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</p:cSld>
  <p:clrMapOvr>
    <a:masterClrMapping/>
  </p:clrMapOvr>
</p:sld>
</file>

<file path=ppt/slides/model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先确定 CMSIS-Core 需求，再取得配套源码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P004 · CMSIS 需求、来源与下载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已知产品芯片后，先查询仓库的 SoC 支持；沿 CPU 配置、Core 接入 CMake 和头文件消费关系确定所需模块，再查清单中的来源与修订。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沿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工作区核对、清单查询、下载与文件校验推进。已有目录和工具先复用，Git 参数兼容故障就在对应操作旁解释。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P005 再解释官方工程的配置和驱动模型。理解源码怎样被选入后，P006 才准备 HC32 的 DDL 并接入外部模块。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ModelReading"/>
              </a:rPr>
              <a:t>完整解释与操作：配套 Markdown P004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CMSIS、HAL 与 SDK 的职责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graphicFrame>
        <p:nvGraphicFramePr>
          <p:cNvPr id="4" name="表格 2"/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提供的内容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本期怎么选择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</a:t>
                      </a: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、NVIC、内核接口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Zephyr 接入与清单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HAL /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设备头、GPIO / USART / 时钟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完整型号 + 适配实际调用的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Arm 固件的编译链接工具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源码版本 + Windows x64 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7734F99-C782-4727-92AE-F2459895EE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已有目标的依赖从哪里查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09600" y="21907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是 Arm FPGA 平台；AN386 是 Cortex-M4F 配置，目标写作 mps2/an386。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主仓的 board/SoC/ARM 架构与驱动承担硬件支持；CMSIS Core 来自外部模块。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</a:t>
            </a: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锁定 CMSIS_6；清单不是按 </a:t>
            </a:r>
            <a:r>
              <a:rPr sz="22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自动算出的单板依赖表。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也有厂商 BSP/Pack；本次 Zephyr 采用树内实现，不消费该 Pack。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A84C04B-C934-4461-825D-C5CEBD9E711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拿到芯片型号，先查仓库有没有对应支持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P004 · CMSIS 需求、来源与下载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先在 soc/ 的 </a:t>
            </a:r>
            <a:r>
              <a:rPr>
                <a:solidFill>
                  <a:srgbClr val="0070C0"/>
                </a:solidFill>
                <a:ea typeface="Microsoft YaHei"/>
              </a:rPr>
              <a:t>soc.yml</a:t>
            </a:r>
            <a:r>
              <a:t> 与 Kconfig 中查产品芯片或系列，再到 boards/ 查采用它的板。AN386 是 MPS2 的 Cortex-M4F FPGA 配置，这里用它示范一条已有支持的链。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311277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本版可找到 MPS2 的 SoC 和板目录，板声明选择 </a:t>
            </a:r>
            <a:r>
              <a:rPr>
                <a:solidFill>
                  <a:srgbClr val="0070C0"/>
                </a:solidFill>
                <a:ea typeface="Microsoft YaHei"/>
              </a:rPr>
              <a:t>SOC_AN386</a:t>
            </a:r>
            <a:r>
              <a:t>。官方根查不到 HC32F4A0PITB，说明需要补适配，不能拿另一块 M4 板代替。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配套操作先运行 list_hardware.py、list_boards.py 并搜索 SoC/CPU 声明；这些查询不要求先成功编译。接下来沿源码找依赖，而不是根据板名猜包。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最终由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 提供 Cortex-M4 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P004 · CMSIS 需求、来源与下载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</a:t>
            </a:r>
            <a:r>
              <a:rPr>
                <a:solidFill>
                  <a:srgbClr val="0070C0"/>
                </a:solidFill>
                <a:ea typeface="Microsoft YaHei"/>
              </a:rPr>
              <a:t>modules/cmsis_6/cmsis_core_m_defaults.h</a:t>
            </a:r>
            <a:r>
              <a:t> 节选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#elif defined(CONFIG_CPU_CORTEX_M4)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#include &lt;core_cm4.h&gt;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下列路径相对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</a:t>
            </a:r>
            <a:r>
              <a:t> 工作区根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modules/hal/cmsis_6/CMSIS/Core/Include/core_cm4.h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 </a:t>
            </a:r>
            <a:r>
              <a:rPr>
                <a:solidFill>
                  <a:srgbClr val="0070C0"/>
                </a:solidFill>
                <a:ea typeface="Microsoft YaHei"/>
              </a:rPr>
              <a:t>soc.h</a:t>
            </a:r>
            <a:r>
              <a:t> 引入 </a:t>
            </a:r>
            <a:r>
              <a:rPr>
                <a:solidFill>
                  <a:srgbClr val="0070C0"/>
                </a:solidFill>
                <a:ea typeface="Microsoft YaHei"/>
              </a:rPr>
              <a:t>cmsis_core_m_defaults.h</a:t>
            </a:r>
            <a:r>
              <a:t>；该头根据 </a:t>
            </a:r>
            <a:r>
              <a:rPr>
                <a:solidFill>
                  <a:srgbClr val="B84E00"/>
                </a:solidFill>
                <a:ea typeface="Microsoft YaHei"/>
              </a:rPr>
              <a:t>CONFIG_CPU_CORTEX_M4</a:t>
            </a:r>
            <a:r>
              <a:t> 包含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。后者实际位于外部模块的 CMSIS/Core/Include。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50223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本版 mps2/an386 的 hello_world 实际需要这个 Core 头。下面继续检查：刚取得的主仓是否提供它，以及该由哪个外部包补齐。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这是官方清单原文，不是新建文件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646173"/>
                </a:solidFill>
                <a:latin typeface="Consolas"/>
                <a:ea typeface="Microsoft YaHei"/>
                <a:cs typeface="Consolas"/>
              </a:rPr>
              <a:t># 只读摘录，不是需要执行或写入的内容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-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name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: cmsis_6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repo-path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: CMSIS_6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revision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: 1c1840af7a7e757d6e2fec3ddb0e5ce0dfcc93c8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path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: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modules/hal/cmsis_6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4048125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保留整个官方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。下面只摘出它已有的 cmsis_6 条目，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不能用这几行覆盖原文件，也不需要另存一份同名清单。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0433964-302C-4D35-970A-5E13CCE6CE9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本期使用原清单，west 实验另有专题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523875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当前任务：取得与这份 Zephyr 源码配套的 CMSIS。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读取官方清单后，让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按指定版本下载。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清单给出仓库和版本；设备树、Kconfig 与 CMake 决定当前功能采用什么。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练习清单留在独立实验中，不搬来替换 Zephyr 的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West topic link"/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  <a:hlinkClick r:id="rId3"/>
              </a:rPr>
              <a:t>west</a:t>
            </a: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 实验专题：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learning/west/</a:t>
            </a: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大纲.md</a:t>
            </a:r>
          </a:p>
        </p:txBody>
      </p:sp>
      <p:pic>
        <p:nvPicPr>
          <p:cNvPr id="6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952625"/>
            <a:ext cx="5334000" cy="2883693"/>
          </a:xfrm>
          <a:prstGeom prst="rect">
            <a:avLst/>
          </a:prstGeom>
        </p:spPr>
      </p:pic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8610368-5C2E-4F99-8275-4B19D603357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同名 CMSIS，来源未必相同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graphicFrame>
        <p:nvGraphicFramePr>
          <p:cNvPr id="4" name="表格 2"/>
          <p:cNvGraphicFramePr/>
          <p:nvPr/>
        </p:nvGraphicFramePr>
        <p:xfrm>
          <a:off x="628650" y="1671976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本次判断依据</a:t>
                      </a:r>
                      <a:endParaRPr sz="1800" b="1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上游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提供通用内核接口，不能直接猜其版本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厂商例程附带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服务该例程；不自动与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Zephyr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清单指定的 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本次下载对象，按仓库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URL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和完整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revision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hal_xhsc 中的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HC32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芯片与适配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API；不是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Core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替代品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"/>
          <p:cNvSpPr>
            <a:spLocks noGrp="1"/>
          </p:cNvSpPr>
          <p:nvPr/>
        </p:nvSpPr>
        <p:spPr>
          <a:xfrm>
            <a:off x="609600" y="4954083"/>
            <a:ext cx="10972800" cy="970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 Zephyr 所选 Core；厂商设备头与 DDL 另查接口兼容，不能靠同名文件互相覆盖。</a:t>
            </a:r>
            <a:endParaRPr sz="20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B67B88E-2284-4BE8-9716-712C66867F3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通用 Core 与芯片设备头分别从哪里来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885950"/>
          <a:ext cx="10972800" cy="2743200"/>
        </p:xfrm>
        <a:graphic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本系列的来源与用途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 通用文件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清单指定 CMSIS_6，提供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芯片设备头与 system 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分支取自 hal_xhsc；MPS2 的 SoC 文件已在主仓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SoC 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已内置；P012 才补 HC32 缺失的 SoC、板和驱动连接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7529E15-1285-45A4-AFE1-55664C5F10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已有工作区直接复用，不重复 init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3251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646173"/>
                </a:solidFill>
                <a:latin typeface="Consolas"/>
                <a:ea typeface="Microsoft YaHei"/>
                <a:cs typeface="Consolas"/>
              </a:rPr>
              <a:t># Windows UCRT64；仍在实验源码根，.venv 已激活；复用官方原有 west.yml。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cd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-f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west.yml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&amp;&amp;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if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 topdir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&gt;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/dev/null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2&gt;&amp;1;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then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printf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'已有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工作区，复用现有配置。\n'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 init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-l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fi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 topdir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 config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manifest.path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west config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72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manifest.file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5181600"/>
            <a:ext cx="10972800" cy="81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预期依次是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、zephyr-main、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already initialized 表示已建立；不删除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，也不重建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Command file link"/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P004_Windows/init-or-reuse-west.txt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8367058-3351-403A-A011-1365D9CF8CB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工作区能下载哪些源码包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2505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UCRT64；已选好原生 Git，并核对当前 west 工作区。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topdir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manifest</a:t>
            </a:r>
            <a:r>
              <a:t> </a:t>
            </a:r>
            <a:r>
              <a:rPr>
                <a:solidFill>
                  <a:srgbClr val="B84E00"/>
                </a:solidFill>
                <a:ea typeface="Microsoft YaHei"/>
              </a:rPr>
              <a:t>--path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-f '{name} | {path}'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</a:t>
            </a:r>
            <a:r>
              <a:rPr>
                <a:solidFill>
                  <a:srgbClr val="B84E00"/>
                </a:solidFill>
                <a:ea typeface="Microsoft YaHei"/>
              </a:rPr>
              <a:t>--all</a:t>
            </a:r>
            <a:r>
              <a:t> -f '{name} | {active} | {groups}'</a:t>
            </a:r>
          </a:p>
        </p:txBody>
      </p:sp>
      <p:sp>
        <p:nvSpPr>
          <p:cNvPr id="5" name="Result and interpretation"/>
          <p:cNvSpPr>
            <a:spLocks noGrp="1"/>
          </p:cNvSpPr>
          <p:nvPr/>
        </p:nvSpPr>
        <p:spPr>
          <a:xfrm>
            <a:off x="609600" y="4524375"/>
            <a:ext cx="10972800" cy="1219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默认列出活动项目；</a:t>
            </a:r>
            <a:r>
              <a:rPr>
                <a:solidFill>
                  <a:srgbClr val="B84E00"/>
                </a:solidFill>
                <a:ea typeface="Microsoft YaHei"/>
              </a:rPr>
              <a:t>--all</a:t>
            </a:r>
            <a:r>
              <a:t> 也列出被分组停用的项目。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manifest 是保存清单的主仓。列表描述下载管理范围，不等于固件已支持。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本例清单位于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G:/zephyr_practice/zephyr-main/west.yml</a:t>
            </a:r>
            <a:r>
              <a:t>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6CF8A69-5BD3-4EA1-AB6A-708D224AE91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完整列表查询：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P004_Windows/list-west-projects.txt</a:t>
            </a:r>
          </a:p>
        </p:txBody>
      </p:sp>
    </p:spTree>
  </p:cSld>
  <p:clrMapOvr>
    <a:masterClrMapping/>
  </p:clrMapOvr>
</p:sld>
</file>

<file path=ppt/slides/model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当前 CMSIS 项目名由清单确定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1743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UCRT64；主线源码根；只读查询，不下载。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cmsis_6 -f '{name} | {url} | {revision} | {abspath}'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rPr>
                <a:solidFill>
                  <a:srgbClr val="29263B"/>
                </a:solidFill>
                <a:ea typeface="Microsoft YaHei"/>
              </a:rPr>
              <a:t> list --all -f '{name}' | grep -x 'cmsis_6'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先读接入规则确定需求，再按清单项目名查询</a:t>
            </a:r>
          </a:p>
        </p:txBody>
      </p:sp>
      <p:sp>
        <p:nvSpPr>
          <p:cNvPr id="5" name="Result and interpretation"/>
          <p:cNvSpPr>
            <a:spLocks noGrp="1"/>
          </p:cNvSpPr>
          <p:nvPr/>
        </p:nvSpPr>
        <p:spPr>
          <a:xfrm>
            <a:off x="609600" y="3800475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cmsis_6：显示仓库 URL、固定 revision 与实际下载目录。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精确匹配 cmsis_6，可确认本版清单声明了这个项目。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前提是全表查询成功；查询失败不能解释为空清单。</a:t>
            </a:r>
          </a:p>
        </p:txBody>
      </p:sp>
      <p:sp>
        <p:nvSpPr>
          <p:cNvPr id="6" name="Action"/>
          <p:cNvSpPr>
            <a:spLocks noGrp="1"/>
          </p:cNvSpPr>
          <p:nvPr/>
        </p:nvSpPr>
        <p:spPr>
          <a:xfrm>
            <a:off x="609600" y="52197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已声明项目可用 </a:t>
            </a:r>
            <a:r>
              <a:rPr>
                <a:solidFill>
                  <a:srgbClr val="A02B93"/>
                </a:solidFill>
                <a:ea typeface="Microsoft YaHei"/>
              </a:rPr>
              <a:t>west update</a:t>
            </a:r>
            <a:r>
              <a:t> 项目名；显式指定时可更新停用项目。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HC32 的外部 HAL 来源与接入在 P006 沿实际适配说明。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E3658A-AC9C-4DA1-9DF3-5A520CF02E3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完整项目查询：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P004_Windows/query-cmsis-project.txt</a:t>
            </a:r>
          </a:p>
        </p:txBody>
      </p:sp>
    </p:spTree>
  </p:cSld>
  <p:clrMapOvr>
    <a:masterClrMapping/>
  </p:clrMapOvr>
</p:sld>
</file>

<file path=ppt/slides/model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仓库、下载清单与芯片支持分别在哪里查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809750"/>
          <a:ext cx="10972800" cy="3257550"/>
        </p:xfrm>
        <a:graphic>
          <a:graphicData uri="http://schemas.openxmlformats.org/drawingml/2006/table">
            <a:tbl>
              <a:tblPr/>
              <a:tblGrid>
                <a:gridCol w="2428875"/>
                <a:gridCol w="4257675"/>
                <a:gridCol w="4286250"/>
              </a:tblGrid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要确认的事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查看位置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能得到的结论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有源码可获取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组织仓库、README、固定修订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仓库存在，不能推出清单已收录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能按名下载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list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--all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；展开 imports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当前版本声明的项目和下载参数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构建能接入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、外置接入规则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候选模块怎样交给 CMake / Kconfig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板、芯片、外设可用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 / soc / drivers、板文档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核对目标和实现，再看实际验证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sult and interpretation"/>
          <p:cNvSpPr>
            <a:spLocks noGrp="1"/>
          </p:cNvSpPr>
          <p:nvPr/>
        </p:nvSpPr>
        <p:spPr>
          <a:xfrm>
            <a:off x="609600" y="5324475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主仓 </a:t>
            </a:r>
            <a:r>
              <a:rPr>
                <a:solidFill>
                  <a:srgbClr val="0070C0"/>
                </a:solidFill>
                <a:ea typeface="Microsoft YaHei"/>
              </a:rPr>
              <a:t>modules/</a:t>
            </a:r>
            <a:r>
              <a:t> 常放接入规则，不是全部可下载包的目录。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有 import 时用 </a:t>
            </a:r>
            <a:r>
              <a:rPr>
                <a:solidFill>
                  <a:srgbClr val="A02B93"/>
                </a:solidFill>
                <a:ea typeface="Microsoft YaHei"/>
              </a:rPr>
              <a:t>west manifest</a:t>
            </a:r>
            <a:r>
              <a:t> </a:t>
            </a:r>
            <a:r>
              <a:rPr>
                <a:solidFill>
                  <a:srgbClr val="B84E00"/>
                </a:solidFill>
                <a:ea typeface="Microsoft YaHei"/>
              </a:rPr>
              <a:t>--resolve</a:t>
            </a:r>
            <a:r>
              <a:t> 追踪；解析错误先按缺失项恢复。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E298BF6-707E-4EC8-A879-CFEEDC224F2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查询依据与输出解释：P004 4.2</a:t>
            </a:r>
          </a:p>
        </p:txBody>
      </p:sp>
    </p:spTree>
  </p:cSld>
  <p:clrMapOvr>
    <a:masterClrMapping/>
  </p:clrMapOvr>
</p:sld>
</file>

<file path=ppt/slides/model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按原清单下载 CMSIS，并检查关键文件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UCRT64；源码根；已确认原生 Git、工作区和 .venv。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 --version</a:t>
            </a:r>
            <a: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cmsis_6 -f '{url} {revision} {abspath}'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update</a:t>
            </a:r>
            <a:r>
              <a:t> cmsis_6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test</a:t>
            </a:r>
            <a:r>
              <a:t> -f </a:t>
            </a:r>
            <a:r>
              <a:rPr>
                <a:solidFill>
                  <a:srgbClr val="0070C0"/>
                </a:solidFill>
                <a:ea typeface="Microsoft YaHei"/>
              </a:rPr>
              <a:t>../modules/hal/cmsis_6/zephyr/module.yml</a:t>
            </a:r>
            <a: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test</a:t>
            </a:r>
            <a:r>
              <a:t> -f </a:t>
            </a:r>
            <a:r>
              <a:rPr>
                <a:solidFill>
                  <a:srgbClr val="0070C0"/>
                </a:solidFill>
                <a:ea typeface="Microsoft YaHei"/>
              </a:rPr>
              <a:t>../modules/hal/cmsis_6/CMSIS/Core/Include/core_cm4.h</a:t>
            </a:r>
            <a: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printf</a:t>
            </a:r>
            <a:r>
              <a:t> 'CMSIS 下载完成，模块入口与 Cortex-M4 Core 头文件均存在。\n'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只有最后输出“CMSIS 下载完成”才继续；任一检查失败，后续命令停止。</a:t>
            </a:r>
          </a:p>
        </p:txBody>
      </p:sp>
      <p:sp>
        <p:nvSpPr>
          <p:cNvPr id="6" name="Command file link"/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P004_Windows/download-cmsis.txt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7B71BBB-05C0-4B2F-9DF9-839BDD7D9E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下载物在源码旁，接入规则在源码内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885949"/>
          <a:ext cx="10972800" cy="3781425"/>
        </p:xfrm>
        <a:graphic>
          <a:graphicData uri="http://schemas.openxmlformats.org/drawingml/2006/table">
            <a:tbl>
              <a:tblPr/>
              <a:tblGrid>
                <a:gridCol w="5487845"/>
                <a:gridCol w="5484955"/>
              </a:tblGrid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相对于 </a:t>
                      </a:r>
                      <a:r>
                        <a:rPr sz="1800" b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G:/zephyr_practice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来源与作用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</a:t>
                      </a:r>
                      <a:r>
                        <a:rPr sz="1800" b="0" dirty="0" err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官方原有：指定模块来源与修订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zephyr-main/modules/cmsis_6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官方原有：Zephyr 的 CMSIS 构建接入规则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</a:t>
                      </a:r>
                      <a:r>
                        <a:rPr sz="1800" b="0" dirty="0" err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下载：实际 CMSIS 外部源码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./modules/</a:t>
                      </a:r>
                      <a:r>
                        <a:rPr lang="en-US" sz="1800" b="0" dirty="0" err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lang="en-US"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/cmsis_6/zephyr/</a:t>
                      </a:r>
                      <a:r>
                        <a:rPr lang="en-US" sz="1800" b="0" dirty="0" err="1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、Core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头文件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下载模块自带；不新建，不覆盖源码内的规则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317F7BB-7A30-4B5E-8B92-3D43D0E7BF0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“安装 CMSIS”就是准备源码依赖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P004 · CMSIS 需求、来源与下载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CMSIS-Core 没有安装向导，不放进 SDK 或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已把整份模块放在当前工作区，保留原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同一工作区的 Zephyr 配置可发现 CMSIS；MPS2 此时即可进入 P005。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此时只准备好文件，还没有编译、启动或移植新芯片。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DDF2910-ADFC-4BB8-B673-81CE787132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更新失败时的花括号线索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sp>
        <p:nvSpPr>
          <p:cNvPr id="4" name="Error label"/>
          <p:cNvSpPr>
            <a:spLocks noGrp="1"/>
          </p:cNvSpPr>
          <p:nvPr/>
        </p:nvSpPr>
        <p:spPr>
          <a:xfrm>
            <a:off x="609600" y="176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本案例错误输出</a:t>
            </a:r>
          </a:p>
        </p:txBody>
      </p:sp>
      <p:sp>
        <p:nvSpPr>
          <p:cNvPr id="5" name="Error output"/>
          <p:cNvSpPr>
            <a:spLocks noGrp="1"/>
          </p:cNvSpPr>
          <p:nvPr/>
        </p:nvSpPr>
        <p:spPr>
          <a:xfrm>
            <a:off x="609600" y="2314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fatal: 1c1840af7a7e757d6e2fec3ddb0e5ce0dfcc93c8</a:t>
            </a:r>
            <a:r>
              <a:rPr>
                <a:solidFill>
                  <a:srgbClr val="B84E00"/>
                </a:solidFill>
                <a:ea typeface="Microsoft YaHei"/>
              </a:rPr>
              <a:t>^commit</a:t>
            </a:r>
            <a:r>
              <a:t>: not a valid SHA1</a:t>
            </a:r>
          </a:p>
        </p:txBody>
      </p:sp>
      <p:sp>
        <p:nvSpPr>
          <p:cNvPr id="6" name="Revision explanation"/>
          <p:cNvSpPr>
            <a:spLocks noGrp="1"/>
          </p:cNvSpPr>
          <p:nvPr/>
        </p:nvSpPr>
        <p:spPr>
          <a:xfrm>
            <a:off x="609600" y="32194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预期后缀：</a:t>
            </a:r>
            <a:r>
              <a:rPr>
                <a:solidFill>
                  <a:srgbClr val="B84E00"/>
                </a:solidFill>
                <a:ea typeface="Microsoft YaHei"/>
              </a:rPr>
              <a:t>^{commit}</a:t>
            </a:r>
            <a:r>
              <a:t>      错误中的后缀：</a:t>
            </a:r>
            <a:r>
              <a:rPr>
                <a:solidFill>
                  <a:srgbClr val="B84E00"/>
                </a:solidFill>
                <a:ea typeface="Microsoft YaHei"/>
              </a:rPr>
              <a:t>^commit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^{commit}</a:t>
            </a:r>
            <a:r>
              <a:t> 要求把对象解析为 commit 类型，花括号属于 Git 语法。</a:t>
            </a:r>
          </a:p>
        </p:txBody>
      </p:sp>
      <p:sp>
        <p:nvSpPr>
          <p:cNvPr id="7" name="Result and interpretation"/>
          <p:cNvSpPr>
            <a:spLocks noGrp="1"/>
          </p:cNvSpPr>
          <p:nvPr/>
        </p:nvSpPr>
        <p:spPr>
          <a:xfrm>
            <a:off x="609600" y="4667250"/>
            <a:ext cx="109728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最可能原因：Windows Python 与 </a:t>
            </a:r>
            <a:r>
              <a:rPr>
                <a:solidFill>
                  <a:srgbClr val="0070C0"/>
                </a:solidFill>
                <a:ea typeface="Microsoft YaHei"/>
              </a:rPr>
              <a:t>/usr/bin/git</a:t>
            </a:r>
            <a:r>
              <a:t> 混用的调用兼容问题。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已知更换 Git 后恢复；花括号在哪一层消失仍未通过进程跟踪定位。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9A7777B-2758-4EC1-93C9-8E4A7200B30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完整证据与来源：P004 4.4</a:t>
            </a:r>
          </a:p>
        </p:txBody>
      </p:sp>
    </p:spTree>
  </p:cSld>
  <p:clrMapOvr>
    <a:masterClrMapping/>
  </p:clrMapOvr>
</p:sld>
</file>

<file path=ppt/slides/model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对象检查通过，仍可能在引用更新时失败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809750"/>
          <a:ext cx="10972800" cy="2914650"/>
        </p:xfrm>
        <a:graphic>
          <a:graphicData uri="http://schemas.openxmlformats.org/drawingml/2006/table">
            <a:tbl>
              <a:tblPr/>
              <a:tblGrid>
                <a:gridCol w="4429125"/>
                <a:gridCol w="1619250"/>
                <a:gridCol w="4924425"/>
              </a:tblGrid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调用方式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记录中的结果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证据范围</a:t>
                      </a:r>
                    </a:p>
                  </a:txBody>
                  <a:tcPr marL="91440" marR="91440" marT="45720" marB="45720">
                    <a:solidFill>
                      <a:srgbClr val="EDE7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 调用 MSYS2 Git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cat-file / rev-parse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对应测试下对象存在、可解析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Python /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/usr/bin/git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错误中的后缀变为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^commit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Python /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/ucrt64/bin/git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Zephyr、清单、CMSIS 提交未改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sult and interpretation"/>
          <p:cNvSpPr>
            <a:spLocks noGrp="1"/>
          </p:cNvSpPr>
          <p:nvPr/>
        </p:nvSpPr>
        <p:spPr>
          <a:xfrm>
            <a:off x="609600" y="503872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还会执行 update-ref，移动 </a:t>
            </a:r>
            <a:r>
              <a:rPr>
                <a:solidFill>
                  <a:srgbClr val="0070C0"/>
                </a:solidFill>
                <a:ea typeface="Microsoft YaHei"/>
              </a:rPr>
              <a:t>refs/heads/manifest-rev</a:t>
            </a:r>
            <a:r>
              <a:t>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直接查询成功不覆盖此阶段，也没有复现 Python 启动 Git 的边界。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002323E-5460-4BA0-8CDB-00DB2ECE010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同类案例：Zephyr 官方仓库讨论 #48837</a:t>
            </a:r>
          </a:p>
        </p:txBody>
      </p:sp>
    </p:spTree>
  </p:cSld>
  <p:clrMapOvr>
    <a:masterClrMapping/>
  </p:clrMapOvr>
</p:sld>
</file>

<file path=ppt/slides/model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UCRT64 中选择 Windows 原生 Git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7621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/ucrt64/bin/git</a:t>
            </a:r>
            <a:r>
              <a:t> 是 Windows 原生构建；</a:t>
            </a:r>
            <a:r>
              <a:rPr>
                <a:solidFill>
                  <a:srgbClr val="0070C0"/>
                </a:solidFill>
                <a:ea typeface="Microsoft YaHei"/>
              </a:rPr>
              <a:t>/usr/bin/git</a:t>
            </a:r>
            <a:r>
              <a:t> 依赖 MSYS2 运行时。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仅缺少原生 Git 时安装：</a:t>
            </a:r>
            <a:r>
              <a:rPr>
                <a:solidFill>
                  <a:srgbClr val="A02B93"/>
                </a:solidFill>
                <a:ea typeface="Microsoft YaHei"/>
              </a:rPr>
              <a:t>pacman</a:t>
            </a:r>
            <a:r>
              <a:t> -S </a:t>
            </a:r>
            <a:r>
              <a:rPr>
                <a:solidFill>
                  <a:srgbClr val="B84E00"/>
                </a:solidFill>
                <a:ea typeface="Microsoft YaHei"/>
              </a:rPr>
              <a:t>--needed</a:t>
            </a:r>
            <a:r>
              <a:t> mingw-w64-ucrt-x86_64-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</p:txBody>
      </p:sp>
      <p:sp>
        <p:nvSpPr>
          <p:cNvPr id="5" name="Copyable command"/>
          <p:cNvSpPr>
            <a:spLocks noGrp="1"/>
          </p:cNvSpPr>
          <p:nvPr/>
        </p:nvSpPr>
        <p:spPr>
          <a:xfrm>
            <a:off x="609600" y="300037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UCRT64；仅当前窗口选错 Git 时执行；先确认 /ucrt64/bin/git.exe 已存在。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test</a:t>
            </a:r>
            <a:r>
              <a:t> -x </a:t>
            </a:r>
            <a:r>
              <a:rPr>
                <a:solidFill>
                  <a:srgbClr val="0070C0"/>
                </a:solidFill>
                <a:ea typeface="Microsoft YaHei"/>
              </a:rPr>
              <a:t>/ucrt64/bin/git.exe</a:t>
            </a:r>
            <a:r>
              <a:t> &amp;&amp; </a:t>
            </a:r>
            <a:r>
              <a:rPr>
                <a:solidFill>
                  <a:srgbClr val="A02B93"/>
                </a:solidFill>
                <a:ea typeface="Microsoft YaHei"/>
              </a:rPr>
              <a:t>export</a:t>
            </a:r>
            <a:r>
              <a:t> </a:t>
            </a:r>
            <a:r>
              <a:rPr>
                <a:solidFill>
                  <a:srgbClr val="B84E00"/>
                </a:solidFill>
                <a:ea typeface="Microsoft YaHei"/>
              </a:rPr>
              <a:t>PATH</a:t>
            </a:r>
            <a:r>
              <a:t>="</a:t>
            </a:r>
            <a:r>
              <a:rPr>
                <a:solidFill>
                  <a:srgbClr val="0070C0"/>
                </a:solidFill>
                <a:ea typeface="Microsoft YaHei"/>
              </a:rPr>
              <a:t>/ucrt64/bin:$PATH</a:t>
            </a:r>
            <a:r>
              <a:t>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hash</a:t>
            </a:r>
            <a:r>
              <a:t> -r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python</a:t>
            </a:r>
            <a:r>
              <a:t> -c "import shutil; print(shutil.which('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'))"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 --version</a:t>
            </a:r>
          </a:p>
        </p:txBody>
      </p:sp>
      <p:sp>
        <p:nvSpPr>
          <p:cNvPr id="6" name="Result and interpretation"/>
          <p:cNvSpPr>
            <a:spLocks noGrp="1"/>
          </p:cNvSpPr>
          <p:nvPr/>
        </p:nvSpPr>
        <p:spPr>
          <a:xfrm>
            <a:off x="609600" y="5095875"/>
            <a:ext cx="1097280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输出须落在 MSYS2 安装目录的 ucrt64/bin/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.exe。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PATH</a:t>
            </a:r>
            <a:r>
              <a:t> 仅影响本窗口及其子进程，重开后复查；Git for Windows 为备选。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F7739C4-043E-489D-BE9C-B6990EC27B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完整选择命令：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P004_Windows/select-ucrt-git.txt</a:t>
            </a:r>
          </a:p>
        </p:txBody>
      </p:sp>
    </p:spTree>
  </p:cSld>
  <p:clrMapOvr>
    <a:masterClrMapping/>
  </p:clrMapOvr>
</p:sld>
</file>

<file path=ppt/slides/model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重试同一清单并核对实际提交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· CMSIS 需求、来源与下载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2400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UCRT64；已确认原生 Git、正确工作区，模块本地修改已保存。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-v update</a:t>
            </a:r>
            <a:r>
              <a:t> cmsis_6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 list</a:t>
            </a:r>
            <a:r>
              <a:t> cmsis_6 -f '{revision}'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 -C ../</a:t>
            </a:r>
            <a:r>
              <a:rPr>
                <a:solidFill>
                  <a:srgbClr val="0070C0"/>
                </a:solidFill>
                <a:ea typeface="Microsoft YaHei"/>
              </a:rPr>
              <a:t>modules/</a:t>
            </a:r>
            <a:r>
              <a:t>hal/cmsis_6 rev-parse HEAD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 -C ../</a:t>
            </a:r>
            <a:r>
              <a:rPr>
                <a:solidFill>
                  <a:srgbClr val="0070C0"/>
                </a:solidFill>
                <a:ea typeface="Microsoft YaHei"/>
              </a:rPr>
              <a:t>modules/</a:t>
            </a:r>
            <a:r>
              <a:t>hal/cmsis_6 rev-parse manifest-rev</a:t>
            </a:r>
          </a:p>
        </p:txBody>
      </p:sp>
      <p:sp>
        <p:nvSpPr>
          <p:cNvPr id="5" name="Result and interpretation"/>
          <p:cNvSpPr>
            <a:spLocks noGrp="1"/>
          </p:cNvSpPr>
          <p:nvPr/>
        </p:nvSpPr>
        <p:spPr>
          <a:xfrm>
            <a:off x="609600" y="4524375"/>
            <a:ext cx="109728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成功条件：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退出码为 0，清单 revision、HEAD 与 manifest-rev 一致。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本例均为下列提交，再按本章下载检查核对 </a:t>
            </a:r>
            <a:r>
              <a:rPr>
                <a:solidFill>
                  <a:srgbClr val="0070C0"/>
                </a:solidFill>
              </a:rPr>
              <a:t>module.yml</a:t>
            </a:r>
            <a:r>
              <a:rPr>
                <a:solidFill>
                  <a:srgbClr val="29263B"/>
                </a:solidFill>
              </a:rPr>
              <a:t> 和 </a:t>
            </a:r>
            <a:r>
              <a:rPr>
                <a:solidFill>
                  <a:srgbClr val="0070C0"/>
                </a:solidFill>
              </a:rPr>
              <a:t>core_cm4.h</a:t>
            </a:r>
            <a:r>
              <a:rPr>
                <a:solidFill>
                  <a:srgbClr val="29263B"/>
                </a:solidFill>
              </a:rPr>
              <a:t>。</a:t>
            </a:r>
          </a:p>
        </p:txBody>
      </p:sp>
      <p:sp>
        <p:nvSpPr>
          <p:cNvPr id="6" name="Commit"/>
          <p:cNvSpPr>
            <a:spLocks noGrp="1"/>
          </p:cNvSpPr>
          <p:nvPr/>
        </p:nvSpPr>
        <p:spPr>
          <a:xfrm>
            <a:off x="609600" y="54768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1c1840af7a7e757d6e2fec3ddb0e5ce0dfcc93c8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06AD6CE-46B5-40FA-8FC0-105AF1E455A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完整重试命令：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P004_Windows/retry-cmsis-update.txt</a:t>
            </a:r>
          </a:p>
        </p:txBody>
      </p:sp>
    </p:spTree>
  </p:cSld>
  <p:clrMapOvr>
    <a:masterClrMapping/>
  </p:clrMapOvr>
</p:sld>
</file>

<file path=ppt/slides/proof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的 CPU、指令架构与 CMSIS 版本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/ 4.1.5 · 硬件事实、接入条件与软件版本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2971800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7429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谁确定、表示什么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429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 / Cortex-M4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小华给定的产品型号与 CPU 内核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Armv7E-M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对 Cortex-M4 指令架构的定义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429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6 / 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软件版本系列 / 本版 Zephyr 模块标识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491490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先查小华资料确定 Cortex-M4，再查当前 Zephyr 怎样为 Cortex-M 提供接口。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 / 4.1.5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CPU 配置证明需求，还没有指定 CMSIS 版本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/ 4.1.5 · 硬件事实、接入条件与软件版本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对应关系示意；不是要求执行的 Kconfig 文件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SOC_AN386</a:t>
            </a:r>
            <a:r>
              <a:t>      → </a:t>
            </a:r>
            <a:r>
              <a:rPr>
                <a:solidFill>
                  <a:srgbClr val="B84E00"/>
                </a:solidFill>
                <a:ea typeface="Microsoft YaHei"/>
              </a:rPr>
              <a:t>CPU_CORTEX_M4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CPU_CORTEX_M4</a:t>
            </a:r>
            <a:r>
              <a:t>  → </a:t>
            </a:r>
            <a:r>
              <a:rPr>
                <a:solidFill>
                  <a:srgbClr val="B84E00"/>
                </a:solidFill>
                <a:ea typeface="Microsoft YaHei"/>
              </a:rPr>
              <a:t>CPU_CORTEX_M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CPU_CORTEX_M</a:t>
            </a:r>
            <a:r>
              <a:t>   → </a:t>
            </a:r>
            <a:r>
              <a:rPr>
                <a:solidFill>
                  <a:srgbClr val="B84E00"/>
                </a:solidFill>
                <a:ea typeface="Microsoft YaHei"/>
              </a:rPr>
              <a:t>HAS_CMSIS_CORE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 select 来自 AN386、M4 和 Cortex-M 的现有 Kconfig。</a:t>
            </a:r>
            <a:r>
              <a:rPr>
                <a:solidFill>
                  <a:srgbClr val="B84E00"/>
                </a:solidFill>
                <a:ea typeface="Microsoft YaHei"/>
              </a:rPr>
              <a:t>HAS_CMSIS_CORE</a:t>
            </a:r>
            <a:r>
              <a:t> 表达 Core 接口需求，没有指定软件版本。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3365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依据芯片资料选择 </a:t>
            </a:r>
            <a:r>
              <a:rPr>
                <a:solidFill>
                  <a:srgbClr val="B84E00"/>
                </a:solidFill>
                <a:ea typeface="Microsoft YaHei"/>
              </a:rPr>
              <a:t>CPU_CORTEX_M4</a:t>
            </a:r>
            <a:r>
              <a:t>，接入现有 Cortex-M 架构。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 / 4.1.5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未知包名时，搜索谁读取 CPU 配置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/ 4.1.5 · 硬件事实、接入条件与软件版本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UCRT64；源码根；只读查询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 xml:space="preserve">cd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grep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</a:t>
            </a:r>
            <a:r>
              <a:rPr>
                <a:solidFill>
                  <a:srgbClr val="B84E00"/>
                </a:solidFill>
                <a:ea typeface="Microsoft YaHei"/>
              </a:rPr>
              <a:t>-n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</a:t>
            </a:r>
            <a:r>
              <a:rPr>
                <a:solidFill>
                  <a:srgbClr val="B84E00"/>
                </a:solidFill>
                <a:ea typeface="Microsoft YaHei"/>
              </a:rPr>
              <a:t>-w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</a:t>
            </a:r>
            <a:r>
              <a:rPr>
                <a:solidFill>
                  <a:srgbClr val="B84E00"/>
                </a:solidFill>
                <a:ea typeface="Microsoft YaHei"/>
              </a:rPr>
              <a:t>CONFIG_CPU_CORTEX_M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--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 xml:space="preserve">  </a:t>
            </a:r>
            <a:r>
              <a:rPr>
                <a:solidFill>
                  <a:srgbClr val="0070C0"/>
                </a:solidFill>
                <a:ea typeface="Microsoft YaHei"/>
              </a:rPr>
              <a:t>modules/*/CMakeLists.txt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先用已知的 </a:t>
            </a:r>
            <a:r>
              <a:rPr>
                <a:solidFill>
                  <a:srgbClr val="B84E00"/>
                </a:solidFill>
              </a:rPr>
              <a:t>CONFIG_CPU_CORTEX_M</a:t>
            </a:r>
            <a:r>
              <a:rPr>
                <a:solidFill>
                  <a:srgbClr val="29263B"/>
                </a:solidFill>
              </a:rPr>
              <a:t> 查模块接入规则。-w 匹配完整符号，排除更长的配置符号；查询结果给出模块名 cmsis_6。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3365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本版命中 </a:t>
            </a:r>
            <a:r>
              <a:rPr>
                <a:solidFill>
                  <a:srgbClr val="0070C0"/>
                </a:solidFill>
                <a:ea typeface="Microsoft YaHei"/>
              </a:rPr>
              <a:t>modules/cmsis_6/CMakeLists.txt</a:t>
            </a:r>
            <a:r>
              <a:t> 第 4 行。还要读取它提供的头目录，并比较旧 cmsis 的条件，才能确定实际使用哪套。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 / 4.1.5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两套 CMake 条件明确区分当前使用者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/ 4.1.5 · 硬件事实、接入条件与软件版本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32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主仓 modules/cmsis_6 接入，只读节选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if(</a:t>
            </a:r>
            <a:r>
              <a:rPr>
                <a:solidFill>
                  <a:srgbClr val="B84E00"/>
                </a:solidFill>
                <a:ea typeface="Microsoft YaHei"/>
              </a:rPr>
              <a:t>CONFIG_CPU_CORTEX_M</a:t>
            </a:r>
            <a: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087B3D"/>
                </a:solidFill>
                <a:ea typeface="Microsoft YaHei"/>
              </a:rPr>
              <a:t>zephyr_include_directories</a:t>
            </a:r>
            <a:r>
              <a:t>(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${</a:t>
            </a:r>
            <a:r>
              <a:rPr>
                <a:solidFill>
                  <a:srgbClr val="B84E00"/>
                </a:solidFill>
                <a:ea typeface="Microsoft YaHei"/>
              </a:rPr>
              <a:t>ZEPHYR_CURRENT_MODULE_DIR</a:t>
            </a:r>
            <a:r>
              <a:t>}/CMSIS/Core/Include)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endif()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主仓 modules/cmsis 接入，只读节选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if(</a:t>
            </a:r>
            <a:r>
              <a:rPr>
                <a:solidFill>
                  <a:srgbClr val="B84E00"/>
                </a:solidFill>
                <a:ea typeface="Microsoft YaHei"/>
              </a:rPr>
              <a:t>CONFIG_CPU_AARCH32_CORTEX_A</a:t>
            </a:r>
            <a:r>
              <a:t> OR </a:t>
            </a:r>
            <a:r>
              <a:rPr>
                <a:solidFill>
                  <a:srgbClr val="B84E00"/>
                </a:solidFill>
                <a:ea typeface="Microsoft YaHei"/>
              </a:rPr>
              <a:t>CONFIG_CPU_AARCH32_CORTEX_R</a:t>
            </a:r>
            <a: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087B3D"/>
                </a:solidFill>
                <a:ea typeface="Microsoft YaHei"/>
              </a:rPr>
              <a:t>add_subdirectory</a:t>
            </a:r>
            <a:r>
              <a:t>(${</a:t>
            </a:r>
            <a:r>
              <a:rPr>
                <a:solidFill>
                  <a:srgbClr val="B84E00"/>
                </a:solidFill>
                <a:ea typeface="Microsoft YaHei"/>
              </a:rPr>
              <a:t>ZEPHYR_CURRENT_MODULE_DIR</a:t>
            </a:r>
            <a:r>
              <a:t>} cmsis)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endif()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51625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AN386 的 M4 满足上方条件，接入外部 Core 头；下方仅面向 Cortex-A/R。本版默认规则由此选中 cmsis_6。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 / 4.1.5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模块声明把外部源码绑定到主仓接入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4.3.2 · 取得源码以后，核验模块声明与接入配对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3048000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连接环节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实际作用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name: cmsis_6；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cmake-ext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: true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模块发现脚本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按模块名引用对应的 CMake 入口变量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主仓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modules/modules.cmake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将该入口绑定到主仓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499110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根 CMake 将 </a:t>
            </a:r>
            <a:r>
              <a:rPr>
                <a:solidFill>
                  <a:srgbClr val="B84E00"/>
                </a:solidFill>
                <a:ea typeface="Microsoft YaHei"/>
              </a:rPr>
              <a:t>ZEPHYR_CURRENT_MODULE_DIR</a:t>
            </a:r>
            <a:r>
              <a:t> 设为外部根，再执行主仓接入。加入的头目录是外部源码中的 CMSIS/Core/Include。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4.3.2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按硬件事实补 SoC，再复用既有接入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/ 4.1.5 · 硬件事实、接入条件与软件版本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本教程的 HC32 SoC 选择 </a:t>
            </a:r>
            <a:r>
              <a:rPr>
                <a:solidFill>
                  <a:srgbClr val="B84E00"/>
                </a:solidFill>
                <a:ea typeface="Microsoft YaHei"/>
              </a:rPr>
              <a:t>CPU_CORTEX_M4</a:t>
            </a:r>
            <a:r>
              <a:t>，进入同一 Cortex-M 接入。厂商 </a:t>
            </a:r>
            <a:r>
              <a:rPr>
                <a:solidFill>
                  <a:srgbClr val="0070C0"/>
                </a:solidFill>
                <a:ea typeface="Microsoft YaHei"/>
              </a:rPr>
              <a:t>hc32f4a0.h</a:t>
            </a:r>
            <a:r>
              <a:t> 包含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；MPS2 则经 Zephyr 默认头包含它，两条入口不同。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 / 4.1.5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迁移记录明确说明了 CMSIS6 的使用范围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4.1.6 · 历史解释迁移，当前源码确认实际行为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2024-12-16，</a:t>
            </a:r>
            <a:r>
              <a:rPr>
                <a:solidFill>
                  <a:srgbClr val="0070C0"/>
                </a:solidFill>
                <a:ea typeface="Microsoft YaHei"/>
              </a:rPr>
              <a:t>west.yml</a:t>
            </a:r>
            <a:r>
              <a:t> 收录 cmsis_6。此时只证明可以取得这个包，还不能据此判定某块板已使用它。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2025-05-14，f726cb5123e 将公共 Cortex-M 接入迁到 CMSIS6；5 月 23 日，b853f01010c 在迁移指南写明构建前须取得该模块。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2025-08-05，56a446b4ee0 修正两套头同时进入 M 构建的问题。AN386 的 M4 复用公共路径，因此随之迁移，无需单独改板文件。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官方明确要求 Cortex-M 构建准备 CMSIS6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4.1.2 · 下载前的官方要求，证据来自主仓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先假定手中只有官方 Zephyr 主仓。随仓的 4.2 迁移说明明确要求：Cortex-M 板和 SoC 构建需要 CMSIS6，构建前应执行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 取得模块。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原文在 doc/releases/migration-guide-4.2.rst 的 CMSIS 小节。该文档随主仓提供，下载外部包之前即可查到要求。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接下来确认 AN386 属于 Cortex-M，并查看当前 CMake 是否落实此规则；再用 </a:t>
            </a:r>
            <a:r>
              <a:rPr>
                <a:solidFill>
                  <a:srgbClr val="0070C0"/>
                </a:solidFill>
                <a:ea typeface="Microsoft YaHei"/>
              </a:rPr>
              <a:t>west.yml</a:t>
            </a:r>
            <a:r>
              <a:t> 得到项目名、修订和路径，执行对应下载。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proof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只取得主仓，还缺少本目标必需的 Core 头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P004 4.1.3 · 实际使用、主仓缺失与外部提供者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UCRT64；Zephyr Git 主仓；只读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 ls-files -- '*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本版结果：无输出，主仓不携带该头文件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架构 CMake 明确编入 </a:t>
            </a:r>
            <a:r>
              <a:rPr>
                <a:solidFill>
                  <a:srgbClr val="0070C0"/>
                </a:solidFill>
                <a:ea typeface="Microsoft YaHei"/>
              </a:rPr>
              <a:t>irq_manage.c</a:t>
            </a:r>
            <a:r>
              <a:t>，其头文件链在 M4 条件下要求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。这条查询只看官方主仓跟踪的文件，本版正常结束且无输出。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3365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所需头不在主仓，而当前 Cortex-M 接入指定外部 cmsis_6 提供它。因此首次只有主仓时必须取得该包；这项判断不依赖本机已下载的目录。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P004 4.1.3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88F77E-EF54-406C-8C22-B16ABB4FD88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2720</Words>
  <Application>Microsoft Office PowerPoint</Application>
  <DocSecurity>0</DocSecurity>
  <PresentationFormat>宽屏</PresentationFormat>
  <Paragraphs>315</Paragraphs>
  <Slides>30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99</cp:revision>
  <dcterms:created xsi:type="dcterms:W3CDTF">2026-10-06T03:23:18Z</dcterms:created>
  <dcterms:modified xsi:type="dcterms:W3CDTF">2026-10-07T13:00:52Z</dcterms:modified>
</cp:coreProperties>
</file>