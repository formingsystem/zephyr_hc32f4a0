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module_entry_7.xml" ContentType="application/vnd.openxmlformats-officedocument.presentationml.slide+xml"/>
  <Override PartName="/ppt/notesSlides/module_entry_7.xml" ContentType="application/vnd.openxmlformats-officedocument.presentationml.notesSlide+xml"/>
  <Override PartName="/ppt/slides/module_entry_8.xml" ContentType="application/vnd.openxmlformats-officedocument.presentationml.slide+xml"/>
  <Override PartName="/ppt/notesSlides/module_entry_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90"/>
  </p:notesMasterIdLst>
  <p:sldIdLst>
    <p:sldId id="256" r:id="rIdModulePage1"/>
    <p:sldId id="257" r:id="rIdModulePage2"/>
    <p:sldId id="258" r:id="rIdModulePage3"/>
    <p:sldId id="259" r:id="rIdModulePage4"/>
    <p:sldId id="260" r:id="rIdModulePage5"/>
    <p:sldId id="261" r:id="rIdModulePage6"/>
    <p:sldId id="262" r:id="rIdModulePage7"/>
    <p:sldId id="263" r:id="rIdModulePage8"/>
    <p:sldId id="264" r:id="rIdModulePage9"/>
    <p:sldId id="265" r:id="rIdModulePage10"/>
    <p:sldId id="266" r:id="rIdModulePage11"/>
    <p:sldId id="267" r:id="rIdModulePage12"/>
    <p:sldId id="268" r:id="rIdModulePage13"/>
    <p:sldId id="269" r:id="rIdModulePage14"/>
    <p:sldId id="270" r:id="rIdModulePage15"/>
    <p:sldId id="271" r:id="rIdModulePage16"/>
    <p:sldId id="272" r:id="rIdModulePage17"/>
    <p:sldId id="273" r:id="rIdModulePage18"/>
    <p:sldId id="274" r:id="rIdModulePage19"/>
    <p:sldId id="275" r:id="rIdModulePage20"/>
    <p:sldId id="276" r:id="rIdModulePage21"/>
    <p:sldId id="277" r:id="rIdModulePage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18" d="100"/>
          <a:sy n="118" d="100"/>
        </p:scale>
        <p:origin x="75" y="243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5" Type="http://schemas.openxmlformats.org/officeDocument/2006/relationships/slideMaster" Target="slideMasters/slideMaster5.xml"/><Relationship Id="rId9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7" Type="http://schemas.openxmlformats.org/officeDocument/2006/relationships/slideMaster" Target="slideMasters/slideMaster7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ModulePage1" Type="http://schemas.openxmlformats.org/officeDocument/2006/relationships/slide" Target="slides/slide1.xml"/><Relationship Id="rIdModulePage2" Type="http://schemas.openxmlformats.org/officeDocument/2006/relationships/slide" Target="slides/module_entry_7.xml"/><Relationship Id="rIdModulePage3" Type="http://schemas.openxmlformats.org/officeDocument/2006/relationships/slide" Target="slides/slide52.xml"/><Relationship Id="rIdModulePage4" Type="http://schemas.openxmlformats.org/officeDocument/2006/relationships/slide" Target="slides/slide53.xml"/><Relationship Id="rIdModulePage5" Type="http://schemas.openxmlformats.org/officeDocument/2006/relationships/slide" Target="slides/slide54.xml"/><Relationship Id="rIdModulePage6" Type="http://schemas.openxmlformats.org/officeDocument/2006/relationships/slide" Target="slides/slide55.xml"/><Relationship Id="rIdModulePage7" Type="http://schemas.openxmlformats.org/officeDocument/2006/relationships/slide" Target="slides/slide56.xml"/><Relationship Id="rIdModulePage8" Type="http://schemas.openxmlformats.org/officeDocument/2006/relationships/slide" Target="slides/module_entry_8.xml"/><Relationship Id="rIdModulePage9" Type="http://schemas.openxmlformats.org/officeDocument/2006/relationships/slide" Target="slides/slide70.xml"/><Relationship Id="rIdModulePage10" Type="http://schemas.openxmlformats.org/officeDocument/2006/relationships/slide" Target="slides/slide71.xml"/><Relationship Id="rIdModulePage11" Type="http://schemas.openxmlformats.org/officeDocument/2006/relationships/slide" Target="slides/slide58.xml"/><Relationship Id="rIdModulePage12" Type="http://schemas.openxmlformats.org/officeDocument/2006/relationships/slide" Target="slides/slide57.xml"/><Relationship Id="rIdModulePage13" Type="http://schemas.openxmlformats.org/officeDocument/2006/relationships/slide" Target="slides/slide59.xml"/><Relationship Id="rIdModulePage14" Type="http://schemas.openxmlformats.org/officeDocument/2006/relationships/slide" Target="slides/slide60.xml"/><Relationship Id="rIdModulePage15" Type="http://schemas.openxmlformats.org/officeDocument/2006/relationships/slide" Target="slides/slide61.xml"/><Relationship Id="rIdModulePage16" Type="http://schemas.openxmlformats.org/officeDocument/2006/relationships/slide" Target="slides/slide62.xml"/><Relationship Id="rIdModulePage17" Type="http://schemas.openxmlformats.org/officeDocument/2006/relationships/slide" Target="slides/slide63.xml"/><Relationship Id="rIdModulePage18" Type="http://schemas.openxmlformats.org/officeDocument/2006/relationships/slide" Target="slides/slide75.xml"/><Relationship Id="rIdModulePage19" Type="http://schemas.openxmlformats.org/officeDocument/2006/relationships/slide" Target="slides/slide76.xml"/><Relationship Id="rIdModulePage20" Type="http://schemas.openxmlformats.org/officeDocument/2006/relationships/slide" Target="slides/slide77.xml"/><Relationship Id="rIdModulePage21" Type="http://schemas.openxmlformats.org/officeDocument/2006/relationships/slide" Target="slides/slide78.xml"/><Relationship Id="rIdModulePage22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module_entry_7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7.xml"/><Relationship Id="rId1" Type="http://schemas.openxmlformats.org/officeDocument/2006/relationships/notesMaster" Target="../notesMasters/notesMaster1.xml"/></Relationships>
</file>

<file path=ppt/notesSlides/_rels/module_entry_8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8.xml"/><Relationship Id="rId1" Type="http://schemas.openxmlformats.org/officeDocument/2006/relationships/notesMaster" Target="../notesMasters/notesMaster1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module_entry_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对应正文：前置：P002 工具可用；P004 已理解 SDK 的职责。实验源码根 G:/zephyr_practice/zephyr-main。</a:t>
            </a:r>
          </a:p>
          <a:p>
            <a:r>
              <a:t>本册确定源码依赖来自哪里、由谁固定版本、怎样下载。</a:t>
            </a:r>
          </a:p>
          <a:p>
            <a:r>
              <a:t>CMSIS 优先使用当前 Zephyr 的 west 清单。</a:t>
            </a:r>
          </a:p>
          <a:p>
            <a:r>
              <a:t>清单外 HAL 单独核对与下载；工程接入转到 P006。</a:t>
            </a:r>
          </a:p>
          <a:p>
            <a:r>
              <a:t>
完整正文：learning/P01_zephyr_make_project/P005_CMSIS与HAL选择下载_Windows.md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对应正文：5.1.3.1 · 下一页保留网页操作截图。实验源码根 G:/zephyr_practice/zephyr-main。</a:t>
            </a:r>
          </a:p>
          <a:p>
            <a:r>
              <a:t>打开 github.com/zephyrproject-rtos 的组织主页。</a:t>
            </a:r>
          </a:p>
          <a:p>
            <a:r>
              <a:t>点击 Repositories，在组织仓库列表的搜索框输入 xhsc。</a:t>
            </a:r>
          </a:p>
          <a:p>
            <a:r>
              <a:t>打开 hal_xhsc；README 1.3 与芯片目录用于核对内容。</a:t>
            </a:r>
          </a:p>
          <a:p>
            <a:r>
              <a:t/>
            </a:r>
          </a:p>
          <a:p>
            <a:r>
              <a:t>Issue #86804 说明申请与建库过程。</a:t>
            </a:r>
          </a:p>
          <a:p>
            <a:r>
              <a:t>仓库存在只说明源码可获取，不能推出当前清单已收录或板可编译。</a:t>
            </a:r>
          </a:p>
          <a:p>
            <a:r>
              <a:t>
完整正文：learning/P01_zephyr_make_project/P005_CMSIS与HAL选择下载_Windows.md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承接第一期的 UCRT64 与源码下载。本期从原生文件查版本，准备 SDK、主机工具、Windows Python 3.12.10、west 1.5.0 与源码根 .venv。完成标志是工具和包环境可以核验、下次可以恢复。CMake 配置、实际编译与新增板实验已独立放入 P007。</a:t>
            </a:r>
          </a:p>
          <a:p>
            <a:r>
              <a:t>配套正文：learning/P01_zephyr_make_project/P005_CMSIS与HAL选择下载_Windows.md</a:t>
            </a:r>
          </a:p>
          <a:p>
            <a:r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005_CMSIS与HAL选择下载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对应正文：learning/P01_zephyr_make_project/P005_CMSIS与HAL选择下载_Windows.md</a:t>
            </a:r>
          </a:p>
          <a:p>
            <a:r>
              <a:t>5.1 · 已装好工具，再判断源码依赖</a:t>
            </a:r>
          </a:p>
          <a:p>
            <a:r>
              <a:t>CMSIS-DSP/NN 是算法模块，CMSIS-DAP 是调试协议，不能混成同一种固件依赖。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对应正文：learning/P01_zephyr_make_project/P005_CMSIS与HAL选择下载_Windows.md</a:t>
            </a:r>
          </a:p>
          <a:p>
            <a:r>
              <a:t>5.1.1 · 依赖选择案例</a:t>
            </a:r>
          </a:p>
          <a:p>
            <a:r>
              <a:t>本页不编译。查 boards/arm/mps2、soc/arm/mps2、modules/cmsis_6。板的规格与编译步骤在 P007。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对应正文：learning/P01_zephyr_make_project/P005_CMSIS与HAL选择下载_Windows.md</a:t>
            </a:r>
          </a:p>
          <a:p>
            <a:r>
              <a:t>5.1.1 · 所选实板</a:t>
            </a:r>
          </a:p>
          <a:p>
            <a:r>
              <a:t>另有4KiB备份SRAM。依据 UYUP-RPI-A-2.5.pdf、DS_HC32F4A0系列数据手册_Rev1.60.pdf、RM_HC32F4A0系列参考手册_Rev1.50.pdf。https://www.xhsc.com.cn/product/1220.html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对应正文：P002—P006，5.1.2 · 只读 zephyr-main/west.yml</a:t>
            </a:r>
          </a:p>
          <a:p>
            <a:r>
              <a:t>保留整个官方 west.yml。下面只摘出它已有的 cmsis_6 条目，</a:t>
            </a:r>
          </a:p>
          <a:p>
            <a:r>
              <a:t>不能用这几行覆盖原文件，也不需要另存一份同名清单。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对应正文：learning/P01_zephyr_make_project/P005_CMSIS与HAL选择下载_Windows.md</a:t>
            </a:r>
          </a:p>
          <a:p>
            <a:r>
              <a:t>5.1.3 · 仓库存在不等于板已支持</a:t>
            </a:r>
          </a:p>
          <a:p>
            <a:r>
              <a:t>已核对self.import的submanifests。仓库 https://github.com/zephyrproject-rtos/hal_xhsc ，移植基线 a84e04900616f68097d80cda2e89eaa8af3afadd。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对应正文：P002_Windows，5.2.2 · 先确定下载对象</a:t>
            </a:r>
          </a:p>
          <a:p>
            <a:endParaRPr/>
          </a:p>
          <a:p>
            <a:endParaRPr/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对应正文：P002—P006，5.1.2 · 依赖来源已由官方给出</a:t>
            </a:r>
          </a:p>
          <a:p>
            <a:r>
              <a:t>独立专题：learning/west/大纲.md。本页不是新建west.yml的步骤。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 · 先分清下载对象</a:t>
            </a:r>
          </a:p>
          <a:p>
            <a:r>
              <a:t>只有芯片设备包不代表通用Core缺失。当前已提供的CMSIS_6不替换为厂商捆绑版本。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对应正文：P002—P006，5.2.1 · Windows UCRT64</a:t>
            </a:r>
          </a:p>
          <a:p>
            <a:r>
              <a:t>预期依次是 G:/zephyr_practice、zephyr-main、west.yml。</a:t>
            </a:r>
          </a:p>
          <a:p>
            <a:r>
              <a:t>already initialized 表示已建立；不删除 .west，也不重建 west.yml。</a:t>
            </a:r>
          </a:p>
          <a:p>
            <a:r>
              <a:t>完整操作单元：../commands/P005_Windows/5.2.1-03.txt</a:t>
            </a:r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对应正文：P002—P006，5.2.2 · Windows UCRT64</a:t>
            </a:r>
          </a:p>
          <a:p>
            <a:r>
              <a:t>只有最后输出“CMSIS 下载完成”才继续；任一检查失败，后续命令停止。</a:t>
            </a:r>
          </a:p>
          <a:p>
            <a:r>
              <a:t>完整操作单元：../commands/P005_Windows/5.2.2-01.txt</a:t>
            </a:r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对应正文：P002—P006，5.2.2 · 文件位置与来源</a:t>
            </a:r>
          </a:p>
          <a:p>
            <a:r>
              <a:t>省略号为上一行modules/hal/cmsis_6，完整Core路径见MD目录树。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对应正文：P002—P006，5.2.2 · 下载成功后留下什么</a:t>
            </a:r>
          </a:p>
          <a:p>
            <a:r>
              <a:t>CMSIS-Core 没有安装向导，不放进 SDK 或 .venv。</a:t>
            </a:r>
          </a:p>
          <a:p>
            <a:r>
              <a:t>west 已把整份模块放在当前工作区，保留原 module.yml。</a:t>
            </a:r>
          </a:p>
          <a:p>
            <a:endParaRPr/>
          </a:p>
          <a:p>
            <a:r>
              <a:t>P007 配置时，Zephyr 根据模块入口加入 Core 头文件目录。</a:t>
            </a:r>
          </a:p>
          <a:p>
            <a:r>
              <a:t>此时只准备好文件，还没有编译、启动或移植新芯片。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对应正文：P002—P006，5.2.5 · 无现成芯片模块时的材料准备</a:t>
            </a:r>
          </a:p>
          <a:p>
            <a:r>
              <a:t>Arm设备包入口 https://www.keil.arm.com/packs/；设备文件分类 https://arm-software.github.io/CMSIS_6/main/Core/cmsis_device_files.html。当前cmsis_6条目不存在时，先核对源码版本与清单项目名，不自行创建替代清单。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3460-5FD5-3299-F04F-4B71840F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1EFA0-C26A-9D31-4B21-64377FC3E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00594-C8B3-AA0E-9EC6-03DB5AF8F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对应正文：P005 5.1.3 与 P006 6.1。保留官方 west.yml，不在这里编写新清单。</a:t>
            </a:r>
          </a:p>
          <a:p>
            <a:r>
              <a:t>① Zephyr 组织 → Repositories → 搜索 xhsc → hal_xhsc。</a:t>
            </a:r>
          </a:p>
          <a:p>
            <a:r>
              <a:t>② README 1.3 给出 HC32 HAL 与厂商产品资料入口。</a:t>
            </a:r>
          </a:p>
          <a:p>
            <a:r>
              <a:t>③ 固定修订下核对 hc32f4a0 设备头和 USART DDL。</a:t>
            </a:r>
          </a:p>
          <a:p>
            <a:r>
              <a:t>④ 主仓 Issue #86804 记录厂商申请、早期来源与建库过程。</a:t>
            </a:r>
          </a:p>
          <a:p>
            <a:endParaRPr/>
          </a:p>
          <a:p>
            <a:r>
              <a:t>README 同时提到已支持或计划支持，不能据此认定板已可编译。</a:t>
            </a:r>
          </a:p>
          <a:p>
            <a:r>
              <a:t>https://github.com/zephyrproject-rtos/hal_xhsc</a:t>
            </a:r>
          </a:p>
          <a:p>
            <a:r>
              <a:t>https://github.com/zephyrproject-rtos/zephyr/issues/86804</a:t>
            </a:r>
          </a:p>
          <a:p>
            <a:r>
              <a:t>资料核对日期：2026-10-06。Closed 与 Merged 分开核对；HAL 原有源文件选择与本系列 SoC 显式接法不能同时启用。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E9198-8906-B7E4-266A-EEFDDA3335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062531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对应正文：P005 5.1.3 与 P006 6.1。保留官方 west.yml，不在这里编写新清单。</a:t>
            </a:r>
          </a:p>
          <a:p>
            <a:endParaRPr/>
          </a:p>
          <a:p>
            <a:r>
              <a:t>https://github.com/zephyrproject-rtos/zephyr/issues/95973</a:t>
            </a:r>
          </a:p>
          <a:p>
            <a:r>
              <a:t>https://github.com/zephyrproject-rtos/zephyr/pull/94044</a:t>
            </a:r>
          </a:p>
          <a:p>
            <a:r>
              <a:t>资料核对日期：2026-10-06。Closed 与 Merged 分开核对；HAL 原有源文件选择与本系列 SoC 显式接法不能同时启用。</a:t>
            </a:r>
          </a:p>
          <a:p>
            <a:r>
              <a:t>https://github.com/zephyrproject-rtos/zephyr/pull/111990</a:t>
            </a:r>
          </a:p>
          <a:p>
            <a:r>
              <a:t>https://github.com/zephyrproject-rtos/zephyr/issues/86804#issuecomment-3141734431</a:t>
            </a:r>
          </a:p>
          <a:p>
            <a:r>
              <a:t>https://github.com/zephyrproject-rtos/zephyr/issues/95973#issuecomment-3290779676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对应正文：P002_Windows，5.2.3 · 不冒充官方清单项</a:t>
            </a:r>
          </a:p>
          <a:p>
            <a:r>
              <a:t>对应正文：5.2.3 · 不冒充官方清单项。命令默认 UCRT64；先核对当前目录、工作区与 Git for Windows。CMSIS 使用官方 west 清单管理，HC32 额外模块单独追加。</a:t>
            </a:r>
          </a:p>
          <a:p>
            <a:r>
              <a:t>完整操作单元：../commands/P005_Windows/5.2.3-01.txt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对应正文：P002_Windows，5.2.3 · 整个模块由仓库提供</a:t>
            </a:r>
          </a:p>
          <a:p>
            <a:r>
              <a:t>对应正文：5.2.3 · 整个模块由仓库提供。命令默认 UCRT64；先核对当前目录、工作区与 Git for Windows。CMSIS 使用官方 west 清单管理，HC32 额外模块单独追加。</a:t>
            </a:r>
          </a:p>
          <a:p>
            <a:r>
              <a:t>完整操作单元：../commands/P005_Windows/5.2.3-03.txt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对应正文：P002—P006，5.2.4 · 不重建清单来掩盖环境问题</a:t>
            </a:r>
          </a:p>
          <a:p>
            <a:endParaRPr/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对应正文：P002—P006，2.2.2 / 5.2.1 · 当前窗口的 PATH 不会自动保留</a:t>
            </a:r>
          </a:p>
          <a:p>
            <a:r>
              <a:t>激活 .venv 只恢复 Python 工具。</a:t>
            </a:r>
          </a:p>
          <a:p>
            <a:r>
              <a:t>再检查 Git 路径与版本；若回到 MSYS2 Git，按 5.2.1 纠正。</a:t>
            </a:r>
          </a:p>
          <a:p>
            <a:r>
              <a:t>已存在的 west 工作区和已下载 CMSIS 不需要重新初始化。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module_entry_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7.xml"/><Relationship Id="rId1" Type="http://schemas.openxmlformats.org/officeDocument/2006/relationships/slideLayout" Target="../slideLayouts/slideLayout54.xml"/></Relationships>
</file>

<file path=ppt/slides/_rels/module_entry_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8.xml"/><Relationship Id="rId1" Type="http://schemas.openxmlformats.org/officeDocument/2006/relationships/slideLayout" Target="../slideLayouts/slideLayout54.xml"/><Relationship Id="rIdEntryLink0" Type="http://schemas.openxmlformats.org/officeDocument/2006/relationships/hyperlink" Target="https://github.com/orgs/zephyrproject-rtos/repositories?q=xhsc" TargetMode="External"/><Relationship Id="rIdEntryLink1" Type="http://schemas.openxmlformats.org/officeDocument/2006/relationships/hyperlink" Target="https://github.com/zephyrproject-rtos/zephyr/issues/86804" TargetMode="External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5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/Relationships>
</file>

<file path=ppt/slides/_rels/slide58.xml.rels><?xml version='1.0' encoding='UTF-8' standalone='yes'?>
<Relationships xmlns="http://schemas.openxmlformats.org/package/2006/relationships"><Relationship Id="rId3" Type="http://schemas.openxmlformats.org/officeDocument/2006/relationships/hyperlink" Target="../../west/&#22823;&#32434;.md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4.png"/></Relationships>
</file>

<file path=ppt/slides/_rels/slide5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4.xml"/></Relationships>
</file>

<file path=ppt/slides/_rels/slide60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5_Windows/5.2.1-03.txt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4.xml"/></Relationships>
</file>

<file path=ppt/slides/_rels/slide61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5_Windows/5.2.2-01.txt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4.xml"/></Relationships>
</file>

<file path=ppt/slides/_rels/slide6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4.xml"/></Relationships>
</file>

<file path=ppt/slides/_rels/slide6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4.xml"/></Relationships>
</file>

<file path=ppt/slides/_rels/slide6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4.xml"/></Relationships>
</file>

<file path=ppt/slides/_rels/slide70.xml.rels><?xml version='1.0' encoding='UTF-8' standalone='yes'?>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github.com/zephyrproject-rtos/hal_xhsc" TargetMode="Externa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4.xml"/><Relationship Id="rId6" Type="http://schemas.openxmlformats.org/officeDocument/2006/relationships/hyperlink" Target="https://github.com/orgs/zephyrproject-rtos/repositories" TargetMode="External"/><Relationship Id="rId5" Type="http://schemas.openxmlformats.org/officeDocument/2006/relationships/hyperlink" Target="https://github.com/zephyrproject-rtos" TargetMode="External"/><Relationship Id="rId4" Type="http://schemas.openxmlformats.org/officeDocument/2006/relationships/hyperlink" Target="https://github.com/zephyrproject-rtos/zephyr/issues/86804" TargetMode="External"/></Relationships>
</file>

<file path=ppt/slides/_rels/slide71.xml.rels><?xml version='1.0' encoding='UTF-8' standalone='yes'?>
<Relationships xmlns="http://schemas.openxmlformats.org/package/2006/relationships"><Relationship Id="rId3" Type="http://schemas.openxmlformats.org/officeDocument/2006/relationships/hyperlink" Target="https://github.com/zephyrproject-rtos/zephyr/issues/95973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4.xml"/><Relationship Id="rId4" Type="http://schemas.openxmlformats.org/officeDocument/2006/relationships/hyperlink" Target="https://github.com/zephyrproject-rtos/zephyr/pull/94044" TargetMode="External"/></Relationships>
</file>

<file path=ppt/slides/_rels/slide75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5_Windows/5.2.3-01.txt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4.xml"/></Relationships>
</file>

<file path=ppt/slides/_rels/slide76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5_Windows/5.2.3-03.txt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4.xml"/></Relationships>
</file>

<file path=ppt/slides/_rels/slide7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4.xml"/></Relationships>
</file>

<file path=ppt/slides/_rels/slide7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0.xml"/></Relationships>
</file>

<file path=ppt/slides/module_entry_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3FC0406-394C-4BEB-86E5-B348DD2DC3D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03 · CMSIS 与 HAL 选择下载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393B82C-3C97-4BFD-918B-69283F0A6D7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5.0 · 回顾 P003：下载不等于工程接入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90CA4721-1ADE-4D8E-9EF5-66F56E942118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本册确定源码依赖来自哪里、由谁固定版本、怎样下载。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优先使用当前 Zephyr 的 west 清单。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清单外 HAL 单独核对与下载；工程接入转到 P006。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F96598BF-8F2F-4D78-A45A-1F2F99262A21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核对芯片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与当前源码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4E5D8EE7-6083-450C-91B9-E008A56B68E3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04A257B9-5A86-47C6-B056-00D4BA2F38C5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识别 CMSIS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和 HAL 来源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AE2BFC15-BF02-4DDC-ABFB-FBDD4B6A590A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1D9A90E9-BB6A-4619-89E9-42BAAC5BCCE9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工具下载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固定修订</a:t>
            </a: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4F994E51-6D4D-4BBB-8FAC-578B9EFC7677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719CD669-3729-4C7F-A3E7-227130618B6D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核对目录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交给 04 接入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471F06B-ABAC-42E5-8BC0-78D51B4F17B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GitHub 的 Zephyr 组织内查找 HAL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A728690F-FDB1-4E6A-ADD4-36C32E54936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5.1.3.1 · 下一页保留网页操作截图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C202E0C7-1D18-40D1-B49A-26B13D96814B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 github.com/zephyrproject-rtos 的组织主页。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点击 Repositories，在组织仓库列表的搜索框输入 xhsc。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 hal_xhsc；README 1.3 与芯片目录用于核对内容。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Issue #86804 说明申请与建库过程。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仓库存在只说明源码可获取，不能推出当前清单已收录或板可编译。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7DD2F012-E2B9-485F-BB4A-F38C9E426745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GitHub：Zephyr 组织仓库列表</a:t>
            </a:r>
          </a:p>
        </p:txBody>
      </p:sp>
      <p:sp>
        <p:nvSpPr>
          <p:cNvPr id="6" name="Source link 1">
            <a:extLst>
              <a:ext uri="{FF2B5EF4-FFF2-40B4-BE49-F238E27FC236}">
                <a16:creationId xmlns:a16="http://schemas.microsoft.com/office/drawing/2014/main" id="{022B2636-6137-4244-A19E-E98CA445C998}"/>
              </a:ext>
            </a:extLst>
          </p:cNvPr>
          <p:cNvSpPr>
            <a:spLocks noGrp="1"/>
          </p:cNvSpPr>
          <p:nvPr/>
        </p:nvSpPr>
        <p:spPr>
          <a:xfrm>
            <a:off x="61341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1"/>
              </a:rPr>
              <a:t>模块申请 #86804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CMSIS 与 HAL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选择与下载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">
            <a:extLst>
              <a:ext uri="{FF2B5EF4-FFF2-40B4-BE49-F238E27FC236}">
                <a16:creationId xmlns:a16="http://schemas.microsoft.com/office/drawing/2014/main" id="{80AAAE38-5864-46B6-9ABB-635561C6F96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CMSIS、HAL 与 SDK 的职责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9F27102C-2D05-4B8E-98C1-3AEDECC4EF0C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 · 已装好工具，再判断源码依赖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EB80BB2-2D19-4E8F-A0A2-63D12434F87B}"/>
              </a:ext>
            </a:extLst>
          </p:cNvPr>
          <p:cNvGraphicFramePr/>
          <p:nvPr/>
        </p:nvGraphicFramePr>
        <p:xfrm>
          <a:off x="609600" y="1952625"/>
          <a:ext cx="10972800" cy="278130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提供的内容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本期怎么选择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CMSIS-Core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core_cm4.h、NVIC、内核接口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Zephyr 接入与清单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HAL /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设备头、GPIO / USART / 时钟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完整型号 + 适配实际调用的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Arm 固件的编译链接工具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源码版本 + Windows x64 GNU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16A2C5F-E552-4C92-98D5-DEE90EC8A3C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692081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">
            <a:extLst>
              <a:ext uri="{FF2B5EF4-FFF2-40B4-BE49-F238E27FC236}">
                <a16:creationId xmlns:a16="http://schemas.microsoft.com/office/drawing/2014/main" id="{E74528BE-CAB1-4716-95BA-6D88A177DFB0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已有目标的依赖从哪里查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FCFA9AC3-0C80-45E7-B037-5C2FCFAD0528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5.1.1 · 依赖选择案例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C6BD740A-1FE4-4F1E-A050-C702E8742DC0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3714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案例：mps2/an386，当前官方源码已有支持。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board.yml → SOC_AN386 → Cortex-M4 → CMSIS_6 接入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west.yml 决定 CMSIS_6 的仓库和配套提交。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的 UART 驱动在 Zephyr 内，不需要 HC32 HAL。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10A76AF-2A82-4FF3-8FA2-81F9CBA22EA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979364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">
            <a:extLst>
              <a:ext uri="{FF2B5EF4-FFF2-40B4-BE49-F238E27FC236}">
                <a16:creationId xmlns:a16="http://schemas.microsoft.com/office/drawing/2014/main" id="{AB5E20DF-A63C-4EC7-BB17-E75E0D584ACB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依赖先从完整型号确认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7EB72BB6-28A3-4D79-9E3D-33CB29CE0D19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5.1.1 · 所选实板</a:t>
            </a:r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9E17618F-DB65-4CE9-89B5-F76C9AF0ADCB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972800" cy="3714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UYUP-RPI-A-2.5 / HC32F4A0PITB / LQFP100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Cortex-M4F；2 MiB Flash；512 KiB 主 SRAM；12 MHz 晶振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完整丝印 → BOM / 原理图 → 数据手册型号与封装表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设备头和 DDL 必须匹配 HC32F4A0，不能套 F460 或 STM32。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25A1CAE-FD4D-49CA-80D8-DD63FF05915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233543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E41B45-82DA-4AE8-8271-8A6A78A02BD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这是官方清单原文，不是新建文件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F2B7E59-72A8-4D0D-8A33-AEAA5BE8F9A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5.1.2 · 只读 zephyr-main/west.yml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84045CD1-52ED-4B7F-89AA-8FB75A78313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只读摘录，不是需要执行或写入的内容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- name: cmsis_6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repo-path: CMSIS_6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revision: 1c1840af7a7e757d6e2fec3ddb0e5ce0dfcc93c8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path: modules/hal/cmsis_6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FC7BC49-38E5-4A40-B7B1-D6C3C7D17214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1209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保留整个官方 west.yml。下面只摘出它已有的 cmsis_6 条目，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不能用这几行覆盖原文件，也不需要另存一份同名清单。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A5D4702-268A-46D6-8EB0-228E5317DA3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635488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">
            <a:extLst>
              <a:ext uri="{FF2B5EF4-FFF2-40B4-BE49-F238E27FC236}">
                <a16:creationId xmlns:a16="http://schemas.microsoft.com/office/drawing/2014/main" id="{336EB01D-6067-4BF7-98F2-BCDBC9B2C38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“有 HAL”需要分三个层次核对</a:t>
            </a:r>
          </a:p>
        </p:txBody>
      </p:sp>
      <p:sp>
        <p:nvSpPr>
          <p:cNvPr id="2" name="content">
            <a:extLst>
              <a:ext uri="{FF2B5EF4-FFF2-40B4-BE49-F238E27FC236}">
                <a16:creationId xmlns:a16="http://schemas.microsoft.com/office/drawing/2014/main" id="{7F8D3D62-101A-4BA7-974B-650F033C94A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5.1.3 · 仓库存在不等于板已支持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0D1DD7E-3947-48BD-8468-9C1B4049D5EF}"/>
              </a:ext>
            </a:extLst>
          </p:cNvPr>
          <p:cNvGraphicFramePr/>
          <p:nvPr/>
        </p:nvGraphicFramePr>
        <p:xfrm>
          <a:off x="609600" y="1952625"/>
          <a:ext cx="10972800" cy="2781300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 HC32 的结果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对应动作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当前清单有 hal_xhsc？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没有该项目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 west update hal_xhsc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有可用的 HAL 仓库？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 HC32F4A0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核对设备头 / API，固定基线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有当前板 / SoC 支持？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原生树没有本系列适配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P007 新增板、芯片与驱动连接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02FA7EA-F2CD-4EB8-9019-F516A5E6796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426721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BB3243F-E3A5-4153-97AD-31373CE0CE1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同名 CMSIS，来源未必相同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73AADB7-02E1-408D-B642-6D8DB3C2051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5.2.2 · 先确定下载对象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C58492A-2790-4F41-9F1A-C6E03B4CDA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6525581"/>
              </p:ext>
            </p:extLst>
          </p:nvPr>
        </p:nvGraphicFramePr>
        <p:xfrm>
          <a:off x="628650" y="1671976"/>
          <a:ext cx="10972800" cy="31908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本次判断依据</a:t>
                      </a:r>
                      <a:endParaRPr sz="1800" b="1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 上游 CMSIS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提供通用内核接口，不能直接猜其版本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厂商例程附带 CMSIS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服务该例程；不自动与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Zephyr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清单指定的 CMSIS_6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本次下载对象，按仓库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URL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和完整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revision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hal_xhsc 中的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HC32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芯片与适配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API；不是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Core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替代品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ontent">
            <a:extLst>
              <a:ext uri="{FF2B5EF4-FFF2-40B4-BE49-F238E27FC236}">
                <a16:creationId xmlns:a16="http://schemas.microsoft.com/office/drawing/2014/main" id="{CCCFF274-25BC-213E-8C0D-B50F468B551D}"/>
              </a:ext>
            </a:extLst>
          </p:cNvPr>
          <p:cNvSpPr>
            <a:spLocks noGrp="1"/>
          </p:cNvSpPr>
          <p:nvPr/>
        </p:nvSpPr>
        <p:spPr>
          <a:xfrm>
            <a:off x="609600" y="4954083"/>
            <a:ext cx="10972800" cy="9707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因此我们必须要谨慎选择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包，如果芯片原厂的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移植到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，或者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与芯片原厂的 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HAL/DDL 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 存在不适配，可能会导致</a:t>
            </a:r>
            <a:r>
              <a:rPr lang="en-US" altLang="zh-CN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core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</a:t>
            </a:r>
            <a:r>
              <a:rPr lang="zh-CN" altLang="en-US" sz="2025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r>
              <a:rPr lang="zh-CN" altLang="en-US" sz="2025" b="0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25" b="0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D4606D1-A2FE-4D07-89A7-A21284F14F0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858782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6332983-AD4F-43A4-BCAB-D1F58A583A9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本期使用原清单，west 实验另有专题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4328CD4-C275-4569-A0D4-2CE437EDEC0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5.1.2 · 依赖来源已由官方给出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5F59ECA-C3D3-42C6-B8C6-FD9D2DCC9648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523875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当前任务：取得与这份 Zephyr 源码配套的 CMSIS。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读取官方清单后，让 west 按指定版本下载。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learning/west 已有初始化、清单编写与版本管理实验。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练习清单留在独立实验中，不搬来替换 Zephyr 的 west.yml。</a:t>
            </a:r>
          </a:p>
        </p:txBody>
      </p:sp>
      <p:sp>
        <p:nvSpPr>
          <p:cNvPr id="5" name="West topic link">
            <a:extLst>
              <a:ext uri="{FF2B5EF4-FFF2-40B4-BE49-F238E27FC236}">
                <a16:creationId xmlns:a16="http://schemas.microsoft.com/office/drawing/2014/main" id="{73FD341A-AB4B-4688-8C31-675D0592108D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west 实验专题：learning/west/大纲.md</a:t>
            </a:r>
          </a:p>
        </p:txBody>
      </p:sp>
      <p:pic>
        <p:nvPicPr>
          <p:cNvPr id="6" name="图片 7">
            <a:extLst>
              <a:ext uri="{FF2B5EF4-FFF2-40B4-BE49-F238E27FC236}">
                <a16:creationId xmlns:a16="http://schemas.microsoft.com/office/drawing/2014/main" id="{7BA6427F-DEC9-3326-85A9-A272BB790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952625"/>
            <a:ext cx="5334000" cy="2883693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435BCED-D6E3-4CA2-9484-058B9EB8FCB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896168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AC1D5E9-1D26-4137-A8C7-289E0E71C6A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通用 Core 与芯片设备头分别从哪里来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A8D5272-3D4C-43A4-9D0B-71B6A98F0D6C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 · 先分清下载对象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1C989DE-D825-4920-B625-419E219D1B43}"/>
              </a:ext>
            </a:extLst>
          </p:cNvPr>
          <p:cNvGraphicFramePr/>
          <p:nvPr/>
        </p:nvGraphicFramePr>
        <p:xfrm>
          <a:off x="609600" y="1885950"/>
          <a:ext cx="10972800" cy="2743200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本系列的来源与用途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CMSIS-Core 通用文件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west 清单指定 CMSIS_6，提供 core_cm4.h 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芯片设备头与 system 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芯片厂商设备包或 HAL/DDL，本例在 hal_xhsc 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SoC 与驱动连接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P007 加入适配文件，让芯片资料参与 Zephyr 构建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205940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2EE786F-25B4-4BE2-BDA2-27B32695D50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已有工作区直接复用，不重复 init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E1328B17-4B66-4AF0-B0A8-070F1C8D46B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5.2.1 · Windows UCRT64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03BB5E06-6224-459F-9DBE-54A53104F7A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3251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# Windows UCRT64；仍在实验源码根，.venv </a:t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已激活；复用官方原有</a:t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west.yml</a:t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。</a:t>
            </a:r>
            <a:endParaRPr lang="en-US" sz="1725" b="0" dirty="0">
              <a:solidFill>
                <a:schemeClr val="bg1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725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</a:t>
            </a:r>
            <a:r>
              <a:rPr lang="en-US" altLang="zh-CN" sz="1725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zephyr_practice</a:t>
            </a:r>
            <a:r>
              <a:rPr lang="en-US" altLang="zh-CN" sz="1725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/zephyr-main</a:t>
            </a:r>
            <a:endParaRPr sz="172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west.yml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&amp;&amp; if west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topdir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&gt;/dev/null 2&gt;&amp;1; then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 dirty="0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'</a:t>
            </a:r>
            <a:r>
              <a:rPr sz="1725" b="0" dirty="0" err="1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已有</a:t>
            </a:r>
            <a:r>
              <a:rPr sz="1725" b="0" dirty="0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 west </a:t>
            </a:r>
            <a:r>
              <a:rPr sz="1725" b="0" dirty="0" err="1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工作区，复用现有配置</a:t>
            </a:r>
            <a:r>
              <a:rPr sz="1725" b="0" dirty="0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。</a:t>
            </a:r>
            <a:r>
              <a:rPr sz="1725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Consolas"/>
                <a:cs typeface="Consolas"/>
              </a:rPr>
              <a:t>\n</a:t>
            </a:r>
            <a:r>
              <a:rPr sz="1725" b="0" dirty="0">
                <a:solidFill>
                  <a:schemeClr val="accent2">
                    <a:lumMod val="75000"/>
                  </a:schemeClr>
                </a:solidFill>
                <a:latin typeface="Consolas"/>
                <a:ea typeface="Consolas"/>
                <a:cs typeface="Consolas"/>
              </a:rPr>
              <a:t>'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west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init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-l .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fi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topdir</a:t>
            </a:r>
            <a:endParaRPr sz="172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config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manifest.path</a:t>
            </a:r>
            <a:endParaRPr sz="172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config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manifest.file</a:t>
            </a:r>
            <a:endParaRPr sz="1725" b="0" dirty="0">
              <a:solidFill>
                <a:srgbClr val="005968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986A8565-5579-4E7F-953B-8DC80B53EA89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812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预期依次是 G:/zephyr_practice、zephyr-main、west.yml。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already initialized 表示已建立；不删除 .west，也不重建 west.yml。</a:t>
            </a:r>
          </a:p>
        </p:txBody>
      </p:sp>
      <p:sp>
        <p:nvSpPr>
          <p:cNvPr id="6" name="Command file link">
            <a:extLst>
              <a:ext uri="{FF2B5EF4-FFF2-40B4-BE49-F238E27FC236}">
                <a16:creationId xmlns:a16="http://schemas.microsoft.com/office/drawing/2014/main" id="{156C5EFB-7B3A-41B6-8A1D-D35B752033D1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完整命令：P005_Windows/5.2.1-03.txt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9406774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9F691F5-3294-4334-9187-405B5D5F170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按原清单下载 CMSIS，并检查关键文件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9F22E9E-47A0-40D1-AE0B-4C530179832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5.2.2 · Windows UCRT64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45BF6BB9-55AF-4D97-82FB-AD2483B2436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# Windows UCRT64；源码根；5.2.1 已核对工作区，.venv 已激活。</a:t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# 版本标识必须属于 Git for Windows；不匹配则停止，回到 5.2.1 修正 PATH。</a:t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 err="1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  <a:r>
              <a:rPr sz="1725" b="0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git --version | grep -q '\.windows\.'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list cmsis_6 -f '{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url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} {revision} {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abspath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}'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update cmsis_6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../modules/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hal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/cmsis_6/zephyr/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module.yml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../modules/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hal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/cmsis_6/CMSIS/Core/Include/core_cm4.h &amp;&amp;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'CMSIS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下载完成，模块入口与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Cortex-M4 Core </a:t>
            </a:r>
            <a:r>
              <a:rPr sz="1725" b="0" dirty="0" err="1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头文件均存在</a:t>
            </a:r>
            <a:r>
              <a:rPr sz="1725" b="0" dirty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。\n'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AD3DE21D-95D9-4E34-A5DE-BFDE305E38E9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1209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只有最后输出“CMSIS 下载完成”才继续；任一检查失败，后续命令停止。</a:t>
            </a:r>
          </a:p>
        </p:txBody>
      </p:sp>
      <p:sp>
        <p:nvSpPr>
          <p:cNvPr id="6" name="Command file link">
            <a:extLst>
              <a:ext uri="{FF2B5EF4-FFF2-40B4-BE49-F238E27FC236}">
                <a16:creationId xmlns:a16="http://schemas.microsoft.com/office/drawing/2014/main" id="{3E91E320-63AE-486A-84ED-59173A7AFA37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83945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完整命令：P005_Windows/5.2.2-01.txt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21865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FFA56BC-1696-4C4D-A3F1-66F97A573FB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下载物在源码旁，接入规则在源码内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613F1A2-314C-4FA2-BA55-6A23FC1318E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5.2.2 · 文件位置与来源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BDDB275-0690-4F79-9C62-33205CBE2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5138753"/>
              </p:ext>
            </p:extLst>
          </p:nvPr>
        </p:nvGraphicFramePr>
        <p:xfrm>
          <a:off x="609600" y="1885949"/>
          <a:ext cx="10972800" cy="3781425"/>
        </p:xfrm>
        <a:graphic>
          <a:graphicData uri="http://schemas.openxmlformats.org/drawingml/2006/table">
            <a:tbl>
              <a:tblPr/>
              <a:tblGrid>
                <a:gridCol w="548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4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相对于 G:/zephyr_practice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来源与作用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zephyr-main/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west.yml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官方原有：指定模块来源与修订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zephyr-main/modules/cmsis_6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官方原有：Zephyr 的 CMSIS 构建接入规则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modules/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/cmsis_6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下载：实际 CMSIS 外部源码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28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./modules/</a:t>
                      </a:r>
                      <a:r>
                        <a:rPr lang="en-US"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</a:t>
                      </a:r>
                      <a:r>
                        <a:rPr lang="en-US"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/cmsis_6/zephyr/</a:t>
                      </a:r>
                      <a:r>
                        <a:rPr lang="en-US"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module.yml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、Core</a:t>
                      </a:r>
                      <a:r>
                        <a:rPr sz="1800" b="0" dirty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头文件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 dirty="0" err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下载模块自带；不新建，不覆盖源码内的规则</a:t>
                      </a:r>
                      <a:endParaRPr sz="1800" b="0" dirty="0">
                        <a:solidFill>
                          <a:srgbClr val="29263B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788480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0CA466B-C5F9-4683-819E-EDDC50DB8D8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“安装 CMSIS”就是准备源码依赖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5CF64A6-1D64-411B-BF89-3B61E8C46DF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5.2.2 · 下载成功后留下什么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0C0499E-7C2D-4B98-ADFA-5283A612B69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CMSIS-Core 没有安装向导，不放进 SDK 或 .venv。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已把整份模块放在当前工作区，保留原 module.yml。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配置时，Zephyr 根据模块入口加入 Core 头文件目录。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此时只准备好文件，还没有编译、启动或移植新芯片。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525527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980FD4A-678F-4E41-80D9-96375A1108D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只有厂商 CMSIS 包，先确认它装了什么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E1717F4-C85B-42CF-A56C-BEB9595689BB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5.2.5 · 无现成芯片模块时的材料准备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F9E66996-A390-4DB7-ABB8-0DB9A5B30082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在芯片厂商对应型号的下载页取得设备包、DFP 或 DDL。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核对完整料号、版本、许可证；若有 .pdsc，读它列出的设备和文件。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厂商包里可能同时有 Core、设备头、system 与裸机 startup。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把这些文件分清，再决定哪些接入 Zephyr。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25448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CD1A-115E-E7BC-7165-4E263C294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7DC3141-DF7D-EFD2-3F2C-6CCEB3B0F11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hal_xhsc</a:t>
            </a:r>
            <a:r>
              <a:rPr sz="300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00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的地址从哪里来</a:t>
            </a:r>
            <a:endParaRPr sz="3000" b="1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D06B06EF-4C04-E0E7-915C-307898E9A7A3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1704109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仓库与</a:t>
            </a:r>
            <a:r>
              <a:rPr sz="1425" b="0" dirty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 README</a:t>
            </a:r>
          </a:p>
        </p:txBody>
      </p:sp>
      <p:sp>
        <p:nvSpPr>
          <p:cNvPr id="6" name="Source link 1">
            <a:extLst>
              <a:ext uri="{FF2B5EF4-FFF2-40B4-BE49-F238E27FC236}">
                <a16:creationId xmlns:a16="http://schemas.microsoft.com/office/drawing/2014/main" id="{3399085A-EC90-79D5-1D7E-C6811D1F9E20}"/>
              </a:ext>
            </a:extLst>
          </p:cNvPr>
          <p:cNvSpPr>
            <a:spLocks noGrp="1"/>
          </p:cNvSpPr>
          <p:nvPr/>
        </p:nvSpPr>
        <p:spPr>
          <a:xfrm>
            <a:off x="2273300" y="5991224"/>
            <a:ext cx="208164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厂商模块申请</a:t>
            </a:r>
            <a:r>
              <a:rPr sz="1425" b="0" dirty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 #86804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5716203-1823-8D25-DB38-5CD164029254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7A4390-094F-0842-7E93-608880D06EBC}"/>
              </a:ext>
            </a:extLst>
          </p:cNvPr>
          <p:cNvSpPr txBox="1"/>
          <p:nvPr/>
        </p:nvSpPr>
        <p:spPr>
          <a:xfrm>
            <a:off x="711199" y="1095375"/>
            <a:ext cx="10785475" cy="273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zh-CN" dirty="0"/>
              <a:t>在 GitHub 网站上，进入 Zephyr 组织的仓库列表，再搜索。具体操作：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/>
              <a:t>打开 </a:t>
            </a:r>
            <a:r>
              <a:rPr lang="zh-CN" altLang="zh-CN" dirty="0">
                <a:hlinkClick r:id="rId5"/>
              </a:rPr>
              <a:t>Zephyr 的 GitHub 组织主页</a:t>
            </a:r>
            <a:r>
              <a:rPr lang="zh-CN" altLang="zh-CN" dirty="0"/>
              <a:t>。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/>
              <a:t>点击上方与 </a:t>
            </a:r>
            <a:r>
              <a:rPr lang="zh-CN" altLang="zh-CN" b="1" dirty="0"/>
              <a:t>Overview、Projects</a:t>
            </a:r>
            <a:r>
              <a:rPr lang="zh-CN" altLang="zh-CN" dirty="0"/>
              <a:t> 并列的 </a:t>
            </a:r>
            <a:r>
              <a:rPr lang="zh-CN" altLang="zh-CN" b="1" dirty="0"/>
              <a:t>Repositories</a:t>
            </a:r>
            <a:r>
              <a:rPr lang="zh-CN" altLang="zh-CN" dirty="0"/>
              <a:t> 标签。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/>
              <a:t>在仓库列表上方的 </a:t>
            </a:r>
            <a:r>
              <a:rPr lang="zh-CN" altLang="zh-CN" b="1" dirty="0"/>
              <a:t>Search repositories</a:t>
            </a:r>
            <a:r>
              <a:rPr lang="zh-CN" altLang="zh-CN" dirty="0"/>
              <a:t> 输入框里输入 </a:t>
            </a:r>
            <a:r>
              <a:rPr lang="zh-CN" altLang="zh-CN" dirty="0">
                <a:latin typeface="+mn-lt"/>
              </a:rPr>
              <a:t>xhsc</a:t>
            </a:r>
            <a:r>
              <a:rPr lang="zh-CN" altLang="zh-CN" dirty="0"/>
              <a:t>，点击 </a:t>
            </a:r>
            <a:r>
              <a:rPr lang="zh-CN" altLang="zh-CN" b="1" dirty="0"/>
              <a:t>Search</a:t>
            </a:r>
            <a:r>
              <a:rPr lang="zh-CN" altLang="zh-CN" dirty="0"/>
              <a:t>。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/>
              <a:t>在结果中打开 </a:t>
            </a:r>
            <a:r>
              <a:rPr lang="zh-CN" altLang="zh-CN" dirty="0">
                <a:latin typeface="+mn-lt"/>
              </a:rPr>
              <a:t>hal_xhsc</a:t>
            </a:r>
            <a:r>
              <a:rPr lang="zh-CN" altLang="zh-CN" dirty="0"/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zh-CN" dirty="0"/>
              <a:t>你也可以直接打开第 2 步的页面：</a:t>
            </a:r>
            <a:r>
              <a:rPr lang="zh-CN" altLang="zh-CN" dirty="0">
                <a:hlinkClick r:id="rId6"/>
              </a:rPr>
              <a:t>Zephyr 组织仓库列表</a:t>
            </a:r>
            <a:r>
              <a:rPr lang="zh-CN" altLang="zh-CN" dirty="0"/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zh-CN" dirty="0"/>
              <a:t>这里使用的是</a:t>
            </a:r>
            <a:r>
              <a:rPr lang="zh-CN" altLang="zh-CN" b="1" dirty="0"/>
              <a:t>组织仓库列表中的搜索框</a:t>
            </a:r>
            <a:r>
              <a:rPr lang="zh-CN" altLang="zh-CN" dirty="0"/>
              <a:t>，不是 GitHub 页顶的全站搜索框，也不是 </a:t>
            </a:r>
            <a:r>
              <a:rPr lang="zh-CN" altLang="zh-CN" dirty="0">
                <a:latin typeface="+mn-lt"/>
              </a:rPr>
              <a:t>zephyr</a:t>
            </a:r>
            <a:r>
              <a:rPr lang="zh-CN" altLang="zh-CN" dirty="0"/>
              <a:t> 源码仓库里的文件搜索。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036A7DE-2CC7-736D-53F3-9CFBB3E684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302" y="3937000"/>
            <a:ext cx="3476716" cy="187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2F55F8A-C7E6-42AA-813B-69A551AD8E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207" y="3937000"/>
            <a:ext cx="3476716" cy="187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5A21F5E-CBB7-C8E9-C135-DFABECB5E90F}"/>
              </a:ext>
            </a:extLst>
          </p:cNvPr>
          <p:cNvCxnSpPr>
            <a:stCxn id="14" idx="3"/>
            <a:endCxn id="12" idx="1"/>
          </p:cNvCxnSpPr>
          <p:nvPr/>
        </p:nvCxnSpPr>
        <p:spPr>
          <a:xfrm>
            <a:off x="4759960" y="4876800"/>
            <a:ext cx="16553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92068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EE27939-DB85-435E-A6B3-2DBBB72E439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建库、清单收录与芯片支持是不同阶段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3887C21-C106-4F3A-9F97-5DEA1CFB2BA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5.1.3.2 · 查证日期：2026-10-06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674A815-6558-4F3F-B1D8-34C51A616ED8}"/>
              </a:ext>
            </a:extLst>
          </p:cNvPr>
          <p:cNvGraphicFramePr/>
          <p:nvPr/>
        </p:nvGraphicFramePr>
        <p:xfrm>
          <a:off x="609600" y="1905000"/>
          <a:ext cx="10972800" cy="36195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能证明什么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#86804：申请与建库确认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XHSC 申请独立 DDL 模块；2025-08-01 确认建库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#95973：请求加入 west.yml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维护者要求把清单修改与使用它的支持代码一起提交 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#94044 / #111990：芯片与板支持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查证时均 Closed、未合并；关闭不等于合并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当前实验的活动清单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 hal_xhsc；west 不会扫描组织内所有仓库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ource link 0">
            <a:extLst>
              <a:ext uri="{FF2B5EF4-FFF2-40B4-BE49-F238E27FC236}">
                <a16:creationId xmlns:a16="http://schemas.microsoft.com/office/drawing/2014/main" id="{F3185071-2F71-4BC7-AD8C-E1F751661F0D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清单接入讨论 #95973</a:t>
            </a:r>
          </a:p>
        </p:txBody>
      </p:sp>
      <p:sp>
        <p:nvSpPr>
          <p:cNvPr id="6" name="Source link 1">
            <a:extLst>
              <a:ext uri="{FF2B5EF4-FFF2-40B4-BE49-F238E27FC236}">
                <a16:creationId xmlns:a16="http://schemas.microsoft.com/office/drawing/2014/main" id="{950D3AE1-980F-469B-849D-B7D424A9BDB4}"/>
              </a:ext>
            </a:extLst>
          </p:cNvPr>
          <p:cNvSpPr>
            <a:spLocks noGrp="1"/>
          </p:cNvSpPr>
          <p:nvPr/>
        </p:nvSpPr>
        <p:spPr>
          <a:xfrm>
            <a:off x="61341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芯片支持 PR #94044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724FCA47-526A-4C65-ACD4-30944F014A4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清单外的 HC32 HAL 单独处理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45128318-89D2-4AB9-9E18-480C38691E9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5.2.3 · 不冒充官方清单项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AECD7EB1-CE3D-4156-AC23-C5542159A409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UCRT64；实验源码根。仅在 hal_xhsc 目录尚不存在时执行此下载块。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mkdir -p build/learning-tools/deps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! -e build/learning-tools/deps/hal_xhsc &amp;&amp;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git clone --no-checkout https://github.com/zephyrproject-rtos/hal_xhsc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  build/learning-tools/deps/hal_xhsc &amp;&amp;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git -C build/learning-tools/deps/hal_xhsc checkout --detach \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  a84e04900616f68097d80cda2e89eaa8af3afadd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7D45BA0-4858-42F1-B183-7819E127612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当前清单没有 hal_xhsc，不能直接 west update hal_xhsc。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网页核对 HC32F4A0 设备头和 DDL API，再用 Git 获取固定移植基线。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保留当前官方 west.yml；P007 以额外模块追加。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399283ED-EABA-436D-A5CD-C6E7047367BA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完整命令：P005_Windows/5.2.3-01.txt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388254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460B756-AFA9-43AE-903D-4D28F44EE0D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HAL 模块与芯片文件</a:t>
            </a:r>
          </a:p>
        </p:txBody>
      </p:sp>
      <p:sp>
        <p:nvSpPr>
          <p:cNvPr id="2" name="section">
            <a:extLst>
              <a:ext uri="{FF2B5EF4-FFF2-40B4-BE49-F238E27FC236}">
                <a16:creationId xmlns:a16="http://schemas.microsoft.com/office/drawing/2014/main" id="{3AD11F3F-B99C-4C13-B269-B430C43634A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5.2.3 · 整个模块由仓库提供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3D48A7E7-2A7F-4D33-BADB-53E860D83C30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UCRT64；源码根；Git 或已有完整 ZIP 模块都要核对这些原有文件。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build/learning-tools/deps/hal_xhsc/zephyr/module.yml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build/learning-tools/deps/hal_xhsc/hc32_ddl/hc32f4a0/soc/hc32f4a0.h &amp;&amp; printf 'HC32F4A0 OK\n'</a:t>
            </a:r>
          </a:p>
          <a:p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build/learning-tools/deps/hal_xhsc/hc32_ddl/hc32f4a0/drivers/inc/hc32_ll_usart.h &amp;&amp; printf 'USART DDL OK\n'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72B5456-1DF3-4DB4-8069-DF354324501A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Git 路线用 rev-parse HEAD 核对固定基线。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旧的完整 ZIP 可核对来源后复用，无需覆盖重下。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module.yml、设备头与 DDL 都是下载模块中的原有文件。</a:t>
            </a:r>
          </a:p>
        </p:txBody>
      </p:sp>
      <p:sp>
        <p:nvSpPr>
          <p:cNvPr id="5" name="Command file link">
            <a:extLst>
              <a:ext uri="{FF2B5EF4-FFF2-40B4-BE49-F238E27FC236}">
                <a16:creationId xmlns:a16="http://schemas.microsoft.com/office/drawing/2014/main" id="{F0147FE3-5255-41C9-B0FD-817D615538E9}"/>
              </a:ext>
            </a:extLst>
          </p:cNvPr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完整命令：P005_Windows/5.2.3-03.txt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277815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4E759D-6584-49C2-8DB4-62A7B6E7889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三种报错，分别回到对应的操作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8BC8D0-C166-4BE2-92E9-72898060CA1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5.2.4 · 不重建清单来掩盖环境问题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CADB7C-2A83-4622-A751-89D35BF59CC6}"/>
              </a:ext>
            </a:extLst>
          </p:cNvPr>
          <p:cNvGraphicFramePr/>
          <p:nvPr/>
        </p:nvGraphicFramePr>
        <p:xfrm>
          <a:off x="609600" y="1885950"/>
          <a:ext cx="10972800" cy="3429000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应做什么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Bash: .setup.cmd: command not found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切到 PowerShell，再在 SDK 根运行 .\setup.cmd /?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init: already initialized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 topdir 与现有清单；正确就跳过 init，不删除 .west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&lt;提交&gt;^commit: not a valid SHA1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 Python 找到的 Git；切换 Git for Windows，再重试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下载中断或找不到项目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分别检查网络与当前源码清单，不换默认分支 ZIP冒充配套版本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156641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DA6F749-8F35-4C3C-9276-F48ED448770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重新开 UCRT64 后，先恢复环境再继续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BB55B51-A808-4F89-B1AA-AF4BA930A50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2.2.2 / 5.2.1 · 当前窗口的 PATH 不会自动保留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688A9953-61CF-4E37-9CAB-1D7BCF85B85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762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UCRT64；进入已有实验源码根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--version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west --version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-c "import shutil; print(shutil.which('git'))"</a:t>
            </a:r>
          </a:p>
          <a:p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git --version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403B676A-9C25-4279-9CF0-85418D01FABE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1209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激活 .venv 只恢复 Python 工具。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再检查 Git 路径与版本；若回到 MSYS2 Git，按 5.2.1 纠正。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已存在的 west 工作区和已下载 CMSIS 不需要重新初始化。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778F45B-3BEA-4A5F-85F4-3BE3C2C2186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588791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9939</Words>
  <Application>Microsoft Office PowerPoint</Application>
  <DocSecurity>0</DocSecurity>
  <PresentationFormat>宽屏</PresentationFormat>
  <Paragraphs>1307</Paragraphs>
  <Slides>22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79</vt:i4>
      </vt:variant>
    </vt:vector>
  </HeadingPairs>
  <TitlesOfParts>
    <vt:vector size="93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98</cp:revision>
  <dcterms:created xsi:type="dcterms:W3CDTF">2026-10-06T03:23:18Z</dcterms:created>
  <dcterms:modified xsi:type="dcterms:W3CDTF">2026-10-06T12:32:53Z</dcterms:modified>
</cp:coreProperties>
</file>