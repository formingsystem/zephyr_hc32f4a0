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3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4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6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7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8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9.xml" ContentType="application/vnd.openxmlformats-officedocument.theme+xml"/>
  <Override PartName="/ppt/slideLayouts/slideLayout55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module_entry_9.xml" ContentType="application/vnd.openxmlformats-officedocument.presentationml.slide+xml"/>
  <Override PartName="/ppt/notesSlides/module_entry_9.xml" ContentType="application/vnd.openxmlformats-officedocument.presentationml.notesSlide+xml"/>
  <Override PartName="/ppt/slides/module_entry_10.xml" ContentType="application/vnd.openxmlformats-officedocument.presentationml.slide+xml"/>
  <Override PartName="/ppt/notesSlides/module_entry_10.xml" ContentType="application/vnd.openxmlformats-officedocument.presentationml.notesSlide+xml"/>
  <Override PartName="/ppt/slides/module_entry_11.xml" ContentType="application/vnd.openxmlformats-officedocument.presentationml.slide+xml"/>
  <Override PartName="/ppt/notesSlides/module_entry_11.xml" ContentType="application/vnd.openxmlformats-officedocument.presentationml.notesSlide+xml"/>
  <Override PartName="/ppt/slides/module_entry_12.xml" ContentType="application/vnd.openxmlformats-officedocument.presentationml.slide+xml"/>
  <Override PartName="/ppt/notesSlides/module_entry_12.xml" ContentType="application/vnd.openxmlformats-officedocument.presentationml.notesSlide+xml"/>
  <Override PartName="/ppt/slides/module_entry_13.xml" ContentType="application/vnd.openxmlformats-officedocument.presentationml.slide+xml"/>
  <Override PartName="/ppt/notesSlides/module_entry_13.xml" ContentType="application/vnd.openxmlformats-officedocument.presentationml.notesSlide+xml"/>
  <Override PartName="/ppt/slides/module_entry_14.xml" ContentType="application/vnd.openxmlformats-officedocument.presentationml.slide+xml"/>
  <Override PartName="/ppt/notesSlides/module_entry_14.xml" ContentType="application/vnd.openxmlformats-officedocument.presentationml.notesSlide+xml"/>
  <Override PartName="/ppt/slides/module_entry_15.xml" ContentType="application/vnd.openxmlformats-officedocument.presentationml.slide+xml"/>
  <Override PartName="/ppt/notesSlides/module_entry_15.xml" ContentType="application/vnd.openxmlformats-officedocument.presentationml.notesSlide+xml"/>
  <Override PartName="/ppt/slides/module_entry_16.xml" ContentType="application/vnd.openxmlformats-officedocument.presentationml.slide+xml"/>
  <Override PartName="/ppt/notesSlides/module_entry_16.xml" ContentType="application/vnd.openxmlformats-officedocument.presentationml.notesSlide+xml"/>
  <Override PartName="/ppt/slides/module_entry_17.xml" ContentType="application/vnd.openxmlformats-officedocument.presentationml.slide+xml"/>
  <Override PartName="/ppt/notesSlides/module_entry_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62" r:id="rId3"/>
    <p:sldMasterId id="2147483669" r:id="rId4"/>
    <p:sldMasterId id="2147483676" r:id="rId5"/>
    <p:sldMasterId id="2147483683" r:id="rId6"/>
    <p:sldMasterId id="2147483690" r:id="rId7"/>
    <p:sldMasterId id="2147483697" r:id="rId8"/>
    <p:sldMasterId id="2147483704" r:id="rId9"/>
    <p:sldMasterId id="2147483712" r:id="rId10"/>
  </p:sldMasterIdLst>
  <p:notesMasterIdLst>
    <p:notesMasterId r:id="rId90"/>
  </p:notesMasterIdLst>
  <p:sldIdLst>
    <p:sldId id="256" r:id="rIdModulePage1"/>
    <p:sldId id="257" r:id="rIdModulePage2"/>
    <p:sldId id="258" r:id="rIdModulePage3"/>
    <p:sldId id="259" r:id="rIdModulePage4"/>
    <p:sldId id="260" r:id="rIdModulePage5"/>
    <p:sldId id="261" r:id="rIdModulePage6"/>
    <p:sldId id="262" r:id="rIdModulePage7"/>
    <p:sldId id="263" r:id="rIdModulePage8"/>
    <p:sldId id="264" r:id="rIdModulePage9"/>
    <p:sldId id="265" r:id="rIdModulePage10"/>
    <p:sldId id="266" r:id="rIdModulePage11"/>
    <p:sldId id="267" r:id="rIdModulePage12"/>
    <p:sldId id="268" r:id="rIdModulePage13"/>
    <p:sldId id="269" r:id="rIdModulePage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 autoAdjust="0"/>
    <p:restoredTop sz="94645" autoAdjust="0"/>
  </p:normalViewPr>
  <p:slideViewPr>
    <p:cSldViewPr snapToGrid="0">
      <p:cViewPr varScale="1">
        <p:scale>
          <a:sx n="118" d="100"/>
          <a:sy n="118" d="100"/>
        </p:scale>
        <p:origin x="75" y="243"/>
      </p:cViewPr>
      <p:guideLst/>
    </p:cSldViewPr>
  </p:slideViewPr>
  <p:outlineViewPr>
    <p:cViewPr>
      <p:scale>
        <a:sx n="33" d="100"/>
        <a:sy n="33" d="100"/>
      </p:scale>
      <p:origin x="0" y="-8561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1" d="100"/>
          <a:sy n="101" d="100"/>
        </p:scale>
        <p:origin x="4138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5" Type="http://schemas.openxmlformats.org/officeDocument/2006/relationships/slideMaster" Target="slideMasters/slideMaster5.xml"/><Relationship Id="rId90" Type="http://schemas.openxmlformats.org/officeDocument/2006/relationships/notesMaster" Target="notesMasters/notesMaster1.xml"/><Relationship Id="rId8" Type="http://schemas.openxmlformats.org/officeDocument/2006/relationships/slideMaster" Target="slideMasters/slideMaster8.xml"/><Relationship Id="rId9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0" Type="http://schemas.openxmlformats.org/officeDocument/2006/relationships/slideMaster" Target="slideMasters/slideMaster10.xml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7" Type="http://schemas.openxmlformats.org/officeDocument/2006/relationships/slideMaster" Target="slideMasters/slideMaster7.xml"/><Relationship Id="rId9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ModulePage1" Type="http://schemas.openxmlformats.org/officeDocument/2006/relationships/slide" Target="slides/slide1.xml"/><Relationship Id="rIdModulePage2" Type="http://schemas.openxmlformats.org/officeDocument/2006/relationships/slide" Target="slides/module_entry_9.xml"/><Relationship Id="rIdModulePage3" Type="http://schemas.openxmlformats.org/officeDocument/2006/relationships/slide" Target="slides/module_entry_10.xml"/><Relationship Id="rIdModulePage4" Type="http://schemas.openxmlformats.org/officeDocument/2006/relationships/slide" Target="slides/module_entry_11.xml"/><Relationship Id="rIdModulePage5" Type="http://schemas.openxmlformats.org/officeDocument/2006/relationships/slide" Target="slides/module_entry_12.xml"/><Relationship Id="rIdModulePage6" Type="http://schemas.openxmlformats.org/officeDocument/2006/relationships/slide" Target="slides/module_entry_13.xml"/><Relationship Id="rIdModulePage7" Type="http://schemas.openxmlformats.org/officeDocument/2006/relationships/slide" Target="slides/module_entry_14.xml"/><Relationship Id="rIdModulePage8" Type="http://schemas.openxmlformats.org/officeDocument/2006/relationships/slide" Target="slides/module_entry_15.xml"/><Relationship Id="rIdModulePage9" Type="http://schemas.openxmlformats.org/officeDocument/2006/relationships/slide" Target="slides/slide74.xml"/><Relationship Id="rIdModulePage10" Type="http://schemas.openxmlformats.org/officeDocument/2006/relationships/slide" Target="slides/module_entry_16.xml"/><Relationship Id="rIdModulePage11" Type="http://schemas.openxmlformats.org/officeDocument/2006/relationships/slide" Target="slides/slide66.xml"/><Relationship Id="rIdModulePage12" Type="http://schemas.openxmlformats.org/officeDocument/2006/relationships/slide" Target="slides/slide67.xml"/><Relationship Id="rIdModulePage13" Type="http://schemas.openxmlformats.org/officeDocument/2006/relationships/slide" Target="slides/slide68.xml"/><Relationship Id="rIdModulePage14" Type="http://schemas.openxmlformats.org/officeDocument/2006/relationships/slide" Target="slides/module_entry_1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module_entry_9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9.xml"/><Relationship Id="rId1" Type="http://schemas.openxmlformats.org/officeDocument/2006/relationships/notesMaster" Target="../notesMasters/notesMaster1.xml"/></Relationships>
</file>

<file path=ppt/notesSlides/_rels/module_entry_10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10.xml"/><Relationship Id="rId1" Type="http://schemas.openxmlformats.org/officeDocument/2006/relationships/notesMaster" Target="../notesMasters/notesMaster1.xml"/></Relationships>
</file>

<file path=ppt/notesSlides/_rels/module_entry_11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11.xml"/><Relationship Id="rId1" Type="http://schemas.openxmlformats.org/officeDocument/2006/relationships/notesMaster" Target="../notesMasters/notesMaster1.xml"/></Relationships>
</file>

<file path=ppt/notesSlides/_rels/module_entry_12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12.xml"/><Relationship Id="rId1" Type="http://schemas.openxmlformats.org/officeDocument/2006/relationships/notesMaster" Target="../notesMasters/notesMaster1.xml"/></Relationships>
</file>

<file path=ppt/notesSlides/_rels/module_entry_13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13.xml"/><Relationship Id="rId1" Type="http://schemas.openxmlformats.org/officeDocument/2006/relationships/notesMaster" Target="../notesMasters/notesMaster1.xml"/></Relationships>
</file>

<file path=ppt/notesSlides/_rels/module_entry_14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14.xml"/><Relationship Id="rId1" Type="http://schemas.openxmlformats.org/officeDocument/2006/relationships/notesMaster" Target="../notesMasters/notesMaster1.xml"/></Relationships>
</file>

<file path=ppt/notesSlides/_rels/module_entry_15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15.xml"/><Relationship Id="rId1" Type="http://schemas.openxmlformats.org/officeDocument/2006/relationships/notesMaster" Target="../notesMasters/notesMaster1.xml"/></Relationships>
</file>

<file path=ppt/notesSlides/_rels/module_entry_16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16.xml"/><Relationship Id="rId1" Type="http://schemas.openxmlformats.org/officeDocument/2006/relationships/notesMaster" Target="../notesMasters/notesMaster1.xml"/></Relationships>
</file>

<file path=ppt/notesSlides/_rels/module_entry_17.xml.rels><?xml version='1.0' encoding='UTF-8' standalone='yes'?>
<Relationships xmlns="http://schemas.openxmlformats.org/package/2006/relationships"><Relationship Id="rId2" Type="http://schemas.openxmlformats.org/officeDocument/2006/relationships/slide" Target="../slides/module_entry_17.xml"/><Relationship Id="rId1" Type="http://schemas.openxmlformats.org/officeDocument/2006/relationships/notesMaster" Target="../notesMasters/notesMaster1.xml"/></Relationships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module_entry_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对应正文：前置：P005 已取得 CMSIS 与 hal_xhsc。实验源码根 G:/zephyr_practice/zephyr-main。</a:t>
            </a:r>
          </a:p>
          <a:p>
            <a:r>
              <a:t>现在从配置 hello_world 的工程入口向内看。</a:t>
            </a:r>
          </a:p>
          <a:p>
            <a:r>
              <a:t>先明确路径由谁提供，再追踪 Zephyr 的调用与生成结果。</a:t>
            </a:r>
          </a:p>
          <a:p>
            <a:r>
              <a:t>内部 CMake 规则放在发现过程之后；完整 HC32 构建仍在 P007。</a:t>
            </a:r>
          </a:p>
          <a:p>
            <a:r>
              <a:t>
完整正文：learning/P01_zephyr_make_project/P006_源码模块接入Zephyr工程_Windows.md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ule_entry_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对应正文：6.1.1 · 下载目录不会主动通知 Zephyr。实验源码根 G:/zephyr_practice/zephyr-main。</a:t>
            </a:r>
          </a:p>
          <a:p>
            <a:r>
              <a:t>CMSIS：同一工作区的 west 活动项目列表提供目录。</a:t>
            </a:r>
          </a:p>
          <a:p>
            <a:r>
              <a:t>HAL：读者通过 EXTRA_ZEPHYR_MODULES 追加本地模块根。</a:t>
            </a:r>
          </a:p>
          <a:p>
            <a:r>
              <a:t>这是 Zephyr 原生 CMake 输入，保留已有 west 模块。</a:t>
            </a:r>
          </a:p>
          <a:p>
            <a:r>
              <a:t/>
            </a:r>
          </a:p>
          <a:p>
            <a:r>
              <a:t>P007 7.7 的配置命令同时追加 HAL 与该章创建的 hc32_port。</a:t>
            </a:r>
          </a:p>
          <a:p>
            <a:r>
              <a:t>传模块根，不传 module.yml 文件名，也不传 DDL 子目录。</a:t>
            </a:r>
          </a:p>
          <a:p>
            <a:r>
              <a:t>
完整正文：learning/P01_zephyr_make_project/P006_源码模块接入Zephyr工程_Windows.md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ule_entry_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对应正文：6.1.1 · 下列为参数示意，不单独执行。实验源码根 G:/zephyr_practice/zephyr-main。</a:t>
            </a:r>
          </a:p>
          <a:p>
            <a:r>
              <a:t>该参数属于 P007 的 cmake -S samples/hello_world -B … 命令。</a:t>
            </a:r>
          </a:p>
          <a:p>
            <a:r>
              <a:t>保存位置是那个 -B 目录的 CMakeCache.txt；只供该构建目录复用。</a:t>
            </a:r>
          </a:p>
          <a:p>
            <a:r>
              <a:t>HAL 在 03 下载，hc32_port 在 P007 创建；前提未齐时先不要配置。</a:t>
            </a:r>
          </a:p>
          <a:p>
            <a:r>
              <a:t>
完整正文：learning/P01_zephyr_make_project/P006_源码模块接入Zephyr工程_Windows.md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ule_entry_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对应正文：6.1.2 · 这些调用代码均由 Zephyr 原有源码提供。实验源码根 G:/zephyr_practice/zephyr-main。</a:t>
            </a:r>
          </a:p>
          <a:p>
            <a:r>
              <a:t>应用 CMakeLists.txt 的 find_package(Zephyr) 触发加载。</a:t>
            </a:r>
          </a:p>
          <a:p>
            <a:r>
              <a:t>ZephyrConfig → zephyr_default → zephyr_module.cmake。</a:t>
            </a:r>
          </a:p>
          <a:p>
            <a:r>
              <a:t>最后一个文件读取 EXTRA_ZEPHYR_MODULES 并调用 Python 脚本。</a:t>
            </a:r>
          </a:p>
          <a:p>
            <a:r>
              <a:t>
完整正文：learning/P01_zephyr_make_project/P006_源码模块接入Zephyr工程_Windows.md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ule_entry_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对应正文：6.1.3 · HAL 仓库原有文件，只读，不创建 west.yml。实验源码根 G:/zephyr_practice/zephyr-main。</a:t>
            </a:r>
          </a:p>
          <a:p>
            <a:r>
              <a:t>zephyr_module.py 遍历候选根，再读该根的 zephyr/module.yml。</a:t>
            </a:r>
          </a:p>
          <a:p>
            <a:r>
              <a:t>name 给模块命名；cmake: . 选择 HAL 根的 CMakeLists.txt。</a:t>
            </a:r>
          </a:p>
          <a:p>
            <a:r>
              <a:t>识别结果写入构建目录 zephyr_modules.txt，包含名字与实际路径。</a:t>
            </a:r>
          </a:p>
          <a:p>
            <a:r>
              <a:t>
完整正文：learning/P01_zephyr_make_project/P006_源码模块接入Zephyr工程_Windows.md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ule_entry_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对应正文：6.1.4 · 输入 → 发现记录 → CMake 普通变量。实验源码根 G:/zephyr_practice/zephyr-main。</a:t>
            </a:r>
          </a:p>
          <a:p>
            <a:r>
              <a:t>zephyr_module.cmake 读回 zephyr_modules.txt。</a:t>
            </a:r>
          </a:p>
          <a:p>
            <a:r>
              <a:t>本条记录的 MODULE_NAME_UPPER=HAL_XHSC，module_path=HAL 根。</a:t>
            </a:r>
          </a:p>
          <a:p>
            <a:r>
              <a:t>于是得到 ZEPHYR_HAL_XHSC_MODULE_DIR；它不是环境变量，无需 export。</a:t>
            </a:r>
          </a:p>
          <a:p>
            <a:r>
              <a:t>
完整正文：learning/P01_zephyr_make_project/P006_源码模块接入Zephyr工程_Windows.md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ule_entry_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对应正文：6.1.4 / 6.1.6 · 发现模块与启用源文件分开核对。实验源码根 G:/zephyr_practice/zephyr-main。</a:t>
            </a:r>
          </a:p>
          <a:p>
            <a:r>
              <a:t>本系列 SoC CMake 用模块根拼接 /hc32_ddl/hc32f4a0，选择所需 DDL。</a:t>
            </a:r>
          </a:p>
          <a:p>
            <a:r>
              <a:t>Zephyr 顶层也按模块的 CMake 入口执行 add_subdirectory()。</a:t>
            </a:r>
          </a:p>
          <a:p>
            <a:r>
              <a:t/>
            </a:r>
          </a:p>
          <a:p>
            <a:r>
              <a:t>是否进入内部目录、是否添加某个驱动，由后续 CMake/Kconfig 决定。</a:t>
            </a:r>
          </a:p>
          <a:p>
            <a:r>
              <a:t>发现成功不会自动补出板、SoC、Kconfig 或 Zephyr 驱动。</a:t>
            </a:r>
          </a:p>
          <a:p>
            <a:r>
              <a:t>普通变量在本次配置中建立；下次配置由同一发现流程重新生成。</a:t>
            </a:r>
          </a:p>
          <a:p>
            <a:r>
              <a:t>
完整正文：learning/P01_zephyr_make_project/P006_源码模块接入Zephyr工程_Windows.md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ule_entry_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对应正文：6.1.5 · UCRT64；源码根 .venv 已激活；HAL 已下载。实验源码根 G:/zephyr_practice/zephyr-main。</a:t>
            </a:r>
          </a:p>
          <a:p>
            <a:r>
              <a:t>直接调用 Zephyr 自带发现脚本，只传当前已存在的 HAL 根。</a:t>
            </a:r>
          </a:p>
          <a:p>
            <a:r>
              <a:t>检查输出同时包含 west 的 cmsis_6 和额外的 hal_xhsc。</a:t>
            </a:r>
          </a:p>
          <a:p>
            <a:r>
              <a:t>这次检查不配置应用，不保存未来 CMake 参数，也不生成上述变量。</a:t>
            </a:r>
          </a:p>
          <a:p>
            <a:r>
              <a:t/>
            </a:r>
          </a:p>
          <a:p>
            <a:r>
              <a:t>若缺少 HAL，先核对模块根与 zephyr/module.yml。</a:t>
            </a:r>
          </a:p>
          <a:p>
            <a:r>
              <a:t>不要手填生成文件。完整可复制操作见下方链接。</a:t>
            </a:r>
          </a:p>
          <a:p>
            <a:r>
              <a:t>
完整正文：learning/P01_zephyr_make_project/P006_源码模块接入Zephyr工程_Windows.md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module_entry_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对应正文：6.2 · 从准备阶段进入 P007。实验源码根 G:/zephyr_practice/zephyr-main。</a:t>
            </a:r>
          </a:p>
          <a:p>
            <a:r>
              <a:t>P006：发现记录里有 CMSIS 与 HAL，且路径正确。</a:t>
            </a:r>
          </a:p>
          <a:p>
            <a:r>
              <a:t>P007 配置：CMakeCache 保存输入，zephyr_modules.txt 记录模块。</a:t>
            </a:r>
          </a:p>
          <a:p>
            <a:r>
              <a:t>P007 构建：compile_commands.json 中实际包含需要的 DDL。</a:t>
            </a:r>
          </a:p>
          <a:p>
            <a:r>
              <a:t/>
            </a:r>
          </a:p>
          <a:p>
            <a:r>
              <a:t>随后才验证固件与实板运行。</a:t>
            </a:r>
          </a:p>
          <a:p>
            <a:r>
              <a:t>回查依赖时按 01 工具 → 02 SDK → 03 下载 → 04 接入定位。</a:t>
            </a:r>
          </a:p>
          <a:p>
            <a:r>
              <a:t>
完整正文：learning/P01_zephyr_make_project/P006_源码模块接入Zephyr工程_Windows.md
源码基线：Zephyr 25c8f4a23988dd3b2cfb463613622738298c2d6c；SDK 1.0.1。
模块接口：https://docs.zephyrproject.org/latest/develop/modules.html#integrate-modules-in-zephyr-build-system
实际调用代码：https://github.com/zephyrproject-rtos/zephyr/blob/25c8f4a23988dd3b2cfb463613622738298c2d6c/cmake/modules/zephyr_module.cmake
SDK 架构映射：所用 SDK 原有 cmake/zephyr/gnu/target.cmake；Zephyr 的 cmake/compiler/gcc/target_arm.cmake 选择 CPU/FPU 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承接第一期的 UCRT64 与源码下载。本期从原生文件查版本，准备 SDK、主机工具、Windows Python 3.12.10、west 1.5.0 与源码根 .venv。完成标志是工具和包环境可以核验、下次可以恢复。CMake 配置、实际编译与新增板实验已独立放入 P007。</a:t>
            </a:r>
          </a:p>
          <a:p>
            <a:r>
              <a:t>配套正文：learning/P01_zephyr_make_project/P006_源码模块接入Zephyr工程_Windows.md</a:t>
            </a:r>
          </a:p>
          <a:p>
            <a:r>
              <a:t>资料分工：本PPT配合视频讲解关键关系和复习步骤；完整前提、安装分支、可复制命令、预期结果与恢复说明以同名Markdown为主。正文提供本章导航和视频与复习对照。正文：learning/P01_zephyr_make_project/P006_源码模块接入Zephyr工程_Windows.md。实验仍在G:/zephyr_practice/zephyr-main进行，Windows命令按UCRT64或PowerShell标识分别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对应正文：P002—P006，5.2.5 · 头文件怎样接起来</a:t>
            </a:r>
          </a:p>
          <a:p>
            <a:r>
              <a:t>实际文件：learning/board/labs/hc32_port/soc/xhsc/hc32f4a0/soc.h与CMakeLists.txt。P007 7.6.3.1详述来源与调用关系。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对应正文：P002—P006，5.2.5 · 设备包没有提供哪些能力</a:t>
            </a:r>
          </a:p>
          <a:p>
            <a:r>
              <a:t>设备头存在不代表串口能输出。没有实现与核验的外设不声明支持。本系列HC32实际有DDL，不能删除它后沿用现有驱动。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对应正文：P002—P006，5.2.5 · 材料来源与工作分界</a:t>
            </a:r>
          </a:p>
          <a:p>
            <a:r>
              <a:t>独立west清单编写留在learning/west，不能把模块入口module.yml与官方west.yml混为一谈。</a:t>
            </a:r>
          </a:p>
          <a:p>
            <a:endParaRPr/>
          </a:p>
          <a:p>
            <a:r>
              <a:t>本期不删除、不替换官方 west.yml；仅使用既有清单下载依赖。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对应正文：P005 5.1.3 与 P006 6.1。保留官方 west.yml，不在这里编写新清单。</a:t>
            </a:r>
          </a:p>
          <a:p>
            <a:endParaRPr/>
          </a:p>
          <a:p>
            <a:r>
              <a:t>../P006_源码模块接入Zephyr工程_Windows.md</a:t>
            </a:r>
          </a:p>
          <a:p>
            <a:r>
              <a:t>../P007_编译示例与新增开发板_Windows.md</a:t>
            </a:r>
          </a:p>
          <a:p>
            <a:r>
              <a:t>资料核对日期：2026-10-06。Closed 与 Merged 分开核对；HAL 原有源文件选择与本系列 SoC 显式接法不能同时启用。</a:t>
            </a:r>
          </a:p>
          <a:p>
            <a:r>
              <a:t>https://github.com/zephyrproject-rtos/hal_xhsc/blob/a84e04900616f68097d80cda2e89eaa8af3afadd/CMakeLists.txt</a:t>
            </a:r>
          </a:p>
          <a:p>
            <a:r>
              <a:t>https://github.com/zephyrproject-rtos/hal_xhsc/blob/a84e04900616f68097d80cda2e89eaa8af3afadd/hc32_ddl/CMakeLists.txt</a:t>
            </a:r>
          </a:p>
          <a:p>
            <a:r>
              <a:t>https://github.com/zephyrproject-rtos/hal_xhsc/blob/a84e04900616f68097d80cda2e89eaa8af3afadd/hc32_ddl/hc32f4a0/CMakeLists.txt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09EFEC-A256-4351-8E97-7435A86F5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D30F8346-A555-47D3-A2E1-BCC543F086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9FFD06F-FE24-49EC-9194-56ADD2F78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AC000BD-3078-4113-9B52-8F4DA1A5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85CD6595-793E-4B5C-9A13-3CF885E93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2BB22602-462A-4044-8815-D4D7F3722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E035DCF-B384-44F7-973A-284F6383E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F8291D3-BA4E-489C-A187-B06D1729689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2399FC7-8945-4254-8CD9-64E421CA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03ED6C9-C27E-4C55-88EE-9831E748E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7671C1C-5025-4D29-A360-8BBD2A753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19D3DCD-7507-4683-89CE-F3D231C8A3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29CC60F-30D0-415E-A4D7-746AF5409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F7B7778-9448-437B-B094-C6639BF64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4F948DB7-9F5D-43FA-9D72-7781FF732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CEF84B3-3722-466D-9F8E-F0D0F0232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92C5F1C-70E0-452B-AA10-A78FBC564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BF1C765-0A06-4D66-81FC-1D72786D3F0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EB02EDE-51E1-4905-A67C-7B329CBCA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E27F931-76AC-4AF7-AD13-3C7C3CDE9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5D4413F-A4F9-4B51-AFFD-82864AF6C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FD08B3B-12D0-41D2-8648-0D07906865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FCE3EA2-4F10-45DA-B0F9-258DCBCC0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E38891C-D6D9-446A-AA0F-2E808D94E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EE30FA7-471B-4F2E-909C-EB3A4775D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AE93EF2-48DD-4353-892F-7737D8D05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3B0FB94-361B-4E83-BDD7-72F259E414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C0F9B30-F258-4C66-9BAE-8E6CCCBEB1C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39B7AF1-5458-40DC-A2A4-C3E940EA6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53A861C-2F71-4C8D-BA0B-22424FAA98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B36E5FB-B942-4F81-863B-14311E9F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AF2B295-21D1-4984-B654-FBF7CAE9D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3D17426-DC83-4E87-92D1-C42F39DE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AA50F02-7FF7-4768-AAE3-6D461A8E7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F8FD79E2-AB77-4BDF-8B79-A0298C132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1A1B3CA-10A8-42A1-A449-401A8E29B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5583886-4F04-4841-AF3F-4DA161B10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EC602EA-9C36-498E-96AE-A097FAF5590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A2BC890-15D0-44AE-9D82-5FBCB33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0CC2291-CE8F-48FC-89EB-53256BB32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C598CAA-C856-4FEE-A978-34E621BAF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0829FEA2-767A-4E79-B26D-7FA7A3B10C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9C698EE-F7BC-472F-B0AE-719B18E88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2E4F364-3711-43C3-B07A-3F13F1CEE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5597017-FD42-445A-A879-4A45D335B5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DD197A-8666-4022-AE39-C778E2BD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08BA7AF-E378-4A60-8E19-7FA3870E8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965E0796-E8CF-4125-A4B7-51245344049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D840989-4046-4F67-8519-5CAC5F92F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71EAF3-957C-48C2-B0E2-F32C7C8473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2F728ED-C843-4E3D-B8CB-B19A2035F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211DF1EC-56E5-4C33-849E-1A55A3202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04FB50E-9440-418F-AEBC-C0C082EE8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D4E580-EA8C-4260-AE81-4E793E49D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BFF1DF06-173D-4620-9B12-18F05E5C37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55EAD1C6-4DD4-4A65-9B8A-B62315FEC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C3A2051-86A6-450D-93E1-4CA1394BB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CFCC3E3-BC99-4A46-9206-9E90D8F7444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478AD7-3F2E-4904-BBBE-EC7CFCDA2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358C676-B293-45B8-ADCE-18F796344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3B24EA-8579-4A7F-BFCD-E4FFA8879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B6F869A-59A0-43E8-9F21-B67A7103F4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672EB19-2E93-4233-9A53-912C17E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B0D8C91-F5E1-41E0-84C6-ECDE1D0A1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28322EB-D798-4141-BA0A-3447C656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7D8381E-58A3-4F99-B440-89507AF6B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0ECA5C48-DFF3-4541-8AD8-65F68C6FC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263B4A2-54D7-4E0A-9501-D01FF940171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4B62F69-FD43-4A6B-B9C0-11F83020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D3B2FF7-D4E7-4EEC-933D-DD35C92C4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A9AA2868-E8E9-49AB-8A3B-B4FC708ED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80266387-2782-4A3F-9870-F042E2FBD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BF6B388-0C1C-4EA3-83B8-6F2F71CD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426D79A-BF0D-4F26-8411-4E82B2340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9CCAC56B-7E9F-4B09-9ED0-A3A6E5A27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0DE1107C-8FD5-461A-8F34-B7D2C96F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D141E0-5B82-4D36-A319-BE6154D3D1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CD4BFC1-10CD-4521-83BA-59605611932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F454303-BC41-44C1-AE26-65F1721CE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35CEBDC-4BFF-405F-B2FA-1E7F2185B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9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5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0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5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6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1.xml"/><Relationship Id="rId7" Type="http://schemas.openxmlformats.org/officeDocument/2006/relationships/theme" Target="../theme/theme9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4">
            <a:extLst>
              <a:ext uri="{FF2B5EF4-FFF2-40B4-BE49-F238E27FC236}">
                <a16:creationId xmlns:a16="http://schemas.microsoft.com/office/drawing/2014/main" id="{F2514CA8-5324-427A-8F58-A1771CD4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Footer signature lizhaojun"/>
          <p:cNvSpPr>
            <a:spLocks noGrp="1"/>
          </p:cNvSpPr>
          <p:nvPr/>
        </p:nvSpPr>
        <p:spPr>
          <a:xfrm rot="0">
            <a:off x="609600" y="6438900"/>
            <a:ext cx="1428750" cy="266700"/>
          </a:xfrm>
          <a:prstGeom prst="rect">
            <a:avLst/>
          </a:prstGeom>
          <a:noFill/>
          <a:ln w="0">
            <a:noFill/>
          </a:ln>
        </p:spPr>
        <p:txBody>
          <a:bodyPr anchor="ctr" lIns="0" rIns="0" tIns="0" bIns="0" wrap="none">
            <a:noAutofit/>
          </a:bodyPr>
          <a:lstStyle>
            <a:defPPr algn="ctr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noProof="1" dirty="0" err="0">
                <a:solidFill>
                  <a:srgbClr val="D4CDE8"/>
                </a:solidFill>
                <a:latin typeface="Microsoft YaHei"/>
                <a:ea typeface="Microsoft YaHei"/>
                <a:cs typeface="Microsoft YaHei"/>
              </a:rPr>
              <a:t>lizhaojun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module_entry_9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9.xml"/><Relationship Id="rId1" Type="http://schemas.openxmlformats.org/officeDocument/2006/relationships/slideLayout" Target="../slideLayouts/slideLayout54.xml"/></Relationships>
</file>

<file path=ppt/slides/_rels/module_entry_10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10.xml"/><Relationship Id="rId1" Type="http://schemas.openxmlformats.org/officeDocument/2006/relationships/slideLayout" Target="../slideLayouts/slideLayout54.xml"/><Relationship Id="rIdEntryLink0" Type="http://schemas.openxmlformats.org/officeDocument/2006/relationships/hyperlink" Target="../commands/P007_Windows/7.7-01.txt" TargetMode="External"/></Relationships>
</file>

<file path=ppt/slides/_rels/module_entry_1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11.xml"/><Relationship Id="rId1" Type="http://schemas.openxmlformats.org/officeDocument/2006/relationships/slideLayout" Target="../slideLayouts/slideLayout54.xml"/><Relationship Id="rIdEntryLink0" Type="http://schemas.openxmlformats.org/officeDocument/2006/relationships/hyperlink" Target="../commands/P007_Windows/7.7-01.txt" TargetMode="External"/></Relationships>
</file>

<file path=ppt/slides/_rels/module_entry_1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12.xml"/><Relationship Id="rId1" Type="http://schemas.openxmlformats.org/officeDocument/2006/relationships/slideLayout" Target="../slideLayouts/slideLayout54.xml"/></Relationships>
</file>

<file path=ppt/slides/_rels/module_entry_1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13.xml"/><Relationship Id="rId1" Type="http://schemas.openxmlformats.org/officeDocument/2006/relationships/slideLayout" Target="../slideLayouts/slideLayout54.xml"/></Relationships>
</file>

<file path=ppt/slides/_rels/module_entry_1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14.xml"/><Relationship Id="rId1" Type="http://schemas.openxmlformats.org/officeDocument/2006/relationships/slideLayout" Target="../slideLayouts/slideLayout54.xml"/></Relationships>
</file>

<file path=ppt/slides/_rels/module_entry_1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15.xml"/><Relationship Id="rId1" Type="http://schemas.openxmlformats.org/officeDocument/2006/relationships/slideLayout" Target="../slideLayouts/slideLayout54.xml"/></Relationships>
</file>

<file path=ppt/slides/_rels/module_entry_1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16.xml"/><Relationship Id="rId1" Type="http://schemas.openxmlformats.org/officeDocument/2006/relationships/slideLayout" Target="../slideLayouts/slideLayout54.xml"/><Relationship Id="rIdEntryLink0" Type="http://schemas.openxmlformats.org/officeDocument/2006/relationships/hyperlink" Target="../commands/P006_Windows/6.1.5-01.txt" TargetMode="External"/></Relationships>
</file>

<file path=ppt/slides/_rels/module_entry_1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module_entry_17.xml"/><Relationship Id="rId1" Type="http://schemas.openxmlformats.org/officeDocument/2006/relationships/slideLayout" Target="../slideLayouts/slideLayout54.xml"/></Relationships>
</file>

<file path=ppt/slides/_rels/slide1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5.xml"/></Relationships>
</file>

<file path=ppt/slides/_rels/slide6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4.xml"/></Relationships>
</file>

<file path=ppt/slides/_rels/slide67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4.xml"/></Relationships>
</file>

<file path=ppt/slides/_rels/slide68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4.xml"/></Relationships>
</file>

<file path=ppt/slides/_rels/slide74.xml.rels><?xml version='1.0' encoding='UTF-8' standalone='yes'?>
<Relationships xmlns="http://schemas.openxmlformats.org/package/2006/relationships"><Relationship Id="rId3" Type="http://schemas.openxmlformats.org/officeDocument/2006/relationships/hyperlink" Target="../P006_&#28304;&#30721;&#27169;&#22359;&#25509;&#20837;Zephyr&#24037;&#31243;_Windows.md" TargetMode="External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4.xml"/><Relationship Id="rId4" Type="http://schemas.openxmlformats.org/officeDocument/2006/relationships/hyperlink" Target="../P007_&#32534;&#35793;&#31034;&#20363;&#19982;&#26032;&#22686;&#24320;&#21457;&#26495;_Windows.md" TargetMode="External"/></Relationships>
</file>

<file path=ppt/slides/module_entry_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AFFD75C-AB68-4283-B93A-D1D9C21EAFD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04 · 工程接收源码模块的路径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C8F00A0E-927C-4ED5-8CD8-20148F25E8CD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6.0 · 回顾 P003：保留默认候选，按需追加模块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80EBC322-F9B0-462F-BD1B-5D2D1DF1A773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现在从配置 hello_world 的工程入口向内看。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先明确路径由谁提供，再追踪 Zephyr 的调用与生成结果。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内部 CMake 规则放在发现过程之后；完整 HC32 构建仍在 P007。</a:t>
            </a:r>
          </a:p>
        </p:txBody>
      </p:sp>
      <p:sp>
        <p:nvSpPr>
          <p:cNvPr id="5" name="Module stage 1">
            <a:extLst>
              <a:ext uri="{FF2B5EF4-FFF2-40B4-BE49-F238E27FC236}">
                <a16:creationId xmlns:a16="http://schemas.microsoft.com/office/drawing/2014/main" id="{D273699F-54A6-4D23-BB71-17A52EE8CB00}"/>
              </a:ext>
            </a:extLst>
          </p:cNvPr>
          <p:cNvSpPr>
            <a:spLocks noGrp="1"/>
          </p:cNvSpPr>
          <p:nvPr/>
        </p:nvSpPr>
        <p:spPr>
          <a:xfrm>
            <a:off x="66675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工程收到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候选模块路径</a:t>
            </a:r>
          </a:p>
        </p:txBody>
      </p:sp>
      <p:sp>
        <p:nvSpPr>
          <p:cNvPr id="6" name="flow 0">
            <a:extLst>
              <a:ext uri="{FF2B5EF4-FFF2-40B4-BE49-F238E27FC236}">
                <a16:creationId xmlns:a16="http://schemas.microsoft.com/office/drawing/2014/main" id="{32BF8DBD-EEF2-4FDC-8A78-91A59414C172}"/>
              </a:ext>
            </a:extLst>
          </p:cNvPr>
          <p:cNvSpPr>
            <a:spLocks noGrp="1"/>
          </p:cNvSpPr>
          <p:nvPr/>
        </p:nvSpPr>
        <p:spPr>
          <a:xfrm>
            <a:off x="305752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ule stage 2">
            <a:extLst>
              <a:ext uri="{FF2B5EF4-FFF2-40B4-BE49-F238E27FC236}">
                <a16:creationId xmlns:a16="http://schemas.microsoft.com/office/drawing/2014/main" id="{BD562156-E51F-40B3-B4C8-1741787AEB78}"/>
              </a:ext>
            </a:extLst>
          </p:cNvPr>
          <p:cNvSpPr>
            <a:spLocks noGrp="1"/>
          </p:cNvSpPr>
          <p:nvPr/>
        </p:nvSpPr>
        <p:spPr>
          <a:xfrm>
            <a:off x="347662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读取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module.yml</a:t>
            </a:r>
          </a:p>
        </p:txBody>
      </p:sp>
      <p:sp>
        <p:nvSpPr>
          <p:cNvPr id="8" name="flow 1">
            <a:extLst>
              <a:ext uri="{FF2B5EF4-FFF2-40B4-BE49-F238E27FC236}">
                <a16:creationId xmlns:a16="http://schemas.microsoft.com/office/drawing/2014/main" id="{E4AAB0F1-FC03-496E-9486-CD854EF2EE0E}"/>
              </a:ext>
            </a:extLst>
          </p:cNvPr>
          <p:cNvSpPr>
            <a:spLocks noGrp="1"/>
          </p:cNvSpPr>
          <p:nvPr/>
        </p:nvSpPr>
        <p:spPr>
          <a:xfrm>
            <a:off x="5867400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ule stage 3">
            <a:extLst>
              <a:ext uri="{FF2B5EF4-FFF2-40B4-BE49-F238E27FC236}">
                <a16:creationId xmlns:a16="http://schemas.microsoft.com/office/drawing/2014/main" id="{508CFA73-E818-4342-8637-5C99D0DF6F37}"/>
              </a:ext>
            </a:extLst>
          </p:cNvPr>
          <p:cNvSpPr>
            <a:spLocks noGrp="1"/>
          </p:cNvSpPr>
          <p:nvPr/>
        </p:nvSpPr>
        <p:spPr>
          <a:xfrm>
            <a:off x="628650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生成记录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与 CMake 变量</a:t>
            </a:r>
          </a:p>
        </p:txBody>
      </p:sp>
      <p:sp>
        <p:nvSpPr>
          <p:cNvPr id="10" name="flow 2">
            <a:extLst>
              <a:ext uri="{FF2B5EF4-FFF2-40B4-BE49-F238E27FC236}">
                <a16:creationId xmlns:a16="http://schemas.microsoft.com/office/drawing/2014/main" id="{3C9AAC2E-7838-40E6-BA0A-A16AC389E6B4}"/>
              </a:ext>
            </a:extLst>
          </p:cNvPr>
          <p:cNvSpPr>
            <a:spLocks noGrp="1"/>
          </p:cNvSpPr>
          <p:nvPr/>
        </p:nvSpPr>
        <p:spPr>
          <a:xfrm>
            <a:off x="867727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ule stage 4">
            <a:extLst>
              <a:ext uri="{FF2B5EF4-FFF2-40B4-BE49-F238E27FC236}">
                <a16:creationId xmlns:a16="http://schemas.microsoft.com/office/drawing/2014/main" id="{88DDA831-A567-400B-99C0-2F63F3A8E72B}"/>
              </a:ext>
            </a:extLst>
          </p:cNvPr>
          <p:cNvSpPr>
            <a:spLocks noGrp="1"/>
          </p:cNvSpPr>
          <p:nvPr/>
        </p:nvSpPr>
        <p:spPr>
          <a:xfrm>
            <a:off x="909637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SoC / 模块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选择源码</a:t>
            </a:r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module_entry_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FF72CDB-3B22-4E67-BB06-EEAEB765337D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清单内与清单外模块的工程入口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1FAD9556-9E95-43F4-9294-BAD5112198E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6.1.1 · 下载目录不会主动通知 Zephyr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04694450-30B5-4948-B420-25CB45E78FE9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3619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CMSIS：同一工作区的 west 活动项目列表提供目录。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HAL：读者通过 EXTRA_ZEPHYR_MODULES 追加本地模块根。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这是 Zephyr 原生 CMake 输入，保留已有 west 模块。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P007 7.7 的配置命令同时追加 HAL 与该章创建的 hc32_port。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传模块根，不传 module.yml 文件名，也不传 DDL 子目录。</a:t>
            </a:r>
          </a:p>
        </p:txBody>
      </p:sp>
      <p:sp>
        <p:nvSpPr>
          <p:cNvPr id="5" name="Source link 0">
            <a:extLst>
              <a:ext uri="{FF2B5EF4-FFF2-40B4-BE49-F238E27FC236}">
                <a16:creationId xmlns:a16="http://schemas.microsoft.com/office/drawing/2014/main" id="{0A39D365-8E9C-4F09-90D9-03B0D7B01AF9}"/>
              </a:ext>
            </a:extLst>
          </p:cNvPr>
          <p:cNvSpPr>
            <a:spLocks noGrp="1"/>
          </p:cNvSpPr>
          <p:nvPr/>
        </p:nvSpPr>
        <p:spPr>
          <a:xfrm>
            <a:off x="6096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EntryLink0"/>
              </a:rPr>
              <a:t>P007 7.7：完整配置命令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module_entry_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85A41F3-9D19-402A-AEED-77CD638AAC63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路径交给哪一次工程配置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B44EB2B6-02C8-4C07-9704-91D23FD7C23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6.1.1 · 下列为参数示意，不单独执行</a:t>
            </a:r>
          </a:p>
        </p:txBody>
      </p:sp>
      <p:sp>
        <p:nvSpPr>
          <p:cNvPr id="4" name="Read-only module excerpt">
            <a:extLst>
              <a:ext uri="{FF2B5EF4-FFF2-40B4-BE49-F238E27FC236}">
                <a16:creationId xmlns:a16="http://schemas.microsoft.com/office/drawing/2014/main" id="{A798ADF6-1F1D-4912-869B-8DC212E11DD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1571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-DEXTRA_ZEPHYR_MODULES="&lt;HAL 模块根&gt;;&lt;hc32_port 模块根&gt;"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379959E6-A7EA-4481-84AB-5D16CB2F9000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1714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该参数属于 P007 的 cmake -S samples/hello_world -B … 命令。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保存位置是那个 -B 目录的 CMakeCache.txt；只供该构建目录复用。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HAL 在 03 下载，hc32_port 在 P007 创建；前提未齐时先不要配置。</a:t>
            </a:r>
          </a:p>
        </p:txBody>
      </p:sp>
      <p:sp>
        <p:nvSpPr>
          <p:cNvPr id="6" name="Source link 0">
            <a:extLst>
              <a:ext uri="{FF2B5EF4-FFF2-40B4-BE49-F238E27FC236}">
                <a16:creationId xmlns:a16="http://schemas.microsoft.com/office/drawing/2014/main" id="{7B016092-7D30-428F-AD30-E73B0EE90822}"/>
              </a:ext>
            </a:extLst>
          </p:cNvPr>
          <p:cNvSpPr>
            <a:spLocks noGrp="1"/>
          </p:cNvSpPr>
          <p:nvPr/>
        </p:nvSpPr>
        <p:spPr>
          <a:xfrm>
            <a:off x="6096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EntryLink0"/>
              </a:rPr>
              <a:t>完整命令与全部前提：P007 7.7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module_entry_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DAB492C-6FB5-4EFD-9C5B-811B65648418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从应用入口追踪 Zephyr 的模块发现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977DE07-F091-496F-B392-A50FC03EABDF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6.1.2 · 这些调用代码均由 Zephyr 原有源码提供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D64F5D2A-7EF0-42CA-827E-FF4778239689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1809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 CMakeLists.txt 的 find_package(Zephyr) 触发加载。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ZephyrConfig → zephyr_default → zephyr_module.cmake。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最后一个文件读取 EXTRA_ZEPHYR_MODULES 并调用 Python 脚本。</a:t>
            </a:r>
          </a:p>
        </p:txBody>
      </p:sp>
      <p:sp>
        <p:nvSpPr>
          <p:cNvPr id="5" name="Module stage 1">
            <a:extLst>
              <a:ext uri="{FF2B5EF4-FFF2-40B4-BE49-F238E27FC236}">
                <a16:creationId xmlns:a16="http://schemas.microsoft.com/office/drawing/2014/main" id="{FB970092-6A3A-452C-83C5-68E8478AE7EA}"/>
              </a:ext>
            </a:extLst>
          </p:cNvPr>
          <p:cNvSpPr>
            <a:spLocks noGrp="1"/>
          </p:cNvSpPr>
          <p:nvPr/>
        </p:nvSpPr>
        <p:spPr>
          <a:xfrm>
            <a:off x="66675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应用加载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包</a:t>
            </a:r>
          </a:p>
        </p:txBody>
      </p:sp>
      <p:sp>
        <p:nvSpPr>
          <p:cNvPr id="6" name="flow 0">
            <a:extLst>
              <a:ext uri="{FF2B5EF4-FFF2-40B4-BE49-F238E27FC236}">
                <a16:creationId xmlns:a16="http://schemas.microsoft.com/office/drawing/2014/main" id="{10FE6698-1F23-46D2-80FA-15FB218606A8}"/>
              </a:ext>
            </a:extLst>
          </p:cNvPr>
          <p:cNvSpPr>
            <a:spLocks noGrp="1"/>
          </p:cNvSpPr>
          <p:nvPr/>
        </p:nvSpPr>
        <p:spPr>
          <a:xfrm>
            <a:off x="305752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7" name="Module stage 2">
            <a:extLst>
              <a:ext uri="{FF2B5EF4-FFF2-40B4-BE49-F238E27FC236}">
                <a16:creationId xmlns:a16="http://schemas.microsoft.com/office/drawing/2014/main" id="{B9BFAFA7-C263-4D11-B40B-D7D20AA18272}"/>
              </a:ext>
            </a:extLst>
          </p:cNvPr>
          <p:cNvSpPr>
            <a:spLocks noGrp="1"/>
          </p:cNvSpPr>
          <p:nvPr/>
        </p:nvSpPr>
        <p:spPr>
          <a:xfrm>
            <a:off x="347662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模块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发现规则</a:t>
            </a:r>
          </a:p>
        </p:txBody>
      </p:sp>
      <p:sp>
        <p:nvSpPr>
          <p:cNvPr id="8" name="flow 1">
            <a:extLst>
              <a:ext uri="{FF2B5EF4-FFF2-40B4-BE49-F238E27FC236}">
                <a16:creationId xmlns:a16="http://schemas.microsoft.com/office/drawing/2014/main" id="{97A1533C-0D0E-427C-8D32-A67E6C594880}"/>
              </a:ext>
            </a:extLst>
          </p:cNvPr>
          <p:cNvSpPr>
            <a:spLocks noGrp="1"/>
          </p:cNvSpPr>
          <p:nvPr/>
        </p:nvSpPr>
        <p:spPr>
          <a:xfrm>
            <a:off x="5867400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9" name="Module stage 3">
            <a:extLst>
              <a:ext uri="{FF2B5EF4-FFF2-40B4-BE49-F238E27FC236}">
                <a16:creationId xmlns:a16="http://schemas.microsoft.com/office/drawing/2014/main" id="{CA8EC911-2576-43B1-A826-B7F5DF0C3B1F}"/>
              </a:ext>
            </a:extLst>
          </p:cNvPr>
          <p:cNvSpPr>
            <a:spLocks noGrp="1"/>
          </p:cNvSpPr>
          <p:nvPr/>
        </p:nvSpPr>
        <p:spPr>
          <a:xfrm>
            <a:off x="6286500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额外路径传给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发现脚本</a:t>
            </a:r>
          </a:p>
        </p:txBody>
      </p:sp>
      <p:sp>
        <p:nvSpPr>
          <p:cNvPr id="10" name="flow 2">
            <a:extLst>
              <a:ext uri="{FF2B5EF4-FFF2-40B4-BE49-F238E27FC236}">
                <a16:creationId xmlns:a16="http://schemas.microsoft.com/office/drawing/2014/main" id="{78BAE47D-3B1E-4668-B296-20A4CC78A343}"/>
              </a:ext>
            </a:extLst>
          </p:cNvPr>
          <p:cNvSpPr>
            <a:spLocks noGrp="1"/>
          </p:cNvSpPr>
          <p:nvPr/>
        </p:nvSpPr>
        <p:spPr>
          <a:xfrm>
            <a:off x="8677275" y="4448175"/>
            <a:ext cx="361950" cy="476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Module stage 4">
            <a:extLst>
              <a:ext uri="{FF2B5EF4-FFF2-40B4-BE49-F238E27FC236}">
                <a16:creationId xmlns:a16="http://schemas.microsoft.com/office/drawing/2014/main" id="{4B729E93-E999-4FD2-8939-1B8038BEFA87}"/>
              </a:ext>
            </a:extLst>
          </p:cNvPr>
          <p:cNvSpPr>
            <a:spLocks noGrp="1"/>
          </p:cNvSpPr>
          <p:nvPr/>
        </p:nvSpPr>
        <p:spPr>
          <a:xfrm>
            <a:off x="9096375" y="4210050"/>
            <a:ext cx="2333625" cy="971550"/>
          </a:xfrm>
          <a:prstGeom prst="rect">
            <a:avLst/>
          </a:prstGeom>
          <a:solidFill>
            <a:srgbClr val="F0EDF6"/>
          </a:solidFill>
          <a:ln w="9525">
            <a:solidFill>
              <a:srgbClr val="6845AC"/>
            </a:solidFill>
          </a:ln>
        </p:spPr>
        <p:txBody>
          <a:bodyPr anchor="ctr">
            <a:noAutofit/>
          </a:bodyPr>
          <a:lstStyle>
            <a:defPPr algn="ctr"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west 目录</a:t>
            </a:r>
          </a:p>
          <a:p>
            <a:pPr algn="ctr">
              <a:lnSpc>
                <a:spcPct val="120000"/>
              </a:lnSpc>
              <a:def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+ 额外模块根</a:t>
            </a:r>
          </a:p>
        </p:txBody>
      </p:sp>
      <p:sp>
        <p:nvSpPr>
          <p:cNvPr id="12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5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module_entry_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D634FF8-6F3F-4D4B-9431-3DC2C1E56475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候选目录明确之后，才读取模块声明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B81E8CD5-22E9-4721-BEBB-24AE88CD8674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6.1.3 · HAL 仓库原有文件，只读，不创建 west.yml</a:t>
            </a:r>
          </a:p>
        </p:txBody>
      </p:sp>
      <p:sp>
        <p:nvSpPr>
          <p:cNvPr id="4" name="Read-only module excerpt">
            <a:extLst>
              <a:ext uri="{FF2B5EF4-FFF2-40B4-BE49-F238E27FC236}">
                <a16:creationId xmlns:a16="http://schemas.microsoft.com/office/drawing/2014/main" id="{CAD99E81-26B6-4DD7-9D86-8F32047E07DC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1571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只读：hal_xhsc/zephyr/module.yml</a:t>
            </a:r>
          </a:p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name: hal_xhsc</a:t>
            </a:r>
          </a:p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build:</a:t>
            </a:r>
          </a:p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  cmake: .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FFCF565C-A7A7-4D5A-8342-EF90AC263A5F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1714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zephyr_module.py 遍历候选根，再读该根的 zephyr/module.yml。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name 给模块命名；cmake: . 选择 HAL 根的 CMakeLists.txt。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识别结果写入构建目录 zephyr_modules.txt，包含名字与实际路径。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6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module_entry_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8C439F5-AEF4-4700-AA6E-303BA29E742F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模块路径变量由 Zephyr CMake 设置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82325B5F-12B7-40ED-B1C8-E55865CDE4E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6.1.4 · 输入 → 发现记录 → CMake 普通变量</a:t>
            </a:r>
          </a:p>
        </p:txBody>
      </p:sp>
      <p:sp>
        <p:nvSpPr>
          <p:cNvPr id="4" name="Read-only module excerpt">
            <a:extLst>
              <a:ext uri="{FF2B5EF4-FFF2-40B4-BE49-F238E27FC236}">
                <a16:creationId xmlns:a16="http://schemas.microsoft.com/office/drawing/2014/main" id="{A5B2C0C9-2549-4AE0-A817-7FB8275F27A9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1571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defPPr>
          </a:lstStyle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# 只读：Zephyr 原有 cmake/modules/zephyr_module.cmake</a:t>
            </a:r>
          </a:p>
          <a:p>
            <a:pPr>
              <a:lnSpc>
                <a:spcPct val="120000"/>
              </a:lnSpc>
              <a:defRPr sz="2100" b="0">
                <a:solidFill>
                  <a:srgbClr val="005968"/>
                </a:solidFill>
                <a:latin typeface="Consolas"/>
                <a:ea typeface="Consolas"/>
                <a:cs typeface="Consolas"/>
              </a:defRPr>
            </a:pPr>
            <a:r>
              <a:rPr sz="2100" b="0">
                <a:solidFill>
                  <a:srgbClr val="005968"/>
                </a:solidFill>
                <a:latin typeface="Consolas"/>
                <a:ea typeface="Consolas"/>
                <a:cs typeface="Consolas"/>
              </a:rPr>
              <a:t>set(ZEPHYR_${MODULE_NAME_UPPER}_MODULE_DIR ${module_path})</a:t>
            </a:r>
          </a:p>
        </p:txBody>
      </p:sp>
      <p:sp>
        <p:nvSpPr>
          <p:cNvPr id="5" name="explanation">
            <a:extLst>
              <a:ext uri="{FF2B5EF4-FFF2-40B4-BE49-F238E27FC236}">
                <a16:creationId xmlns:a16="http://schemas.microsoft.com/office/drawing/2014/main" id="{F2FA13AE-D1F3-4785-A202-9D370C9D0ABD}"/>
              </a:ext>
            </a:extLst>
          </p:cNvPr>
          <p:cNvSpPr>
            <a:spLocks noGrp="1"/>
          </p:cNvSpPr>
          <p:nvPr/>
        </p:nvSpPr>
        <p:spPr>
          <a:xfrm>
            <a:off x="609600" y="3867150"/>
            <a:ext cx="10972800" cy="1714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zephyr_module.cmake 读回 zephyr_modules.txt。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本条记录的 MODULE_NAME_UPPER=HAL_XHSC，module_path=HAL 根。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于是得到 ZEPHYR_HAL_XHSC_MODULE_DIR；它不是环境变量，无需 export。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7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module_entry_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C2FD453E-9608-45A0-98FF-EDAA0F43A0C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变量生成之后，构建代码才使用它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743ADF67-F4F4-4AEA-9FE7-5CC56C58E3A7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6.1.4 / 6.1.6 · 发现模块与启用源文件分开核对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47812CC1-1387-4EE7-B1E8-E714FB3CAAAE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3619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本系列 SoC CMake 用模块根拼接 /hc32_ddl/hc32f4a0，选择所需 DDL。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顶层也按模块的 CMake 入口执行 add_subdirectory()。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是否进入内部目录、是否添加某个驱动，由后续 CMake/Kconfig 决定。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发现成功不会自动补出板、SoC、Kconfig 或 Zephyr 驱动。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普通变量在本次配置中建立；下次配置由同一发现流程重新生成。</a:t>
            </a:r>
          </a:p>
        </p:txBody>
      </p:sp>
      <p:sp>
        <p:nvSpPr>
          <p:cNvPr id="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8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module_entry_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9525841-CB44-4301-82CA-7BA1FF373C57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下载完成后，先验证 HAL 路径能被识别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E8582AB-AA8D-40AF-BA06-644459FEB2B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6.1.5 · UCRT64；源码根 .venv 已激活；HAL 已下载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3DEA53CB-EC2D-418E-B0EF-125127346A7E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3619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直接调用 Zephyr 自带发现脚本，只传当前已存在的 HAL 根。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检查输出同时包含 west 的 cmsis_6 和额外的 hal_xhsc。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这次检查不配置应用，不保存未来 CMake 参数，也不生成上述变量。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若缺少 HAL，先核对模块根与 zephyr/module.yml。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不要手填生成文件。完整可复制操作见下方链接。</a:t>
            </a:r>
          </a:p>
        </p:txBody>
      </p:sp>
      <p:sp>
        <p:nvSpPr>
          <p:cNvPr id="5" name="Source link 0">
            <a:extLst>
              <a:ext uri="{FF2B5EF4-FFF2-40B4-BE49-F238E27FC236}">
                <a16:creationId xmlns:a16="http://schemas.microsoft.com/office/drawing/2014/main" id="{471113DF-2C9C-4F57-9E72-A63A74C17C2F}"/>
              </a:ext>
            </a:extLst>
          </p:cNvPr>
          <p:cNvSpPr>
            <a:spLocks noGrp="1"/>
          </p:cNvSpPr>
          <p:nvPr/>
        </p:nvSpPr>
        <p:spPr>
          <a:xfrm>
            <a:off x="6096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EntryLink0"/>
              </a:rPr>
              <a:t>复制完整诊断命令（含目录与前提）</a:t>
            </a:r>
          </a:p>
        </p:txBody>
      </p:sp>
      <p:sp>
        <p:nvSpPr>
          <p:cNvPr id="6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10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module_entry_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05641792-4322-4F55-B9C8-8B34C055A08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模块接入完成后的三层检查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313D3D2E-AB89-4A4C-AF22-AE5380C54181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6.2 · 从准备阶段进入 P007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4CF88470-ECEA-49AE-AE7F-17881DF86F4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3619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P006：发现记录里有 CMSIS 与 HAL，且路径正确。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P007 配置：CMakeCache 保存输入，zephyr_modules.txt 记录模块。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P007 构建：compile_commands.json 中实际包含需要的 DDL。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随后才验证固件与实板运行。</a:t>
            </a:r>
          </a:p>
          <a:p>
            <a:pPr>
              <a:lnSpc>
                <a:spcPct val="120000"/>
              </a:lnSpc>
              <a:def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回查依赖时按 01 工具 → 02 SDK → 03 下载 → 04 接入定位。</a:t>
            </a:r>
          </a:p>
        </p:txBody>
      </p:sp>
      <p:sp>
        <p:nvSpPr>
          <p:cNvPr id="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14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ED686CA-009C-46C0-9649-59779F457B10}"/>
              </a:ext>
            </a:extLst>
          </p:cNvPr>
          <p:cNvSpPr>
            <a:spLocks noGrp="1"/>
          </p:cNvSpPr>
          <p:nvPr/>
        </p:nvSpPr>
        <p:spPr>
          <a:xfrm>
            <a:off x="647700" y="914400"/>
            <a:ext cx="19050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180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P006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83EA0C4-B462-4BE3-B25A-16FBB35A6FF0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7572375" cy="1666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源码模块接入</a:t>
            </a:r>
          </a:p>
          <a:p>
            <a:pPr>
              <a:def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defRPr>
            </a:pPr>
            <a:r>
              <a:rPr sz="4650" b="1">
                <a:solidFill>
                  <a:srgbClr val="FFFFFF"/>
                </a:solidFill>
                <a:latin typeface="Noto Sans SC"/>
                <a:ea typeface="Noto Sans SC"/>
                <a:cs typeface="Noto Sans SC"/>
              </a:rPr>
              <a:t>Zephyr 工程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A3B33A2-9A6E-4A0A-9111-996B334312DA}"/>
              </a:ext>
            </a:extLst>
          </p:cNvPr>
          <p:cNvSpPr>
            <a:spLocks noGrp="1"/>
          </p:cNvSpPr>
          <p:nvPr/>
        </p:nvSpPr>
        <p:spPr>
          <a:xfrm>
            <a:off x="647700" y="4248150"/>
            <a:ext cx="73342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defPPr>
          </a:lstStyle>
          <a:p>
            <a:pPr>
              <a:def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defRPr>
            </a:pPr>
            <a:r>
              <a:rPr sz="2250" b="0">
                <a:solidFill>
                  <a:srgbClr val="C5B6E7"/>
                </a:solidFill>
                <a:latin typeface="Noto Sans SC"/>
                <a:ea typeface="Noto Sans SC"/>
                <a:cs typeface="Noto Sans SC"/>
              </a:rPr>
              <a:t>Windows x64  UCRT64 实操教程</a:t>
            </a:r>
          </a:p>
        </p:txBody>
      </p:sp>
      <p:sp>
        <p:nvSpPr>
          <p:cNvPr id="6" name="Presenter lizhaojun">
            <a:extLst>
              <a:ext uri="{FF2B5EF4-FFF2-40B4-BE49-F238E27FC236}">
                <a16:creationId xmlns:a16="http://schemas.microsoft.com/office/drawing/2014/main" id="{133315A9-327F-4AF3-9469-360FC6999EB2}"/>
              </a:ext>
            </a:extLst>
          </p:cNvPr>
          <p:cNvSpPr>
            <a:spLocks noGrp="1"/>
          </p:cNvSpPr>
          <p:nvPr/>
        </p:nvSpPr>
        <p:spPr>
          <a:xfrm>
            <a:off x="609600" y="4972050"/>
            <a:ext cx="5334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def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C4B7E0"/>
                </a:solidFill>
                <a:latin typeface="Microsoft YaHei"/>
                <a:ea typeface="Microsoft YaHei"/>
                <a:cs typeface="Microsoft YaHei"/>
              </a:rPr>
              <a:t>主讲人：lizhaojun</a:t>
            </a:r>
          </a:p>
        </p:txBody>
      </p:sp>
    </p:spTree>
    <p:extLst>
      <p:ext uri="{BB962C8B-B14F-4D97-AF65-F5344CB8AC3E}">
        <p14:creationId xmlns:p14="http://schemas.microsoft.com/office/powerpoint/2010/main" val="11228304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B93598F-79F7-4FEB-AED1-B97CFF511CD6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厂商设备头接 SoC，通用 Core 仍由 Zephyr 提供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530D2EAC-0600-46F3-A791-CE439C780198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接入分工 · 回看 P005 5.2.5： 头文件怎样接起来</a:t>
            </a:r>
          </a:p>
        </p:txBody>
      </p:sp>
      <p:sp>
        <p:nvSpPr>
          <p:cNvPr id="4" name="explanation">
            <a:extLst>
              <a:ext uri="{FF2B5EF4-FFF2-40B4-BE49-F238E27FC236}">
                <a16:creationId xmlns:a16="http://schemas.microsoft.com/office/drawing/2014/main" id="{A0C93175-ABD6-42BC-AB47-5D5DFECF7C07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10972800" cy="400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P007 的 SoC 适配 soc.h 包含 hc32f4a0.h。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厂商设备头再引用 core_cm4.h。</a:t>
            </a:r>
          </a:p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SoC CMake 加入厂商设备头路径；</a:t>
            </a:r>
          </a:p>
          <a:p>
            <a:pPr>
              <a:lnSpc>
                <a:spcPct val="120000"/>
              </a:lnSpc>
              <a:spcAft>
                <a:spcPts val="1200"/>
              </a:spcAft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Zephyr 的 CMSIS 模块规则加入 Core/Include。</a:t>
            </a:r>
          </a:p>
          <a:p>
            <a:pPr>
              <a:lnSpc>
                <a:spcPct val="120000"/>
              </a:lnSpc>
              <a:def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不把厂商另一份 Core 放在前面抢占头文件。</a:t>
            </a:r>
          </a:p>
        </p:txBody>
      </p:sp>
      <p:sp>
        <p:nvSpPr>
          <p:cNvPr id="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11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7943908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10FC823A-F2AD-4C9A-9B6B-423FEC3DE7DC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只有设备头，没有 HAL，仍需要实现驱动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D6B740C4-9997-4BA7-B874-232F0E056CF6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接入分工 · 回看 P005 5.2.5： 设备包没有提供哪些能力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097743E-A911-4EAD-9BE2-BD5D2CF1FE39}"/>
              </a:ext>
            </a:extLst>
          </p:cNvPr>
          <p:cNvGraphicFramePr/>
          <p:nvPr/>
        </p:nvGraphicFramePr>
        <p:xfrm>
          <a:off x="609600" y="1885950"/>
          <a:ext cx="10972800" cy="3429000"/>
        </p:xfrm>
        <a:graphic>
          <a:graphicData uri="http://schemas.openxmlformats.org/drawingml/2006/table">
            <a:tbl>
              <a:tblPr/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已有材料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移植者还要完成的工作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寄存器结构体与地址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按参考手册实现外设初始化与读写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IRQ 编号与内核能力宏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与 Zephyr SoC、DTS、Kconfig 核对一致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system / startup 参考代码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适配时钟与启动钩子，保留 Zephyr 复位和向量框架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 UART / GPIO HAL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编写寄存器级 Zephyr 驱动，或接入已验证厂商实现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12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4789488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FB71814A-622C-4440-9CAF-83248E964F9B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哪些下载得到，哪些在 P007 新增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F9E530BD-23DC-4CEC-A152-8D09F38A66A0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接入分工 · 回看 P005 5.2.5： 材料来源与工作分界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518709D-F973-464A-BD2A-FE7322A854C8}"/>
              </a:ext>
            </a:extLst>
          </p:cNvPr>
          <p:cNvGraphicFramePr/>
          <p:nvPr/>
        </p:nvGraphicFramePr>
        <p:xfrm>
          <a:off x="609600" y="1885950"/>
          <a:ext cx="10972800" cy="3830955"/>
        </p:xfrm>
        <a:graphic>
          <a:graphicData uri="http://schemas.openxmlformats.org/drawingml/2006/table">
            <a:tbl>
              <a:tblPr/>
              <a:tblGrid>
                <a:gridCol w="3762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1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文件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谁提供，什么时候应该有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官方 west.yml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Zephyr 主源码自带；本期保持原样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芯片设备头、system、许可证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厂商包或 HAL 下载得到，先核对原件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已有模块的 zephyr/module.yml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模块仓库自带；west CMSIS 无需手写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没有模块入口时的 module.yml / CMake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移植者新增，声明和接入厂商源码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8175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 / board / DTS / Zephyr 驱动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P007 的新增工作；下载包不自动补齐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13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7A298EC3-3FD0-4A0E-856A-BB53F46AC2BA}"/>
              </a:ext>
            </a:extLst>
          </p:cNvPr>
          <p:cNvSpPr>
            <a:spLocks noGrp="1"/>
          </p:cNvSpPr>
          <p:nvPr/>
        </p:nvSpPr>
        <p:spPr>
          <a:xfrm>
            <a:off x="609600" y="381000"/>
            <a:ext cx="10972800" cy="714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9263B"/>
                </a:solidFill>
                <a:latin typeface="Microsoft YaHei"/>
                <a:ea typeface="Microsoft YaHei"/>
                <a:cs typeface="Microsoft YaHei"/>
              </a:rPr>
              <a:t>被发现以后，由谁选择 DDL 源文件</a:t>
            </a:r>
          </a:p>
        </p:txBody>
      </p:sp>
      <p:sp>
        <p:nvSpPr>
          <p:cNvPr id="3" name="section">
            <a:extLst>
              <a:ext uri="{FF2B5EF4-FFF2-40B4-BE49-F238E27FC236}">
                <a16:creationId xmlns:a16="http://schemas.microsoft.com/office/drawing/2014/main" id="{3D6A0EC3-007A-489B-BD74-4464A0F04142}"/>
              </a:ext>
            </a:extLst>
          </p:cNvPr>
          <p:cNvSpPr>
            <a:spLocks noGrp="1"/>
          </p:cNvSpPr>
          <p:nvPr/>
        </p:nvSpPr>
        <p:spPr>
          <a:xfrm>
            <a:off x="628650" y="11906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845AC"/>
                </a:solidFill>
                <a:latin typeface="Microsoft YaHei"/>
                <a:ea typeface="Microsoft YaHei"/>
                <a:cs typeface="Microsoft YaHei"/>
              </a:rPr>
              <a:t>6.1.6 · 区分 HAL 原有入口与本系列适配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0F2A247-4FFF-47C8-A408-E452453A3984}"/>
              </a:ext>
            </a:extLst>
          </p:cNvPr>
          <p:cNvGraphicFramePr/>
          <p:nvPr/>
        </p:nvGraphicFramePr>
        <p:xfrm>
          <a:off x="609600" y="1905000"/>
          <a:ext cx="10972800" cy="3619500"/>
        </p:xfrm>
        <a:graphic>
          <a:graphicData uri="http://schemas.openxmlformats.org/drawingml/2006/table">
            <a:tbl>
              <a:tblPr/>
              <a:tblGrid>
                <a:gridCol w="3714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8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接入层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1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实际行为</a:t>
                      </a:r>
                    </a:p>
                  </a:txBody>
                  <a:tcPr anchor="ctr">
                    <a:solidFill>
                      <a:srgbClr val="E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 原有根 CMake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HAS_HC32_DDL 启用后才进入 hc32_ddl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HAL 原有系列 CMake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SOC_HC32F4A0 与 HC32_LL_USART 等配置选择系列和源文件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本系列 P007 SoC CMake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不启用整体入口；通过原生模块路径显式选择所需 DDL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本系列 hc32_port 适配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800" b="0">
                          <a:solidFill>
                            <a:srgbClr val="2926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补齐复位、12 MHz 时钟、DTS、板与 Zephyr UART/GPIO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ource link 0">
            <a:extLst>
              <a:ext uri="{FF2B5EF4-FFF2-40B4-BE49-F238E27FC236}">
                <a16:creationId xmlns:a16="http://schemas.microsoft.com/office/drawing/2014/main" id="{5DCEB429-E234-4882-803E-2764B4A2AA4C}"/>
              </a:ext>
            </a:extLst>
          </p:cNvPr>
          <p:cNvSpPr>
            <a:spLocks noGrp="1"/>
          </p:cNvSpPr>
          <p:nvPr/>
        </p:nvSpPr>
        <p:spPr>
          <a:xfrm>
            <a:off x="6096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3"/>
              </a:rPr>
              <a:t>完整说明：P006 6.1.6</a:t>
            </a:r>
          </a:p>
        </p:txBody>
      </p:sp>
      <p:sp>
        <p:nvSpPr>
          <p:cNvPr id="6" name="Source link 1">
            <a:extLst>
              <a:ext uri="{FF2B5EF4-FFF2-40B4-BE49-F238E27FC236}">
                <a16:creationId xmlns:a16="http://schemas.microsoft.com/office/drawing/2014/main" id="{99C9857D-3323-4657-9853-6932963AF40E}"/>
              </a:ext>
            </a:extLst>
          </p:cNvPr>
          <p:cNvSpPr>
            <a:spLocks noGrp="1"/>
          </p:cNvSpPr>
          <p:nvPr/>
        </p:nvSpPr>
        <p:spPr>
          <a:xfrm>
            <a:off x="6134100" y="5991225"/>
            <a:ext cx="5362575" cy="333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>
            <a:def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def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4290"/>
                </a:solidFill>
                <a:latin typeface="Microsoft YaHei"/>
                <a:ea typeface="Microsoft YaHei"/>
                <a:cs typeface="Microsoft YaHei"/>
                <a:hlinkClick r:id="rId4"/>
              </a:rPr>
              <a:t>接入与编译：P007 7.6 / 7.7</a:t>
            </a:r>
          </a:p>
        </p:txBody>
      </p:sp>
      <p:sp>
        <p:nvSpPr>
          <p:cNvPr id="7" name="PageNumber">
            <a:extLst>
              <a:ext uri="{FF2B5EF4-FFF2-40B4-BE49-F238E27FC236}">
                <a16:creationId xmlns:a16="http://schemas.microsoft.com/office/drawing/2014/main" id="{5F85A1B3-CDCB-4F24-AA25-8EF48E1AD5EC}"/>
              </a:ext>
            </a:extLst>
          </p:cNvPr>
          <p:cNvSpPr>
            <a:spLocks noGrp="1"/>
          </p:cNvSpPr>
          <p:nvPr/>
        </p:nvSpPr>
        <p:spPr>
          <a:xfrm>
            <a:off x="10858500" y="6438900"/>
            <a:ext cx="723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r">
              <a:def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defRPr>
            </a:pPr>
            <a:fld id="{75B848E0-9682-403C-9CB3-292C512CADED}" type="slidenum">
              <a:rPr sz="1350">
                <a:solidFill>
                  <a:srgbClr val="646173"/>
                </a:solidFill>
                <a:latin typeface="Microsoft YaHei"/>
                <a:ea typeface="Microsoft YaHei"/>
                <a:cs typeface="Microsoft YaHei"/>
              </a:rPr>
              <a:t>9</a:t>
            </a:fld>
            <a:endParaRPr sz="1350">
              <a:solidFill>
                <a:srgbClr val="646173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5341381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</TotalTime>
  <Words>9939</Words>
  <Application>Microsoft Office PowerPoint</Application>
  <DocSecurity>0</DocSecurity>
  <PresentationFormat>宽屏</PresentationFormat>
  <Paragraphs>1307</Paragraphs>
  <Slides>14</Slides>
  <Notes>79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10</vt:i4>
      </vt:variant>
      <vt:variant>
        <vt:lpstr>幻灯片标题</vt:lpstr>
      </vt:variant>
      <vt:variant>
        <vt:i4>79</vt:i4>
      </vt:variant>
    </vt:vector>
  </HeadingPairs>
  <TitlesOfParts>
    <vt:vector size="93" baseType="lpstr">
      <vt:lpstr>Noto Sans SC</vt:lpstr>
      <vt:lpstr>Microsoft YaHei</vt:lpstr>
      <vt:lpstr>Aptos</vt:lpstr>
      <vt:lpstr>Consolas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兆军 李</cp:lastModifiedBy>
  <cp:revision>98</cp:revision>
  <dcterms:created xsi:type="dcterms:W3CDTF">2026-10-06T03:23:18Z</dcterms:created>
  <dcterms:modified xsi:type="dcterms:W3CDTF">2026-10-06T12:32:53Z</dcterms:modified>
</cp:coreProperties>
</file>