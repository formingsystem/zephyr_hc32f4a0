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3.xml" ContentType="application/vnd.openxmlformats-officedocument.theme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4.xml" ContentType="application/vnd.openxmlformats-officedocument.theme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5.xml" ContentType="application/vnd.openxmlformats-officedocument.theme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theme/theme6.xml" ContentType="application/vnd.openxmlformats-officedocument.theme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theme/theme7.xml" ContentType="application/vnd.openxmlformats-officedocument.theme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theme/theme8.xml" ContentType="application/vnd.openxmlformats-officedocument.theme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theme/theme9.xml" ContentType="application/vnd.openxmlformats-officedocument.theme+xml"/>
  <Override PartName="/ppt/slideLayouts/slideLayout55.xml" ContentType="application/vnd.openxmlformats-officedocument.presentationml.slideLayout+xml"/>
  <Override PartName="/ppt/theme/theme10.xml" ContentType="application/vnd.openxmlformats-officedocument.theme+xml"/>
  <Override PartName="/ppt/theme/theme11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'1.0' encoding='utf-8' standalone='yes'?>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49" r:id="rId2"/>
    <p:sldMasterId id="2147483662" r:id="rId3"/>
    <p:sldMasterId id="2147483669" r:id="rId4"/>
    <p:sldMasterId id="2147483676" r:id="rId5"/>
    <p:sldMasterId id="2147483683" r:id="rId6"/>
    <p:sldMasterId id="2147483690" r:id="rId7"/>
    <p:sldMasterId id="2147483697" r:id="rId8"/>
    <p:sldMasterId id="2147483704" r:id="rId9"/>
    <p:sldMasterId id="2147483712" r:id="rId10"/>
  </p:sldMasterIdLst>
  <p:notesMasterIdLst>
    <p:notesMasterId r:id="rId27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4" r:id="rId18"/>
    <p:sldId id="265" r:id="rId19"/>
    <p:sldId id="266" r:id="rId20"/>
    <p:sldId id="267" r:id="rId21"/>
    <p:sldId id="269" r:id="rId22"/>
    <p:sldId id="268" r:id="rId23"/>
    <p:sldId id="271" r:id="rId24"/>
    <p:sldId id="272" r:id="rId25"/>
    <p:sldId id="273" r:id="rId2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3" autoAdjust="0"/>
    <p:restoredTop sz="79395" autoAdjust="0"/>
  </p:normalViewPr>
  <p:slideViewPr>
    <p:cSldViewPr snapToGrid="0">
      <p:cViewPr varScale="1">
        <p:scale>
          <a:sx n="106" d="100"/>
          <a:sy n="106" d="100"/>
        </p:scale>
        <p:origin x="1241" y="51"/>
      </p:cViewPr>
      <p:guideLst/>
    </p:cSldViewPr>
  </p:slideViewPr>
  <p:outlineViewPr>
    <p:cViewPr>
      <p:scale>
        <a:sx n="33" d="100"/>
        <a:sy n="33" d="100"/>
      </p:scale>
      <p:origin x="0" y="-8561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01" d="100"/>
          <a:sy n="101" d="100"/>
        </p:scale>
        <p:origin x="4138" y="5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8" Type="http://schemas.openxmlformats.org/officeDocument/2006/relationships/slideMaster" Target="slideMasters/slideMaster8.xml"/><Relationship Id="rId13" Type="http://schemas.openxmlformats.org/officeDocument/2006/relationships/slide" Target="slides/slide3.xml"/><Relationship Id="rId18" Type="http://schemas.openxmlformats.org/officeDocument/2006/relationships/slide" Target="slides/slide8.xml"/><Relationship Id="rId26" Type="http://schemas.openxmlformats.org/officeDocument/2006/relationships/slide" Target="slides/slide16.xml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11.xml"/><Relationship Id="rId7" Type="http://schemas.openxmlformats.org/officeDocument/2006/relationships/slideMaster" Target="slideMasters/slideMaster7.xml"/><Relationship Id="rId12" Type="http://schemas.openxmlformats.org/officeDocument/2006/relationships/slide" Target="slides/slide2.xml"/><Relationship Id="rId17" Type="http://schemas.openxmlformats.org/officeDocument/2006/relationships/slide" Target="slides/slide7.xml"/><Relationship Id="rId25" Type="http://schemas.openxmlformats.org/officeDocument/2006/relationships/slide" Target="slides/slide1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6.xml"/><Relationship Id="rId20" Type="http://schemas.openxmlformats.org/officeDocument/2006/relationships/slide" Target="slides/slide10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1" Type="http://schemas.openxmlformats.org/officeDocument/2006/relationships/slide" Target="slides/slide1.xml"/><Relationship Id="rId24" Type="http://schemas.openxmlformats.org/officeDocument/2006/relationships/slide" Target="slides/slide14.xml"/><Relationship Id="rId5" Type="http://schemas.openxmlformats.org/officeDocument/2006/relationships/slideMaster" Target="slideMasters/slideMaster5.xml"/><Relationship Id="rId15" Type="http://schemas.openxmlformats.org/officeDocument/2006/relationships/slide" Target="slides/slide5.xml"/><Relationship Id="rId23" Type="http://schemas.openxmlformats.org/officeDocument/2006/relationships/slide" Target="slides/slide13.xml"/><Relationship Id="rId28" Type="http://schemas.openxmlformats.org/officeDocument/2006/relationships/presProps" Target="presProps.xml"/><Relationship Id="rId10" Type="http://schemas.openxmlformats.org/officeDocument/2006/relationships/slideMaster" Target="slideMasters/slideMaster10.xml"/><Relationship Id="rId19" Type="http://schemas.openxmlformats.org/officeDocument/2006/relationships/slide" Target="slides/slide9.xml"/><Relationship Id="rId31" Type="http://schemas.openxmlformats.org/officeDocument/2006/relationships/tableStyles" Target="tableStyles.xml"/><Relationship Id="rId4" Type="http://schemas.openxmlformats.org/officeDocument/2006/relationships/slideMaster" Target="slideMasters/slideMaster4.xml"/><Relationship Id="rId9" Type="http://schemas.openxmlformats.org/officeDocument/2006/relationships/slideMaster" Target="slideMasters/slideMaster9.xml"/><Relationship Id="rId14" Type="http://schemas.openxmlformats.org/officeDocument/2006/relationships/slide" Target="slides/slide4.xml"/><Relationship Id="rId22" Type="http://schemas.openxmlformats.org/officeDocument/2006/relationships/slide" Target="slides/slide12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承接第一期的 UCRT64 与源码下载。本期从原生文件查版本，准备 SDK、主机工具、Windows Python 3.12.10、west 1.5.0 与源码根 .venv。完成标志是工具和包环境可以核验、下次可以恢复。CMake 配置、实际编译与新增板实验已独立放入 P011。</a:t>
            </a:r>
          </a:p>
          <a:p>
            <a:r>
              <a:t>配套正文：learning/P01_zephyr_make_project/P002_主机工具与Python环境_Windows.md</a:t>
            </a:r>
          </a:p>
          <a:p>
            <a:r>
              <a:t>资料分工：本PPT配合视频讲解关键关系和复习步骤；完整前提、安装分支、可复制命令、预期结果与恢复说明以同名Markdown为主。正文提供本章导航和视频与复习对照。正文：learning/P01_zephyr_make_project/P002_主机工具与Python环境_Windows.md。实验仍在G:/zephyr_practice/zephyr-main进行，Windows命令按UCRT64或PowerShell标识分别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对应正文：P002—P005 分册路线 · 完成后进入 P003。实验源码根 G:/zephyr_practice/zephyr-main。</a:t>
            </a:r>
          </a:p>
          <a:p>
            <a:r>
              <a:t>本册先准备电脑上运行的命令，再建立源码根的 .venv。</a:t>
            </a:r>
          </a:p>
          <a:p>
            <a:r>
              <a:t>已有 Python 按版本选择；缺少时才安装。</a:t>
            </a:r>
          </a:p>
          <a:p>
            <a:r>
              <a:t>结果：工具可运行，Python 与 west 使用同一虚拟环境。</a:t>
            </a:r>
          </a:p>
          <a:p>
            <a:r>
              <a:t>
完整正文：learning/P01_zephyr_make_project/P002_主机工具与Python环境_Windows.md
源码基线：Zephyr 25c8f4a23988dd3b2cfb463613622738298c2d6c；SDK 1.0.1。
模块接口：https://docs.zephyrproject.org/latest/develop/modules.html#integrate-modules-in-zephyr-build-system
实际调用代码：https://github.com/zephyrproject-rtos/zephyr/blob/25c8f4a23988dd3b2cfb463613622738298c2d6c/cmake/modules/zephyr_module.cmake
SDK 架构映射：所用 SDK 原有 cmake/zephyr/gnu/target.cmake；Zephyr 的 cmake/compiler/gcc/target_arm.cmake 选择 CPU/FPU 参数。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对应正文：P002_Windows，本期准备顺序与终端边界</a:t>
            </a:r>
          </a:p>
          <a:p>
            <a:r>
              <a:t>默认使用 UCRT64 Bash，保持 Linux 命令习惯；仅 Zephyr 官方指定的 PowerShell 下载/安装步骤及 setup.cmd 等 Windows 专用脚本切换到 PowerShell，其他操作保持 UCRT64。切换时重新进入指定目录，临时变量互不继承。</a:t>
            </a:r>
          </a:p>
          <a:p>
            <a:r>
              <a:t>对应正文：本期准备顺序与终端边界</a:t>
            </a:r>
          </a:p>
          <a:p>
            <a:endParaRPr/>
          </a:p>
          <a:p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对应正文：P002_Windows，2.1 · 工具安装在前，固件源码依赖在后</a:t>
            </a:r>
          </a:p>
          <a:p>
            <a:endParaRPr/>
          </a:p>
          <a:p>
            <a:endParaRPr/>
          </a:p>
          <a:p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对应正文：learning/P01_zephyr_make_project/P002_主机工具与Python环境_Windows.md</a:t>
            </a:r>
          </a:p>
          <a:p>
            <a:r>
              <a:t>2.1.1 · 先准备电脑上的工具</a:t>
            </a:r>
          </a:p>
          <a:p>
            <a:r>
              <a:t>来源：https://docs.zephyrproject.org/latest/develop/getting_started/index.html 。以当前实验源码对应文档为准。Windows 安装命令在 PowerShell 或 cmd.exe 运行，后续回到 UCRT64。</a:t>
            </a:r>
          </a:p>
          <a:p>
            <a:r>
              <a:t>命令在正文指定的 G 盘实验目录执行；原生接口与教程变量依正文区分。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对应正文：P002_Windows，2.1.1_按官方 Windows 步骤安装主机工具</a:t>
            </a:r>
          </a:p>
          <a:p>
            <a:r>
              <a:t># Windows PowerShell 或 cmd.exe；本教程固定 Python 时使用。</a:t>
            </a:r>
          </a:p>
          <a:p>
            <a:r>
              <a:t>winget --version</a:t>
            </a:r>
          </a:p>
          <a:p>
            <a:r>
              <a:t>winget install Kitware.CMake Ninja-build.Ninja oss-winget.gperf Git.Git oss-winget.dtc wget 7zip.7zip</a:t>
            </a:r>
          </a:p>
          <a:p>
            <a:r>
              <a:t>完整操作单元：../commands/P002_Windows/2.1.1-02.txt</a:t>
            </a:r>
          </a:p>
          <a:p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安装后重开UCRT64，用type -a和版本命令核对实际Windows程序。不预设来自/ucrt64/bin：该目录可能覆盖Windows PATH上刚装的同名工具。7-Zip可能需手工加入安装目录。Windows路径输入转换方法见正文2.1.1与主机工具与官方安装来源1.2。</a:t>
            </a:r>
          </a:p>
          <a:p>
            <a:r>
              <a:t>依据：当前源码根 doc/develop/getting_started/index.rst 的 Windows 分支；2026-10-05 核对修订25c8f4a23988dd3b2cfb463613622738298c2d6c。https://docs.zephyrproject.org/latest/develop/getting_started/index.html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对应正文：P002_Windows，2.1.2 · 先检查，缺少才安装</a:t>
            </a:r>
          </a:p>
          <a:p>
            <a:r>
              <a:t>https://docs.python.org/3.12/using/windows.html</a:t>
            </a:r>
          </a:p>
          <a:p>
            <a:r>
              <a:t>https://docs.python.org/3.12/library/venv.html</a:t>
            </a:r>
          </a:p>
          <a:p>
            <a:endParaRPr/>
          </a:p>
          <a:p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646D45-2630-5F89-48C1-8341838ABF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C1FFA1-BEA6-4248-E8BF-0A0D92435E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9E57989-DD8E-0AD9-D805-5871B7B759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Windows </a:t>
            </a:r>
            <a:r>
              <a:rPr dirty="0" err="1"/>
              <a:t>图形安装方式：从</a:t>
            </a:r>
            <a:r>
              <a:rPr dirty="0"/>
              <a:t> Python 3.12.10 </a:t>
            </a:r>
            <a:r>
              <a:rPr dirty="0" err="1"/>
              <a:t>发行页选择</a:t>
            </a:r>
            <a:r>
              <a:rPr dirty="0"/>
              <a:t> Windows installer (64-bit)，</a:t>
            </a:r>
            <a:r>
              <a:rPr dirty="0" err="1"/>
              <a:t>自定义目录并保留</a:t>
            </a:r>
            <a:r>
              <a:rPr dirty="0"/>
              <a:t> pip。</a:t>
            </a:r>
            <a:endParaRPr lang="en-US" dirty="0"/>
          </a:p>
          <a:p>
            <a:r>
              <a:rPr dirty="0" err="1"/>
              <a:t>截图中的</a:t>
            </a:r>
            <a:r>
              <a:rPr dirty="0"/>
              <a:t> E:\python\python3_12 </a:t>
            </a:r>
            <a:r>
              <a:rPr dirty="0" err="1"/>
              <a:t>是作者所选目录</a:t>
            </a:r>
            <a:r>
              <a:rPr dirty="0"/>
              <a:t>。</a:t>
            </a:r>
            <a:endParaRPr lang="en-US" dirty="0"/>
          </a:p>
          <a:p>
            <a:r>
              <a:rPr dirty="0"/>
              <a:t>Add python.exe to PATH </a:t>
            </a:r>
            <a:r>
              <a:rPr dirty="0" err="1"/>
              <a:t>控制命令查找，Python</a:t>
            </a:r>
            <a:r>
              <a:rPr dirty="0"/>
              <a:t> Launcher </a:t>
            </a:r>
            <a:r>
              <a:rPr dirty="0" err="1"/>
              <a:t>提供</a:t>
            </a:r>
            <a:r>
              <a:rPr dirty="0"/>
              <a:t> </a:t>
            </a:r>
            <a:r>
              <a:rPr dirty="0" err="1"/>
              <a:t>py；二者作用不同。图中的下载调试符号、调试二进制是可选组件，Zephyr</a:t>
            </a:r>
            <a:r>
              <a:rPr dirty="0"/>
              <a:t> </a:t>
            </a:r>
            <a:r>
              <a:rPr dirty="0" err="1"/>
              <a:t>主线不要求勾选。安装后重开</a:t>
            </a:r>
            <a:r>
              <a:rPr dirty="0"/>
              <a:t> UCRT64；即使 </a:t>
            </a:r>
            <a:r>
              <a:rPr dirty="0" err="1"/>
              <a:t>py</a:t>
            </a:r>
            <a:r>
              <a:rPr dirty="0"/>
              <a:t> </a:t>
            </a:r>
            <a:r>
              <a:rPr dirty="0" err="1"/>
              <a:t>已可用，也继续检查</a:t>
            </a:r>
            <a:r>
              <a:rPr dirty="0"/>
              <a:t> python 的 PATH。</a:t>
            </a:r>
            <a:endParaRPr lang="en-US" dirty="0"/>
          </a:p>
          <a:p>
            <a:r>
              <a:rPr dirty="0" err="1"/>
              <a:t>本页与随后</a:t>
            </a:r>
            <a:r>
              <a:rPr dirty="0"/>
              <a:t> UCRT64 </a:t>
            </a:r>
            <a:r>
              <a:rPr dirty="0" err="1"/>
              <a:t>命令安装二选一，不重复安装同版本</a:t>
            </a:r>
            <a:r>
              <a:rPr dirty="0"/>
              <a:t>。</a:t>
            </a:r>
            <a:endParaRPr lang="en-US" dirty="0"/>
          </a:p>
          <a:p>
            <a:endParaRPr dirty="0"/>
          </a:p>
          <a:p>
            <a:r>
              <a:rPr dirty="0"/>
              <a:t>配套正文：learning/P01_zephyr_make_project/P002_主机工具与Python环境_Windows.md</a:t>
            </a:r>
            <a:endParaRPr lang="en-US" dirty="0"/>
          </a:p>
          <a:p>
            <a:endParaRPr dirty="0" err="1"/>
          </a:p>
          <a:p>
            <a:r>
              <a:rPr dirty="0"/>
              <a:t>https://docs.python.org/3.12/using/windows.html#installation-steps</a:t>
            </a:r>
            <a:endParaRPr lang="en-US" dirty="0"/>
          </a:p>
          <a:p>
            <a:br>
              <a:rPr lang="en-US" dirty="0"/>
            </a:br>
            <a:r>
              <a:rPr lang="en-US" altLang="zh-CN" dirty="0"/>
              <a:t>python 3.12.10</a:t>
            </a:r>
            <a:r>
              <a:rPr lang="zh-CN" altLang="en-US" dirty="0"/>
              <a:t>下载地址：</a:t>
            </a:r>
            <a:r>
              <a:rPr lang="en-US" altLang="zh-CN" dirty="0"/>
              <a:t>https://www.python.org/downloads/release/python-31210/</a:t>
            </a: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F02835-D318-7AE6-0276-831C8FE82DEB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93423421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对应正文：P002_Windows，2.1.3 · Windows </a:t>
            </a:r>
            <a:r>
              <a:rPr dirty="0" err="1"/>
              <a:t>官方</a:t>
            </a:r>
            <a:r>
              <a:rPr dirty="0"/>
              <a:t> Python </a:t>
            </a:r>
            <a:r>
              <a:rPr dirty="0" err="1"/>
              <a:t>安装器</a:t>
            </a:r>
            <a:endParaRPr dirty="0"/>
          </a:p>
          <a:p>
            <a:r>
              <a:rPr dirty="0" err="1"/>
              <a:t>默认使用</a:t>
            </a:r>
            <a:r>
              <a:rPr dirty="0"/>
              <a:t> UCRT64 </a:t>
            </a:r>
            <a:r>
              <a:rPr dirty="0" err="1"/>
              <a:t>Bash，保持</a:t>
            </a:r>
            <a:r>
              <a:rPr dirty="0"/>
              <a:t> Linux </a:t>
            </a:r>
            <a:r>
              <a:rPr dirty="0" err="1"/>
              <a:t>命令习惯；仅</a:t>
            </a:r>
            <a:r>
              <a:rPr dirty="0"/>
              <a:t> Zephyr </a:t>
            </a:r>
            <a:r>
              <a:rPr dirty="0" err="1"/>
              <a:t>官方指定的</a:t>
            </a:r>
            <a:r>
              <a:rPr dirty="0"/>
              <a:t> PowerShell </a:t>
            </a:r>
            <a:r>
              <a:rPr dirty="0" err="1"/>
              <a:t>下载</a:t>
            </a:r>
            <a:r>
              <a:rPr dirty="0"/>
              <a:t>/</a:t>
            </a:r>
            <a:r>
              <a:rPr dirty="0" err="1"/>
              <a:t>安装步骤及</a:t>
            </a:r>
            <a:r>
              <a:rPr dirty="0"/>
              <a:t> setup.cmd 等 Windows </a:t>
            </a:r>
            <a:r>
              <a:rPr dirty="0" err="1"/>
              <a:t>专用脚本切换到</a:t>
            </a:r>
            <a:r>
              <a:rPr dirty="0"/>
              <a:t> </a:t>
            </a:r>
            <a:r>
              <a:rPr dirty="0" err="1"/>
              <a:t>PowerShell，其他操作保持</a:t>
            </a:r>
            <a:r>
              <a:rPr dirty="0"/>
              <a:t> UCRT64。切换时重新进入指定目录，临时变量互不继承。</a:t>
            </a:r>
          </a:p>
          <a:p>
            <a:r>
              <a:rPr dirty="0"/>
              <a:t>对应正文：2.1.3 · Windows </a:t>
            </a:r>
            <a:r>
              <a:rPr dirty="0" err="1"/>
              <a:t>官方</a:t>
            </a:r>
            <a:r>
              <a:rPr dirty="0"/>
              <a:t> Python </a:t>
            </a:r>
            <a:r>
              <a:rPr dirty="0" err="1"/>
              <a:t>安装器</a:t>
            </a:r>
            <a:endParaRPr dirty="0"/>
          </a:p>
          <a:p>
            <a:r>
              <a:rPr dirty="0" err="1"/>
              <a:t>完整操作单元</a:t>
            </a:r>
            <a:r>
              <a:rPr dirty="0"/>
              <a:t>：../commands/P002_Windows/2.1.3-01.txt</a:t>
            </a:r>
          </a:p>
          <a:p>
            <a:r>
              <a:rPr dirty="0" err="1"/>
              <a:t>官方文件、教程自建文件与生成产物按本页说明区分</a:t>
            </a:r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对应正文：P002_Windows，2.1.3 · 图形安装的替代路线</a:t>
            </a:r>
          </a:p>
          <a:p>
            <a:r>
              <a:t>默认使用 UCRT64 Bash，保持 Linux 命令习惯；仅 Zephyr 官方指定的 PowerShell 下载/安装步骤及 setup.cmd 等 Windows 专用脚本切换到 PowerShell，其他操作保持 UCRT64。切换时重新进入指定目录，临时变量互不继承。</a:t>
            </a:r>
          </a:p>
          <a:p>
            <a:r>
              <a:t>对应正文：2.1.3 · 图形安装的替代路线</a:t>
            </a:r>
          </a:p>
          <a:p>
            <a:r>
              <a:t>完整操作单元：../commands/P002_Windows/2.1.3-02.txt</a:t>
            </a:r>
          </a:p>
          <a:p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对应正文：P002_Windows，2.1.4 · py 不存在，但 python 已可执行</a:t>
            </a:r>
          </a:p>
          <a:p>
            <a:r>
              <a:t>https://docs.python.org/3.12/using/windows.html</a:t>
            </a:r>
          </a:p>
          <a:p>
            <a:r>
              <a:t>https://docs.python.org/3.12/library/venv.html</a:t>
            </a:r>
          </a:p>
          <a:p>
            <a:r>
              <a:t>完整操作单元：../commands/P002_Windows/2.1.4-02.txt</a:t>
            </a:r>
          </a:p>
          <a:p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对应正文：P002_Windows，2.1.4 · 选择版本与使用项目环境</a:t>
            </a:r>
          </a:p>
          <a:p>
            <a:r>
              <a:t>https://docs.python.org/3.12/using/windows.html</a:t>
            </a:r>
          </a:p>
          <a:p>
            <a:r>
              <a:t>https://docs.python.org/3.12/library/venv.html</a:t>
            </a:r>
          </a:p>
          <a:p>
            <a:endParaRPr/>
          </a:p>
          <a:p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SDK 中的编译器可以运行，不会自动给 Python 装库。虚拟环境隔离包安装目录。读者在 G:/zephyr_practice/zephyr-main 创建并使用 .venv。后续实验按任务补充测试或调试依赖，环境与构建脚本在后续章节创建之后再使用。</a:t>
            </a:r>
          </a:p>
          <a:p>
            <a:endParaRPr/>
          </a:p>
          <a:p>
            <a:r>
              <a:t>配套正文：learning/P01_zephyr_make_project/P002_主机工具与Python环境_Windows.md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对应正文：P002_Windows，2.2.1 · 源码根；已核对基础 Python 3.12.10</a:t>
            </a:r>
          </a:p>
          <a:p>
            <a:r>
              <a:t>https://docs.python.org/3.12/using/windows.html</a:t>
            </a:r>
          </a:p>
          <a:p>
            <a:r>
              <a:t>https://docs.python.org/3.12/library/venv.html</a:t>
            </a:r>
          </a:p>
          <a:p>
            <a:r>
              <a:t>完整操作单元：../commands/P002_Windows/2.2.1-02.txt</a:t>
            </a:r>
          </a:p>
          <a:p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对应正文：P002_Windows，2.2.1_上一期下载的是上游_Zephyr_源码</a:t>
            </a:r>
          </a:p>
          <a:p>
            <a:r>
              <a:t># 当前位置：上游 Zephyr 源码根目录；终端：UCRT64，已激活 .venv。</a:t>
            </a:r>
          </a:p>
          <a:p>
            <a:r>
              <a:t>python -m pip install -r scripts/requirements-base.txt "west==1.5.0"</a:t>
            </a:r>
          </a:p>
          <a:p>
            <a:r>
              <a:t>python -m pip check</a:t>
            </a:r>
          </a:p>
          <a:p>
            <a:r>
              <a:t>python -m west --version</a:t>
            </a:r>
          </a:p>
          <a:p>
            <a:r>
              <a:t>完整操作单元：../commands/P002_Windows/2.2.1-03.txt</a:t>
            </a:r>
          </a:p>
          <a:p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0D09EFEC-A256-4351-8E97-7435A86F5B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D30F8346-A555-47D3-A2E1-BCC543F086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D9FFD06F-FE24-49EC-9194-56ADD2F788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EAC000BD-3078-4113-9B52-8F4DA1A5AB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85CD6595-793E-4B5C-9A13-3CF885E932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2BB22602-462A-4044-8815-D4D7F37222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5E035DCF-B384-44F7-973A-284F6383E9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2F8291D3-BA4E-489C-A187-B06D1729689A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62399FC7-8945-4254-8CD9-64E421CA42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A03ED6C9-C27E-4C55-88EE-9831E748E9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7671C1C-5025-4D29-A360-8BBD2A7537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319D3DCD-7507-4683-89CE-F3D231C8A38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829CC60F-30D0-415E-A4D7-746AF54091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8F7B7778-9448-437B-B094-C6639BF643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4F948DB7-9F5D-43FA-9D72-7781FF732F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5CEF84B3-3722-466D-9F8E-F0D0F0232F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992C5F1C-70E0-452B-AA10-A78FBC5640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CBF1C765-0A06-4D66-81FC-1D72786D3F00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EB02EDE-51E1-4905-A67C-7B329CBCAB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AE27F931-76AC-4AF7-AD13-3C7C3CDE9C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7671C1C-5025-4D29-A360-8BBD2A7537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319D3DCD-7507-4683-89CE-F3D231C8A38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829CC60F-30D0-415E-A4D7-746AF54091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8F7B7778-9448-437B-B094-C6639BF643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4F948DB7-9F5D-43FA-9D72-7781FF732F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5CEF84B3-3722-466D-9F8E-F0D0F0232F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992C5F1C-70E0-452B-AA10-A78FBC5640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CBF1C765-0A06-4D66-81FC-1D72786D3F00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EB02EDE-51E1-4905-A67C-7B329CBCAB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AE27F931-76AC-4AF7-AD13-3C7C3CDE9C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45D4413F-A4F9-4B51-AFFD-82864AF6C0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4FD08B3B-12D0-41D2-8648-0D07906865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5FCE3EA2-4F10-45DA-B0F9-258DCBCC05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1E38891C-D6D9-446A-AA0F-2E808D94E9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5EE30FA7-471B-4F2E-909C-EB3A4775D6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0AE93EF2-48DD-4353-892F-7737D8D058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D3B0FB94-361B-4E83-BDD7-72F259E414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9C0F9B30-F258-4C66-9BAE-8E6CCCBEB1C6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39B7AF1-5458-40DC-A2A4-C3E940EA64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E53A861C-2F71-4C8D-BA0B-22424FAA98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9B36E5FB-B942-4F81-863B-14311E9F44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1AF2B295-21D1-4984-B654-FBF7CAE9D6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83D17426-DC83-4E87-92D1-C42F39DE58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8AA50F02-7FF7-4768-AAE3-6D461A8E70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F8FD79E2-AB77-4BDF-8B79-A0298C132E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C1A1B3CA-10A8-42A1-A449-401A8E29B1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D5583886-4F04-4841-AF3F-4DA161B10C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6EC602EA-9C36-498E-96AE-A097FAF55904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BA2BC890-15D0-44AE-9D82-5FBCB33ACD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B0CC2291-CE8F-48FC-89EB-53256BB328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0C598CAA-C856-4FEE-A978-34E621BAF8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0829FEA2-767A-4E79-B26D-7FA7A3B10C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29C698EE-F7BC-472F-B0AE-719B18E88C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32E4F364-3711-43C3-B07A-3F13F1CEE2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05597017-FD42-445A-A879-4A45D335B5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60DD197A-8666-4022-AE39-C778E2BD7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C08BA7AF-E378-4A60-8E19-7FA3870E81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965E0796-E8CF-4125-A4B7-512453440496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D840989-4046-4F67-8519-5CAC5F92FB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D271EAF3-957C-48C2-B0E2-F32C7C8473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02F728ED-C843-4E3D-B8CB-B19A2035FE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211DF1EC-56E5-4C33-849E-1A55A32024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304FB50E-9440-418F-AEBC-C0C082EE85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9D4E580-EA8C-4260-AE81-4E793E49DF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BFF1DF06-173D-4620-9B12-18F05E5C37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55EAD1C6-4DD4-4A65-9B8A-B62315FECB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6C3A2051-86A6-450D-93E1-4CA1394BB6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7CFCC3E3-BC99-4A46-9206-9E90D8F7444F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88478AD7-3F2E-4904-BBBE-EC7CFCDA23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9358C676-B293-45B8-ADCE-18F7963447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B03B24EA-8579-4A7F-BFCD-E4FFA8879A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CB6F869A-59A0-43E8-9F21-B67A7103F4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E672EB19-2E93-4233-9A53-912C17E7BD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3B0D8C91-F5E1-41E0-84C6-ECDE1D0A1B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128322EB-D798-4141-BA0A-3447C6565E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07D8381E-58A3-4F99-B440-89507AF6BA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0ECA5C48-DFF3-4541-8AD8-65F68C6FCB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7263B4A2-54D7-4E0A-9501-D01FF9401718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E4B62F69-FD43-4A6B-B9C0-11F83020B1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FD3B2FF7-D4E7-4EEC-933D-DD35C92C4E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9AA2868-E8E9-49AB-8A3B-B4FC708EDA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80266387-2782-4A3F-9870-F042E2FBD6E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2BF6B388-0C1C-4EA3-83B8-6F2F71CD6C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3426D79A-BF0D-4F26-8411-4E82B23402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9CCAC56B-7E9F-4B09-9ED0-A3A6E5A276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0DE1107C-8FD5-461A-8F34-B7D2C96F9B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56D141E0-5B82-4D36-A319-BE6154D3D1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2CD4BFC1-10CD-4521-83BA-596056119324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1F454303-BC41-44C1-AE26-65F1721CE3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835CEBDC-4BFF-405F-B2FA-1E7F2185B5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9.xml"/><Relationship Id="rId7" Type="http://schemas.openxmlformats.org/officeDocument/2006/relationships/theme" Target="../theme/theme2.xml"/><Relationship Id="rId2" Type="http://schemas.openxmlformats.org/officeDocument/2006/relationships/slideLayout" Target="../slideLayouts/slideLayout8.xml"/><Relationship Id="rId1" Type="http://schemas.openxmlformats.org/officeDocument/2006/relationships/slideLayout" Target="../slideLayouts/slideLayout7.xml"/><Relationship Id="rId6" Type="http://schemas.openxmlformats.org/officeDocument/2006/relationships/slideLayout" Target="../slideLayouts/slideLayout12.xml"/><Relationship Id="rId5" Type="http://schemas.openxmlformats.org/officeDocument/2006/relationships/slideLayout" Target="../slideLayouts/slideLayout11.xml"/><Relationship Id="rId4" Type="http://schemas.openxmlformats.org/officeDocument/2006/relationships/slideLayout" Target="../slideLayouts/slideLayout10.xml"/></Relationships>
</file>

<file path=ppt/slideMasters/_rels/slideMaster3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15.xml"/><Relationship Id="rId7" Type="http://schemas.openxmlformats.org/officeDocument/2006/relationships/theme" Target="../theme/theme3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5" Type="http://schemas.openxmlformats.org/officeDocument/2006/relationships/slideLayout" Target="../slideLayouts/slideLayout17.xml"/><Relationship Id="rId4" Type="http://schemas.openxmlformats.org/officeDocument/2006/relationships/slideLayout" Target="../slideLayouts/slideLayout16.xml"/></Relationships>
</file>

<file path=ppt/slideMasters/_rels/slideMaster4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21.xml"/><Relationship Id="rId7" Type="http://schemas.openxmlformats.org/officeDocument/2006/relationships/theme" Target="../theme/theme4.xml"/><Relationship Id="rId2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4.xml"/><Relationship Id="rId5" Type="http://schemas.openxmlformats.org/officeDocument/2006/relationships/slideLayout" Target="../slideLayouts/slideLayout23.xml"/><Relationship Id="rId4" Type="http://schemas.openxmlformats.org/officeDocument/2006/relationships/slideLayout" Target="../slideLayouts/slideLayout22.xml"/></Relationships>
</file>

<file path=ppt/slideMasters/_rels/slideMaster5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27.xml"/><Relationship Id="rId7" Type="http://schemas.openxmlformats.org/officeDocument/2006/relationships/theme" Target="../theme/theme5.xml"/><Relationship Id="rId2" Type="http://schemas.openxmlformats.org/officeDocument/2006/relationships/slideLayout" Target="../slideLayouts/slideLayout26.xml"/><Relationship Id="rId1" Type="http://schemas.openxmlformats.org/officeDocument/2006/relationships/slideLayout" Target="../slideLayouts/slideLayout25.xml"/><Relationship Id="rId6" Type="http://schemas.openxmlformats.org/officeDocument/2006/relationships/slideLayout" Target="../slideLayouts/slideLayout30.xml"/><Relationship Id="rId5" Type="http://schemas.openxmlformats.org/officeDocument/2006/relationships/slideLayout" Target="../slideLayouts/slideLayout29.xml"/><Relationship Id="rId4" Type="http://schemas.openxmlformats.org/officeDocument/2006/relationships/slideLayout" Target="../slideLayouts/slideLayout28.xml"/></Relationships>
</file>

<file path=ppt/slideMasters/_rels/slideMaster6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33.xml"/><Relationship Id="rId7" Type="http://schemas.openxmlformats.org/officeDocument/2006/relationships/theme" Target="../theme/theme6.xml"/><Relationship Id="rId2" Type="http://schemas.openxmlformats.org/officeDocument/2006/relationships/slideLayout" Target="../slideLayouts/slideLayout32.xml"/><Relationship Id="rId1" Type="http://schemas.openxmlformats.org/officeDocument/2006/relationships/slideLayout" Target="../slideLayouts/slideLayout31.xml"/><Relationship Id="rId6" Type="http://schemas.openxmlformats.org/officeDocument/2006/relationships/slideLayout" Target="../slideLayouts/slideLayout36.xml"/><Relationship Id="rId5" Type="http://schemas.openxmlformats.org/officeDocument/2006/relationships/slideLayout" Target="../slideLayouts/slideLayout35.xml"/><Relationship Id="rId4" Type="http://schemas.openxmlformats.org/officeDocument/2006/relationships/slideLayout" Target="../slideLayouts/slideLayout34.xml"/></Relationships>
</file>

<file path=ppt/slideMasters/_rels/slideMaster7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39.xml"/><Relationship Id="rId7" Type="http://schemas.openxmlformats.org/officeDocument/2006/relationships/theme" Target="../theme/theme7.xml"/><Relationship Id="rId2" Type="http://schemas.openxmlformats.org/officeDocument/2006/relationships/slideLayout" Target="../slideLayouts/slideLayout38.xml"/><Relationship Id="rId1" Type="http://schemas.openxmlformats.org/officeDocument/2006/relationships/slideLayout" Target="../slideLayouts/slideLayout37.xml"/><Relationship Id="rId6" Type="http://schemas.openxmlformats.org/officeDocument/2006/relationships/slideLayout" Target="../slideLayouts/slideLayout42.xml"/><Relationship Id="rId5" Type="http://schemas.openxmlformats.org/officeDocument/2006/relationships/slideLayout" Target="../slideLayouts/slideLayout41.xml"/><Relationship Id="rId4" Type="http://schemas.openxmlformats.org/officeDocument/2006/relationships/slideLayout" Target="../slideLayouts/slideLayout40.xml"/></Relationships>
</file>

<file path=ppt/slideMasters/_rels/slideMaster8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45.xml"/><Relationship Id="rId7" Type="http://schemas.openxmlformats.org/officeDocument/2006/relationships/theme" Target="../theme/theme8.xml"/><Relationship Id="rId2" Type="http://schemas.openxmlformats.org/officeDocument/2006/relationships/slideLayout" Target="../slideLayouts/slideLayout44.xml"/><Relationship Id="rId1" Type="http://schemas.openxmlformats.org/officeDocument/2006/relationships/slideLayout" Target="../slideLayouts/slideLayout43.xml"/><Relationship Id="rId6" Type="http://schemas.openxmlformats.org/officeDocument/2006/relationships/slideLayout" Target="../slideLayouts/slideLayout48.xml"/><Relationship Id="rId5" Type="http://schemas.openxmlformats.org/officeDocument/2006/relationships/slideLayout" Target="../slideLayouts/slideLayout47.xml"/><Relationship Id="rId4" Type="http://schemas.openxmlformats.org/officeDocument/2006/relationships/slideLayout" Target="../slideLayouts/slideLayout46.xml"/></Relationships>
</file>

<file path=ppt/slideMasters/_rels/slideMaster9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51.xml"/><Relationship Id="rId7" Type="http://schemas.openxmlformats.org/officeDocument/2006/relationships/theme" Target="../theme/theme9.xml"/><Relationship Id="rId2" Type="http://schemas.openxmlformats.org/officeDocument/2006/relationships/slideLayout" Target="../slideLayouts/slideLayout50.xml"/><Relationship Id="rId1" Type="http://schemas.openxmlformats.org/officeDocument/2006/relationships/slideLayout" Target="../slideLayouts/slideLayout49.xml"/><Relationship Id="rId6" Type="http://schemas.openxmlformats.org/officeDocument/2006/relationships/slideLayout" Target="../slideLayouts/slideLayout54.xml"/><Relationship Id="rId5" Type="http://schemas.openxmlformats.org/officeDocument/2006/relationships/slideLayout" Target="../slideLayouts/slideLayout53.xml"/><Relationship Id="rId4" Type="http://schemas.openxmlformats.org/officeDocument/2006/relationships/slideLayout" Target="../slideLayouts/slideLayout52.xml"/></Relationships>
</file>

<file path=ppt/slideMasters/_rels/slideMaster10.xml.rels><?xml version='1.0' encoding='utf-8' standalone='yes'?>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0.xml"/><Relationship Id="rId1" Type="http://schemas.openxmlformats.org/officeDocument/2006/relationships/slideLayout" Target="../slideLayouts/slideLayout5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  <p:sldLayoutId id="2147483657" r:id="rId2"/>
    <p:sldLayoutId id="2147483658" r:id="rId3"/>
    <p:sldLayoutId id="2147483659" r:id="rId4"/>
    <p:sldLayoutId id="2147483660" r:id="rId5"/>
    <p:sldLayoutId id="2147483661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5" r:id="rId3"/>
    <p:sldLayoutId id="2147483666" r:id="rId4"/>
    <p:sldLayoutId id="2147483667" r:id="rId5"/>
    <p:sldLayoutId id="2147483668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0" r:id="rId1"/>
    <p:sldLayoutId id="2147483671" r:id="rId2"/>
    <p:sldLayoutId id="2147483672" r:id="rId3"/>
    <p:sldLayoutId id="2147483673" r:id="rId4"/>
    <p:sldLayoutId id="2147483674" r:id="rId5"/>
    <p:sldLayoutId id="2147483675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4" r:id="rId1"/>
    <p:sldLayoutId id="2147483685" r:id="rId2"/>
    <p:sldLayoutId id="2147483686" r:id="rId3"/>
    <p:sldLayoutId id="2147483687" r:id="rId4"/>
    <p:sldLayoutId id="2147483688" r:id="rId5"/>
    <p:sldLayoutId id="2147483689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694" r:id="rId4"/>
    <p:sldLayoutId id="2147483695" r:id="rId5"/>
    <p:sldLayoutId id="2147483696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8" r:id="rId1"/>
    <p:sldLayoutId id="2147483699" r:id="rId2"/>
    <p:sldLayoutId id="2147483700" r:id="rId3"/>
    <p:sldLayoutId id="2147483701" r:id="rId4"/>
    <p:sldLayoutId id="2147483702" r:id="rId5"/>
    <p:sldLayoutId id="2147483703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4">
            <a:extLst>
              <a:ext uri="{FF2B5EF4-FFF2-40B4-BE49-F238E27FC236}">
                <a16:creationId xmlns:a16="http://schemas.microsoft.com/office/drawing/2014/main" id="{F2514CA8-5324-427A-8F58-A1771CD4ADD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D4CDE8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D4CD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D4CDE8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1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5.xml"/></Relationships>
</file>

<file path=ppt/slides/_rels/slide2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4.xml"/></Relationships>
</file>

<file path=ppt/slides/_rels/slide3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8.xml"/></Relationships>
</file>

<file path=ppt/slides/_rels/slide4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4.xml"/></Relationships>
</file>

<file path=ppt/slides/_rels/slide5.xml.rels><?xml version='1.0' encoding='utf-8' standalone='yes'?>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3" Type="http://schemas.openxmlformats.org/officeDocument/2006/relationships/hyperlink" Target="../commands/P002_Windows/2.1.1-02.txt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4.xml"/></Relationships>
</file>

<file path=ppt/slides/_rels/slide7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0.xml"/></Relationships>
</file>

<file path=ppt/slides/_rels/slide9.xml.rels><?xml version='1.0' encoding='utf-8' standalone='yes'?>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hyperlink" Target="https://www.python.org/downloads/release/python-31210/" TargetMode="External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3" Type="http://schemas.openxmlformats.org/officeDocument/2006/relationships/hyperlink" Target="../commands/P002_Windows/2.1.3-01.txt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8.xml"/></Relationships>
</file>

<file path=ppt/slides/_rels/slide11.xml.rels><?xml version='1.0' encoding='utf-8' standalone='yes'?>
<Relationships xmlns="http://schemas.openxmlformats.org/package/2006/relationships"><Relationship Id="rId3" Type="http://schemas.openxmlformats.org/officeDocument/2006/relationships/hyperlink" Target="../commands/P002_Windows/2.1.3-02.txt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8.xml"/></Relationships>
</file>

<file path=ppt/slides/_rels/slide12.xml.rels><?xml version='1.0' encoding='utf-8' standalone='yes'?>
<Relationships xmlns="http://schemas.openxmlformats.org/package/2006/relationships"><Relationship Id="rId3" Type="http://schemas.openxmlformats.org/officeDocument/2006/relationships/hyperlink" Target="../commands/P002_Windows/2.1.4-02.txt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0.xml"/><Relationship Id="rId4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0.xml"/></Relationships>
</file>

<file path=ppt/slides/_rels/slide14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5.xml.rels><?xml version='1.0' encoding='utf-8' standalone='yes'?>
<Relationships xmlns="http://schemas.openxmlformats.org/package/2006/relationships"><Relationship Id="rId3" Type="http://schemas.openxmlformats.org/officeDocument/2006/relationships/hyperlink" Target="../commands/P002_Windows/2.2.1-02.txt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0.xml"/></Relationships>
</file>

<file path=ppt/slides/_rels/slide16.xml.rels><?xml version='1.0' encoding='utf-8' standalone='yes'?>
<Relationships xmlns="http://schemas.openxmlformats.org/package/2006/relationships"><Relationship Id="rId3" Type="http://schemas.openxmlformats.org/officeDocument/2006/relationships/hyperlink" Target="../commands/P002_Windows/2.2.1-03.txt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4.xml"/><Relationship Id="rId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3ED686CA-009C-46C0-9649-59779F457B10}"/>
              </a:ext>
            </a:extLst>
          </p:cNvPr>
          <p:cNvSpPr>
            <a:spLocks noGrp="1"/>
          </p:cNvSpPr>
          <p:nvPr/>
        </p:nvSpPr>
        <p:spPr>
          <a:xfrm>
            <a:off x="647700" y="914400"/>
            <a:ext cx="190500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180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defRPr sz="180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defRPr>
            </a:pPr>
            <a:r>
              <a:rPr sz="180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rPr>
              <a:t>P002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83EA0C4-B462-4BE3-B25A-16FBB35A6FF0}"/>
              </a:ext>
            </a:extLst>
          </p:cNvPr>
          <p:cNvSpPr>
            <a:spLocks noGrp="1"/>
          </p:cNvSpPr>
          <p:nvPr/>
        </p:nvSpPr>
        <p:spPr>
          <a:xfrm>
            <a:off x="609600" y="1952625"/>
            <a:ext cx="7572375" cy="16668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46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defRPr sz="46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defRPr>
            </a:pPr>
            <a:r>
              <a:rPr sz="4650" b="1" dirty="0" err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主机工具</a:t>
            </a:r>
            <a:endParaRPr sz="4650" b="1" dirty="0">
              <a:solidFill>
                <a:srgbClr val="FFFFFF"/>
              </a:solidFill>
              <a:latin typeface="Noto Sans SC"/>
              <a:ea typeface="Noto Sans SC"/>
              <a:cs typeface="Noto Sans SC"/>
            </a:endParaRPr>
          </a:p>
          <a:p>
            <a:pPr>
              <a:defRPr sz="46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defRPr>
            </a:pPr>
            <a:r>
              <a:rPr sz="4650" b="1" dirty="0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与 Python </a:t>
            </a:r>
            <a:r>
              <a:rPr sz="4650" b="1" dirty="0" err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环境</a:t>
            </a:r>
            <a:endParaRPr sz="4650" b="1" dirty="0">
              <a:solidFill>
                <a:srgbClr val="FFFFFF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A3B33A2-9A6E-4A0A-9111-996B334312DA}"/>
              </a:ext>
            </a:extLst>
          </p:cNvPr>
          <p:cNvSpPr>
            <a:spLocks noGrp="1"/>
          </p:cNvSpPr>
          <p:nvPr/>
        </p:nvSpPr>
        <p:spPr>
          <a:xfrm>
            <a:off x="647700" y="4248150"/>
            <a:ext cx="7334250" cy="666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225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defRPr sz="225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defRPr>
            </a:pPr>
            <a:r>
              <a:rPr sz="225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rPr>
              <a:t>Windows x64  UCRT64 实操教程</a:t>
            </a:r>
          </a:p>
        </p:txBody>
      </p:sp>
      <p:sp>
        <p:nvSpPr>
          <p:cNvPr id="6" name="Presenter lizhaojun">
            <a:extLst>
              <a:ext uri="{FF2B5EF4-FFF2-40B4-BE49-F238E27FC236}">
                <a16:creationId xmlns:a16="http://schemas.microsoft.com/office/drawing/2014/main" id="{133315A9-327F-4AF3-9469-360FC6999EB2}"/>
              </a:ext>
            </a:extLst>
          </p:cNvPr>
          <p:cNvSpPr>
            <a:spLocks noGrp="1"/>
          </p:cNvSpPr>
          <p:nvPr/>
        </p:nvSpPr>
        <p:spPr>
          <a:xfrm>
            <a:off x="609600" y="4972050"/>
            <a:ext cx="5334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>
              <a:defRPr sz="2025">
                <a:solidFill>
                  <a:srgbClr val="C4B7E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2025">
                <a:solidFill>
                  <a:srgbClr val="C4B7E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>
                <a:solidFill>
                  <a:srgbClr val="C4B7E0"/>
                </a:solidFill>
                <a:latin typeface="Microsoft YaHei"/>
                <a:ea typeface="Microsoft YaHei"/>
                <a:cs typeface="Microsoft YaHei"/>
              </a:rPr>
              <a:t>主讲人：lizhaojun</a:t>
            </a:r>
          </a:p>
        </p:txBody>
      </p:sp>
    </p:spTree>
    <p:extLst>
      <p:ext uri="{BB962C8B-B14F-4D97-AF65-F5344CB8AC3E}">
        <p14:creationId xmlns:p14="http://schemas.microsoft.com/office/powerpoint/2010/main" val="11228304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410BC46A-4F1A-47C4-9196-EF8D8733E98F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01 · 主机工具与 Python 环境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8779276C-228B-4C0A-8D2C-751537FD8772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P002—P005 分册路线 · 完成后进入 P003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7E12C571-C34B-4B89-8A51-BAF219E4F159}"/>
              </a:ext>
            </a:extLst>
          </p:cNvPr>
          <p:cNvSpPr>
            <a:spLocks noGrp="1"/>
          </p:cNvSpPr>
          <p:nvPr/>
        </p:nvSpPr>
        <p:spPr>
          <a:xfrm>
            <a:off x="609600" y="1952625"/>
            <a:ext cx="10972800" cy="18097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本册先准备电脑上运行的命令，再建立源码根的 .venv。</a:t>
            </a:r>
          </a:p>
          <a:p>
            <a:pPr>
              <a:lnSpc>
                <a:spcPct val="120000"/>
              </a:lnSpc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已有 Python 按版本选择；缺少时才安装。</a:t>
            </a:r>
          </a:p>
          <a:p>
            <a:pPr>
              <a:lnSpc>
                <a:spcPct val="120000"/>
              </a:lnSpc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结果：工具可运行，Python 与 west 使用同一虚拟环境。</a:t>
            </a:r>
          </a:p>
        </p:txBody>
      </p:sp>
      <p:sp>
        <p:nvSpPr>
          <p:cNvPr id="5" name="Module stage 1">
            <a:extLst>
              <a:ext uri="{FF2B5EF4-FFF2-40B4-BE49-F238E27FC236}">
                <a16:creationId xmlns:a16="http://schemas.microsoft.com/office/drawing/2014/main" id="{32056BA7-5EC8-4F88-BE33-18BE1CD1F0C5}"/>
              </a:ext>
            </a:extLst>
          </p:cNvPr>
          <p:cNvSpPr>
            <a:spLocks noGrp="1"/>
          </p:cNvSpPr>
          <p:nvPr/>
        </p:nvSpPr>
        <p:spPr>
          <a:xfrm>
            <a:off x="666750" y="4210050"/>
            <a:ext cx="2333625" cy="971550"/>
          </a:xfrm>
          <a:prstGeom prst="rect">
            <a:avLst/>
          </a:prstGeom>
          <a:solidFill>
            <a:srgbClr val="F0EDF6"/>
          </a:solidFill>
          <a:ln w="9525">
            <a:solidFill>
              <a:srgbClr val="6845AC"/>
            </a:solidFill>
          </a:ln>
        </p:spPr>
        <p:txBody>
          <a:bodyPr anchor="ctr">
            <a:noAutofit/>
          </a:bodyPr>
          <a:lstStyle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01 主机工具</a:t>
            </a:r>
          </a:p>
          <a:p>
            <a:pPr algn="ctr">
              <a:lnSpc>
                <a:spcPct val="120000"/>
              </a:lnSpc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与 .venv</a:t>
            </a:r>
          </a:p>
        </p:txBody>
      </p:sp>
      <p:sp>
        <p:nvSpPr>
          <p:cNvPr id="6" name="flow 0">
            <a:extLst>
              <a:ext uri="{FF2B5EF4-FFF2-40B4-BE49-F238E27FC236}">
                <a16:creationId xmlns:a16="http://schemas.microsoft.com/office/drawing/2014/main" id="{AF28A9C1-B720-49D5-9CFC-4ADAE4481BDE}"/>
              </a:ext>
            </a:extLst>
          </p:cNvPr>
          <p:cNvSpPr>
            <a:spLocks noGrp="1"/>
          </p:cNvSpPr>
          <p:nvPr/>
        </p:nvSpPr>
        <p:spPr>
          <a:xfrm>
            <a:off x="3057525" y="4448175"/>
            <a:ext cx="361950" cy="4762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21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21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7" name="Module stage 2">
            <a:extLst>
              <a:ext uri="{FF2B5EF4-FFF2-40B4-BE49-F238E27FC236}">
                <a16:creationId xmlns:a16="http://schemas.microsoft.com/office/drawing/2014/main" id="{5F21C88F-235E-490E-94B0-6395EFA0B1CC}"/>
              </a:ext>
            </a:extLst>
          </p:cNvPr>
          <p:cNvSpPr>
            <a:spLocks noGrp="1"/>
          </p:cNvSpPr>
          <p:nvPr/>
        </p:nvSpPr>
        <p:spPr>
          <a:xfrm>
            <a:off x="3476625" y="4210050"/>
            <a:ext cx="2333625" cy="971550"/>
          </a:xfrm>
          <a:prstGeom prst="rect">
            <a:avLst/>
          </a:prstGeom>
          <a:solidFill>
            <a:srgbClr val="F0EDF6"/>
          </a:solidFill>
          <a:ln w="9525">
            <a:solidFill>
              <a:srgbClr val="6845AC"/>
            </a:solidFill>
          </a:ln>
        </p:spPr>
        <p:txBody>
          <a:bodyPr anchor="ctr">
            <a:noAutofit/>
          </a:bodyPr>
          <a:lstStyle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02 SDK</a:t>
            </a:r>
          </a:p>
          <a:p>
            <a:pPr algn="ctr">
              <a:lnSpc>
                <a:spcPct val="120000"/>
              </a:lnSpc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与编译器</a:t>
            </a:r>
          </a:p>
        </p:txBody>
      </p:sp>
      <p:sp>
        <p:nvSpPr>
          <p:cNvPr id="8" name="flow 1">
            <a:extLst>
              <a:ext uri="{FF2B5EF4-FFF2-40B4-BE49-F238E27FC236}">
                <a16:creationId xmlns:a16="http://schemas.microsoft.com/office/drawing/2014/main" id="{1BA9737F-3FAE-48A0-9BE5-2E2F9EB78684}"/>
              </a:ext>
            </a:extLst>
          </p:cNvPr>
          <p:cNvSpPr>
            <a:spLocks noGrp="1"/>
          </p:cNvSpPr>
          <p:nvPr/>
        </p:nvSpPr>
        <p:spPr>
          <a:xfrm>
            <a:off x="5867400" y="4448175"/>
            <a:ext cx="361950" cy="4762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21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21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9" name="Module stage 3">
            <a:extLst>
              <a:ext uri="{FF2B5EF4-FFF2-40B4-BE49-F238E27FC236}">
                <a16:creationId xmlns:a16="http://schemas.microsoft.com/office/drawing/2014/main" id="{6BF7F42A-885C-420B-9CE3-F891066FC0B8}"/>
              </a:ext>
            </a:extLst>
          </p:cNvPr>
          <p:cNvSpPr>
            <a:spLocks noGrp="1"/>
          </p:cNvSpPr>
          <p:nvPr/>
        </p:nvSpPr>
        <p:spPr>
          <a:xfrm>
            <a:off x="6286500" y="4210050"/>
            <a:ext cx="2333625" cy="971550"/>
          </a:xfrm>
          <a:prstGeom prst="rect">
            <a:avLst/>
          </a:prstGeom>
          <a:solidFill>
            <a:srgbClr val="F0EDF6"/>
          </a:solidFill>
          <a:ln w="9525">
            <a:solidFill>
              <a:srgbClr val="6845AC"/>
            </a:solidFill>
          </a:ln>
        </p:spPr>
        <p:txBody>
          <a:bodyPr anchor="ctr">
            <a:noAutofit/>
          </a:bodyPr>
          <a:lstStyle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03 CMSIS/HAL</a:t>
            </a:r>
          </a:p>
          <a:p>
            <a:pPr algn="ctr">
              <a:lnSpc>
                <a:spcPct val="120000"/>
              </a:lnSpc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选择下载</a:t>
            </a:r>
            <a:endParaRPr sz="1875" dirty="0">
              <a:solidFill>
                <a:srgbClr val="29263B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0" name="flow 2">
            <a:extLst>
              <a:ext uri="{FF2B5EF4-FFF2-40B4-BE49-F238E27FC236}">
                <a16:creationId xmlns:a16="http://schemas.microsoft.com/office/drawing/2014/main" id="{AAA6B63A-E27A-45E3-A4C8-EF355694E721}"/>
              </a:ext>
            </a:extLst>
          </p:cNvPr>
          <p:cNvSpPr>
            <a:spLocks noGrp="1"/>
          </p:cNvSpPr>
          <p:nvPr/>
        </p:nvSpPr>
        <p:spPr>
          <a:xfrm>
            <a:off x="8677275" y="4448175"/>
            <a:ext cx="361950" cy="4762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21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21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1" name="Module stage 4">
            <a:extLst>
              <a:ext uri="{FF2B5EF4-FFF2-40B4-BE49-F238E27FC236}">
                <a16:creationId xmlns:a16="http://schemas.microsoft.com/office/drawing/2014/main" id="{7D53F9E3-64AA-4C45-AF38-89D2E5F76CD5}"/>
              </a:ext>
            </a:extLst>
          </p:cNvPr>
          <p:cNvSpPr>
            <a:spLocks noGrp="1"/>
          </p:cNvSpPr>
          <p:nvPr/>
        </p:nvSpPr>
        <p:spPr>
          <a:xfrm>
            <a:off x="9096375" y="4210050"/>
            <a:ext cx="2333625" cy="971550"/>
          </a:xfrm>
          <a:prstGeom prst="rect">
            <a:avLst/>
          </a:prstGeom>
          <a:solidFill>
            <a:srgbClr val="F0EDF6"/>
          </a:solidFill>
          <a:ln w="9525">
            <a:solidFill>
              <a:srgbClr val="6845AC"/>
            </a:solidFill>
          </a:ln>
        </p:spPr>
        <p:txBody>
          <a:bodyPr anchor="ctr">
            <a:noAutofit/>
          </a:bodyPr>
          <a:lstStyle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04 模块路径</a:t>
            </a:r>
          </a:p>
          <a:p>
            <a:pPr algn="ctr">
              <a:lnSpc>
                <a:spcPct val="120000"/>
              </a:lnSpc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交给工程</a:t>
            </a:r>
          </a:p>
        </p:txBody>
      </p:sp>
      <p:sp>
        <p:nvSpPr>
          <p:cNvPr id="12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">
            <a:extLst>
              <a:ext uri="{FF2B5EF4-FFF2-40B4-BE49-F238E27FC236}">
                <a16:creationId xmlns:a16="http://schemas.microsoft.com/office/drawing/2014/main" id="{77320F87-B404-415C-8852-BE68A4B7849B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默认使用 UCRT64，特定步骤切换终端</a:t>
            </a:r>
          </a:p>
        </p:txBody>
      </p:sp>
      <p:sp>
        <p:nvSpPr>
          <p:cNvPr id="2" name="section">
            <a:extLst>
              <a:ext uri="{FF2B5EF4-FFF2-40B4-BE49-F238E27FC236}">
                <a16:creationId xmlns:a16="http://schemas.microsoft.com/office/drawing/2014/main" id="{EFDEB8F7-C953-4D92-8813-C180FDB58AF1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本期准备顺序与终端边界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72F6AAE5-49B1-4D9E-B5E7-117BA3AEF80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978078092"/>
              </p:ext>
            </p:extLst>
          </p:nvPr>
        </p:nvGraphicFramePr>
        <p:xfrm>
          <a:off x="609600" y="1924050"/>
          <a:ext cx="10972800" cy="3714750"/>
        </p:xfrm>
        <a:graphic>
          <a:graphicData uri="http://schemas.openxmlformats.org/drawingml/2006/table">
            <a:tbl>
              <a:tblPr/>
              <a:tblGrid>
                <a:gridCol w="48562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165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1912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1" dirty="0" err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操作</a:t>
                      </a:r>
                      <a:endParaRPr sz="1800" b="1" dirty="0">
                        <a:solidFill>
                          <a:srgbClr val="29263B"/>
                        </a:solidFill>
                        <a:latin typeface="Microsoft YaHei"/>
                        <a:ea typeface="Microsoft YaHei"/>
                        <a:cs typeface="Microsoft YaHei"/>
                      </a:endParaRPr>
                    </a:p>
                  </a:txBody>
                  <a:tcPr anchor="ctr">
                    <a:solidFill>
                      <a:srgbClr val="EEEA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本教程使用的终端</a:t>
                      </a:r>
                    </a:p>
                  </a:txBody>
                  <a:tcPr anchor="ctr">
                    <a:solidFill>
                      <a:srgbClr val="EEEA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912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 dirty="0" err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普通下载、摘要校验与解压</a:t>
                      </a:r>
                      <a:endParaRPr sz="1800" b="0" dirty="0">
                        <a:solidFill>
                          <a:srgbClr val="29263B"/>
                        </a:solidFill>
                        <a:latin typeface="Microsoft YaHei"/>
                        <a:ea typeface="Microsoft YaHei"/>
                        <a:cs typeface="Microsoft YaHei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UCRT64，延续 Linux 命令习惯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912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Python、venv、版本与工程命令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UCRT64，按具体操作说明执行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912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Zephyr 官方指定的 Windows 工具安装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按官方 PowerShell 下载和安装方式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912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SDK 的 setup.cmd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切到 PowerShell 运行，结束后回 UCRT64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1912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Ubuntu 22.04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 dirty="0" err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原生</a:t>
                      </a:r>
                      <a:r>
                        <a:rPr sz="1800" b="0" dirty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 Linux Bash 和 setup.sh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91153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">
            <a:extLst>
              <a:ext uri="{FF2B5EF4-FFF2-40B4-BE49-F238E27FC236}">
                <a16:creationId xmlns:a16="http://schemas.microsoft.com/office/drawing/2014/main" id="{30DD7513-1EE1-4321-B8A6-C210416F5D5D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先区分程序、源码和接入规则</a:t>
            </a:r>
          </a:p>
        </p:txBody>
      </p:sp>
      <p:sp>
        <p:nvSpPr>
          <p:cNvPr id="2" name="section">
            <a:extLst>
              <a:ext uri="{FF2B5EF4-FFF2-40B4-BE49-F238E27FC236}">
                <a16:creationId xmlns:a16="http://schemas.microsoft.com/office/drawing/2014/main" id="{EAE34B2B-1651-43A7-9140-B644083FB172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2.1 · 工具安装在前，固件源码依赖在后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1C6A570D-C6B6-4C79-BC2F-5A343D37F97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57620453"/>
              </p:ext>
            </p:extLst>
          </p:nvPr>
        </p:nvGraphicFramePr>
        <p:xfrm>
          <a:off x="609600" y="1924050"/>
          <a:ext cx="10972800" cy="3190875"/>
        </p:xfrm>
        <a:graphic>
          <a:graphicData uri="http://schemas.openxmlformats.org/drawingml/2006/table">
            <a:tbl>
              <a:tblPr/>
              <a:tblGrid>
                <a:gridCol w="342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43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3817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对象</a:t>
                      </a:r>
                    </a:p>
                  </a:txBody>
                  <a:tcPr anchor="ctr">
                    <a:solidFill>
                      <a:srgbClr val="EEEA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给谁用 / 怎样进入工程</a:t>
                      </a:r>
                    </a:p>
                  </a:txBody>
                  <a:tcPr anchor="ctr">
                    <a:solidFill>
                      <a:srgbClr val="EEEA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817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 dirty="0" err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Python、CMake、Ninja</a:t>
                      </a:r>
                      <a:endParaRPr sz="1800" b="0" dirty="0">
                        <a:solidFill>
                          <a:srgbClr val="29263B"/>
                        </a:solidFill>
                        <a:latin typeface="Microsoft YaHei"/>
                        <a:ea typeface="Microsoft YaHei"/>
                        <a:cs typeface="Microsoft YaHei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Windows 主机运行；按 PATH 或显式路径找到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817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 dirty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SDK </a:t>
                      </a:r>
                      <a:r>
                        <a:rPr sz="1800" b="0" dirty="0" err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内目标工具链</a:t>
                      </a:r>
                      <a:endParaRPr sz="1800" b="0" dirty="0">
                        <a:solidFill>
                          <a:srgbClr val="29263B"/>
                        </a:solidFill>
                        <a:latin typeface="Microsoft YaHei"/>
                        <a:ea typeface="Microsoft YaHei"/>
                        <a:cs typeface="Microsoft YaHei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主机运行，生成 Arm 机器码；由 SDK 根选择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3817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 dirty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CMSIS 与 HAL</a:t>
                      </a:r>
                      <a:r>
                        <a:rPr lang="en-US" sz="1800" b="0" dirty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/DDL</a:t>
                      </a:r>
                      <a:endParaRPr sz="1800" b="0" dirty="0">
                        <a:solidFill>
                          <a:srgbClr val="29263B"/>
                        </a:solidFill>
                        <a:latin typeface="Microsoft YaHei"/>
                        <a:ea typeface="Microsoft YaHei"/>
                        <a:cs typeface="Microsoft YaHei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供固件源码使用；由 module.yml 和 CMake 接入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3817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 dirty="0" err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板、SoC</a:t>
                      </a:r>
                      <a:r>
                        <a:rPr sz="1800" b="0" dirty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 </a:t>
                      </a:r>
                      <a:r>
                        <a:rPr sz="1800" b="0" dirty="0" err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与驱动适配</a:t>
                      </a:r>
                      <a:endParaRPr sz="1800" b="0" dirty="0">
                        <a:solidFill>
                          <a:srgbClr val="29263B"/>
                        </a:solidFill>
                        <a:latin typeface="Microsoft YaHei"/>
                        <a:ea typeface="Microsoft YaHei"/>
                        <a:cs typeface="Microsoft YaHei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 dirty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决定硬件与调用关系；P011 </a:t>
                      </a:r>
                      <a:r>
                        <a:rPr sz="1800" b="0" dirty="0" err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才新增</a:t>
                      </a:r>
                      <a:endParaRPr sz="1800" b="0" dirty="0">
                        <a:solidFill>
                          <a:srgbClr val="29263B"/>
                        </a:solidFill>
                        <a:latin typeface="Microsoft YaHei"/>
                        <a:ea typeface="Microsoft YaHei"/>
                        <a:cs typeface="Microsoft YaHei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CFB0229E-6AED-4AC5-BD04-B1C73FD27F05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4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6166757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">
            <a:extLst>
              <a:ext uri="{FF2B5EF4-FFF2-40B4-BE49-F238E27FC236}">
                <a16:creationId xmlns:a16="http://schemas.microsoft.com/office/drawing/2014/main" id="{951E06C2-726F-4B55-AEAC-6D06A63E6228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安装依据：当前源码的 Windows 指南</a:t>
            </a:r>
          </a:p>
        </p:txBody>
      </p:sp>
      <p:sp>
        <p:nvSpPr>
          <p:cNvPr id="2" name="content">
            <a:extLst>
              <a:ext uri="{FF2B5EF4-FFF2-40B4-BE49-F238E27FC236}">
                <a16:creationId xmlns:a16="http://schemas.microsoft.com/office/drawing/2014/main" id="{10C79908-572F-41F2-94DB-ECE9139D30F1}"/>
              </a:ext>
            </a:extLst>
          </p:cNvPr>
          <p:cNvSpPr>
            <a:spLocks noGrp="1"/>
          </p:cNvSpPr>
          <p:nvPr/>
        </p:nvSpPr>
        <p:spPr>
          <a:xfrm>
            <a:off x="647700" y="1238250"/>
            <a:ext cx="108585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2.1.1 · 先准备电脑上的工具</a:t>
            </a:r>
          </a:p>
        </p:txBody>
      </p:sp>
      <p:sp>
        <p:nvSpPr>
          <p:cNvPr id="3" name="content">
            <a:extLst>
              <a:ext uri="{FF2B5EF4-FFF2-40B4-BE49-F238E27FC236}">
                <a16:creationId xmlns:a16="http://schemas.microsoft.com/office/drawing/2014/main" id="{27E0BD48-F242-4368-8E16-2CE79262F526}"/>
              </a:ext>
            </a:extLst>
          </p:cNvPr>
          <p:cNvSpPr>
            <a:spLocks noGrp="1"/>
          </p:cNvSpPr>
          <p:nvPr/>
        </p:nvSpPr>
        <p:spPr>
          <a:xfrm>
            <a:off x="709274" y="1695450"/>
            <a:ext cx="4296091" cy="4415989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120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先读</a:t>
            </a:r>
            <a:r>
              <a:rPr lang="zh-CN" altLang="en-US" sz="22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：</a:t>
            </a:r>
            <a:endParaRPr lang="en-US" altLang="zh-CN" sz="2250" dirty="0">
              <a:solidFill>
                <a:srgbClr val="29263B"/>
              </a:solidFill>
              <a:latin typeface="Microsoft YaHei"/>
              <a:ea typeface="Microsoft YaHei"/>
              <a:cs typeface="Microsoft YaHei"/>
            </a:endParaRPr>
          </a:p>
          <a:p>
            <a:pPr>
              <a:lnSpc>
                <a:spcPct val="120000"/>
              </a:lnSpc>
              <a:spcAft>
                <a:spcPts val="120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b="0" dirty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doc/develop/</a:t>
            </a:r>
            <a:r>
              <a:rPr b="0" dirty="0" err="1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getting_started</a:t>
            </a:r>
            <a:r>
              <a:rPr b="0" dirty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/</a:t>
            </a:r>
            <a:r>
              <a:rPr b="0" dirty="0" err="1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index.rst</a:t>
            </a:r>
            <a:r>
              <a:rPr b="0" dirty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。</a:t>
            </a:r>
            <a:endParaRPr lang="en-US" b="0" dirty="0">
              <a:solidFill>
                <a:srgbClr val="0070C0"/>
              </a:solidFill>
              <a:latin typeface="Microsoft YaHei"/>
              <a:ea typeface="Microsoft YaHei"/>
              <a:cs typeface="Microsoft YaHei"/>
            </a:endParaRPr>
          </a:p>
          <a:p>
            <a:pPr>
              <a:lnSpc>
                <a:spcPct val="120000"/>
              </a:lnSpc>
              <a:spcAft>
                <a:spcPts val="120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Windows </a:t>
            </a:r>
            <a:r>
              <a:rPr sz="22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主机工具使用官方</a:t>
            </a:r>
            <a:r>
              <a:rPr sz="22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22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winget</a:t>
            </a:r>
            <a:r>
              <a:rPr sz="22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22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清单</a:t>
            </a:r>
            <a:r>
              <a:rPr sz="22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  <a:endParaRPr lang="en-US" sz="2250" b="0" dirty="0">
              <a:solidFill>
                <a:srgbClr val="29263B"/>
              </a:solidFill>
              <a:latin typeface="Microsoft YaHei"/>
              <a:ea typeface="Microsoft YaHei"/>
              <a:cs typeface="Microsoft YaHei"/>
            </a:endParaRPr>
          </a:p>
          <a:p>
            <a:pPr>
              <a:lnSpc>
                <a:spcPct val="120000"/>
              </a:lnSpc>
              <a:spcAft>
                <a:spcPts val="120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本教程固定</a:t>
            </a:r>
            <a:r>
              <a:rPr sz="22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Python 3.12.10，单独使用官方安装器。</a:t>
            </a:r>
            <a:endParaRPr lang="en-US" sz="2250" b="0" dirty="0">
              <a:solidFill>
                <a:srgbClr val="29263B"/>
              </a:solidFill>
              <a:latin typeface="Microsoft YaHei"/>
              <a:ea typeface="Microsoft YaHei"/>
              <a:cs typeface="Microsoft YaHei"/>
            </a:endParaRPr>
          </a:p>
          <a:p>
            <a:pPr>
              <a:lnSpc>
                <a:spcPct val="120000"/>
              </a:lnSpc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源码更新后重查工具清单、最低版本与</a:t>
            </a:r>
            <a:r>
              <a:rPr sz="22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requirements。</a:t>
            </a: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658BD696-1926-E7E6-6127-A3B096DD49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29864" y="2206008"/>
            <a:ext cx="6314436" cy="3413742"/>
          </a:xfrm>
          <a:prstGeom prst="rect">
            <a:avLst/>
          </a:prstGeom>
        </p:spPr>
      </p:pic>
      <p:sp>
        <p:nvSpPr>
          <p:cNvPr id="10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CE9DE1C0-E6EB-4DAF-B14A-0BA20BBA8674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5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2646655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">
            <a:extLst>
              <a:ext uri="{FF2B5EF4-FFF2-40B4-BE49-F238E27FC236}">
                <a16:creationId xmlns:a16="http://schemas.microsoft.com/office/drawing/2014/main" id="{1DF18888-4A55-422C-99EF-C88C38DCD688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先安装官方主机工具</a:t>
            </a:r>
          </a:p>
        </p:txBody>
      </p:sp>
      <p:sp>
        <p:nvSpPr>
          <p:cNvPr id="2" name="section">
            <a:extLst>
              <a:ext uri="{FF2B5EF4-FFF2-40B4-BE49-F238E27FC236}">
                <a16:creationId xmlns:a16="http://schemas.microsoft.com/office/drawing/2014/main" id="{F0D23D2B-43CB-4728-9829-157B165626D4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2.1.1_按官方 Windows 步骤安装主机工具</a:t>
            </a:r>
          </a:p>
        </p:txBody>
      </p:sp>
      <p:sp>
        <p:nvSpPr>
          <p:cNvPr id="3" name="Copyable command">
            <a:extLst>
              <a:ext uri="{FF2B5EF4-FFF2-40B4-BE49-F238E27FC236}">
                <a16:creationId xmlns:a16="http://schemas.microsoft.com/office/drawing/2014/main" id="{2F254907-FB77-4657-B281-F1A02C942C17}"/>
              </a:ext>
            </a:extLst>
          </p:cNvPr>
          <p:cNvSpPr>
            <a:spLocks noGrp="1"/>
          </p:cNvSpPr>
          <p:nvPr/>
        </p:nvSpPr>
        <p:spPr>
          <a:xfrm>
            <a:off x="609600" y="1714500"/>
            <a:ext cx="10972800" cy="14605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 dirty="0">
                <a:solidFill>
                  <a:schemeClr val="bg1">
                    <a:lumMod val="50000"/>
                  </a:schemeClr>
                </a:solidFill>
                <a:latin typeface="Consolas"/>
                <a:ea typeface="Consolas"/>
                <a:cs typeface="Consolas"/>
              </a:rPr>
              <a:t># Windows PowerShell 或 </a:t>
            </a:r>
            <a:r>
              <a:rPr sz="1875" b="0" dirty="0" err="1">
                <a:solidFill>
                  <a:schemeClr val="bg1">
                    <a:lumMod val="50000"/>
                  </a:schemeClr>
                </a:solidFill>
                <a:latin typeface="Consolas"/>
                <a:ea typeface="Consolas"/>
                <a:cs typeface="Consolas"/>
              </a:rPr>
              <a:t>cmd.exe；本教程固定</a:t>
            </a:r>
            <a:r>
              <a:rPr sz="1875" b="0" dirty="0">
                <a:solidFill>
                  <a:schemeClr val="bg1">
                    <a:lumMod val="50000"/>
                  </a:schemeClr>
                </a:solidFill>
                <a:latin typeface="Consolas"/>
                <a:ea typeface="Consolas"/>
                <a:cs typeface="Consolas"/>
              </a:rPr>
              <a:t> Python </a:t>
            </a:r>
            <a:r>
              <a:rPr sz="1875" b="0" dirty="0" err="1">
                <a:solidFill>
                  <a:schemeClr val="bg1">
                    <a:lumMod val="50000"/>
                  </a:schemeClr>
                </a:solidFill>
                <a:latin typeface="Consolas"/>
                <a:ea typeface="Consolas"/>
                <a:cs typeface="Consolas"/>
              </a:rPr>
              <a:t>时使用</a:t>
            </a:r>
            <a:r>
              <a:rPr sz="1875" b="0" dirty="0">
                <a:solidFill>
                  <a:schemeClr val="bg1">
                    <a:lumMod val="50000"/>
                  </a:schemeClr>
                </a:solidFill>
                <a:latin typeface="Consolas"/>
                <a:ea typeface="Consolas"/>
                <a:cs typeface="Consolas"/>
              </a:rPr>
              <a:t>。</a:t>
            </a:r>
            <a:endParaRPr lang="zh-CN" altLang="en-US" sz="1875" b="0" dirty="0">
              <a:solidFill>
                <a:schemeClr val="bg1">
                  <a:lumMod val="50000"/>
                </a:schemeClr>
              </a:solidFill>
              <a:latin typeface="Consolas"/>
              <a:ea typeface="Consolas"/>
              <a:cs typeface="Consolas"/>
            </a:endParaRPr>
          </a:p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lang="en-US" sz="1875" b="0" dirty="0" err="1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winget</a:t>
            </a:r>
            <a:r>
              <a:rPr lang="en-US"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--version</a:t>
            </a:r>
          </a:p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lang="en-US" sz="1875" b="0" dirty="0" err="1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winget</a:t>
            </a:r>
            <a:r>
              <a:rPr lang="en-US"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install </a:t>
            </a:r>
            <a:r>
              <a:rPr lang="en-US" sz="1875" b="0" dirty="0" err="1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Kitware.CMake</a:t>
            </a:r>
            <a:r>
              <a:rPr lang="en-US"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Ninja-</a:t>
            </a:r>
            <a:r>
              <a:rPr lang="en-US" sz="1875" b="0" dirty="0" err="1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build.Ninja</a:t>
            </a:r>
            <a:r>
              <a:rPr lang="en-US"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en-US" sz="1875" b="0" dirty="0" err="1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oss-winget.gperf</a:t>
            </a:r>
            <a:r>
              <a:rPr lang="en-US"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en-US" sz="1875" b="0" dirty="0" err="1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Git.Git</a:t>
            </a:r>
            <a:r>
              <a:rPr lang="en-US"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en-US" sz="1875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\</a:t>
            </a:r>
          </a:p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lang="en-US"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	</a:t>
            </a:r>
            <a:r>
              <a:rPr lang="en-US" sz="1875" b="0" dirty="0" err="1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oss-winget.dtc</a:t>
            </a:r>
            <a:r>
              <a:rPr lang="en-US"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en-US" sz="1875" b="0" dirty="0" err="1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wget</a:t>
            </a:r>
            <a:r>
              <a:rPr lang="en-US"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7zip.7zip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7E1FCD0C-3B73-471F-9928-BD7E37A1D013}"/>
              </a:ext>
            </a:extLst>
          </p:cNvPr>
          <p:cNvSpPr>
            <a:spLocks noGrp="1"/>
          </p:cNvSpPr>
          <p:nvPr/>
        </p:nvSpPr>
        <p:spPr>
          <a:xfrm>
            <a:off x="609600" y="3200400"/>
            <a:ext cx="10972800" cy="28321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12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教程固定</a:t>
            </a:r>
            <a:r>
              <a:rPr sz="18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Python 3.12.10，所以此处省略 </a:t>
            </a:r>
            <a:r>
              <a:rPr sz="18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winget</a:t>
            </a:r>
            <a:r>
              <a:rPr sz="18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的 Python </a:t>
            </a:r>
            <a:r>
              <a:rPr sz="18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项；下一阶段单独安装</a:t>
            </a:r>
            <a:r>
              <a:rPr sz="18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  <a:endParaRPr lang="en-US" sz="1875" b="0" dirty="0">
              <a:solidFill>
                <a:srgbClr val="29263B"/>
              </a:solidFill>
              <a:latin typeface="Microsoft YaHei"/>
              <a:ea typeface="Microsoft YaHei"/>
              <a:cs typeface="Microsoft YaHei"/>
            </a:endParaRPr>
          </a:p>
          <a:p>
            <a:pPr>
              <a:lnSpc>
                <a:spcPct val="120000"/>
              </a:lnSpc>
              <a:spcAft>
                <a:spcPts val="12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18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上面如果你本地有</a:t>
            </a:r>
            <a:r>
              <a:rPr lang="en-US" altLang="zh-CN" sz="18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git</a:t>
            </a:r>
            <a:r>
              <a:rPr lang="zh-CN" altLang="en-US" sz="18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，有</a:t>
            </a:r>
            <a:r>
              <a:rPr lang="en-US" altLang="zh-CN" sz="1875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7-zip</a:t>
            </a:r>
            <a:r>
              <a:rPr lang="zh-CN" altLang="en-US" sz="1875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，如果没有加入系统</a:t>
            </a:r>
            <a:r>
              <a:rPr lang="en-US" altLang="zh-CN" sz="1875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path</a:t>
            </a:r>
            <a:r>
              <a:rPr lang="zh-CN" altLang="en-US" sz="1875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（设置界面搜索框，搜索“编辑系统环境变量”），那么用</a:t>
            </a:r>
            <a:r>
              <a:rPr lang="en-US" altLang="zh-CN" sz="1875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winget</a:t>
            </a:r>
            <a:r>
              <a:rPr lang="zh-CN" altLang="en-US" sz="1875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下载的话就可能造成重复下载或者环境变量里面找不到对应的工具。</a:t>
            </a:r>
            <a:r>
              <a:rPr lang="en-US" altLang="zh-CN" sz="1875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git</a:t>
            </a:r>
            <a:r>
              <a:rPr lang="zh-CN" altLang="en-US" sz="1875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基本都会点击加入系统</a:t>
            </a:r>
            <a:r>
              <a:rPr lang="en-US" altLang="zh-CN" sz="1875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path</a:t>
            </a:r>
            <a:r>
              <a:rPr lang="zh-CN" altLang="en-US" sz="1875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（不过可能会有重复下载冲突），不过</a:t>
            </a:r>
            <a:r>
              <a:rPr lang="en-US" altLang="zh-CN" sz="1875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7-zip</a:t>
            </a:r>
            <a:r>
              <a:rPr lang="zh-CN" altLang="en-US" sz="1875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可能不会加入（造成重复下载），处理方式就是把你下载安装的</a:t>
            </a:r>
            <a:r>
              <a:rPr lang="en-US" altLang="zh-CN" sz="1875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zip</a:t>
            </a:r>
            <a:r>
              <a:rPr lang="zh-CN" altLang="en-US" sz="1875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放到系统</a:t>
            </a:r>
            <a:r>
              <a:rPr lang="en-US" altLang="zh-CN" sz="1875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path</a:t>
            </a:r>
            <a:r>
              <a:rPr lang="zh-CN" altLang="en-US" sz="1875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里面，让系统可以找到它们。 </a:t>
            </a:r>
            <a:endParaRPr lang="en-US" altLang="zh-CN" sz="1875" dirty="0">
              <a:solidFill>
                <a:srgbClr val="29263B"/>
              </a:solidFill>
              <a:latin typeface="Microsoft YaHei"/>
              <a:ea typeface="Microsoft YaHei"/>
              <a:cs typeface="Microsoft YaHei"/>
            </a:endParaRPr>
          </a:p>
          <a:p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875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winget</a:t>
            </a:r>
            <a:r>
              <a:rPr lang="zh-CN" altLang="en-US" sz="1875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并列下载的时候，只要有一个没有安装成功，后面排队的软件都不会下载，注意你当前系统有这些工具提示冲突的话，就把后面排队的工具手动下载以下，绕开这些错误下载软件。</a:t>
            </a:r>
            <a:endParaRPr lang="en-US" altLang="zh-CN" sz="1875" dirty="0">
              <a:solidFill>
                <a:srgbClr val="29263B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5" name="Command file link">
            <a:extLst>
              <a:ext uri="{FF2B5EF4-FFF2-40B4-BE49-F238E27FC236}">
                <a16:creationId xmlns:a16="http://schemas.microsoft.com/office/drawing/2014/main" id="{71D9CECE-FEA2-4CC9-AA47-C15BB2F74CBF}"/>
              </a:ext>
            </a:extLst>
          </p:cNvPr>
          <p:cNvSpPr>
            <a:spLocks noGrp="1"/>
          </p:cNvSpPr>
          <p:nvPr/>
        </p:nvSpPr>
        <p:spPr>
          <a:xfrm>
            <a:off x="609600" y="6096000"/>
            <a:ext cx="10839450" cy="2952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r:id="rId3"/>
              </a:rPr>
              <a:t>完整命令：P002_Windows/2.1.1-02.txt</a:t>
            </a:r>
          </a:p>
        </p:txBody>
      </p:sp>
      <p:sp>
        <p:nvSpPr>
          <p:cNvPr id="10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27C34F1A-E4F2-4593-9C0C-452A5079A2CC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6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8660197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">
            <a:extLst>
              <a:ext uri="{FF2B5EF4-FFF2-40B4-BE49-F238E27FC236}">
                <a16:creationId xmlns:a16="http://schemas.microsoft.com/office/drawing/2014/main" id="{7E46A90E-8A19-4348-9BA8-6958E2CBC0F7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def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工具安装后的检查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B0310DF1-0A6B-4E94-87E0-2270D4B1137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83982620"/>
              </p:ext>
            </p:extLst>
          </p:nvPr>
        </p:nvGraphicFramePr>
        <p:xfrm>
          <a:off x="609600" y="1600200"/>
          <a:ext cx="10972800" cy="3657600"/>
        </p:xfrm>
        <a:graphic>
          <a:graphicData uri="http://schemas.openxmlformats.org/drawingml/2006/table">
            <a:tbl>
              <a:tblPr/>
              <a:tblGrid>
                <a:gridCol w="1809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81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81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0960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1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工具</a:t>
                      </a:r>
                    </a:p>
                  </a:txBody>
                  <a:tcPr marL="152400" marR="133350" marT="114300" marB="95250" anchor="ctr">
                    <a:solidFill>
                      <a:srgbClr val="6544B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1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职责</a:t>
                      </a:r>
                    </a:p>
                  </a:txBody>
                  <a:tcPr marL="152400" marR="133350" marT="114300" marB="95250" anchor="ctr">
                    <a:solidFill>
                      <a:srgbClr val="6544B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1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验证命令</a:t>
                      </a:r>
                    </a:p>
                  </a:txBody>
                  <a:tcPr marL="152400" marR="133350" marT="114300" marB="95250" anchor="ctr">
                    <a:solidFill>
                      <a:srgbClr val="6544B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CMake</a:t>
                      </a:r>
                    </a:p>
                  </a:txBody>
                  <a:tcPr marL="152400" marR="13335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生成构建规则</a:t>
                      </a:r>
                    </a:p>
                  </a:txBody>
                  <a:tcPr marL="152400" marR="13335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 dirty="0" err="1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cmake</a:t>
                      </a:r>
                      <a:r>
                        <a:rPr sz="1875" b="0" dirty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 --version</a:t>
                      </a:r>
                    </a:p>
                  </a:txBody>
                  <a:tcPr marL="152400" marR="133350" marT="114300" marB="9525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Ninja</a:t>
                      </a:r>
                    </a:p>
                  </a:txBody>
                  <a:tcPr marL="152400" marR="133350" marT="114300" marB="95250" anchor="ctr">
                    <a:solidFill>
                      <a:srgbClr val="F0EC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调度编译和链接</a:t>
                      </a:r>
                    </a:p>
                  </a:txBody>
                  <a:tcPr marL="152400" marR="133350" marT="114300" marB="95250" anchor="ctr">
                    <a:solidFill>
                      <a:srgbClr val="F0EC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 dirty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ninja --version</a:t>
                      </a:r>
                    </a:p>
                  </a:txBody>
                  <a:tcPr marL="152400" marR="133350" marT="114300" marB="95250" anchor="ctr">
                    <a:solidFill>
                      <a:srgbClr val="F0EC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dtc</a:t>
                      </a:r>
                    </a:p>
                  </a:txBody>
                  <a:tcPr marL="152400" marR="13335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处理设备树数据</a:t>
                      </a:r>
                    </a:p>
                  </a:txBody>
                  <a:tcPr marL="152400" marR="13335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 dirty="0" err="1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dtc</a:t>
                      </a:r>
                      <a:r>
                        <a:rPr sz="1875" b="0" dirty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 --version</a:t>
                      </a:r>
                    </a:p>
                  </a:txBody>
                  <a:tcPr marL="152400" marR="133350" marT="114300" marB="9525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gperf</a:t>
                      </a:r>
                    </a:p>
                  </a:txBody>
                  <a:tcPr marL="152400" marR="133350" marT="114300" marB="95250" anchor="ctr">
                    <a:solidFill>
                      <a:srgbClr val="F0EC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生成关键字查找代码</a:t>
                      </a:r>
                    </a:p>
                  </a:txBody>
                  <a:tcPr marL="152400" marR="133350" marT="114300" marB="95250" anchor="ctr">
                    <a:solidFill>
                      <a:srgbClr val="F0EC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 dirty="0" err="1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gperf</a:t>
                      </a:r>
                      <a:r>
                        <a:rPr sz="1875" b="0" dirty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 --version</a:t>
                      </a:r>
                    </a:p>
                  </a:txBody>
                  <a:tcPr marL="152400" marR="133350" marT="114300" marB="95250" anchor="ctr">
                    <a:solidFill>
                      <a:srgbClr val="F0EC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7-Zip</a:t>
                      </a:r>
                    </a:p>
                  </a:txBody>
                  <a:tcPr marL="152400" marR="13335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解压 SDK 归档</a:t>
                      </a:r>
                    </a:p>
                  </a:txBody>
                  <a:tcPr marL="152400" marR="13335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 dirty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7z </a:t>
                      </a:r>
                      <a:r>
                        <a:rPr sz="1875" b="0" dirty="0" err="1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i</a:t>
                      </a:r>
                      <a:endParaRPr sz="1875" b="0" dirty="0">
                        <a:solidFill>
                          <a:srgbClr val="262236"/>
                        </a:solidFill>
                        <a:latin typeface="Noto Sans SC"/>
                        <a:ea typeface="Noto Sans SC"/>
                        <a:cs typeface="Noto Sans SC"/>
                      </a:endParaRPr>
                    </a:p>
                  </a:txBody>
                  <a:tcPr marL="152400" marR="133350" marT="114300" marB="9525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矩形 3">
            <a:extLst>
              <a:ext uri="{FF2B5EF4-FFF2-40B4-BE49-F238E27FC236}">
                <a16:creationId xmlns:a16="http://schemas.microsoft.com/office/drawing/2014/main" id="{29B25264-14B3-4485-8AB5-863A7C3569C2}"/>
              </a:ext>
            </a:extLst>
          </p:cNvPr>
          <p:cNvSpPr>
            <a:spLocks noGrp="1"/>
          </p:cNvSpPr>
          <p:nvPr/>
        </p:nvSpPr>
        <p:spPr>
          <a:xfrm>
            <a:off x="609600" y="5648325"/>
            <a:ext cx="10972800" cy="61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1950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lnSpc>
                <a:spcPct val="120000"/>
              </a:lnSpc>
              <a:defRPr sz="1950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pPr>
            <a:r>
              <a:rPr sz="1950" b="0">
                <a:solidFill>
                  <a:srgbClr val="6544B0"/>
                </a:solidFill>
                <a:latin typeface="Noto Sans SC"/>
                <a:ea typeface="Noto Sans SC"/>
                <a:cs typeface="Noto Sans SC"/>
              </a:rPr>
              <a:t>路径核对：type -a cmake ninja dtc gperf 7z</a:t>
            </a:r>
          </a:p>
        </p:txBody>
      </p:sp>
      <p:sp>
        <p:nvSpPr>
          <p:cNvPr id="7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DA0707F6-909D-4FCC-9D32-C942F5C09735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7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9762259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">
            <a:extLst>
              <a:ext uri="{FF2B5EF4-FFF2-40B4-BE49-F238E27FC236}">
                <a16:creationId xmlns:a16="http://schemas.microsoft.com/office/drawing/2014/main" id="{678B8B62-D510-4073-88DC-1080D9B615A1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Python：按已有状态继续</a:t>
            </a:r>
          </a:p>
        </p:txBody>
      </p:sp>
      <p:sp>
        <p:nvSpPr>
          <p:cNvPr id="2" name="section">
            <a:extLst>
              <a:ext uri="{FF2B5EF4-FFF2-40B4-BE49-F238E27FC236}">
                <a16:creationId xmlns:a16="http://schemas.microsoft.com/office/drawing/2014/main" id="{F6E67261-D456-482E-B806-36D193FF7B74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2.1.2 · 先检查，缺少才安装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540F9060-04F3-4D80-823A-F1BEEB8B2CFC}"/>
              </a:ext>
            </a:extLst>
          </p:cNvPr>
          <p:cNvGraphicFramePr/>
          <p:nvPr/>
        </p:nvGraphicFramePr>
        <p:xfrm>
          <a:off x="609600" y="1924050"/>
          <a:ext cx="10972800" cy="3190875"/>
        </p:xfrm>
        <a:graphic>
          <a:graphicData uri="http://schemas.openxmlformats.org/drawingml/2006/table">
            <a:tbl>
              <a:tblPr/>
              <a:tblGrid>
                <a:gridCol w="342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43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3817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现在的状态</a:t>
                      </a:r>
                    </a:p>
                  </a:txBody>
                  <a:tcPr anchor="ctr">
                    <a:solidFill>
                      <a:srgbClr val="EEEA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接下来做什么</a:t>
                      </a:r>
                    </a:p>
                  </a:txBody>
                  <a:tcPr anchor="ctr">
                    <a:solidFill>
                      <a:srgbClr val="EEEA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817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已有本项目 .venv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激活，用 python 检查版本并继续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817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已安装 Python 3.12.10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用 py -3.12 创建 .venv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3817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只有安装器 .exe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核对来源后安装，不再重复下载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3817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尚无 Python 与安装器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选择网页下载或 UCRT64 下载安装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E7715D32-6BE5-4772-8FA8-B01FBB1559A8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8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7882010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A7F5BB-0592-D829-7AAD-32A5F33B34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">
            <a:extLst>
              <a:ext uri="{FF2B5EF4-FFF2-40B4-BE49-F238E27FC236}">
                <a16:creationId xmlns:a16="http://schemas.microsoft.com/office/drawing/2014/main" id="{D79FCE36-70D8-3340-0A69-11611DE5D839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def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3300" b="1" dirty="0">
                <a:solidFill>
                  <a:srgbClr val="262236"/>
                </a:solidFill>
                <a:latin typeface="Noto Sans SC"/>
                <a:ea typeface="Noto Sans SC"/>
                <a:cs typeface="Noto Sans SC"/>
                <a:hlinkClick r:id="rId3"/>
              </a:rPr>
              <a:t>Windows Python </a:t>
            </a:r>
            <a:r>
              <a:rPr sz="3300" b="1" dirty="0" err="1">
                <a:solidFill>
                  <a:srgbClr val="262236"/>
                </a:solidFill>
                <a:latin typeface="Noto Sans SC"/>
                <a:ea typeface="Noto Sans SC"/>
                <a:cs typeface="Noto Sans SC"/>
                <a:hlinkClick r:id="rId3"/>
              </a:rPr>
              <a:t>安装包</a:t>
            </a:r>
            <a:endParaRPr sz="3300" b="1" dirty="0">
              <a:solidFill>
                <a:srgbClr val="262236"/>
              </a:solidFill>
              <a:latin typeface="Noto Sans SC"/>
              <a:ea typeface="Noto Sans SC"/>
              <a:cs typeface="Noto Sans SC"/>
            </a:endParaRP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2A9510AC-EF64-3D38-9454-D86D26D502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8045" y="1358374"/>
            <a:ext cx="1461052" cy="2191578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0908ED6A-F456-82A7-433A-1F0B1DADD33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6875" y="1467768"/>
            <a:ext cx="3197089" cy="197279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AB280472-A07A-034E-61D2-FED3B8ED998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9307" y="3960744"/>
            <a:ext cx="3197087" cy="1972789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15" name="图片 14">
            <a:extLst>
              <a:ext uri="{FF2B5EF4-FFF2-40B4-BE49-F238E27FC236}">
                <a16:creationId xmlns:a16="http://schemas.microsoft.com/office/drawing/2014/main" id="{7D5650ED-F54C-DA5B-29B7-879F6FA20D3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53092" y="3960744"/>
            <a:ext cx="3197087" cy="1972789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16" name="图片 15">
            <a:extLst>
              <a:ext uri="{FF2B5EF4-FFF2-40B4-BE49-F238E27FC236}">
                <a16:creationId xmlns:a16="http://schemas.microsoft.com/office/drawing/2014/main" id="{7A327119-6600-B3F5-0F4D-8668A31D3B1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6877" y="3960743"/>
            <a:ext cx="3197087" cy="1972789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cxnSp>
        <p:nvCxnSpPr>
          <p:cNvPr id="17" name="直接箭头连接符 16">
            <a:extLst>
              <a:ext uri="{FF2B5EF4-FFF2-40B4-BE49-F238E27FC236}">
                <a16:creationId xmlns:a16="http://schemas.microsoft.com/office/drawing/2014/main" id="{9F261999-5C57-FFDC-7D04-798F816F66A3}"/>
              </a:ext>
            </a:extLst>
          </p:cNvPr>
          <p:cNvCxnSpPr>
            <a:cxnSpLocks/>
            <a:stCxn id="10" idx="3"/>
            <a:endCxn id="12" idx="1"/>
          </p:cNvCxnSpPr>
          <p:nvPr/>
        </p:nvCxnSpPr>
        <p:spPr>
          <a:xfrm>
            <a:off x="4126394" y="2441374"/>
            <a:ext cx="1091651" cy="1278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8" name="直接箭头连接符 17">
            <a:extLst>
              <a:ext uri="{FF2B5EF4-FFF2-40B4-BE49-F238E27FC236}">
                <a16:creationId xmlns:a16="http://schemas.microsoft.com/office/drawing/2014/main" id="{4B1B89F9-F212-0723-BAFF-80928B17BD3C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>
            <a:off x="6679097" y="2454163"/>
            <a:ext cx="109777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9" name="连接符: 肘形 18">
            <a:extLst>
              <a:ext uri="{FF2B5EF4-FFF2-40B4-BE49-F238E27FC236}">
                <a16:creationId xmlns:a16="http://schemas.microsoft.com/office/drawing/2014/main" id="{D5FFD658-9316-835A-F7E6-D5896A8CD14C}"/>
              </a:ext>
            </a:extLst>
          </p:cNvPr>
          <p:cNvCxnSpPr>
            <a:stCxn id="13" idx="2"/>
            <a:endCxn id="14" idx="0"/>
          </p:cNvCxnSpPr>
          <p:nvPr/>
        </p:nvCxnSpPr>
        <p:spPr>
          <a:xfrm rot="5400000">
            <a:off x="5691543" y="276867"/>
            <a:ext cx="520186" cy="6847569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F03A7D2A-A863-4390-DC83-00AFA1CC66B4}"/>
              </a:ext>
            </a:extLst>
          </p:cNvPr>
          <p:cNvCxnSpPr>
            <a:stCxn id="14" idx="3"/>
            <a:endCxn id="15" idx="1"/>
          </p:cNvCxnSpPr>
          <p:nvPr/>
        </p:nvCxnSpPr>
        <p:spPr>
          <a:xfrm>
            <a:off x="4126394" y="4947139"/>
            <a:ext cx="22669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1" name="直接箭头连接符 20">
            <a:extLst>
              <a:ext uri="{FF2B5EF4-FFF2-40B4-BE49-F238E27FC236}">
                <a16:creationId xmlns:a16="http://schemas.microsoft.com/office/drawing/2014/main" id="{0D75DF8A-C873-AC90-9A6C-C35F92461E78}"/>
              </a:ext>
            </a:extLst>
          </p:cNvPr>
          <p:cNvCxnSpPr>
            <a:stCxn id="15" idx="3"/>
            <a:endCxn id="16" idx="1"/>
          </p:cNvCxnSpPr>
          <p:nvPr/>
        </p:nvCxnSpPr>
        <p:spPr>
          <a:xfrm flipV="1">
            <a:off x="7550179" y="4947138"/>
            <a:ext cx="226698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3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F5CCD706-57E8-4B0A-8471-B019B5330C03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9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BCAD8ABE-1681-80C9-E364-8065F778A5D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29307" y="1577161"/>
            <a:ext cx="3197087" cy="1728425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6743488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">
            <a:extLst>
              <a:ext uri="{FF2B5EF4-FFF2-40B4-BE49-F238E27FC236}">
                <a16:creationId xmlns:a16="http://schemas.microsoft.com/office/drawing/2014/main" id="{A40B2B33-1293-4C6D-B5C9-C11DB4D0AC50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缺少安装器时才用 UCRT64 下载</a:t>
            </a:r>
          </a:p>
        </p:txBody>
      </p:sp>
      <p:sp>
        <p:nvSpPr>
          <p:cNvPr id="2" name="section">
            <a:extLst>
              <a:ext uri="{FF2B5EF4-FFF2-40B4-BE49-F238E27FC236}">
                <a16:creationId xmlns:a16="http://schemas.microsoft.com/office/drawing/2014/main" id="{F3E1AFDE-CE39-4262-82F0-4524C9FDF842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2.1.3 · Windows 官方 Python 安装器</a:t>
            </a:r>
          </a:p>
        </p:txBody>
      </p:sp>
      <p:sp>
        <p:nvSpPr>
          <p:cNvPr id="3" name="Copyable command">
            <a:extLst>
              <a:ext uri="{FF2B5EF4-FFF2-40B4-BE49-F238E27FC236}">
                <a16:creationId xmlns:a16="http://schemas.microsoft.com/office/drawing/2014/main" id="{FEDF8EB3-CBAD-4F0E-9290-0B631BCE0493}"/>
              </a:ext>
            </a:extLst>
          </p:cNvPr>
          <p:cNvSpPr>
            <a:spLocks noGrp="1"/>
          </p:cNvSpPr>
          <p:nvPr/>
        </p:nvSpPr>
        <p:spPr>
          <a:xfrm>
            <a:off x="609600" y="1838325"/>
            <a:ext cx="10972800" cy="2714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 dirty="0">
                <a:solidFill>
                  <a:schemeClr val="bg1">
                    <a:lumMod val="50000"/>
                  </a:schemeClr>
                </a:solidFill>
                <a:latin typeface="Consolas"/>
                <a:ea typeface="Consolas"/>
                <a:cs typeface="Consolas"/>
              </a:rPr>
              <a:t># Windows UCRT64；仅在没有官方 3.12.10 </a:t>
            </a:r>
            <a:r>
              <a:rPr sz="1875" b="0" dirty="0" err="1">
                <a:solidFill>
                  <a:schemeClr val="bg1">
                    <a:lumMod val="50000"/>
                  </a:schemeClr>
                </a:solidFill>
                <a:latin typeface="Consolas"/>
                <a:ea typeface="Consolas"/>
                <a:cs typeface="Consolas"/>
              </a:rPr>
              <a:t>安装器时下载</a:t>
            </a:r>
            <a:r>
              <a:rPr sz="1875" b="0" dirty="0">
                <a:solidFill>
                  <a:schemeClr val="bg1">
                    <a:lumMod val="50000"/>
                  </a:schemeClr>
                </a:solidFill>
                <a:latin typeface="Consolas"/>
                <a:ea typeface="Consolas"/>
                <a:cs typeface="Consolas"/>
              </a:rPr>
              <a:t>。</a:t>
            </a:r>
          </a:p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 dirty="0" err="1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mkdir</a:t>
            </a:r>
            <a:r>
              <a:rPr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-p /g/</a:t>
            </a:r>
            <a:r>
              <a:rPr sz="1875" b="0" dirty="0" err="1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zephyr_practice</a:t>
            </a:r>
            <a:r>
              <a:rPr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/downloads</a:t>
            </a:r>
          </a:p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cd /g/</a:t>
            </a:r>
            <a:r>
              <a:rPr sz="1875" b="0" dirty="0" err="1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zephyr_practice</a:t>
            </a:r>
            <a:r>
              <a:rPr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/downloads</a:t>
            </a:r>
          </a:p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curl -</a:t>
            </a:r>
            <a:r>
              <a:rPr sz="1875" b="0" dirty="0" err="1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fL</a:t>
            </a:r>
            <a:r>
              <a:rPr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https://www.python.org/ftp/python/3.12.10/python-3.12.10-amd64.exe \</a:t>
            </a:r>
          </a:p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 -o python-3.12.10-amd64.exe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50656C6D-297E-4BAE-BEF7-462ACECC8183}"/>
              </a:ext>
            </a:extLst>
          </p:cNvPr>
          <p:cNvSpPr>
            <a:spLocks noGrp="1"/>
          </p:cNvSpPr>
          <p:nvPr/>
        </p:nvSpPr>
        <p:spPr>
          <a:xfrm>
            <a:off x="609600" y="4762500"/>
            <a:ext cx="10972800" cy="12573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已有安装器就核对来源并复用；已安装 3.12.10 就跳过。</a:t>
            </a:r>
          </a:p>
          <a:p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下载目录只保存安装文件，不是 Python 的安装位置。</a:t>
            </a:r>
          </a:p>
        </p:txBody>
      </p:sp>
      <p:sp>
        <p:nvSpPr>
          <p:cNvPr id="5" name="Command file link">
            <a:extLst>
              <a:ext uri="{FF2B5EF4-FFF2-40B4-BE49-F238E27FC236}">
                <a16:creationId xmlns:a16="http://schemas.microsoft.com/office/drawing/2014/main" id="{A80A91FD-C57F-4C9A-A549-1F27176EF1DC}"/>
              </a:ext>
            </a:extLst>
          </p:cNvPr>
          <p:cNvSpPr>
            <a:spLocks noGrp="1"/>
          </p:cNvSpPr>
          <p:nvPr/>
        </p:nvSpPr>
        <p:spPr>
          <a:xfrm>
            <a:off x="609600" y="6096000"/>
            <a:ext cx="10839450" cy="2952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r:id="rId3"/>
              </a:rPr>
              <a:t>完整命令：P002_Windows/2.1.3-01.txt</a:t>
            </a:r>
          </a:p>
        </p:txBody>
      </p:sp>
      <p:sp>
        <p:nvSpPr>
          <p:cNvPr id="10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CBA0E7AB-9BC0-4691-8E57-F99779909A46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10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21289906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">
            <a:extLst>
              <a:ext uri="{FF2B5EF4-FFF2-40B4-BE49-F238E27FC236}">
                <a16:creationId xmlns:a16="http://schemas.microsoft.com/office/drawing/2014/main" id="{AEDD8674-65DA-4C97-9908-FEBBF35D7CF4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从 UCRT64 启动官方 Python 安装器</a:t>
            </a:r>
          </a:p>
        </p:txBody>
      </p:sp>
      <p:sp>
        <p:nvSpPr>
          <p:cNvPr id="2" name="section">
            <a:extLst>
              <a:ext uri="{FF2B5EF4-FFF2-40B4-BE49-F238E27FC236}">
                <a16:creationId xmlns:a16="http://schemas.microsoft.com/office/drawing/2014/main" id="{67B7BD41-4A66-41D6-A641-CBD402B973A7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2.1.3 · 图形安装的替代路线</a:t>
            </a:r>
          </a:p>
        </p:txBody>
      </p:sp>
      <p:sp>
        <p:nvSpPr>
          <p:cNvPr id="3" name="Copyable command">
            <a:extLst>
              <a:ext uri="{FF2B5EF4-FFF2-40B4-BE49-F238E27FC236}">
                <a16:creationId xmlns:a16="http://schemas.microsoft.com/office/drawing/2014/main" id="{944095FF-E01C-468A-BFB2-5CEA59AF30F1}"/>
              </a:ext>
            </a:extLst>
          </p:cNvPr>
          <p:cNvSpPr>
            <a:spLocks noGrp="1"/>
          </p:cNvSpPr>
          <p:nvPr/>
        </p:nvSpPr>
        <p:spPr>
          <a:xfrm>
            <a:off x="609600" y="1838325"/>
            <a:ext cx="10972800" cy="2714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Windows UCRT64；官方安装器已完整下载，尚未安装该版本。</a:t>
            </a:r>
          </a:p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cd /g/</a:t>
            </a:r>
            <a:r>
              <a:rPr sz="1875" b="0" dirty="0" err="1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zephyr_practice</a:t>
            </a:r>
            <a:r>
              <a:rPr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/downloads</a:t>
            </a:r>
          </a:p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MSYS2_ARG_CONV_EXCL='*' ./python-3.12.10-amd64.exe \</a:t>
            </a:r>
          </a:p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 /passive </a:t>
            </a:r>
            <a:r>
              <a:rPr sz="1875" b="0" dirty="0" err="1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InstallAllUsers</a:t>
            </a:r>
            <a:r>
              <a:rPr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=0 </a:t>
            </a:r>
            <a:r>
              <a:rPr sz="1875" b="0" dirty="0" err="1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PrependPath</a:t>
            </a:r>
            <a:r>
              <a:rPr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=1 \</a:t>
            </a:r>
          </a:p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875" b="0" dirty="0" err="1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Include_pip</a:t>
            </a:r>
            <a:r>
              <a:rPr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=1 </a:t>
            </a:r>
            <a:r>
              <a:rPr sz="1875" b="0" dirty="0" err="1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Include_launcher</a:t>
            </a:r>
            <a:r>
              <a:rPr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=1 </a:t>
            </a:r>
            <a:r>
              <a:rPr sz="1875" b="0" dirty="0" err="1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InstallLauncherAllUsers</a:t>
            </a:r>
            <a:r>
              <a:rPr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=0 </a:t>
            </a:r>
            <a:r>
              <a:rPr sz="1875" b="0" dirty="0" err="1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Include_test</a:t>
            </a:r>
            <a:r>
              <a:rPr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=0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FCC04B35-3FB7-4076-AC5F-D1B77F692B5D}"/>
              </a:ext>
            </a:extLst>
          </p:cNvPr>
          <p:cNvSpPr>
            <a:spLocks noGrp="1"/>
          </p:cNvSpPr>
          <p:nvPr/>
        </p:nvSpPr>
        <p:spPr>
          <a:xfrm>
            <a:off x="609600" y="4762500"/>
            <a:ext cx="10972800" cy="12573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本条沿用已有 UCRT64 操作方式；安装到 Windows 默认用户位置。</a:t>
            </a:r>
          </a:p>
          <a:p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安装成功后新开 UCRT64，再选版本和激活 .venv。</a:t>
            </a:r>
          </a:p>
        </p:txBody>
      </p:sp>
      <p:sp>
        <p:nvSpPr>
          <p:cNvPr id="5" name="Command file link">
            <a:extLst>
              <a:ext uri="{FF2B5EF4-FFF2-40B4-BE49-F238E27FC236}">
                <a16:creationId xmlns:a16="http://schemas.microsoft.com/office/drawing/2014/main" id="{FE3F32F1-D6AF-4CB4-952E-98B683DA5DA5}"/>
              </a:ext>
            </a:extLst>
          </p:cNvPr>
          <p:cNvSpPr>
            <a:spLocks noGrp="1"/>
          </p:cNvSpPr>
          <p:nvPr/>
        </p:nvSpPr>
        <p:spPr>
          <a:xfrm>
            <a:off x="609600" y="6096000"/>
            <a:ext cx="10839450" cy="2952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r:id="rId3"/>
              </a:rPr>
              <a:t>完整命令：P002_Windows/2.1.3-02.txt</a:t>
            </a:r>
          </a:p>
        </p:txBody>
      </p:sp>
      <p:sp>
        <p:nvSpPr>
          <p:cNvPr id="10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8AD9DB7B-CC70-492C-AFFD-47007ABBE9B5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11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7249071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">
            <a:extLst>
              <a:ext uri="{FF2B5EF4-FFF2-40B4-BE49-F238E27FC236}">
                <a16:creationId xmlns:a16="http://schemas.microsoft.com/office/drawing/2014/main" id="{2381B5C5-6D64-481B-9F26-2498201F3A69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未安装 Launcher 时的分支</a:t>
            </a:r>
          </a:p>
        </p:txBody>
      </p:sp>
      <p:sp>
        <p:nvSpPr>
          <p:cNvPr id="2" name="section">
            <a:extLst>
              <a:ext uri="{FF2B5EF4-FFF2-40B4-BE49-F238E27FC236}">
                <a16:creationId xmlns:a16="http://schemas.microsoft.com/office/drawing/2014/main" id="{F1554838-4EFC-41B4-9520-F58FE1A62633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2.1.4 · py 不存在，但 python 已可执行</a:t>
            </a:r>
          </a:p>
        </p:txBody>
      </p:sp>
      <p:sp>
        <p:nvSpPr>
          <p:cNvPr id="3" name="Copyable command">
            <a:extLst>
              <a:ext uri="{FF2B5EF4-FFF2-40B4-BE49-F238E27FC236}">
                <a16:creationId xmlns:a16="http://schemas.microsoft.com/office/drawing/2014/main" id="{F3C72C5A-65E2-498A-A941-60024E2E397D}"/>
              </a:ext>
            </a:extLst>
          </p:cNvPr>
          <p:cNvSpPr>
            <a:spLocks noGrp="1"/>
          </p:cNvSpPr>
          <p:nvPr/>
        </p:nvSpPr>
        <p:spPr>
          <a:xfrm>
            <a:off x="609599" y="1838325"/>
            <a:ext cx="6063466" cy="2984644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Windows UCRT64；任意目录</a:t>
            </a:r>
            <a:r>
              <a:rPr lang="zh-CN" altLang="en-US" sz="1875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；</a:t>
            </a:r>
            <a:endParaRPr lang="en-US" altLang="zh-CN" sz="1875" dirty="0">
              <a:solidFill>
                <a:srgbClr val="005968"/>
              </a:solidFill>
              <a:latin typeface="Consolas"/>
              <a:ea typeface="Consolas"/>
              <a:cs typeface="Consolas"/>
            </a:endParaRPr>
          </a:p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lang="en-US" sz="1875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</a:t>
            </a:r>
            <a:r>
              <a:rPr sz="1875" b="0" dirty="0" err="1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只用于</a:t>
            </a:r>
            <a:r>
              <a:rPr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 dirty="0" err="1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py</a:t>
            </a:r>
            <a:r>
              <a:rPr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 dirty="0" err="1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不存在但</a:t>
            </a:r>
            <a:r>
              <a:rPr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python </a:t>
            </a:r>
            <a:r>
              <a:rPr sz="1875" b="0" dirty="0" err="1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可执行的分支</a:t>
            </a:r>
            <a:r>
              <a:rPr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。</a:t>
            </a:r>
            <a:endParaRPr lang="en-US" sz="1875" b="0" dirty="0">
              <a:solidFill>
                <a:srgbClr val="005968"/>
              </a:solidFill>
              <a:latin typeface="Consolas"/>
              <a:ea typeface="Consolas"/>
              <a:cs typeface="Consolas"/>
            </a:endParaRPr>
          </a:p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endParaRPr sz="1875" b="0" dirty="0">
              <a:solidFill>
                <a:srgbClr val="005968"/>
              </a:solidFill>
              <a:latin typeface="Consolas"/>
              <a:ea typeface="Consolas"/>
              <a:cs typeface="Consolas"/>
            </a:endParaRPr>
          </a:p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 dirty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py</a:t>
            </a:r>
            <a:r>
              <a:rPr lang="en-US" sz="1875" b="0" dirty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thon</a:t>
            </a:r>
            <a:r>
              <a:rPr sz="1875" b="0" dirty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 --version</a:t>
            </a:r>
          </a:p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zh-CN" sz="1875" dirty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python </a:t>
            </a:r>
            <a:r>
              <a:rPr lang="en-US" sz="1875" dirty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-m pip --version</a:t>
            </a:r>
            <a:br>
              <a:rPr lang="en-US" sz="1875" dirty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</a:br>
            <a:br>
              <a:rPr lang="en-US" sz="1875" dirty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</a:br>
            <a:r>
              <a:rPr lang="en-US" sz="1875" dirty="0" err="1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py</a:t>
            </a:r>
            <a:r>
              <a:rPr lang="en-US" sz="1875" dirty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 -3.12 --version</a:t>
            </a:r>
          </a:p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zh-CN" sz="1875" dirty="0" err="1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py</a:t>
            </a:r>
            <a:r>
              <a:rPr lang="en-US" altLang="zh-CN" sz="1875" dirty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 -3.12 -m pip --version</a:t>
            </a:r>
            <a:endParaRPr lang="en-US" sz="1875" dirty="0">
              <a:solidFill>
                <a:srgbClr val="0070C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81EF8F66-0F28-46B4-A9E4-021D8C3CE7F7}"/>
              </a:ext>
            </a:extLst>
          </p:cNvPr>
          <p:cNvSpPr>
            <a:spLocks noGrp="1"/>
          </p:cNvSpPr>
          <p:nvPr/>
        </p:nvSpPr>
        <p:spPr>
          <a:xfrm>
            <a:off x="628650" y="4870594"/>
            <a:ext cx="10972800" cy="1031587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12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输出也是</a:t>
            </a:r>
            <a:r>
              <a:rPr sz="18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3.12.10 </a:t>
            </a:r>
            <a:r>
              <a:rPr sz="18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时，可用</a:t>
            </a:r>
            <a:r>
              <a:rPr sz="18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python -m </a:t>
            </a:r>
            <a:r>
              <a:rPr sz="18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venv</a:t>
            </a:r>
            <a:r>
              <a:rPr sz="18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.</a:t>
            </a:r>
            <a:r>
              <a:rPr sz="18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venv</a:t>
            </a:r>
            <a:r>
              <a:rPr sz="18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8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创建环境</a:t>
            </a:r>
            <a:r>
              <a:rPr sz="18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  <a:endParaRPr lang="en-US" sz="1875" b="0" dirty="0">
              <a:solidFill>
                <a:srgbClr val="29263B"/>
              </a:solidFill>
              <a:latin typeface="Microsoft YaHei"/>
              <a:ea typeface="Microsoft YaHei"/>
              <a:cs typeface="Microsoft YaHei"/>
            </a:endParaRPr>
          </a:p>
          <a:p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若版本不符或两个命令都缺失，重开终端并在安装器中检查</a:t>
            </a:r>
            <a:r>
              <a:rPr sz="18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Launcher/PATH。</a:t>
            </a:r>
          </a:p>
        </p:txBody>
      </p:sp>
      <p:sp>
        <p:nvSpPr>
          <p:cNvPr id="5" name="Command file link">
            <a:extLst>
              <a:ext uri="{FF2B5EF4-FFF2-40B4-BE49-F238E27FC236}">
                <a16:creationId xmlns:a16="http://schemas.microsoft.com/office/drawing/2014/main" id="{28468249-36E6-470A-B4BF-74369CC8E666}"/>
              </a:ext>
            </a:extLst>
          </p:cNvPr>
          <p:cNvSpPr>
            <a:spLocks noGrp="1"/>
          </p:cNvSpPr>
          <p:nvPr/>
        </p:nvSpPr>
        <p:spPr>
          <a:xfrm>
            <a:off x="609600" y="6096000"/>
            <a:ext cx="10839450" cy="2952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r:id="rId3"/>
              </a:rPr>
              <a:t>完整命令：P002_Windows/2.1.4-02.txt</a:t>
            </a: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216FFED6-4452-B429-79AC-9CBBA7C327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1666" y="2168126"/>
            <a:ext cx="5490734" cy="2578643"/>
          </a:xfrm>
          <a:prstGeom prst="rect">
            <a:avLst/>
          </a:prstGeom>
        </p:spPr>
      </p:pic>
      <p:sp>
        <p:nvSpPr>
          <p:cNvPr id="14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E294562-BD0A-4CE1-A48F-58F02ACDBC10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12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64766479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">
            <a:extLst>
              <a:ext uri="{FF2B5EF4-FFF2-40B4-BE49-F238E27FC236}">
                <a16:creationId xmlns:a16="http://schemas.microsoft.com/office/drawing/2014/main" id="{28DBA438-4BCC-4ACB-B30C-F36B57D86151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py 与 python 的使用阶段</a:t>
            </a:r>
          </a:p>
        </p:txBody>
      </p:sp>
      <p:sp>
        <p:nvSpPr>
          <p:cNvPr id="2" name="section">
            <a:extLst>
              <a:ext uri="{FF2B5EF4-FFF2-40B4-BE49-F238E27FC236}">
                <a16:creationId xmlns:a16="http://schemas.microsoft.com/office/drawing/2014/main" id="{3B49A090-4E6B-419A-8087-B2759EFC8DC1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2.1.4 · 选择版本与使用项目环境</a:t>
            </a:r>
          </a:p>
        </p:txBody>
      </p:sp>
      <p:sp>
        <p:nvSpPr>
          <p:cNvPr id="3" name="explanation">
            <a:extLst>
              <a:ext uri="{FF2B5EF4-FFF2-40B4-BE49-F238E27FC236}">
                <a16:creationId xmlns:a16="http://schemas.microsoft.com/office/drawing/2014/main" id="{B29B8D36-9328-4189-A2C4-71A7AE156219}"/>
              </a:ext>
            </a:extLst>
          </p:cNvPr>
          <p:cNvSpPr>
            <a:spLocks noGrp="1"/>
          </p:cNvSpPr>
          <p:nvPr/>
        </p:nvSpPr>
        <p:spPr>
          <a:xfrm>
            <a:off x="609599" y="1619250"/>
            <a:ext cx="11104255" cy="4755548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1200"/>
              </a:spcAft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py</a:t>
            </a:r>
            <a:r>
              <a:rPr sz="21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-3.12 </a:t>
            </a:r>
            <a:r>
              <a:rPr sz="21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按版本找到基础解释器，不需要手写它的安装位置</a:t>
            </a:r>
            <a:r>
              <a:rPr sz="21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  <a:p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175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创建虚拟</a:t>
            </a:r>
            <a:r>
              <a:rPr lang="en-US" altLang="zh-CN" sz="2175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python</a:t>
            </a:r>
            <a:r>
              <a:rPr lang="zh-CN" altLang="en-US" sz="2175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环境：</a:t>
            </a:r>
            <a:endParaRPr lang="en-US" altLang="zh-CN" sz="2175" dirty="0">
              <a:solidFill>
                <a:srgbClr val="29263B"/>
              </a:solidFill>
              <a:latin typeface="Microsoft YaHei"/>
              <a:ea typeface="Microsoft YaHei"/>
              <a:cs typeface="Microsoft YaHei"/>
            </a:endParaRPr>
          </a:p>
          <a:p>
            <a:pPr>
              <a:lnSpc>
                <a:spcPct val="120000"/>
              </a:lnSpc>
              <a:spcAft>
                <a:spcPts val="1200"/>
              </a:spcAft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2175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   </a:t>
            </a:r>
            <a:r>
              <a:rPr sz="2175" b="0" dirty="0" err="1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py</a:t>
            </a:r>
            <a:r>
              <a:rPr sz="2175" b="0" dirty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 -3.12 -m </a:t>
            </a:r>
            <a:r>
              <a:rPr sz="2175" b="0" dirty="0" err="1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venv</a:t>
            </a:r>
            <a:r>
              <a:rPr sz="2175" b="0" dirty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 .</a:t>
            </a:r>
            <a:r>
              <a:rPr sz="2175" b="0" dirty="0" err="1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venv</a:t>
            </a:r>
            <a:endParaRPr lang="en-US" sz="2175" b="0" dirty="0">
              <a:solidFill>
                <a:srgbClr val="0070C0"/>
              </a:solidFill>
              <a:latin typeface="Microsoft YaHei"/>
              <a:ea typeface="Microsoft YaHei"/>
              <a:cs typeface="Microsoft YaHei"/>
            </a:endParaRPr>
          </a:p>
          <a:p>
            <a:pPr>
              <a:lnSpc>
                <a:spcPct val="120000"/>
              </a:lnSpc>
              <a:spcAft>
                <a:spcPts val="1200"/>
              </a:spcAft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1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激活</a:t>
            </a:r>
            <a:r>
              <a:rPr lang="en-US" altLang="zh-CN" sz="21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python</a:t>
            </a:r>
            <a:r>
              <a:rPr lang="zh-CN" altLang="en-US" sz="21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环境：</a:t>
            </a:r>
            <a:br>
              <a:rPr lang="en-US" altLang="zh-CN" sz="2175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</a:br>
            <a:r>
              <a:rPr lang="en-US" altLang="zh-CN" sz="2175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   </a:t>
            </a:r>
            <a:r>
              <a:rPr lang="en-US" altLang="zh-CN" sz="2175" dirty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source .</a:t>
            </a:r>
            <a:r>
              <a:rPr lang="en-US" altLang="zh-CN" sz="2175" dirty="0" err="1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venv</a:t>
            </a:r>
            <a:r>
              <a:rPr lang="en-US" altLang="zh-CN" sz="2175" dirty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/Scripts/activate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175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退出</a:t>
            </a:r>
            <a:r>
              <a:rPr lang="en-US" altLang="zh-CN" sz="2175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python</a:t>
            </a:r>
            <a:r>
              <a:rPr lang="zh-CN" altLang="en-US" sz="2175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虚拟环境：</a:t>
            </a:r>
            <a:br>
              <a:rPr lang="en-US" altLang="zh-CN" sz="2175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</a:br>
            <a:r>
              <a:rPr lang="en-US" altLang="zh-CN" sz="2175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   </a:t>
            </a:r>
            <a:r>
              <a:rPr lang="en-US" altLang="zh-CN" sz="2175" dirty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deactivate</a:t>
            </a:r>
            <a:endParaRPr sz="2175" b="0" dirty="0">
              <a:solidFill>
                <a:srgbClr val="29263B"/>
              </a:solidFill>
              <a:latin typeface="Microsoft YaHei"/>
              <a:ea typeface="Microsoft YaHei"/>
              <a:cs typeface="Microsoft YaHei"/>
            </a:endParaRPr>
          </a:p>
          <a:p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激活后统一使用</a:t>
            </a:r>
            <a:r>
              <a:rPr sz="21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21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python，它会选择项目</a:t>
            </a:r>
            <a:r>
              <a:rPr sz="21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.</a:t>
            </a:r>
            <a:r>
              <a:rPr sz="21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venv</a:t>
            </a:r>
            <a:r>
              <a:rPr sz="21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  <a:p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安装项目依赖时使用</a:t>
            </a:r>
            <a:r>
              <a:rPr sz="21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python -m </a:t>
            </a:r>
            <a:r>
              <a:rPr sz="21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pip，避免带版本的</a:t>
            </a:r>
            <a:r>
              <a:rPr sz="21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21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py</a:t>
            </a:r>
            <a:r>
              <a:rPr sz="21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21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选回基础解释器</a:t>
            </a:r>
            <a:r>
              <a:rPr sz="21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4A67FB26-758E-3C54-86D1-1860548CDE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6977" y="2047875"/>
            <a:ext cx="4633784" cy="2857500"/>
          </a:xfrm>
          <a:prstGeom prst="rect">
            <a:avLst/>
          </a:prstGeom>
        </p:spPr>
      </p:pic>
      <p:sp>
        <p:nvSpPr>
          <p:cNvPr id="14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1AA219FE-9EF3-416F-B274-564E2F3BE157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13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28760842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">
            <a:extLst>
              <a:ext uri="{FF2B5EF4-FFF2-40B4-BE49-F238E27FC236}">
                <a16:creationId xmlns:a16="http://schemas.microsoft.com/office/drawing/2014/main" id="{5AEB82BF-E628-49A5-82FC-910C5C7B333A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def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Python 依赖的安装位置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57E3CD19-8E00-40B3-A013-E27EDA1F541F}"/>
              </a:ext>
            </a:extLst>
          </p:cNvPr>
          <p:cNvGraphicFramePr/>
          <p:nvPr/>
        </p:nvGraphicFramePr>
        <p:xfrm>
          <a:off x="609600" y="1600200"/>
          <a:ext cx="10972800" cy="2771775"/>
        </p:xfrm>
        <a:graphic>
          <a:graphicData uri="http://schemas.openxmlformats.org/drawingml/2006/table">
            <a:tbl>
              <a:tblPr/>
              <a:tblGrid>
                <a:gridCol w="2667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814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243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92392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1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取得的源码</a:t>
                      </a:r>
                    </a:p>
                  </a:txBody>
                  <a:tcPr marL="152400" marR="133350" marT="114300" marB="95250" anchor="ctr">
                    <a:solidFill>
                      <a:srgbClr val="6544B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1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Python 环境</a:t>
                      </a:r>
                    </a:p>
                  </a:txBody>
                  <a:tcPr marL="152400" marR="133350" marT="114300" marB="95250" anchor="ctr">
                    <a:solidFill>
                      <a:srgbClr val="6544B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1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依赖入口</a:t>
                      </a:r>
                    </a:p>
                  </a:txBody>
                  <a:tcPr marL="152400" marR="133350" marT="114300" marB="95250" anchor="ctr">
                    <a:solidFill>
                      <a:srgbClr val="6544B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2392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上游 Zephyr</a:t>
                      </a:r>
                    </a:p>
                  </a:txBody>
                  <a:tcPr marL="152400" marR="13335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在源码根创建 .venv</a:t>
                      </a:r>
                    </a:p>
                  </a:txBody>
                  <a:tcPr marL="152400" marR="13335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scripts/requirements-base.txt</a:t>
                      </a:r>
                    </a:p>
                  </a:txBody>
                  <a:tcPr marL="152400" marR="133350" marT="114300" marB="9525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2392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后续测试实验</a:t>
                      </a:r>
                    </a:p>
                  </a:txBody>
                  <a:tcPr marL="152400" marR="133350" marT="114300" marB="95250" anchor="ctr">
                    <a:solidFill>
                      <a:srgbClr val="F0EC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在同一环境补充依赖</a:t>
                      </a:r>
                    </a:p>
                  </a:txBody>
                  <a:tcPr marL="152400" marR="133350" marT="114300" marB="95250" anchor="ctr">
                    <a:solidFill>
                      <a:srgbClr val="F0EC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按任务选择依赖清单</a:t>
                      </a:r>
                    </a:p>
                  </a:txBody>
                  <a:tcPr marL="152400" marR="133350" marT="114300" marB="95250" anchor="ctr">
                    <a:solidFill>
                      <a:srgbClr val="F0EC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" name="矩形 3">
            <a:extLst>
              <a:ext uri="{FF2B5EF4-FFF2-40B4-BE49-F238E27FC236}">
                <a16:creationId xmlns:a16="http://schemas.microsoft.com/office/drawing/2014/main" id="{46E2BB44-C8EF-4D98-930D-089CDACC6F41}"/>
              </a:ext>
            </a:extLst>
          </p:cNvPr>
          <p:cNvSpPr>
            <a:spLocks noGrp="1"/>
          </p:cNvSpPr>
          <p:nvPr/>
        </p:nvSpPr>
        <p:spPr>
          <a:xfrm>
            <a:off x="609600" y="4876800"/>
            <a:ext cx="10972800" cy="571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2175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lnSpc>
                <a:spcPct val="120000"/>
              </a:lnSpc>
              <a:defRPr sz="2175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2175" b="1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工具包存放在 .venv，SDK 保持在源码仓库外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2A46E882-64E2-458B-A588-AE087F57DA78}"/>
              </a:ext>
            </a:extLst>
          </p:cNvPr>
          <p:cNvSpPr>
            <a:spLocks noGrp="1"/>
          </p:cNvSpPr>
          <p:nvPr/>
        </p:nvSpPr>
        <p:spPr>
          <a:xfrm>
            <a:off x="609600" y="5648325"/>
            <a:ext cx="10972800" cy="61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1950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lnSpc>
                <a:spcPct val="120000"/>
              </a:lnSpc>
              <a:defRPr sz="1950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pPr>
            <a:r>
              <a:rPr sz="1950" b="0">
                <a:solidFill>
                  <a:srgbClr val="6544B0"/>
                </a:solidFill>
                <a:latin typeface="Noto Sans SC"/>
                <a:ea typeface="Noto Sans SC"/>
                <a:cs typeface="Noto Sans SC"/>
              </a:rPr>
              <a:t>本期使用 Windows Python，激活脚本位于 Scripts/activate</a:t>
            </a:r>
          </a:p>
        </p:txBody>
      </p:sp>
      <p:sp>
        <p:nvSpPr>
          <p:cNvPr id="8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DFA638D9-20E6-420D-96BA-DC75FF10059F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14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660988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">
            <a:extLst>
              <a:ext uri="{FF2B5EF4-FFF2-40B4-BE49-F238E27FC236}">
                <a16:creationId xmlns:a16="http://schemas.microsoft.com/office/drawing/2014/main" id="{9D67D5CA-ADD5-4F0F-98E5-28C79E2A0008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首次创建项目</a:t>
            </a:r>
            <a:r>
              <a:rPr sz="3150" b="1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.</a:t>
            </a:r>
            <a:r>
              <a:rPr sz="3150" b="1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venv</a:t>
            </a:r>
            <a:endParaRPr sz="3150" b="1" dirty="0">
              <a:solidFill>
                <a:srgbClr val="29263B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" name="section">
            <a:extLst>
              <a:ext uri="{FF2B5EF4-FFF2-40B4-BE49-F238E27FC236}">
                <a16:creationId xmlns:a16="http://schemas.microsoft.com/office/drawing/2014/main" id="{2F523DEB-2E12-46F8-8CAD-1714CDC1CF36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2.2.1 · 源码根；已核对基础 Python 3.12.10</a:t>
            </a:r>
          </a:p>
        </p:txBody>
      </p:sp>
      <p:sp>
        <p:nvSpPr>
          <p:cNvPr id="3" name="Copyable command">
            <a:extLst>
              <a:ext uri="{FF2B5EF4-FFF2-40B4-BE49-F238E27FC236}">
                <a16:creationId xmlns:a16="http://schemas.microsoft.com/office/drawing/2014/main" id="{107F4480-A7A6-4E19-864C-6475EF765B37}"/>
              </a:ext>
            </a:extLst>
          </p:cNvPr>
          <p:cNvSpPr>
            <a:spLocks noGrp="1"/>
          </p:cNvSpPr>
          <p:nvPr/>
        </p:nvSpPr>
        <p:spPr>
          <a:xfrm>
            <a:off x="609600" y="1838325"/>
            <a:ext cx="10972800" cy="2714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</a:t>
            </a:r>
            <a:r>
              <a:rPr sz="1875" b="0" dirty="0" err="1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当前位置：上游</a:t>
            </a:r>
            <a:r>
              <a:rPr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Zephyr 源码根目录；终端：UCRT64。</a:t>
            </a:r>
          </a:p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 dirty="0" err="1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py</a:t>
            </a:r>
            <a:r>
              <a:rPr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-3.12 -m </a:t>
            </a:r>
            <a:r>
              <a:rPr sz="1875" b="0" dirty="0" err="1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venv</a:t>
            </a:r>
            <a:r>
              <a:rPr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.</a:t>
            </a:r>
            <a:r>
              <a:rPr sz="1875" b="0" dirty="0" err="1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venv</a:t>
            </a:r>
            <a:endParaRPr sz="1875" b="0" dirty="0">
              <a:solidFill>
                <a:srgbClr val="005968"/>
              </a:solidFill>
              <a:latin typeface="Consolas"/>
              <a:ea typeface="Consolas"/>
              <a:cs typeface="Consolas"/>
            </a:endParaRPr>
          </a:p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source .</a:t>
            </a:r>
            <a:r>
              <a:rPr sz="1875" b="0" dirty="0" err="1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venv</a:t>
            </a:r>
            <a:r>
              <a:rPr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/Scripts/activate</a:t>
            </a:r>
          </a:p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python --version</a:t>
            </a:r>
          </a:p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python -m pip --version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77B63DB4-61EE-4B8C-A8A1-62F54846FAAD}"/>
              </a:ext>
            </a:extLst>
          </p:cNvPr>
          <p:cNvSpPr>
            <a:spLocks noGrp="1"/>
          </p:cNvSpPr>
          <p:nvPr/>
        </p:nvSpPr>
        <p:spPr>
          <a:xfrm>
            <a:off x="609600" y="4762500"/>
            <a:ext cx="10972800" cy="12573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已有</a:t>
            </a:r>
            <a:r>
              <a:rPr sz="18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.</a:t>
            </a:r>
            <a:r>
              <a:rPr sz="18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venv</a:t>
            </a:r>
            <a:r>
              <a:rPr sz="18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8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则按第</a:t>
            </a:r>
            <a:r>
              <a:rPr sz="18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1</a:t>
            </a:r>
            <a:r>
              <a:rPr lang="en-US" sz="1875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3</a:t>
            </a:r>
            <a:r>
              <a:rPr sz="18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8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页激活，不重复创建</a:t>
            </a:r>
            <a:r>
              <a:rPr sz="18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  <a:p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从这一页之后，项目命令统一使用</a:t>
            </a:r>
            <a:r>
              <a:rPr sz="18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python。</a:t>
            </a:r>
          </a:p>
        </p:txBody>
      </p:sp>
      <p:sp>
        <p:nvSpPr>
          <p:cNvPr id="5" name="Command file link">
            <a:extLst>
              <a:ext uri="{FF2B5EF4-FFF2-40B4-BE49-F238E27FC236}">
                <a16:creationId xmlns:a16="http://schemas.microsoft.com/office/drawing/2014/main" id="{0CCD8888-D990-4B81-9974-8B381ED1E744}"/>
              </a:ext>
            </a:extLst>
          </p:cNvPr>
          <p:cNvSpPr>
            <a:spLocks noGrp="1"/>
          </p:cNvSpPr>
          <p:nvPr/>
        </p:nvSpPr>
        <p:spPr>
          <a:xfrm>
            <a:off x="609600" y="6096000"/>
            <a:ext cx="10839450" cy="2952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r:id="rId3"/>
              </a:rPr>
              <a:t>完整命令：P002_Windows/2.2.1-02.txt</a:t>
            </a:r>
          </a:p>
        </p:txBody>
      </p:sp>
      <p:sp>
        <p:nvSpPr>
          <p:cNvPr id="10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0AF0CBE4-A4A3-4ACA-AC2D-79E2C7209366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15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13630226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">
            <a:extLst>
              <a:ext uri="{FF2B5EF4-FFF2-40B4-BE49-F238E27FC236}">
                <a16:creationId xmlns:a16="http://schemas.microsoft.com/office/drawing/2014/main" id="{D6A0C773-2905-4D2A-8A61-58B1FD4A8A17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把依赖装进刚确认的</a:t>
            </a:r>
            <a:r>
              <a:rPr sz="3150" b="1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3150" b="1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venv</a:t>
            </a:r>
            <a:r>
              <a:rPr lang="zh-CN" altLang="en-US" sz="3150" b="1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，</a:t>
            </a:r>
            <a:r>
              <a:rPr lang="zh-CN" altLang="en-US" sz="3200" b="1" dirty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按清单安装 </a:t>
            </a:r>
            <a:r>
              <a:rPr lang="en-US" altLang="zh-CN" sz="3200" b="1" dirty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Python </a:t>
            </a:r>
            <a:r>
              <a:rPr lang="zh-CN" altLang="en-US" sz="3200" b="1" dirty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包</a:t>
            </a:r>
          </a:p>
        </p:txBody>
      </p:sp>
      <p:sp>
        <p:nvSpPr>
          <p:cNvPr id="2" name="section">
            <a:extLst>
              <a:ext uri="{FF2B5EF4-FFF2-40B4-BE49-F238E27FC236}">
                <a16:creationId xmlns:a16="http://schemas.microsoft.com/office/drawing/2014/main" id="{8F7F0931-59C5-4751-ABC0-22FAA7D0F996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2.2.1_上一期下载的是上游_Zephyr_源码</a:t>
            </a:r>
          </a:p>
        </p:txBody>
      </p:sp>
      <p:sp>
        <p:nvSpPr>
          <p:cNvPr id="3" name="Copyable command">
            <a:extLst>
              <a:ext uri="{FF2B5EF4-FFF2-40B4-BE49-F238E27FC236}">
                <a16:creationId xmlns:a16="http://schemas.microsoft.com/office/drawing/2014/main" id="{B69EA047-31EB-4FF7-9428-DDF90211A113}"/>
              </a:ext>
            </a:extLst>
          </p:cNvPr>
          <p:cNvSpPr>
            <a:spLocks noGrp="1"/>
          </p:cNvSpPr>
          <p:nvPr/>
        </p:nvSpPr>
        <p:spPr>
          <a:xfrm>
            <a:off x="609600" y="1722500"/>
            <a:ext cx="10972800" cy="2714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</a:t>
            </a:r>
            <a:r>
              <a:rPr sz="1875" b="0" dirty="0" err="1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当前位置：上游</a:t>
            </a:r>
            <a:r>
              <a:rPr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Zephyr 源码根目录；终端：UCRT64，已激活 .</a:t>
            </a:r>
            <a:r>
              <a:rPr sz="1875" b="0" dirty="0" err="1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venv</a:t>
            </a:r>
            <a:r>
              <a:rPr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。</a:t>
            </a:r>
          </a:p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python -m pip install -r scripts/requirements-base.txt "west==1.5.0"</a:t>
            </a:r>
          </a:p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python -m pip check</a:t>
            </a:r>
          </a:p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python -m west --version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B5149F5F-70E4-43EE-BACF-F702C844B14E}"/>
              </a:ext>
            </a:extLst>
          </p:cNvPr>
          <p:cNvSpPr>
            <a:spLocks noGrp="1"/>
          </p:cNvSpPr>
          <p:nvPr/>
        </p:nvSpPr>
        <p:spPr>
          <a:xfrm>
            <a:off x="609600" y="3119296"/>
            <a:ext cx="4553492" cy="15875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12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requirements-base.txt 是 Zephyr </a:t>
            </a:r>
            <a:r>
              <a:rPr sz="18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官方文件</a:t>
            </a:r>
            <a:r>
              <a:rPr sz="18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；</a:t>
            </a:r>
            <a:endParaRPr lang="en-US" sz="1875" b="0" dirty="0">
              <a:solidFill>
                <a:srgbClr val="29263B"/>
              </a:solidFill>
              <a:latin typeface="Microsoft YaHei"/>
              <a:ea typeface="Microsoft YaHei"/>
              <a:cs typeface="Microsoft YaHei"/>
            </a:endParaRPr>
          </a:p>
          <a:p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west </a:t>
            </a:r>
            <a:r>
              <a:rPr sz="18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补丁号为教程选择。pip</a:t>
            </a:r>
            <a:r>
              <a:rPr sz="18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check </a:t>
            </a:r>
            <a:r>
              <a:rPr sz="18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应无冲突</a:t>
            </a:r>
            <a:r>
              <a:rPr sz="18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</p:txBody>
      </p:sp>
      <p:sp>
        <p:nvSpPr>
          <p:cNvPr id="5" name="Command file link">
            <a:extLst>
              <a:ext uri="{FF2B5EF4-FFF2-40B4-BE49-F238E27FC236}">
                <a16:creationId xmlns:a16="http://schemas.microsoft.com/office/drawing/2014/main" id="{C8FADDA7-1CF3-4398-99B5-723ACE39F4E0}"/>
              </a:ext>
            </a:extLst>
          </p:cNvPr>
          <p:cNvSpPr>
            <a:spLocks noGrp="1"/>
          </p:cNvSpPr>
          <p:nvPr/>
        </p:nvSpPr>
        <p:spPr>
          <a:xfrm>
            <a:off x="609600" y="6096000"/>
            <a:ext cx="10839450" cy="2952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r:id="rId3"/>
              </a:rPr>
              <a:t>完整命令：P002_Windows/2.2.1-03.txt</a:t>
            </a:r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2590B78D-8EA6-843F-4FB5-55F804D6836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5717" y="2453093"/>
            <a:ext cx="6210484" cy="3906898"/>
          </a:xfrm>
          <a:prstGeom prst="rect">
            <a:avLst/>
          </a:prstGeom>
        </p:spPr>
      </p:pic>
      <p:sp>
        <p:nvSpPr>
          <p:cNvPr id="14" name="矩形 13">
            <a:extLst>
              <a:ext uri="{FF2B5EF4-FFF2-40B4-BE49-F238E27FC236}">
                <a16:creationId xmlns:a16="http://schemas.microsoft.com/office/drawing/2014/main" id="{5B6FC587-269D-B894-A426-AB9174187019}"/>
              </a:ext>
            </a:extLst>
          </p:cNvPr>
          <p:cNvSpPr>
            <a:spLocks noGrp="1"/>
          </p:cNvSpPr>
          <p:nvPr/>
        </p:nvSpPr>
        <p:spPr>
          <a:xfrm>
            <a:off x="704850" y="5048250"/>
            <a:ext cx="43815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950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lnSpc>
                <a:spcPct val="120000"/>
              </a:lnSpc>
              <a:defRPr sz="1950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pPr>
            <a:r>
              <a:rPr sz="1950" b="0" dirty="0">
                <a:solidFill>
                  <a:srgbClr val="6544B0"/>
                </a:solidFill>
                <a:latin typeface="Noto Sans SC"/>
                <a:ea typeface="Noto Sans SC"/>
                <a:cs typeface="Noto Sans SC"/>
              </a:rPr>
              <a:t>接着阅读 P003 SDK，</a:t>
            </a:r>
          </a:p>
          <a:p>
            <a:pPr>
              <a:lnSpc>
                <a:spcPct val="120000"/>
              </a:lnSpc>
              <a:defRPr sz="1950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pPr>
            <a:r>
              <a:rPr sz="1950" b="0" dirty="0">
                <a:solidFill>
                  <a:srgbClr val="6544B0"/>
                </a:solidFill>
                <a:latin typeface="Noto Sans SC"/>
                <a:ea typeface="Noto Sans SC"/>
                <a:cs typeface="Noto Sans SC"/>
              </a:rPr>
              <a:t>然后准备 CMSIS/HAL 与模块。</a:t>
            </a:r>
          </a:p>
        </p:txBody>
      </p:sp>
      <p:sp>
        <p:nvSpPr>
          <p:cNvPr id="16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68079C97-0C38-4524-B39A-2793628B579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16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729385621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7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8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9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0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303</TotalTime>
  <Words>2218</Words>
  <Application>Microsoft Office PowerPoint</Application>
  <DocSecurity>0</DocSecurity>
  <PresentationFormat>宽屏</PresentationFormat>
  <Paragraphs>263</Paragraphs>
  <Slides>16</Slides>
  <Notes>16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10</vt:i4>
      </vt:variant>
      <vt:variant>
        <vt:lpstr>幻灯片标题</vt:lpstr>
      </vt:variant>
      <vt:variant>
        <vt:i4>16</vt:i4>
      </vt:variant>
    </vt:vector>
  </HeadingPairs>
  <TitlesOfParts>
    <vt:vector size="30" baseType="lpstr">
      <vt:lpstr>Noto Sans SC</vt:lpstr>
      <vt:lpstr>Microsoft YaHei</vt:lpstr>
      <vt:lpstr>Aptos</vt:lpstr>
      <vt:lpstr>Consolas</vt:lpstr>
      <vt:lpstr>ChatGPT</vt:lpstr>
      <vt:lpstr>ChatGPT</vt:lpstr>
      <vt:lpstr>ChatGPT</vt:lpstr>
      <vt:lpstr>ChatGPT</vt:lpstr>
      <vt:lpstr>ChatGPT</vt:lpstr>
      <vt:lpstr>ChatGPT</vt:lpstr>
      <vt:lpstr>ChatGPT</vt:lpstr>
      <vt:lpstr>ChatGPT</vt:lpstr>
      <vt:lpstr>ChatGPT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兆军 李</cp:lastModifiedBy>
  <cp:revision>128</cp:revision>
  <dcterms:created xsi:type="dcterms:W3CDTF">2026-10-06T03:23:18Z</dcterms:created>
  <dcterms:modified xsi:type="dcterms:W3CDTF">2026-10-07T05:35:29Z</dcterms:modified>
</cp:coreProperties>
</file>