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5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6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7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8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9.xml" ContentType="application/vnd.openxmlformats-officedocument.theme+xml"/>
  <Override PartName="/ppt/slideLayouts/slideLayout55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model1.xml" ContentType="application/vnd.openxmlformats-officedocument.presentationml.slide+xml"/>
  <Override PartName="/ppt/notesSlides/model1.xml" ContentType="application/vnd.openxmlformats-officedocument.presentationml.notesSlide+xml"/>
  <Override PartName="/ppt/slides/model2.xml" ContentType="application/vnd.openxmlformats-officedocument.presentationml.slide+xml"/>
  <Override PartName="/ppt/notesSlides/model2.xml" ContentType="application/vnd.openxmlformats-officedocument.presentationml.notesSlide+xml"/>
  <Override PartName="/ppt/slides/model3.xml" ContentType="application/vnd.openxmlformats-officedocument.presentationml.slide+xml"/>
  <Override PartName="/ppt/notesSlides/model3.xml" ContentType="application/vnd.openxmlformats-officedocument.presentationml.notesSlide+xml"/>
  <Override PartName="/ppt/slides/model4.xml" ContentType="application/vnd.openxmlformats-officedocument.presentationml.slide+xml"/>
  <Override PartName="/ppt/notesSlides/model4.xml" ContentType="application/vnd.openxmlformats-officedocument.presentationml.notesSlide+xml"/>
  <Override PartName="/ppt/slides/model5.xml" ContentType="application/vnd.openxmlformats-officedocument.presentationml.slide+xml"/>
  <Override PartName="/ppt/notesSlides/model5.xml" ContentType="application/vnd.openxmlformats-officedocument.presentationml.notesSlide+xml"/>
  <Override PartName="/ppt/slides/model6.xml" ContentType="application/vnd.openxmlformats-officedocument.presentationml.slide+xml"/>
  <Override PartName="/ppt/notesSlides/model6.xml" ContentType="application/vnd.openxmlformats-officedocument.presentationml.notesSlide+xml"/>
  <Override PartName="/ppt/slides/model7.xml" ContentType="application/vnd.openxmlformats-officedocument.presentationml.slide+xml"/>
  <Override PartName="/ppt/notesSlides/model7.xml" ContentType="application/vnd.openxmlformats-officedocument.presentationml.notesSlide+xml"/>
  <Override PartName="/ppt/slides/model8.xml" ContentType="application/vnd.openxmlformats-officedocument.presentationml.slide+xml"/>
  <Override PartName="/ppt/notesSlides/model8.xml" ContentType="application/vnd.openxmlformats-officedocument.presentationml.notesSlide+xml"/>
  <Override PartName="/ppt/slides/model9.xml" ContentType="application/vnd.openxmlformats-officedocument.presentationml.slide+xml"/>
  <Override PartName="/ppt/notesSlides/model9.xml" ContentType="application/vnd.openxmlformats-officedocument.presentationml.notesSlide+xml"/>
  <Override PartName="/ppt/slides/model10.xml" ContentType="application/vnd.openxmlformats-officedocument.presentationml.slide+xml"/>
  <Override PartName="/ppt/notesSlides/model10.xml" ContentType="application/vnd.openxmlformats-officedocument.presentationml.notesSlide+xml"/>
  <Override PartName="/ppt/slides/model11.xml" ContentType="application/vnd.openxmlformats-officedocument.presentationml.slide+xml"/>
  <Override PartName="/ppt/notesSlides/model11.xml" ContentType="application/vnd.openxmlformats-officedocument.presentationml.notesSlide+xml"/>
  <Override PartName="/ppt/slides/model12.xml" ContentType="application/vnd.openxmlformats-officedocument.presentationml.slide+xml"/>
  <Override PartName="/ppt/notesSlides/model12.xml" ContentType="application/vnd.openxmlformats-officedocument.presentationml.notesSlide+xml"/>
  <Override PartName="/ppt/slides/model13.xml" ContentType="application/vnd.openxmlformats-officedocument.presentationml.slide+xml"/>
  <Override PartName="/ppt/notesSlides/model13.xml" ContentType="application/vnd.openxmlformats-officedocument.presentationml.notesSlide+xml"/>
  <Override PartName="/ppt/slides/model14.xml" ContentType="application/vnd.openxmlformats-officedocument.presentationml.slide+xml"/>
  <Override PartName="/ppt/notesSlides/model14.xml" ContentType="application/vnd.openxmlformats-officedocument.presentationml.notesSlide+xml"/>
  <Override PartName="/ppt/slides/model15.xml" ContentType="application/vnd.openxmlformats-officedocument.presentationml.slide+xml"/>
  <Override PartName="/ppt/notesSlides/model15.xml" ContentType="application/vnd.openxmlformats-officedocument.presentationml.notesSlide+xml"/>
  <Override PartName="/ppt/slides/model16.xml" ContentType="application/vnd.openxmlformats-officedocument.presentationml.slide+xml"/>
  <Override PartName="/ppt/notesSlides/model16.xml" ContentType="application/vnd.openxmlformats-officedocument.presentationml.notesSlide+xml"/>
  <Override PartName="/ppt/slides/model17.xml" ContentType="application/vnd.openxmlformats-officedocument.presentationml.slide+xml"/>
  <Override PartName="/ppt/notesSlides/model17.xml" ContentType="application/vnd.openxmlformats-officedocument.presentationml.notesSlide+xml"/>
  <Override PartName="/ppt/slides/model18.xml" ContentType="application/vnd.openxmlformats-officedocument.presentationml.slide+xml"/>
  <Override PartName="/ppt/notesSlides/model18.xml" ContentType="application/vnd.openxmlformats-officedocument.presentationml.notesSlide+xml"/>
  <Override PartName="/ppt/slides/model19.xml" ContentType="application/vnd.openxmlformats-officedocument.presentationml.slide+xml"/>
  <Override PartName="/ppt/notesSlides/model19.xml" ContentType="application/vnd.openxmlformats-officedocument.presentationml.notesSlide+xml"/>
  <Override PartName="/ppt/slides/model20.xml" ContentType="application/vnd.openxmlformats-officedocument.presentationml.slide+xml"/>
  <Override PartName="/ppt/notesSlides/model20.xml" ContentType="application/vnd.openxmlformats-officedocument.presentationml.notesSlide+xml"/>
  <Override PartName="/ppt/slides/model21.xml" ContentType="application/vnd.openxmlformats-officedocument.presentationml.slide+xml"/>
  <Override PartName="/ppt/notesSlides/model21.xml" ContentType="application/vnd.openxmlformats-officedocument.presentationml.notesSlide+xml"/>
  <Override PartName="/ppt/slides/model22.xml" ContentType="application/vnd.openxmlformats-officedocument.presentationml.slide+xml"/>
  <Override PartName="/ppt/notesSlides/model22.xml" ContentType="application/vnd.openxmlformats-officedocument.presentationml.notesSlide+xml"/>
  <Override PartName="/ppt/slides/model23.xml" ContentType="application/vnd.openxmlformats-officedocument.presentationml.slide+xml"/>
  <Override PartName="/ppt/notesSlides/model23.xml" ContentType="application/vnd.openxmlformats-officedocument.presentationml.notesSlide+xml"/>
  <Override PartName="/ppt/slides/model24.xml" ContentType="application/vnd.openxmlformats-officedocument.presentationml.slide+xml"/>
  <Override PartName="/ppt/notesSlides/model24.xml" ContentType="application/vnd.openxmlformats-officedocument.presentationml.notesSlide+xml"/>
  <Override PartName="/ppt/slides/model25.xml" ContentType="application/vnd.openxmlformats-officedocument.presentationml.slide+xml"/>
  <Override PartName="/ppt/notesSlides/model25.xml" ContentType="application/vnd.openxmlformats-officedocument.presentationml.notesSlide+xml"/>
  <Override PartName="/ppt/slides/model26.xml" ContentType="application/vnd.openxmlformats-officedocument.presentationml.slide+xml"/>
  <Override PartName="/ppt/notesSlides/model26.xml" ContentType="application/vnd.openxmlformats-officedocument.presentationml.notesSlide+xml"/>
  <Override PartName="/ppt/slides/model27.xml" ContentType="application/vnd.openxmlformats-officedocument.presentationml.slide+xml"/>
  <Override PartName="/ppt/notesSlides/model27.xml" ContentType="application/vnd.openxmlformats-officedocument.presentationml.notesSlide+xml"/>
  <Override PartName="/ppt/slides/model28.xml" ContentType="application/vnd.openxmlformats-officedocument.presentationml.slide+xml"/>
  <Override PartName="/ppt/notesSlides/model28.xml" ContentType="application/vnd.openxmlformats-officedocument.presentationml.notesSlide+xml"/>
  <Override PartName="/ppt/slides/model29.xml" ContentType="application/vnd.openxmlformats-officedocument.presentationml.slide+xml"/>
  <Override PartName="/ppt/notesSlides/model29.xml" ContentType="application/vnd.openxmlformats-officedocument.presentationml.notesSlide+xml"/>
  <Override PartName="/ppt/slides/model30.xml" ContentType="application/vnd.openxmlformats-officedocument.presentationml.slide+xml"/>
  <Override PartName="/ppt/notesSlides/model30.xml" ContentType="application/vnd.openxmlformats-officedocument.presentationml.notesSlide+xml"/>
  <Override PartName="/ppt/slides/model31.xml" ContentType="application/vnd.openxmlformats-officedocument.presentationml.slide+xml"/>
  <Override PartName="/ppt/notesSlides/model31.xml" ContentType="application/vnd.openxmlformats-officedocument.presentationml.notesSlide+xml"/>
  <Override PartName="/ppt/slides/model32.xml" ContentType="application/vnd.openxmlformats-officedocument.presentationml.slide+xml"/>
  <Override PartName="/ppt/notesSlides/model32.xml" ContentType="application/vnd.openxmlformats-officedocument.presentationml.notesSlide+xml"/>
  <Override PartName="/ppt/slides/model33.xml" ContentType="application/vnd.openxmlformats-officedocument.presentationml.slide+xml"/>
  <Override PartName="/ppt/notesSlides/model33.xml" ContentType="application/vnd.openxmlformats-officedocument.presentationml.notesSlide+xml"/>
  <Override PartName="/ppt/slides/model34.xml" ContentType="application/vnd.openxmlformats-officedocument.presentationml.slide+xml"/>
  <Override PartName="/ppt/notesSlides/model34.xml" ContentType="application/vnd.openxmlformats-officedocument.presentationml.notesSlide+xml"/>
  <Override PartName="/ppt/slides/model35.xml" ContentType="application/vnd.openxmlformats-officedocument.presentationml.slide+xml"/>
  <Override PartName="/ppt/notesSlides/model35.xml" ContentType="application/vnd.openxmlformats-officedocument.presentationml.notesSlide+xml"/>
  <Override PartName="/ppt/slides/model36.xml" ContentType="application/vnd.openxmlformats-officedocument.presentationml.slide+xml"/>
  <Override PartName="/ppt/notesSlides/model36.xml" ContentType="application/vnd.openxmlformats-officedocument.presentationml.notesSlide+xml"/>
  <Override PartName="/ppt/slides/model37.xml" ContentType="application/vnd.openxmlformats-officedocument.presentationml.slide+xml"/>
  <Override PartName="/ppt/notesSlides/model37.xml" ContentType="application/vnd.openxmlformats-officedocument.presentationml.notesSlide+xml"/>
  <Override PartName="/ppt/slides/model38.xml" ContentType="application/vnd.openxmlformats-officedocument.presentationml.slide+xml"/>
  <Override PartName="/ppt/notesSlides/model38.xml" ContentType="application/vnd.openxmlformats-officedocument.presentationml.notesSlide+xml"/>
  <Override PartName="/ppt/slides/model39.xml" ContentType="application/vnd.openxmlformats-officedocument.presentationml.slide+xml"/>
  <Override PartName="/ppt/notesSlides/model39.xml" ContentType="application/vnd.openxmlformats-officedocument.presentationml.notesSlide+xml"/>
  <Override PartName="/ppt/slides/model40.xml" ContentType="application/vnd.openxmlformats-officedocument.presentationml.slide+xml"/>
  <Override PartName="/ppt/notesSlides/model40.xml" ContentType="application/vnd.openxmlformats-officedocument.presentationml.notesSlide+xml"/>
  <Override PartName="/ppt/slides/model41.xml" ContentType="application/vnd.openxmlformats-officedocument.presentationml.slide+xml"/>
  <Override PartName="/ppt/notesSlides/model41.xml" ContentType="application/vnd.openxmlformats-officedocument.presentationml.notesSlide+xml"/>
  <Override PartName="/ppt/slides/model42.xml" ContentType="application/vnd.openxmlformats-officedocument.presentationml.slide+xml"/>
  <Override PartName="/ppt/notesSlides/model4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49" r:id="rId2"/>
    <p:sldMasterId id="2147483662" r:id="rId3"/>
    <p:sldMasterId id="2147483669" r:id="rId4"/>
    <p:sldMasterId id="2147483676" r:id="rId5"/>
    <p:sldMasterId id="2147483683" r:id="rId6"/>
    <p:sldMasterId id="2147483690" r:id="rId7"/>
    <p:sldMasterId id="2147483697" r:id="rId8"/>
    <p:sldMasterId id="2147483704" r:id="rId9"/>
    <p:sldMasterId id="2147483712" r:id="rId10"/>
  </p:sldMasterIdLst>
  <p:notesMasterIdLst>
    <p:notesMasterId r:id="rId90"/>
  </p:notesMasterIdLst>
  <p:sldIdLst>
    <p:sldId id="1001" r:id="rIdModel1"/>
    <p:sldId id="1002" r:id="rIdModel2"/>
    <p:sldId id="1003" r:id="rIdModel3"/>
    <p:sldId id="1004" r:id="rIdModel4"/>
    <p:sldId id="1005" r:id="rIdModel5"/>
    <p:sldId id="1006" r:id="rIdModel6"/>
    <p:sldId id="1007" r:id="rIdModel7"/>
    <p:sldId id="1008" r:id="rIdModel8"/>
    <p:sldId id="1009" r:id="rIdModel9"/>
    <p:sldId id="1010" r:id="rIdModel10"/>
    <p:sldId id="1011" r:id="rIdModel11"/>
    <p:sldId id="1012" r:id="rIdModel12"/>
    <p:sldId id="1013" r:id="rIdModel13"/>
    <p:sldId id="1014" r:id="rIdModel14"/>
    <p:sldId id="1015" r:id="rIdModel15"/>
    <p:sldId id="1016" r:id="rIdModel16"/>
    <p:sldId id="1017" r:id="rIdModel17"/>
    <p:sldId id="1018" r:id="rIdModel18"/>
    <p:sldId id="1019" r:id="rIdModel19"/>
    <p:sldId id="1020" r:id="rIdModel20"/>
    <p:sldId id="1021" r:id="rIdModel21"/>
    <p:sldId id="1022" r:id="rIdModel22"/>
    <p:sldId id="1023" r:id="rIdModel23"/>
    <p:sldId id="1024" r:id="rIdModel24"/>
    <p:sldId id="1025" r:id="rIdModel25"/>
    <p:sldId id="1026" r:id="rIdModel26"/>
    <p:sldId id="1027" r:id="rIdModel27"/>
    <p:sldId id="1028" r:id="rIdModel28"/>
    <p:sldId id="1029" r:id="rIdModel29"/>
    <p:sldId id="1030" r:id="rIdModel30"/>
    <p:sldId id="1031" r:id="rIdModel31"/>
    <p:sldId id="1032" r:id="rIdModel32"/>
    <p:sldId id="1033" r:id="rIdModel33"/>
    <p:sldId id="1034" r:id="rIdModel34"/>
    <p:sldId id="1035" r:id="rIdModel35"/>
    <p:sldId id="1036" r:id="rIdModel36"/>
    <p:sldId id="1037" r:id="rIdModel37"/>
    <p:sldId id="1038" r:id="rIdModel38"/>
    <p:sldId id="1039" r:id="rIdModel39"/>
    <p:sldId id="1040" r:id="rIdModel40"/>
    <p:sldId id="1041" r:id="rIdModel41"/>
    <p:sldId id="1042" r:id="rIdModel4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3" autoAdjust="0"/>
    <p:restoredTop sz="94645" autoAdjust="0"/>
  </p:normalViewPr>
  <p:slideViewPr>
    <p:cSldViewPr snapToGrid="0">
      <p:cViewPr varScale="1">
        <p:scale>
          <a:sx n="118" d="100"/>
          <a:sy n="118" d="100"/>
        </p:scale>
        <p:origin x="75" y="243"/>
      </p:cViewPr>
      <p:guideLst/>
    </p:cSldViewPr>
  </p:slideViewPr>
  <p:outlineViewPr>
    <p:cViewPr>
      <p:scale>
        <a:sx n="33" d="100"/>
        <a:sy n="33" d="100"/>
      </p:scale>
      <p:origin x="0" y="-8561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1" d="100"/>
          <a:sy n="101" d="100"/>
        </p:scale>
        <p:origin x="4138" y="5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5" Type="http://schemas.openxmlformats.org/officeDocument/2006/relationships/slideMaster" Target="slideMasters/slideMaster5.xml"/><Relationship Id="rId90" Type="http://schemas.openxmlformats.org/officeDocument/2006/relationships/notesMaster" Target="notesMasters/notesMaster1.xml"/><Relationship Id="rId8" Type="http://schemas.openxmlformats.org/officeDocument/2006/relationships/slideMaster" Target="slideMasters/slideMaster8.xml"/><Relationship Id="rId9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9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0" Type="http://schemas.openxmlformats.org/officeDocument/2006/relationships/slideMaster" Target="slideMasters/slideMaster10.xml"/><Relationship Id="rId94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7" Type="http://schemas.openxmlformats.org/officeDocument/2006/relationships/slideMaster" Target="slideMasters/slideMaster7.xml"/><Relationship Id="rId9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Model1" Type="http://schemas.openxmlformats.org/officeDocument/2006/relationships/slide" Target="slides/model1.xml"/><Relationship Id="rIdModel2" Type="http://schemas.openxmlformats.org/officeDocument/2006/relationships/slide" Target="slides/model2.xml"/><Relationship Id="rIdModel3" Type="http://schemas.openxmlformats.org/officeDocument/2006/relationships/slide" Target="slides/model3.xml"/><Relationship Id="rIdModel4" Type="http://schemas.openxmlformats.org/officeDocument/2006/relationships/slide" Target="slides/model4.xml"/><Relationship Id="rIdModel5" Type="http://schemas.openxmlformats.org/officeDocument/2006/relationships/slide" Target="slides/model5.xml"/><Relationship Id="rIdModel6" Type="http://schemas.openxmlformats.org/officeDocument/2006/relationships/slide" Target="slides/model6.xml"/><Relationship Id="rIdModel7" Type="http://schemas.openxmlformats.org/officeDocument/2006/relationships/slide" Target="slides/model7.xml"/><Relationship Id="rIdModel8" Type="http://schemas.openxmlformats.org/officeDocument/2006/relationships/slide" Target="slides/model8.xml"/><Relationship Id="rIdModel9" Type="http://schemas.openxmlformats.org/officeDocument/2006/relationships/slide" Target="slides/model9.xml"/><Relationship Id="rIdModel10" Type="http://schemas.openxmlformats.org/officeDocument/2006/relationships/slide" Target="slides/model10.xml"/><Relationship Id="rIdModel11" Type="http://schemas.openxmlformats.org/officeDocument/2006/relationships/slide" Target="slides/model11.xml"/><Relationship Id="rIdModel12" Type="http://schemas.openxmlformats.org/officeDocument/2006/relationships/slide" Target="slides/model12.xml"/><Relationship Id="rIdModel13" Type="http://schemas.openxmlformats.org/officeDocument/2006/relationships/slide" Target="slides/model13.xml"/><Relationship Id="rIdModel14" Type="http://schemas.openxmlformats.org/officeDocument/2006/relationships/slide" Target="slides/model14.xml"/><Relationship Id="rIdModel15" Type="http://schemas.openxmlformats.org/officeDocument/2006/relationships/slide" Target="slides/model15.xml"/><Relationship Id="rIdModel16" Type="http://schemas.openxmlformats.org/officeDocument/2006/relationships/slide" Target="slides/model16.xml"/><Relationship Id="rIdModel17" Type="http://schemas.openxmlformats.org/officeDocument/2006/relationships/slide" Target="slides/model17.xml"/><Relationship Id="rIdModel18" Type="http://schemas.openxmlformats.org/officeDocument/2006/relationships/slide" Target="slides/model18.xml"/><Relationship Id="rIdModel19" Type="http://schemas.openxmlformats.org/officeDocument/2006/relationships/slide" Target="slides/model19.xml"/><Relationship Id="rIdModel20" Type="http://schemas.openxmlformats.org/officeDocument/2006/relationships/slide" Target="slides/model20.xml"/><Relationship Id="rIdModel21" Type="http://schemas.openxmlformats.org/officeDocument/2006/relationships/slide" Target="slides/model21.xml"/><Relationship Id="rIdModel22" Type="http://schemas.openxmlformats.org/officeDocument/2006/relationships/slide" Target="slides/model22.xml"/><Relationship Id="rIdModel23" Type="http://schemas.openxmlformats.org/officeDocument/2006/relationships/slide" Target="slides/model23.xml"/><Relationship Id="rIdModel24" Type="http://schemas.openxmlformats.org/officeDocument/2006/relationships/slide" Target="slides/model24.xml"/><Relationship Id="rIdModel25" Type="http://schemas.openxmlformats.org/officeDocument/2006/relationships/slide" Target="slides/model25.xml"/><Relationship Id="rIdModel26" Type="http://schemas.openxmlformats.org/officeDocument/2006/relationships/slide" Target="slides/model26.xml"/><Relationship Id="rIdModel27" Type="http://schemas.openxmlformats.org/officeDocument/2006/relationships/slide" Target="slides/model27.xml"/><Relationship Id="rIdModel28" Type="http://schemas.openxmlformats.org/officeDocument/2006/relationships/slide" Target="slides/model28.xml"/><Relationship Id="rIdModel29" Type="http://schemas.openxmlformats.org/officeDocument/2006/relationships/slide" Target="slides/model29.xml"/><Relationship Id="rIdModel30" Type="http://schemas.openxmlformats.org/officeDocument/2006/relationships/slide" Target="slides/model30.xml"/><Relationship Id="rIdModel31" Type="http://schemas.openxmlformats.org/officeDocument/2006/relationships/slide" Target="slides/model31.xml"/><Relationship Id="rIdModel32" Type="http://schemas.openxmlformats.org/officeDocument/2006/relationships/slide" Target="slides/model32.xml"/><Relationship Id="rIdModel33" Type="http://schemas.openxmlformats.org/officeDocument/2006/relationships/slide" Target="slides/model33.xml"/><Relationship Id="rIdModel34" Type="http://schemas.openxmlformats.org/officeDocument/2006/relationships/slide" Target="slides/model34.xml"/><Relationship Id="rIdModel35" Type="http://schemas.openxmlformats.org/officeDocument/2006/relationships/slide" Target="slides/model35.xml"/><Relationship Id="rIdModel36" Type="http://schemas.openxmlformats.org/officeDocument/2006/relationships/slide" Target="slides/model36.xml"/><Relationship Id="rIdModel37" Type="http://schemas.openxmlformats.org/officeDocument/2006/relationships/slide" Target="slides/model37.xml"/><Relationship Id="rIdModel38" Type="http://schemas.openxmlformats.org/officeDocument/2006/relationships/slide" Target="slides/model38.xml"/><Relationship Id="rIdModel39" Type="http://schemas.openxmlformats.org/officeDocument/2006/relationships/slide" Target="slides/model39.xml"/><Relationship Id="rIdModel40" Type="http://schemas.openxmlformats.org/officeDocument/2006/relationships/slide" Target="slides/model40.xml"/><Relationship Id="rIdModel41" Type="http://schemas.openxmlformats.org/officeDocument/2006/relationships/slide" Target="slides/model41.xml"/><Relationship Id="rIdModel42" Type="http://schemas.openxmlformats.org/officeDocument/2006/relationships/slide" Target="slides/model4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model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1.xml"/></Relationships>
</file>

<file path=ppt/notesSlides/_rels/model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2.xml"/></Relationships>
</file>

<file path=ppt/notesSlides/_rels/model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3.xml"/></Relationships>
</file>

<file path=ppt/notesSlides/_rels/model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4.xml"/></Relationships>
</file>

<file path=ppt/notesSlides/_rels/model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5.xml"/></Relationships>
</file>

<file path=ppt/notesSlides/_rels/model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6.xml"/></Relationships>
</file>

<file path=ppt/notesSlides/_rels/model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7.xml"/></Relationships>
</file>

<file path=ppt/notesSlides/_rels/model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8.xml"/></Relationships>
</file>

<file path=ppt/notesSlides/_rels/model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9.xml"/></Relationships>
</file>

<file path=ppt/notesSlides/_rels/model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10.xml"/></Relationships>
</file>

<file path=ppt/notesSlides/_rels/model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11.xml"/></Relationships>
</file>

<file path=ppt/notesSlides/_rels/model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12.xml"/></Relationships>
</file>

<file path=ppt/notesSlides/_rels/model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13.xml"/></Relationships>
</file>

<file path=ppt/notesSlides/_rels/model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14.xml"/></Relationships>
</file>

<file path=ppt/notesSlides/_rels/model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15.xml"/></Relationships>
</file>

<file path=ppt/notesSlides/_rels/model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16.xml"/></Relationships>
</file>

<file path=ppt/notesSlides/_rels/model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17.xml"/></Relationships>
</file>

<file path=ppt/notesSlides/_rels/model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18.xml"/></Relationships>
</file>

<file path=ppt/notesSlides/_rels/model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19.xml"/></Relationships>
</file>

<file path=ppt/notesSlides/_rels/model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20.xml"/></Relationships>
</file>

<file path=ppt/notesSlides/_rels/model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21.xml"/></Relationships>
</file>

<file path=ppt/notesSlides/_rels/model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22.xml"/></Relationships>
</file>

<file path=ppt/notesSlides/_rels/model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23.xml"/></Relationships>
</file>

<file path=ppt/notesSlides/_rels/model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24.xml"/></Relationships>
</file>

<file path=ppt/notesSlides/_rels/model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25.xml"/></Relationships>
</file>

<file path=ppt/notesSlides/_rels/model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26.xml"/></Relationships>
</file>

<file path=ppt/notesSlides/_rels/model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27.xml"/></Relationships>
</file>

<file path=ppt/notesSlides/_rels/model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28.xml"/></Relationships>
</file>

<file path=ppt/notesSlides/_rels/model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29.xml"/></Relationships>
</file>

<file path=ppt/notesSlides/_rels/model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30.xml"/></Relationships>
</file>

<file path=ppt/notesSlides/_rels/model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31.xml"/></Relationships>
</file>

<file path=ppt/notesSlides/_rels/model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32.xml"/></Relationships>
</file>

<file path=ppt/notesSlides/_rels/model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33.xml"/></Relationships>
</file>

<file path=ppt/notesSlides/_rels/model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34.xml"/></Relationships>
</file>

<file path=ppt/notesSlides/_rels/model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35.xml"/></Relationships>
</file>

<file path=ppt/notesSlides/_rels/model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36.xml"/></Relationships>
</file>

<file path=ppt/notesSlides/_rels/model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37.xml"/></Relationships>
</file>

<file path=ppt/notesSlides/_rels/model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38.xml"/></Relationships>
</file>

<file path=ppt/notesSlides/_rels/model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39.xml"/></Relationships>
</file>

<file path=ppt/notesSlides/_rels/model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40.xml"/></Relationships>
</file>

<file path=ppt/notesSlides/_rels/model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41.xml"/></Relationships>
</file>

<file path=ppt/notesSlides/_rels/model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42.xml"/></Relationships>
</file>

<file path=ppt/notesSlides/model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P006 从 hello_world + mps2/an386 认识组件来源、源码选择与自定义模块。固定源码25c8f4a23988dd3b2cfb463613622738298c2d6c。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从官方工程理解驱动怎样连接具体硬件</a:t>
            </a:r>
          </a:p>
          <a:p>
            <a:r>
              <a:t>沿同一份 hello_world 固件选择应用与 mps2/an386，找到架构、SoC、板配置和 CMSDK 外设驱动各自的位置。</a:t>
            </a:r>
          </a:p>
          <a:p>
            <a:r>
              <a:t>先区分标准 UART 接口与具体 IP 实现，再追 DTS、Kconfig、板 defconfig、应用配置、CMake、生成头与设备实例，直到真正读写寄存器。</a:t>
            </a:r>
          </a:p>
          <a:p>
            <a:r>
              <a:t>读完后再迁移到 HC32：我们已经能判断哪些接口可复用、哪些实现需要补齐，以及为什么选择外部 DDL。</a:t>
            </a:r>
          </a:p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对应配套正文 6.1.1。</a:t>
            </a:r>
          </a:p>
          <a:p>
            <a:r>
              <a:t>MPS2 是 Arm 的 Cortex-M 原型开发平台，使用 FPGA 装载不同处理器系统设计；板资源承载这些系统。</a:t>
            </a:r>
          </a:p>
          <a:p>
            <a:r>
              <a:t>AN386 对应 Cortex-M4F 系统设计与 FPGA 映像。内核实现 Armv7E-M，属于 Armv7-M 家族；当前目标有浮点和 MPU 能力。</a:t>
            </a:r>
          </a:p>
          <a:p>
            <a:r>
              <a:t>因此 mps2/an386 是一个具体硬件组合。它不能简化成一颗叫 MPS2 的固定 MCU，也不能与 Cortex-M3 的 AN385 随意交换。</a:t>
            </a:r>
          </a:p>
          <a:p>
            <a:r>
              <a:t>MD 6.1.1；boards/arm/mps2/doc/mps2_armv7m.rst；soc/arm/mps2/Kconfig。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通用接口、具体驱动和板配置各管什么</a:t>
            </a:r>
          </a:p>
          <a:p>
            <a:r>
              <a:t>应用调用 Zephyr UART 接口；uart_cmsdk_apb.c 实现 CMSDK APB UART 这一种外设 IP。文件名已经标明硬件类型，它不是所有串口共用的寄存器代码。</a:t>
            </a:r>
          </a:p>
          <a:p>
            <a:r>
              <a:t>MPS2 与 MPS3 使用同一 IP 时复用驱动；各自 DTS 提供基地址、中断和时钟，再生成各自设备实例。配置私有化不要求复制一份驱动。</a:t>
            </a:r>
          </a:p>
          <a:p>
            <a:r>
              <a:t>设备树减少每块板重复硬编码的配置；不同外设的寄存器语义仍需要具体驱动或 HAL 实现。本章继续展开选源和实例链。</a:t>
            </a:r>
          </a:p>
          <a:p>
            <a:r>
              <a:t>依据：G:/zephyr_practice/zephyr-main/drivers/serial/uart_cmsdk_apb.c；boards/arm/mps2/mps2_base.dtsi；boards/arm/mps3/mps3_common_soc_peripheral.dtsi。源码25c8f4a23988dd3b2cfb463613622738298c2d6c。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对应配套正文 6.1.1。</a:t>
            </a:r>
          </a:p>
          <a:p>
            <a:r>
              <a:t>认识顺序是：CPU 架构 → 芯片或 SoC → 具体板 → 应用 → 组件配置 → 固件。每层都回答上一层还没确定的问题。</a:t>
            </a:r>
          </a:p>
          <a:p>
            <a:r>
              <a:t>实际构建通常选择 BOARD 与应用目录。BOARD 的名字和 qualifiers 带出配套 SoC、CPU 和板资源，不是任选四个独立开关。</a:t>
            </a:r>
          </a:p>
          <a:p>
            <a:r>
              <a:t>同为 Cortex-M4 只能说明可共享部分架构支持；要换成 HC32 的 UART、时钟和引脚，仍需要 HC32 SoC 与 UYUP 板定义。</a:t>
            </a:r>
          </a:p>
          <a:p>
            <a:r>
              <a:t>MD 6.1.1；6.3.2。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对应配套正文 6.1.2。</a:t>
            </a:r>
          </a:p>
          <a:p>
            <a:r>
              <a:t>AN386 是 MPS2 的 Cortex-M4F 目标。官方已经提供板定义、SoC 选择、设备树和可用驱动，hello_world 可直接选它构建。</a:t>
            </a:r>
          </a:p>
          <a:p>
            <a:r>
              <a:t>这让我们保持硬件支持不变，只改变一个自定义组件，容易判断错误来自组件接入还是板移植。</a:t>
            </a:r>
          </a:p>
          <a:p>
            <a:r>
              <a:t>本章可在电脑上完成构建并用 QEMU 观察输出。接着以 HC32 对照同样的接入关系，逐文件移植练习继续在 P012。</a:t>
            </a:r>
          </a:p>
          <a:p>
            <a:r>
              <a:t>https://docs.zephyrproject.org/latest/boards/arm/mps2/doc/index.html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对应配套正文 6.2.1。</a:t>
            </a:r>
          </a:p>
          <a:p>
            <a:r>
              <a:t>Zephyr 内核、架构、SoC 和驱动实现系统与硬件支持；外部源码模块补充当前配置需要的接口或实现。</a:t>
            </a:r>
          </a:p>
          <a:p>
            <a:r>
              <a:t>HAL 是硬件抽象层，DDL 是厂商设备驱动库：它们把外设寄存器操作封装成接口。Zephyr 驱动可以调用这些库，也可以直接实现寄存器访问。</a:t>
            </a:r>
          </a:p>
          <a:p>
            <a:r>
              <a:t>Zephyr SDK 在电脑上提供编译器、链接器等工具。它不会替代板支持，也不会因为安装了 SDK 就自动提供某个 HAL 源码。</a:t>
            </a:r>
          </a:p>
          <a:p>
            <a:r>
              <a:t>west.yml；modules/cmsis_6/CMakeLists.txt；官方 modules 文档。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对应配套正文 6.2.1。</a:t>
            </a:r>
          </a:p>
          <a:p>
            <a:r>
              <a:t>CMSIS 是 Arm 的标准软件接口及配套代码。本例使用 CMSIS_6 的 Core 内核头，提供内核寄存器与 NVIC 等接口，最终包含 core_cm4.h。</a:t>
            </a:r>
          </a:p>
          <a:p>
            <a:r>
              <a:t>CMSDK 是本目标若干 Arm 外设接口的名称，例如 CMSDK UART / GPIO。它出现在设备树与驱动名，不表示另一个必装的 SDK。</a:t>
            </a:r>
          </a:p>
          <a:p>
            <a:r>
              <a:t>Zephyr SDK 是电脑端编译工具包。本例 CMSIS 主要以头文件参与，所以没有 CMSIS 的独立 .c 条目，也能构成真实依赖。</a:t>
            </a:r>
          </a:p>
          <a:p>
            <a:r>
              <a:t>west.yml:130-133；modules/cmsis_6/CMakeLists.txt；soc/arm/mps2/soc.h；cmsis_core_m_defaults.h。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对应配套正文 6.2.2。</a:t>
            </a:r>
          </a:p>
          <a:p>
            <a:r>
              <a:rPr>
                <a:solidFill>
                  <a:srgbClr val="29263B"/>
                </a:solidFill>
              </a:rPr>
              <a:t xml:space="preserve">模块先进入发现范围，再读取 </a:t>
            </a:r>
            <a:r>
              <a:rPr>
                <a:solidFill>
                  <a:srgbClr val="0070C0"/>
                </a:solidFill>
              </a:rPr>
              <a:t>module.yml</a:t>
            </a:r>
            <a:r>
              <a:rPr>
                <a:solidFill>
                  <a:srgbClr val="29263B"/>
                </a:solidFill>
              </a:rPr>
              <a:t xml:space="preserve">（当前源码也接受 </a:t>
            </a:r>
            <a:r>
              <a:rPr>
                <a:solidFill>
                  <a:srgbClr val="0070C0"/>
                </a:solidFill>
              </a:rPr>
              <a:t>module.yaml</a:t>
            </a:r>
            <a:r>
              <a:rPr>
                <a:solidFill>
                  <a:srgbClr val="29263B"/>
                </a:solidFill>
              </a:rPr>
              <a:t xml:space="preserve">）。无声明时，只有 </a:t>
            </a:r>
            <a:r>
              <a:rPr>
                <a:solidFill>
                  <a:srgbClr val="0070C0"/>
                </a:solidFill>
              </a:rPr>
              <a:t>zephyr/CMakeLists.txt</a:t>
            </a:r>
            <a:r>
              <a:rPr>
                <a:solidFill>
                  <a:srgbClr val="29263B"/>
                </a:solidFill>
              </a:rPr>
              <a:t xml:space="preserve"> 与 </a:t>
            </a:r>
            <a:r>
              <a:rPr>
                <a:solidFill>
                  <a:srgbClr val="0070C0"/>
                </a:solidFill>
              </a:rPr>
              <a:t>zephyr/Kconfig</a:t>
            </a:r>
            <a:r>
              <a:rPr>
                <a:solidFill>
                  <a:srgbClr val="29263B"/>
                </a:solidFill>
              </a:rPr>
              <a:t xml:space="preserve"> 同时存在才按旧式模块接入。</a:t>
            </a:r>
          </a:p>
          <a:p>
            <a:r>
              <a:rPr/>
              <a:t>CMSIS_6 提供内核头，hal_xhsc 提供华大设备与外设源码，普通模块也可提供业务函数。模块机制相同，适用硬件与贡献内容不同。</a:t>
            </a:r>
          </a:p>
          <a:p>
            <a:r>
              <a:rPr/>
              <a:t>west 管理仓库获取与版本。一个项目存在、被识别为模块、功能选中、源文件编译，是需要逐阶段确认的事情。</a:t>
            </a:r>
          </a:p>
          <a:p>
            <a:r>
              <a:rPr/>
              <a:t>MD 6.2.2；https://docs.zephyrproject.org/latest/develop/modules.html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目录按职责组织，驱动按硬件实现区分</a:t>
            </a:r>
          </a:p>
          <a:p>
            <a:r>
              <a:t>外设 IP 是芯片里可复用的硬件模块。uart_cmsdk_apb.c 中的 cmsdk_apb 标识一种 UART 实现，不能把它理解成所有 UART 的通用层。</a:t>
            </a:r>
          </a:p>
          <a:p>
            <a:r>
              <a:t>本地源码25c8f4a23988dd3b2cfb463613622738298c2d6c。MPS2/AN386 与 HC32 对照的职责划分。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共享范围与源码位置是两个维度</a:t>
            </a:r>
          </a:p>
          <a:p>
            <a:r>
              <a:t>共享范围：UART API 跨实现共用；CMSDK 驱动在兼容该 IP 的平台间复用；某块板的地址、连线和默认控制台属于实例配置。</a:t>
            </a:r>
          </a:p>
          <a:p>
            <a:r>
              <a:t>源码位置：这些实现可以由 Zephyr 主仓维护，也可以由树外模块维护。搬到独立仓库不会自动消除芯片耦合，放在树内也不表示所有应用都编译它。</a:t>
            </a:r>
          </a:p>
          <a:p>
            <a:r>
              <a:t>本工程把 HC32 适配与 DDL 分开维护，是为了明确接口和版本边界。源码模块随固件编译链接，不等同于 Linux 的可加载 .ko。</a:t>
            </a:r>
          </a:p>
          <a:p>
            <a:r>
              <a:t>https://docs.zephyrproject.org/latest/develop/modules.html；树内/树外、硬件共享范围、独立HAL分层是不同轴。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对应配套正文 6.3.1。</a:t>
            </a:r>
          </a:p>
          <a:p>
            <a:r>
              <a:t>hello_world 是包含 main.c、CMakeLists.txt 与 prj.conf 的应用，它说明要运行什么业务。</a:t>
            </a:r>
          </a:p>
          <a:p>
            <a:r>
              <a:t>mps2/an386 是板目标，选择硬件平台、CPU、内存和外设描述。同一应用可为不同受支持板生成不同固件。</a:t>
            </a:r>
          </a:p>
          <a:p>
            <a:r>
              <a:t>Build 目录保存这一次应用与板的组合。改用一个应用，不等于创建一块新板；换板也不是把应用复制一遍。</a:t>
            </a:r>
          </a:p>
          <a:p>
            <a:r>
              <a:t>samples/hello_world/CMakeLists.txt；boards/arm/mps2/board.yml。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对应配套正文 6.3.2。</a:t>
            </a:r>
          </a:p>
          <a:p>
            <a:r>
              <a:t>代码为官方 hello_world 的原有构建入口。应用根中的 CMakeLists 决定加入 main.c；prj.conf 配置功能，可选 overlay 调整本应用硬件使用。</a:t>
            </a:r>
          </a:p>
          <a:p>
            <a:r>
              <a:t>samples/hello_world/CMakeLists.txt；当前 prj.conf 只有注释，接受已有默认配置；MD 6.3.2。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对应配套正文 6.3.2。</a:t>
            </a:r>
          </a:p>
          <a:p>
            <a:r>
              <a:t>west 的应用路径对应 CMake 的 -S；-b 对应 BOARD；-d 对应 -B。本页只对照参数位置，完整环境与命令在后页及附件。</a:t>
            </a:r>
          </a:p>
          <a:p>
            <a:r>
              <a:t>参数位置对照，不把两个命令当作应连续执行的完整单元；02-build-baseline.txt 与 14-baseline-cmake.txt。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对应配套正文 6.3.2。</a:t>
            </a:r>
          </a:p>
          <a:p>
            <a:r>
              <a:rPr>
                <a:solidFill>
                  <a:srgbClr val="29263B"/>
                </a:solidFill>
              </a:rPr>
              <a:t xml:space="preserve">本章先构建 hello_world + </a:t>
            </a:r>
            <a:r>
              <a:rPr>
                <a:solidFill>
                  <a:srgbClr val="0070C0"/>
                </a:solidFill>
              </a:rPr>
              <a:t>mps2/an386</a:t>
            </a:r>
            <a:r>
              <a:rPr>
                <a:solidFill>
                  <a:srgbClr val="29263B"/>
                </a:solidFill>
              </a:rPr>
              <a:t xml:space="preserve">，输出 </a:t>
            </a:r>
            <a:r>
              <a:rPr>
                <a:solidFill>
                  <a:srgbClr val="0070C0"/>
                </a:solidFill>
              </a:rPr>
              <a:t>p006/hello_world</a:t>
            </a:r>
            <a:r>
              <a:rPr>
                <a:solidFill>
                  <a:srgbClr val="29263B"/>
                </a:solidFill>
              </a:rPr>
              <a:t>；P006 再换成自己的 component_hello 应用，板仍保持不变。</a:t>
            </a:r>
          </a:p>
          <a:p>
            <a:r>
              <a:rPr/>
              <a:t>同板换应用时，应用路径与输出一起换成 component_hello；同应用换到 AN385 时，BOARD 与输出换成对应的新组合。</a:t>
            </a:r>
          </a:p>
          <a:p>
            <a:r>
              <a:rPr/>
              <a:t>Zephyr 源码根、应用根、模块根和生成目录分别承担不同职责。不能把下载仓库根直接当成唯一应用，也不要混用旧 Build 缓存。</a:t>
            </a:r>
          </a:p>
          <a:p>
            <a:r>
              <a:rPr/>
              <a:t>MD 6.3.2；同应用AN385组合只解释用法，本章不额外运行。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对应配套正文 6.3.3。</a:t>
            </a:r>
          </a:p>
          <a:p>
            <a:r>
              <a:t>官方 MPS2 Armv7-M 文档的 hello_world 示例明确使用 mps2/an385；它同时把 AN385、AN386、AN500 列为受支持目标。</a:t>
            </a:r>
          </a:p>
          <a:p>
            <a:r>
              <a:t>本教程保留同一个官方 hello_world 应用，另选 mps2/an386，以 Cortex-M4 系统作为 HC32 迁移前的对照。</a:t>
            </a:r>
          </a:p>
          <a:p>
            <a:r>
              <a:t>所以后页命令是本教程选择的应用与板组合。应用、板目标与独立输出三项都明确，不能把它标作官网原样命令。</a:t>
            </a:r>
          </a:p>
          <a:p>
            <a:r>
              <a:t>boards/arm/mps2/doc/mps2_armv7m.rst:236-240；MD 6.3.3。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对应配套正文 6.3.3。</a:t>
            </a:r>
          </a:p>
          <a:p>
            <a:r>
              <a:t>在 UCRT64 执行本页完整块。先确认 SDK 与 CMSIS 已准备；本章用独立 p006 输出目录保留这次对照。</a:t>
            </a:r>
          </a:p>
          <a:p>
            <a:r>
              <a:t>commands/P005_Windows/build-baseline-west.txt；前提检查 01-check-inputs.txt。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对应配套正文 6.3.6。</a:t>
            </a:r>
          </a:p>
          <a:p>
            <a:r>
              <a:t>板层描述内存、外设、引脚与默认配置；SoC 层确定 ARM / Cortex-M4，并提供芯片系列的头文件和接入规则。</a:t>
            </a:r>
          </a:p>
          <a:p>
            <a:r>
              <a:t>架构层实现复位、向量、中断入口和线程上下文；CMSIS 内核头提供 NVIC、SysTick 等内核寄存器与接口。</a:t>
            </a:r>
          </a:p>
          <a:p>
            <a:r>
              <a:t>外设层已有 CMSDK UART / GPIO、MMIO GPIO、pinctrl 和系统计时驱动。硬件抽象职责是完整组合，不要求都装进名为 HAL 的独立库。</a:t>
            </a:r>
          </a:p>
          <a:p>
            <a:r>
              <a:t>boards/arm/mps2；soc/arm/mps2；arch/arm/core/cortex_m；drivers；本次 compile_commands.json。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对应配套正文 6.3.6。</a:t>
            </a:r>
          </a:p>
          <a:p>
            <a:r>
              <a:t>Arm Keil 官方有 V2M-MPS2_CMx_BSP，包含 Board Support 与 Device Support；MPS2 不是没有厂商支持包。</a:t>
            </a:r>
          </a:p>
          <a:p>
            <a:r>
              <a:t>另一件事是：当前 Zephyr 的 mps2/an386 是否用到它。此构建走 Zephyr 自有板、SoC、架构与驱动，再引用 CMSIS_6。</a:t>
            </a:r>
          </a:p>
          <a:p>
            <a:r>
              <a:t>本次清单和编译输入未直接使用该 BSP Pack。因此不把下载 Pack 列为必做，也不能据此声称所有 MPS2 开发方式都不需要它。</a:t>
            </a:r>
          </a:p>
          <a:p>
            <a:r>
              <a:t>https://www.keil.arm.com/packs/v2m-mps2_cmx_bsp-keil/boards/；https://www.keil.com/boards2/arm/v2m_mps2/；本次 west.yml 与 compile_commands.json。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对应配套正文 6.3.4。</a:t>
            </a:r>
          </a:p>
          <a:p>
            <a:r>
              <a:t>BOARD 的 mps2 部分找到板定义，an386 选中对应 SoC；板 Kconfig 进而选择 SOC_AN386。</a:t>
            </a:r>
          </a:p>
          <a:p>
            <a:r>
              <a:t>MPS2 的 SoC Kconfig 选择 ARM、Cortex-M4、MPU 与 VFP。架构 CMake 据此进入 Cortex-M 目录。</a:t>
            </a:r>
          </a:p>
          <a:p>
            <a:r>
              <a:t>所以 reset.S、vector_table.S、thread.c 等实现已被选入。应用不需要另写一套启动文件；这些文件也不是 SDK 生成的。</a:t>
            </a:r>
          </a:p>
          <a:p>
            <a:r>
              <a:t>boards/arm/mps2/Kconfig.mps2；soc/arm/mps2/Kconfig；arch/arm/core/cortex_m/CMakeLists.txt。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对应配套正文 6.3.6。</a:t>
            </a:r>
          </a:p>
          <a:p>
            <a:r>
              <a:t>Cortex-M 的 irq_manage.c 调用 CMSIS 的 NVIC_EnableIRQ / NVIC_SetPriority 等接口，连接 Zephyr 中断管理和内核寄存器。</a:t>
            </a:r>
          </a:p>
          <a:p>
            <a:r>
              <a:t>CONFIG_CORTEX_M_SYSTICK 选择 cortex_m_systick.c 提供系统节拍。板 DTS 定义 Flash、SRAM 和 25 MHz 固定时钟节点，链接布局按这些输入形成。</a:t>
            </a:r>
          </a:p>
          <a:p>
            <a:r>
              <a:t>这些职责分别位于架构、CMSIS、计时驱动和板描述中。不要看到 soc.c 就猜它完成所有时钟初始化；该文件还含其他 MPS2 变体共用代码。</a:t>
            </a:r>
          </a:p>
          <a:p>
            <a:r>
              <a:t>arch/arm/core/cortex_m/irq_manage.c；drivers/timer/CMakeLists.txt；boards/arm/mps2/mps2_base.dtsi；soc/arm/mps2/soc.c。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对应配套正文 6.3.5。</a:t>
            </a:r>
          </a:p>
          <a:p>
            <a:r>
              <a:t>板的 chosen 已把 console 指向 uart0。这段原文件摘录说明接口种类、地址和波特率，只读理解即可。</a:t>
            </a:r>
          </a:p>
          <a:p>
            <a:r>
              <a:t>boards/arm/mps2/mps2_base.dtsi；完整上下文见 MD 6.3.5；dts/bindings/serial/arm,cmsdk-uart.yaml。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同一种 UART，用不同配置服务不同平台</a:t>
            </a:r>
          </a:p>
          <a:p>
            <a:r>
              <a:t>同一 IP 复用寄存器操作，各实例保存自己的地址和中断。寄存器语义不同的外设仍需对应驱动，设备树不能生成操作算法。</a:t>
            </a:r>
          </a:p>
          <a:p>
            <a:r>
              <a:t>boards/arm/mps2/mps2_base.dtsi:116；boards/arm/mps3/mps3_common_soc_peripheral.dtsi:160；https://docs.kernel.org/devicetree/usage-model.html。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Kconfig 文件沿入口读取，不按目录自动生效</a:t>
            </a:r>
          </a:p>
          <a:p>
            <a:r>
              <a:t>顶层 Kconfig 进入 Kconfig.zephyr，再由 drivers/Kconfig 读取串口 Kconfig。串口文件明确写出 rsource "Kconfig.cmsdk_apb"，才读入这个实现的声明。</a:t>
            </a:r>
          </a:p>
          <a:p>
            <a:r>
              <a:t>source 按 Kconfig 的源码根规则定位，rsource 相对当前 Kconfig 文件定位。本例逐条列出驱动配置入口，不会自动扫描目录里新增的 Kconfig 文件。</a:t>
            </a:r>
          </a:p>
          <a:p>
            <a:r>
              <a:t>新增私有驱动时，既要让它的 Kconfig 声明可达，也要让后面的 CMake 选源规则可达；只复制文件或只写 prj.conf 都不完整。</a:t>
            </a:r>
          </a:p>
          <a:p>
            <a:r>
              <a:t>源码：Kconfig、Kconfig.zephyr、drivers/Kconfig、drivers/serial/Kconfig；https://docs.zephyrproject.org/latest/build/kconfig/extensions.html。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一个 Kconfig 符号怎样成为可选实现</a:t>
            </a:r>
          </a:p>
          <a:p>
            <a:r>
              <a:t>config 声明名不带 CONFIG_。bool 表示开关；default y 只在依赖满足等条件下提供默认值。depends on 限制可选条件，不是负责下载或编译。</a:t>
            </a:r>
          </a:p>
          <a:p>
            <a:r>
              <a:t>DT_HAS_ARM_CMSDK_UART_ENABLED 来自设备树支持的 Kconfig 生成规则。最终值由启用节点及配置求值决定，不能在 prj.conf 强设来绕过缺失硬件。</a:t>
            </a:r>
          </a:p>
          <a:p>
            <a:r>
              <a:t>drivers/serial/Kconfig.cmsdk_apb 只读节选；外层 SERIAL 条件同样生效。DT_HAS 符号由生成Kconfig.dts及dt_compat_enabled求值，不能误称所有符号直接写y。select SERIAL_HAS_DRIVER等见下一页。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default、depends on 与 select 不做同一件事</a:t>
            </a:r>
          </a:p>
          <a:p>
            <a:r>
              <a:t>depends on 给当前符号设置前提。default 是没有显式覆盖时的候选值，仍受依赖约束；最终结果应检查 .config，不能只看声明里的 default y。</a:t>
            </a:r>
          </a:p>
          <a:p>
            <a:r>
              <a:t>select 是反向依赖，当前驱动选中后推动另一个符号启用。本例声明串口驱动能力并选择 PINCTRL；它不是添加源文件的命令。</a:t>
            </a:r>
          </a:p>
          <a:p>
            <a:r>
              <a:t>select 可能绕过被选择符号自身的依赖，不能拿它作为“缺什么就强制开启”的办法。新增驱动要把硬件前提、能力声明和编译规则分别写清。</a:t>
            </a:r>
          </a:p>
          <a:p>
            <a:r>
              <a:t>drivers/serial/Kconfig.cmsdk_apb；https://docs.zephyrproject.org/latest/build/kconfig/tips.html。本例select SERIAL_HAS_DRIVER、SERIAL_SUPPORT_INTERRUPT、PINCTRL。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板 defconfig、应用配置与默认规则如何合并</a:t>
            </a:r>
          </a:p>
          <a:p>
            <a:r>
              <a:t>mps2_an386_defconfig 是板的配置赋值片段，包含 CONFIG_SERIAL=y、CONFIG_UART_CONSOLE=y。应用 prj.conf 再提出本应用需要的功能。</a:t>
            </a:r>
          </a:p>
          <a:p>
            <a:r>
              <a:t>Kconfig.defconfig 使用 Kconfig 语法补充条件默认值。MPS2 在 SERIAL 开启时给 UART_INTERRUPT_DRIVEN 默认 y，它与 xxx_defconfig 不是同一种文件。</a:t>
            </a:r>
          </a:p>
          <a:p>
            <a:r>
              <a:t>配置片段按构建规则合并后仍要经过依赖求值。合法的应用赋值可覆盖板默认；新增驱动的符号、依赖和选源规则仍必须事先存在。</a:t>
            </a:r>
          </a:p>
          <a:p>
            <a:r>
              <a:t>boards/arm/mps2/mps2_an386_defconfig；boards/arm/mps2/Kconfig.defconfig；samples/hello_world/prj.conf只有注释；cmake/modules/kconfig.cmake合并顺序。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同一个开关在三个文件中的写法</a:t>
            </a:r>
          </a:p>
          <a:p>
            <a:r>
              <a:t>声明、最终配置和 C 宏是三个表示形式。bool 关闭时，.config 通常记录未启用，autoconf.h 则不定义对应宏；不能用 #ifdef 测试一个手写为 0 的宏是否开启。</a:t>
            </a:r>
          </a:p>
          <a:p>
            <a:r>
              <a:t>当前MPS2配置与生成autoconf.h核对。片段分别来自不同语法文件，只读对照，不能作为一个脚本执行。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最终配置分别交给 CMake 和 C 编译器</a:t>
            </a:r>
          </a:p>
          <a:p>
            <a:r>
              <a:t>板默认配置、应用 prj.conf 等输入参与 Kconfig 求值，生成 build/zephyr/.config，以及 include/generated/zephyr/autoconf.h。不要直接修改生成文件。</a:t>
            </a:r>
          </a:p>
          <a:p>
            <a:r>
              <a:t>CMake 的 import_kconfig 读取 .config，把 CONFIG_UART_CMSDK_APB 等变成 CMake 变量，供选目录、选源文件使用。</a:t>
            </a:r>
          </a:p>
          <a:p>
            <a:r>
              <a:t>GNU 编译命令通过 -imacros 提供 autoconf.h。C 源码里的 #ifdef CONFIG_* 读取的是这些预处理定义；CMake 变量本身不会直接进入 C 语言。</a:t>
            </a:r>
          </a:p>
          <a:p>
            <a:r>
              <a:t>cmake/modules/kconfig.cmake:541 import_kconfig；根CMakeLists.txt使用AUTOCONF_H和compiler imacros属性；当前GNU构建compile_commands.json有-imacros。路径中的include位于build/zephyr下。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父目录决定是否进入串口的 CMake</a:t>
            </a:r>
          </a:p>
          <a:p>
            <a:r>
              <a:t>先有父目录的 add_subdirectory，子目录的 CMakeLists.txt 才执行。这里 CONFIG_SERIAL 决定进入 serial；它不是看到 drivers/serial 目录就自动编译。</a:t>
            </a:r>
          </a:p>
          <a:p>
            <a:r>
              <a:t>进入串口目录后，各条 zephyr_library_sources_ifdef 再按具体驱动符号添加对应 .c。公共入口与硬件实现的选择分两层。</a:t>
            </a:r>
          </a:p>
          <a:p>
            <a:r>
              <a:t>drivers/CMakeLists.txt:95；drivers/serial/CMakeLists.txt:36；cmake/modules/extensions.cmake zephyr_library_sources_ifdef。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对应配套正文 6.3.5。</a:t>
            </a:r>
          </a:p>
          <a:p>
            <a:r>
              <a:t>启用的 arm,cmsdk-uart 节点使驱动依赖满足；UART_CMSDK_APB 默认开启，这段原有 CMake 规则把实现加入编译。</a:t>
            </a:r>
          </a:p>
          <a:p>
            <a:r>
              <a:t>drivers/serial/Kconfig.cmsdk_apb；drivers/serial/CMakeLists.txt:36。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选源、裁剪函数、创建设备实例分别判断</a:t>
            </a:r>
          </a:p>
          <a:p>
            <a:r>
              <a:t>驱动 .c 被编译，不等于所有条件分支都存在，也不等于会创建一个没有启用节点的设备。排错时要先判断自己卡在哪一层。</a:t>
            </a:r>
          </a:p>
          <a:p>
            <a:r>
              <a:t>uart_cmsdk_apb.c:161、469、548；Kconfig与CMake负责选源，C预处理负责源内部，DT实例宏负责重复展开设备定义。 设备树实例宏具体为 DT_INST_FOREACH_STATUS_OKAY。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CONFIG 宏与 DT 宏从不同规则进入源码</a:t>
            </a:r>
          </a:p>
          <a:p>
            <a:r>
              <a:t>CONFIG_* 来自 Kconfig 的生成头。DT_INST_* 由 Zephyr 设备树头文件提供，并使用 devicetree_generated.h 中的数据展开。</a:t>
            </a:r>
          </a:p>
          <a:p>
            <a:r>
              <a:t>DT_DRV_COMPAT 是当前驱动源文件主动定义的宏：把 arm,cmsdk-uart 写成 C 标识符 arm_cmsdk_uart，限定后续实例宏所指的硬件类型。</a:t>
            </a:r>
          </a:p>
          <a:p>
            <a:r>
              <a:t>这个局部宏不能代替 CONFIG_*，也不会自动为本目录所有文件定义。文件夹名、文件名前缀都不会产生这种匹配关系。</a:t>
            </a:r>
          </a:p>
          <a:p>
            <a:r>
              <a:t>该代码是宏与头文件引入的说明片段；实际uart_cmsdk_apb.c通过所包含的Zephyr头链取得device/devicetree宏，不能称原文件紧接着直接include device.h。device.h→devicetree.h→生成头。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设备实例把板配置交给共享驱动</a:t>
            </a:r>
          </a:p>
          <a:p>
            <a:r>
              <a:t>DT_INST_REG_ADDR(n) 提供第 n 个匹配实例的基地址；DT_INST_PROP 取得该实例的属性。驱动把它们写入各自 config/data，而不是改写一份 MPS2 私有收发代码。</a:t>
            </a:r>
          </a:p>
          <a:p>
            <a:r>
              <a:t>实例编号由生成规则决定，不能简单等同于节点标签 uart0。上层用设备树节点取得对应设备对象。</a:t>
            </a:r>
          </a:p>
          <a:p>
            <a:r>
              <a:t>uart_cmsdk_apb.c CMSDK_UART_INIT(n):514–523；驱动的sys_clk_freq存配置，baud_rate存data；DT_INST编号不是硬件编号。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注册设备时同时连接配置、初始化和操作表</a:t>
            </a:r>
          </a:p>
          <a:p>
            <a:r>
              <a:t>DEVICE_DT_INST_DEFINE 为当前实例关联 config、可变 data、初始化函数与 API 表，并记录初始化等级。启动时按规则初始化，运行时再通过设备对象使用。</a:t>
            </a:r>
          </a:p>
          <a:p>
            <a:r>
              <a:t>上方操作表把标准 poll_out 槽位指向 CMSDK 实现。同一接口可以对应 HC32 的另一张操作表，不需要把所有芯片写进一个收发函数。</a:t>
            </a:r>
          </a:p>
          <a:p>
            <a:r>
              <a:t>uart_cmsdk_apb.c:466 DEVICE_API；544 DEVICE_DT_INST_DEFINE；include/zephyr/device.h。说明片段不是要求读者复制创建新驱动。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运行时按设备对象找到具体外设实现</a:t>
            </a:r>
          </a:p>
          <a:p>
            <a:r>
              <a:t>uart_poll_out(dev, c) 从设备操作表找到 poll_out 回调。CMSDK 实现通过 dev-&gt;config 取得基地址，等待状态位后写数据寄存器。</a:t>
            </a:r>
          </a:p>
          <a:p>
            <a:r>
              <a:t>设备树解决实例参数，设备模型解决接口分派，外设驱动解决操作语义。函数最后访问寄存器，并不意味着前面的两层不存在。</a:t>
            </a:r>
          </a:p>
          <a:p>
            <a:r>
              <a:t>include/zephyr/drivers/uart/uart_internal.h z_impl_uart_poll_out；uart_cmsdk_apb.c uart_cmsdk_apb_poll_out。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对应配套正文 6.3.6。</a:t>
            </a:r>
          </a:p>
          <a:p>
            <a:r>
              <a:t>console 通过 uart_poll_out() 调用设备 API，最终进入 uart_cmsdk_apb_poll_out()。驱动等待发送状态位，再向 UART data 寄存器写字符。</a:t>
            </a:r>
          </a:p>
          <a:p>
            <a:r>
              <a:t>uart_cmsdk_apb.c 已定义寄存器结构，并用 DT_INST_REG_ADDR 取设备树地址。GPIO 的 CMSDK 驱动也在树内直接读写端口寄存器。</a:t>
            </a:r>
          </a:p>
          <a:p>
            <a:r>
              <a:t>因此本目标有硬件抽象实现；只是它不依赖另下一个 MPS2 HAL / DDL 包。HAL 是职责，DDL 是部分厂商的库名，不能据名称推断依赖。</a:t>
            </a:r>
          </a:p>
          <a:p>
            <a:r>
              <a:t>drivers/console/uart_console.c；drivers/serial/uart_cmsdk_apb.c；drivers/gpio/gpio_cmsdk_ahb.c。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共享驱动中的 SoC 特例仍需单独审查</a:t>
            </a:r>
          </a:p>
          <a:p>
            <a:r>
              <a:t>当前 CMSDK UART 驱动确有 BEETLE 系列专用时钟处理分支。因此“多个平台共享”不等于实现已经完全没有 SoC 耦合。</a:t>
            </a:r>
          </a:p>
          <a:p>
            <a:r>
              <a:t>支持新硬件时先判断差异：地址、IRQ和连接可用设备树表达；时钟、引脚交给相应子系统；寄存器行为差异需要变体数据或专用实现。</a:t>
            </a:r>
          </a:p>
          <a:p>
            <a:r>
              <a:t>是否移到树外属于维护选择。真正要审查的是接口和依赖边界、特例范围与验证覆盖，不能只用目录有没有芯片名判断。</a:t>
            </a:r>
          </a:p>
          <a:p>
            <a:r>
              <a:t>uart_cmsdk_apb.c:139–152 CONFIG_CLOCK_CONTROL和CONFIG_SOC_SERIES_BEETLE；本文不修改上游驱动。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对应配套正文 6.3.6。</a:t>
            </a:r>
          </a:p>
          <a:p>
            <a:r>
              <a:t>本例编译清单含 UART、CMSDK GPIO、MMIO GPIO、pinctrl 与 SysTick。GPIO 默认开启，所以会编译；hello_world 的业务仍只是输出问候。</a:t>
            </a:r>
          </a:p>
          <a:p>
            <a:r>
              <a:t>板还描述 I²C、看门狗、以太网等接口，相应 Zephyr 驱动存在。支持某功能不表示当前应用已经启用它，本次也不能据此宣称所有外设都经过运行验证。</a:t>
            </a:r>
          </a:p>
          <a:p>
            <a:r>
              <a:t>先看板支持范围，再看最终 .config / DTS，最后看实际源文件与运行结果。只有模块目录存在，不能证明某段代码进入了固件或执行过。</a:t>
            </a:r>
          </a:p>
          <a:p>
            <a:r>
              <a:t>boards/arm/mps2/mps2_defconfig；mps2_base.dtsi；实际 compile_commands.json；官方 MPS2 Supported Features。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对应配套正文 6.3.7。</a:t>
            </a:r>
          </a:p>
          <a:p>
            <a:r>
              <a:t>.config 记录本次选择的板、SoC、CPU 和驱动开关；zephyr.dts 记录合成后的硬件资源与 console 绑定。</a:t>
            </a:r>
          </a:p>
          <a:p>
            <a:r>
              <a:t>compile_commands.json 给出每个选入编译的源及参数。找到 UART / GPIO / 架构文件，再找 CMSIS/Core/Include，才能说明实际输入。</a:t>
            </a:r>
          </a:p>
          <a:p>
            <a:r>
              <a:t>请读取刚生成的 p006/hello_world 目录。旧构建或另一个 BOARD 的记录不能用来证明这一次的选择。</a:t>
            </a:r>
          </a:p>
          <a:p>
            <a:r>
              <a:t>commands/P005_Windows/trace-baseline-build.txt；build/learning-tools/p006/hello_world。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对应配套正文 6.4.2。</a:t>
            </a:r>
          </a:p>
          <a:p>
            <a:r>
              <a:t>zephyr-main/modules/cmsis_6 保存 Zephyr 怎样使用 CMSIS 的接入规则；真正 Arm 头文件位于工作区根 modules/hal/cmsis_6。</a:t>
            </a:r>
          </a:p>
          <a:p>
            <a:r>
              <a:t>外部 module.yml 的 cmake-ext / kconfig-ext 表示使用 Zephyr 一侧规则。当前模块目录变量仍指向原始包，因此规则能找到 CMSIS/Core/Include。</a:t>
            </a:r>
          </a:p>
          <a:p>
            <a:r>
              <a:t>只下载 Zephyr、看到主仓有 modules/cmsis_6，不代表已经取到完整 CMSIS。两个目录名相近，来源和版本责任必须分开判断。</a:t>
            </a:r>
          </a:p>
          <a:p>
            <a:r>
              <a:t>外部 zephyr/module.yml；主仓 modules/cmsis_6/CMakeLists.txt；MD 6.4.2。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对应配套正文 6.4.1—6.4.3。</a:t>
            </a:r>
          </a:p>
          <a:p>
            <a:r>
              <a:t>仅缺包时在 UCRT64 执行。west list 显示当前来源、固定版本和落点，update 才下载；准备完成的环境跳过这一步。</a:t>
            </a:r>
          </a:p>
          <a:p>
            <a:r>
              <a:t>15-fetch-cmsis-if-missing.txt；本清单 revision=1c1840af7a7e757d6e2fec3ddb0e5ce0dfcc93c8；不会按BOARD求解全部依赖。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D09EFEC-A256-4351-8E97-7435A86F5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D30F8346-A555-47D3-A2E1-BCC543F086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D9FFD06F-FE24-49EC-9194-56ADD2F78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AC000BD-3078-4113-9B52-8F4DA1A5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85CD6595-793E-4B5C-9A13-3CF885E932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2BB22602-462A-4044-8815-D4D7F3722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5E035DCF-B384-44F7-973A-284F6383E9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2F8291D3-BA4E-489C-A187-B06D1729689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2399FC7-8945-4254-8CD9-64E421CA4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03ED6C9-C27E-4C55-88EE-9831E748E9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7671C1C-5025-4D29-A360-8BBD2A753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19D3DCD-7507-4683-89CE-F3D231C8A3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29CC60F-30D0-415E-A4D7-746AF5409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F7B7778-9448-437B-B094-C6639BF64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F948DB7-9F5D-43FA-9D72-7781FF732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CEF84B3-3722-466D-9F8E-F0D0F0232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92C5F1C-70E0-452B-AA10-A78FBC564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CBF1C765-0A06-4D66-81FC-1D72786D3F0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EB02EDE-51E1-4905-A67C-7B329CBCA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E27F931-76AC-4AF7-AD13-3C7C3CDE9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7671C1C-5025-4D29-A360-8BBD2A753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19D3DCD-7507-4683-89CE-F3D231C8A3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29CC60F-30D0-415E-A4D7-746AF5409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F7B7778-9448-437B-B094-C6639BF64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F948DB7-9F5D-43FA-9D72-7781FF732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CEF84B3-3722-466D-9F8E-F0D0F0232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92C5F1C-70E0-452B-AA10-A78FBC564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CBF1C765-0A06-4D66-81FC-1D72786D3F0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EB02EDE-51E1-4905-A67C-7B329CBCA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E27F931-76AC-4AF7-AD13-3C7C3CDE9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5D4413F-A4F9-4B51-AFFD-82864AF6C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4FD08B3B-12D0-41D2-8648-0D07906865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5FCE3EA2-4F10-45DA-B0F9-258DCBCC0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E38891C-D6D9-446A-AA0F-2E808D94E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5EE30FA7-471B-4F2E-909C-EB3A4775D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AE93EF2-48DD-4353-892F-7737D8D05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3B0FB94-361B-4E83-BDD7-72F259E41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9C0F9B30-F258-4C66-9BAE-8E6CCCBEB1C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39B7AF1-5458-40DC-A2A4-C3E940EA6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53A861C-2F71-4C8D-BA0B-22424FAA98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B36E5FB-B942-4F81-863B-14311E9F4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1AF2B295-21D1-4984-B654-FBF7CAE9D6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3D17426-DC83-4E87-92D1-C42F39DE5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AA50F02-7FF7-4768-AAE3-6D461A8E7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F8FD79E2-AB77-4BDF-8B79-A0298C132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C1A1B3CA-10A8-42A1-A449-401A8E29B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5583886-4F04-4841-AF3F-4DA161B10C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6EC602EA-9C36-498E-96AE-A097FAF5590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A2BC890-15D0-44AE-9D82-5FBCB33AC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0CC2291-CE8F-48FC-89EB-53256BB328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C598CAA-C856-4FEE-A978-34E621BAF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0829FEA2-767A-4E79-B26D-7FA7A3B10C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29C698EE-F7BC-472F-B0AE-719B18E88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2E4F364-3711-43C3-B07A-3F13F1CEE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05597017-FD42-445A-A879-4A45D335B5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60DD197A-8666-4022-AE39-C778E2BD7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C08BA7AF-E378-4A60-8E19-7FA3870E81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965E0796-E8CF-4125-A4B7-51245344049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D840989-4046-4F67-8519-5CAC5F92F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271EAF3-957C-48C2-B0E2-F32C7C847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2F728ED-C843-4E3D-B8CB-B19A2035F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211DF1EC-56E5-4C33-849E-1A55A3202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304FB50E-9440-418F-AEBC-C0C082EE8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9D4E580-EA8C-4260-AE81-4E793E49D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BFF1DF06-173D-4620-9B12-18F05E5C37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5EAD1C6-4DD4-4A65-9B8A-B62315FEC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6C3A2051-86A6-450D-93E1-4CA1394BB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7CFCC3E3-BC99-4A46-9206-9E90D8F7444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8478AD7-3F2E-4904-BBBE-EC7CFCDA2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358C676-B293-45B8-ADCE-18F7963447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03B24EA-8579-4A7F-BFCD-E4FFA8879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B6F869A-59A0-43E8-9F21-B67A7103F4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E672EB19-2E93-4233-9A53-912C17E7B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B0D8C91-F5E1-41E0-84C6-ECDE1D0A1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128322EB-D798-4141-BA0A-3447C6565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7D8381E-58A3-4F99-B440-89507AF6B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0ECA5C48-DFF3-4541-8AD8-65F68C6FCB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7263B4A2-54D7-4E0A-9501-D01FF940171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4B62F69-FD43-4A6B-B9C0-11F83020B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FD3B2FF7-D4E7-4EEC-933D-DD35C92C4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9AA2868-E8E9-49AB-8A3B-B4FC708ED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80266387-2782-4A3F-9870-F042E2FBD6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2BF6B388-0C1C-4EA3-83B8-6F2F71CD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426D79A-BF0D-4F26-8411-4E82B2340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9CCAC56B-7E9F-4B09-9ED0-A3A6E5A276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DE1107C-8FD5-461A-8F34-B7D2C96F9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56D141E0-5B82-4D36-A319-BE6154D3D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2CD4BFC1-10CD-4521-83BA-59605611932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F454303-BC41-44C1-AE26-65F1721CE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35CEBDC-4BFF-405F-B2FA-1E7F2185B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3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15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_rels/slideMaster4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21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/Relationships>
</file>

<file path=ppt/slideMasters/_rels/slideMaster5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27.xml"/><Relationship Id="rId7" Type="http://schemas.openxmlformats.org/officeDocument/2006/relationships/theme" Target="../theme/theme5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/Relationships>
</file>

<file path=ppt/slideMasters/_rels/slideMaster6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3.xml"/><Relationship Id="rId7" Type="http://schemas.openxmlformats.org/officeDocument/2006/relationships/theme" Target="../theme/theme6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4.xml"/></Relationships>
</file>

<file path=ppt/slideMasters/_rels/slideMaster7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9.xml"/><Relationship Id="rId7" Type="http://schemas.openxmlformats.org/officeDocument/2006/relationships/theme" Target="../theme/theme7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5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0.xml"/></Relationships>
</file>

<file path=ppt/slideMasters/_rels/slideMaster8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45.xml"/><Relationship Id="rId7" Type="http://schemas.openxmlformats.org/officeDocument/2006/relationships/theme" Target="../theme/theme8.xml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6.xml"/></Relationships>
</file>

<file path=ppt/slideMasters/_rels/slideMaster9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51.xml"/><Relationship Id="rId7" Type="http://schemas.openxmlformats.org/officeDocument/2006/relationships/theme" Target="../theme/theme9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2.xml"/></Relationships>
</file>

<file path=ppt/slideMasters/_rels/slideMaster10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 rot="0"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 wrap="none">
            <a:noAutofit/>
          </a:bodyPr>
          <a:lstStyle>
            <a:defPPr algn="ctr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 rot="0"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 wrap="none">
            <a:noAutofit/>
          </a:bodyPr>
          <a:lstStyle>
            <a:defPPr algn="ctr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 rot="0"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 wrap="none">
            <a:noAutofit/>
          </a:bodyPr>
          <a:lstStyle>
            <a:defPPr algn="ctr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 rot="0"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 wrap="none">
            <a:noAutofit/>
          </a:bodyPr>
          <a:lstStyle>
            <a:defPPr algn="ctr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 rot="0"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 wrap="none">
            <a:noAutofit/>
          </a:bodyPr>
          <a:lstStyle>
            <a:defPPr algn="ctr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 rot="0"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 wrap="none">
            <a:noAutofit/>
          </a:bodyPr>
          <a:lstStyle>
            <a:defPPr algn="ctr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 rot="0"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 wrap="none">
            <a:noAutofit/>
          </a:bodyPr>
          <a:lstStyle>
            <a:defPPr algn="ctr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 rot="0"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 wrap="none">
            <a:noAutofit/>
          </a:bodyPr>
          <a:lstStyle>
            <a:defPPr algn="ctr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 rot="0"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 wrap="none">
            <a:noAutofit/>
          </a:bodyPr>
          <a:lstStyle>
            <a:defPPr algn="ctr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4">
            <a:extLst>
              <a:ext uri="{FF2B5EF4-FFF2-40B4-BE49-F238E27FC236}">
                <a16:creationId xmlns:a16="http://schemas.microsoft.com/office/drawing/2014/main" id="{F2514CA8-5324-427A-8F58-A1771CD4AD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Footer signature lizhaojun"/>
          <p:cNvSpPr>
            <a:spLocks noGrp="1"/>
          </p:cNvSpPr>
          <p:nvPr/>
        </p:nvSpPr>
        <p:spPr>
          <a:xfrm rot="0"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 wrap="none">
            <a:noAutofit/>
          </a:bodyPr>
          <a:lstStyle>
            <a:defPPr algn="ctr">
              <a:defRPr sz="1350" noProof="1" dirty="0" err="0">
                <a:solidFill>
                  <a:srgbClr val="D4CDE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 err="0">
                <a:solidFill>
                  <a:srgbClr val="D4CD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D4CDE8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model1.xml.rels><?xml version='1.0' encoding='UTF-8' standalone='yes'?>
<Relationships xmlns="http://schemas.openxmlformats.org/package/2006/relationships"><Relationship Id="rIdModelLayout" Type="http://schemas.openxmlformats.org/officeDocument/2006/relationships/slideLayout" Target="../slideLayouts/slideLayout55.xml"/><Relationship Id="rIdModelNotes" Type="http://schemas.openxmlformats.org/officeDocument/2006/relationships/notesSlide" Target="../notesSlides/model1.xml"/><Relationship Id="rIdModelReading" Type="http://schemas.openxmlformats.org/officeDocument/2006/relationships/hyperlink" Target="../P005_Zephyr&#24037;&#31243;&#32452;&#32455;&#19982;&#39537;&#21160;&#27169;&#22411;_Windows.md" TargetMode="External"/></Relationships>
</file>

<file path=ppt/slides/_rels/model2.xml.rels><?xml version='1.0' encoding='UTF-8' standalone='yes'?>
<Relationships xmlns="http://schemas.openxmlformats.org/package/2006/relationships"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2.xml"/><Relationship Id="rIdModelReading" Type="http://schemas.openxmlformats.org/officeDocument/2006/relationships/hyperlink" Target="../P005_Zephyr&#24037;&#31243;&#32452;&#32455;&#19982;&#39537;&#21160;&#27169;&#22411;_Windows.md" TargetMode="External"/></Relationships>
</file>

<file path=ppt/slides/_rels/model3.xml.rels><?xml version='1.0' encoding='UTF-8' standalone='yes'?>
<Relationships xmlns="http://schemas.openxmlformats.org/package/2006/relationships"><Relationship Id="rIdReading" Type="http://schemas.openxmlformats.org/officeDocument/2006/relationships/hyperlink" Target="../P005_Zephyr&#24037;&#31243;&#32452;&#32455;&#19982;&#39537;&#21160;&#27169;&#22411;_Windows.md" TargetMode="External"/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3.xml"/><Relationship Id="rIdModelReading" Type="http://schemas.openxmlformats.org/officeDocument/2006/relationships/hyperlink" Target="../P005_Zephyr&#24037;&#31243;&#32452;&#32455;&#19982;&#39537;&#21160;&#27169;&#22411;_Windows.md" TargetMode="External"/></Relationships>
</file>

<file path=ppt/slides/_rels/model4.xml.rels><?xml version='1.0' encoding='UTF-8' standalone='yes'?>
<Relationships xmlns="http://schemas.openxmlformats.org/package/2006/relationships"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4.xml"/><Relationship Id="rIdModelReading" Type="http://schemas.openxmlformats.org/officeDocument/2006/relationships/hyperlink" Target="../P005_Zephyr&#24037;&#31243;&#32452;&#32455;&#19982;&#39537;&#21160;&#27169;&#22411;_Windows.md" TargetMode="External"/></Relationships>
</file>

<file path=ppt/slides/_rels/model5.xml.rels><?xml version='1.0' encoding='UTF-8' standalone='yes'?>
<Relationships xmlns="http://schemas.openxmlformats.org/package/2006/relationships"><Relationship Id="rIdReading" Type="http://schemas.openxmlformats.org/officeDocument/2006/relationships/hyperlink" Target="../P005_Zephyr&#24037;&#31243;&#32452;&#32455;&#19982;&#39537;&#21160;&#27169;&#22411;_Windows.md" TargetMode="External"/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5.xml"/><Relationship Id="rIdModelReading" Type="http://schemas.openxmlformats.org/officeDocument/2006/relationships/hyperlink" Target="../P005_Zephyr&#24037;&#31243;&#32452;&#32455;&#19982;&#39537;&#21160;&#27169;&#22411;_Windows.md" TargetMode="External"/></Relationships>
</file>

<file path=ppt/slides/_rels/model6.xml.rels><?xml version='1.0' encoding='UTF-8' standalone='yes'?>
<Relationships xmlns="http://schemas.openxmlformats.org/package/2006/relationships"><Relationship Id="rIdReading" Type="http://schemas.openxmlformats.org/officeDocument/2006/relationships/hyperlink" Target="../P005_Zephyr&#24037;&#31243;&#32452;&#32455;&#19982;&#39537;&#21160;&#27169;&#22411;_Windows.md" TargetMode="External"/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6.xml"/><Relationship Id="rIdModelReading" Type="http://schemas.openxmlformats.org/officeDocument/2006/relationships/hyperlink" Target="../P005_Zephyr&#24037;&#31243;&#32452;&#32455;&#19982;&#39537;&#21160;&#27169;&#22411;_Windows.md" TargetMode="External"/></Relationships>
</file>

<file path=ppt/slides/_rels/model7.xml.rels><?xml version='1.0' encoding='UTF-8' standalone='yes'?>
<Relationships xmlns="http://schemas.openxmlformats.org/package/2006/relationships"><Relationship Id="rIdReading" Type="http://schemas.openxmlformats.org/officeDocument/2006/relationships/hyperlink" Target="../P005_Zephyr&#24037;&#31243;&#32452;&#32455;&#19982;&#39537;&#21160;&#27169;&#22411;_Windows.md" TargetMode="External"/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7.xml"/><Relationship Id="rIdModelReading" Type="http://schemas.openxmlformats.org/officeDocument/2006/relationships/hyperlink" Target="../P005_Zephyr&#24037;&#31243;&#32452;&#32455;&#19982;&#39537;&#21160;&#27169;&#22411;_Windows.md" TargetMode="External"/></Relationships>
</file>

<file path=ppt/slides/_rels/model8.xml.rels><?xml version='1.0' encoding='UTF-8' standalone='yes'?>
<Relationships xmlns="http://schemas.openxmlformats.org/package/2006/relationships"><Relationship Id="rIdReading" Type="http://schemas.openxmlformats.org/officeDocument/2006/relationships/hyperlink" Target="../P005_Zephyr&#24037;&#31243;&#32452;&#32455;&#19982;&#39537;&#21160;&#27169;&#22411;_Windows.md" TargetMode="External"/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8.xml"/><Relationship Id="rIdModelReading" Type="http://schemas.openxmlformats.org/officeDocument/2006/relationships/hyperlink" Target="../P005_Zephyr&#24037;&#31243;&#32452;&#32455;&#19982;&#39537;&#21160;&#27169;&#22411;_Windows.md" TargetMode="External"/></Relationships>
</file>

<file path=ppt/slides/_rels/model9.xml.rels><?xml version='1.0' encoding='UTF-8' standalone='yes'?>
<Relationships xmlns="http://schemas.openxmlformats.org/package/2006/relationships"><Relationship Id="rIdReading" Type="http://schemas.openxmlformats.org/officeDocument/2006/relationships/hyperlink" Target="../P005_Zephyr&#24037;&#31243;&#32452;&#32455;&#19982;&#39537;&#21160;&#27169;&#22411;_Windows.md" TargetMode="External"/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9.xml"/><Relationship Id="rIdModelReading" Type="http://schemas.openxmlformats.org/officeDocument/2006/relationships/hyperlink" Target="../P005_Zephyr&#24037;&#31243;&#32452;&#32455;&#19982;&#39537;&#21160;&#27169;&#22411;_Windows.md" TargetMode="External"/></Relationships>
</file>

<file path=ppt/slides/_rels/model10.xml.rels><?xml version='1.0' encoding='UTF-8' standalone='yes'?>
<Relationships xmlns="http://schemas.openxmlformats.org/package/2006/relationships"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10.xml"/><Relationship Id="rIdModelReading" Type="http://schemas.openxmlformats.org/officeDocument/2006/relationships/hyperlink" Target="../P005_Zephyr&#24037;&#31243;&#32452;&#32455;&#19982;&#39537;&#21160;&#27169;&#22411;_Windows.md" TargetMode="External"/></Relationships>
</file>

<file path=ppt/slides/_rels/model11.xml.rels><?xml version='1.0' encoding='UTF-8' standalone='yes'?>
<Relationships xmlns="http://schemas.openxmlformats.org/package/2006/relationships"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11.xml"/><Relationship Id="rIdModelReading" Type="http://schemas.openxmlformats.org/officeDocument/2006/relationships/hyperlink" Target="../P005_Zephyr&#24037;&#31243;&#32452;&#32455;&#19982;&#39537;&#21160;&#27169;&#22411;_Windows.md" TargetMode="External"/></Relationships>
</file>

<file path=ppt/slides/_rels/model12.xml.rels><?xml version='1.0' encoding='UTF-8' standalone='yes'?>
<Relationships xmlns="http://schemas.openxmlformats.org/package/2006/relationships"><Relationship Id="rIdReading" Type="http://schemas.openxmlformats.org/officeDocument/2006/relationships/hyperlink" Target="../P005_Zephyr&#24037;&#31243;&#32452;&#32455;&#19982;&#39537;&#21160;&#27169;&#22411;_Windows.md" TargetMode="External"/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12.xml"/><Relationship Id="rIdModelReading" Type="http://schemas.openxmlformats.org/officeDocument/2006/relationships/hyperlink" Target="../P005_Zephyr&#24037;&#31243;&#32452;&#32455;&#19982;&#39537;&#21160;&#27169;&#22411;_Windows.md" TargetMode="External"/></Relationships>
</file>

<file path=ppt/slides/_rels/model13.xml.rels><?xml version='1.0' encoding='UTF-8' standalone='yes'?>
<Relationships xmlns="http://schemas.openxmlformats.org/package/2006/relationships"><Relationship Id="rIdReading" Type="http://schemas.openxmlformats.org/officeDocument/2006/relationships/hyperlink" Target="../P005_Zephyr&#24037;&#31243;&#32452;&#32455;&#19982;&#39537;&#21160;&#27169;&#22411;_Windows.md" TargetMode="External"/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13.xml"/><Relationship Id="rIdModelReading" Type="http://schemas.openxmlformats.org/officeDocument/2006/relationships/hyperlink" Target="../P005_Zephyr&#24037;&#31243;&#32452;&#32455;&#19982;&#39537;&#21160;&#27169;&#22411;_Windows.md" TargetMode="External"/></Relationships>
</file>

<file path=ppt/slides/_rels/model14.xml.rels><?xml version='1.0' encoding='UTF-8' standalone='yes'?>
<Relationships xmlns="http://schemas.openxmlformats.org/package/2006/relationships"><Relationship Id="rIdReading" Type="http://schemas.openxmlformats.org/officeDocument/2006/relationships/hyperlink" Target="../P005_Zephyr&#24037;&#31243;&#32452;&#32455;&#19982;&#39537;&#21160;&#27169;&#22411;_Windows.md" TargetMode="External"/><Relationship Id="rIdCommand" Type="http://schemas.openxmlformats.org/officeDocument/2006/relationships/hyperlink" Target="../commands/P005_Windows/build-baseline-west.txt" TargetMode="External"/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14.xml"/><Relationship Id="rIdModelReading" Type="http://schemas.openxmlformats.org/officeDocument/2006/relationships/hyperlink" Target="../P005_Zephyr&#24037;&#31243;&#32452;&#32455;&#19982;&#39537;&#21160;&#27169;&#22411;_Windows.md" TargetMode="External"/></Relationships>
</file>

<file path=ppt/slides/_rels/model15.xml.rels><?xml version='1.0' encoding='UTF-8' standalone='yes'?>
<Relationships xmlns="http://schemas.openxmlformats.org/package/2006/relationships"><Relationship Id="rIdReading" Type="http://schemas.openxmlformats.org/officeDocument/2006/relationships/hyperlink" Target="../P005_Zephyr&#24037;&#31243;&#32452;&#32455;&#19982;&#39537;&#21160;&#27169;&#22411;_Windows.md" TargetMode="External"/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15.xml"/><Relationship Id="rIdModelReading" Type="http://schemas.openxmlformats.org/officeDocument/2006/relationships/hyperlink" Target="../P005_Zephyr&#24037;&#31243;&#32452;&#32455;&#19982;&#39537;&#21160;&#27169;&#22411;_Windows.md" TargetMode="External"/></Relationships>
</file>

<file path=ppt/slides/_rels/model16.xml.rels><?xml version='1.0' encoding='UTF-8' standalone='yes'?>
<Relationships xmlns="http://schemas.openxmlformats.org/package/2006/relationships"><Relationship Id="rIdReading" Type="http://schemas.openxmlformats.org/officeDocument/2006/relationships/hyperlink" Target="../P005_Zephyr&#24037;&#31243;&#32452;&#32455;&#19982;&#39537;&#21160;&#27169;&#22411;_Windows.md" TargetMode="External"/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16.xml"/><Relationship Id="rIdModelReading" Type="http://schemas.openxmlformats.org/officeDocument/2006/relationships/hyperlink" Target="../P005_Zephyr&#24037;&#31243;&#32452;&#32455;&#19982;&#39537;&#21160;&#27169;&#22411;_Windows.md" TargetMode="External"/></Relationships>
</file>

<file path=ppt/slides/_rels/model17.xml.rels><?xml version='1.0' encoding='UTF-8' standalone='yes'?>
<Relationships xmlns="http://schemas.openxmlformats.org/package/2006/relationships"><Relationship Id="rIdReading" Type="http://schemas.openxmlformats.org/officeDocument/2006/relationships/hyperlink" Target="../P005_Zephyr&#24037;&#31243;&#32452;&#32455;&#19982;&#39537;&#21160;&#27169;&#22411;_Windows.md" TargetMode="External"/><Relationship Id="rIdCommand" Type="http://schemas.openxmlformats.org/officeDocument/2006/relationships/hyperlink" Target="../commands/P005_Windows/build-baseline-west.txt" TargetMode="External"/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17.xml"/><Relationship Id="rIdModelReading" Type="http://schemas.openxmlformats.org/officeDocument/2006/relationships/hyperlink" Target="../P005_Zephyr&#24037;&#31243;&#32452;&#32455;&#19982;&#39537;&#21160;&#27169;&#22411;_Windows.md" TargetMode="External"/></Relationships>
</file>

<file path=ppt/slides/_rels/model18.xml.rels><?xml version='1.0' encoding='UTF-8' standalone='yes'?>
<Relationships xmlns="http://schemas.openxmlformats.org/package/2006/relationships"><Relationship Id="rIdReading" Type="http://schemas.openxmlformats.org/officeDocument/2006/relationships/hyperlink" Target="../P005_Zephyr&#24037;&#31243;&#32452;&#32455;&#19982;&#39537;&#21160;&#27169;&#22411;_Windows.md" TargetMode="External"/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18.xml"/><Relationship Id="rIdModelReading" Type="http://schemas.openxmlformats.org/officeDocument/2006/relationships/hyperlink" Target="../P005_Zephyr&#24037;&#31243;&#32452;&#32455;&#19982;&#39537;&#21160;&#27169;&#22411;_Windows.md" TargetMode="External"/></Relationships>
</file>

<file path=ppt/slides/_rels/model19.xml.rels><?xml version='1.0' encoding='UTF-8' standalone='yes'?>
<Relationships xmlns="http://schemas.openxmlformats.org/package/2006/relationships"><Relationship Id="rIdReading" Type="http://schemas.openxmlformats.org/officeDocument/2006/relationships/hyperlink" Target="../P005_Zephyr&#24037;&#31243;&#32452;&#32455;&#19982;&#39537;&#21160;&#27169;&#22411;_Windows.md" TargetMode="External"/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19.xml"/><Relationship Id="rIdModelReading" Type="http://schemas.openxmlformats.org/officeDocument/2006/relationships/hyperlink" Target="../P005_Zephyr&#24037;&#31243;&#32452;&#32455;&#19982;&#39537;&#21160;&#27169;&#22411;_Windows.md" TargetMode="External"/></Relationships>
</file>

<file path=ppt/slides/_rels/model20.xml.rels><?xml version='1.0' encoding='UTF-8' standalone='yes'?>
<Relationships xmlns="http://schemas.openxmlformats.org/package/2006/relationships"><Relationship Id="rIdReading" Type="http://schemas.openxmlformats.org/officeDocument/2006/relationships/hyperlink" Target="../P005_Zephyr&#24037;&#31243;&#32452;&#32455;&#19982;&#39537;&#21160;&#27169;&#22411;_Windows.md" TargetMode="External"/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20.xml"/><Relationship Id="rIdModelReading" Type="http://schemas.openxmlformats.org/officeDocument/2006/relationships/hyperlink" Target="../P005_Zephyr&#24037;&#31243;&#32452;&#32455;&#19982;&#39537;&#21160;&#27169;&#22411;_Windows.md" TargetMode="External"/></Relationships>
</file>

<file path=ppt/slides/_rels/model21.xml.rels><?xml version='1.0' encoding='UTF-8' standalone='yes'?>
<Relationships xmlns="http://schemas.openxmlformats.org/package/2006/relationships"><Relationship Id="rIdReading" Type="http://schemas.openxmlformats.org/officeDocument/2006/relationships/hyperlink" Target="../P005_Zephyr&#24037;&#31243;&#32452;&#32455;&#19982;&#39537;&#21160;&#27169;&#22411;_Windows.md" TargetMode="External"/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21.xml"/><Relationship Id="rIdModelReading" Type="http://schemas.openxmlformats.org/officeDocument/2006/relationships/hyperlink" Target="../P005_Zephyr&#24037;&#31243;&#32452;&#32455;&#19982;&#39537;&#21160;&#27169;&#22411;_Windows.md" TargetMode="External"/></Relationships>
</file>

<file path=ppt/slides/_rels/model22.xml.rels><?xml version='1.0' encoding='UTF-8' standalone='yes'?>
<Relationships xmlns="http://schemas.openxmlformats.org/package/2006/relationships"><Relationship Id="rIdReading" Type="http://schemas.openxmlformats.org/officeDocument/2006/relationships/hyperlink" Target="../P005_Zephyr&#24037;&#31243;&#32452;&#32455;&#19982;&#39537;&#21160;&#27169;&#22411;_Windows.md" TargetMode="External"/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22.xml"/><Relationship Id="rIdModelReading" Type="http://schemas.openxmlformats.org/officeDocument/2006/relationships/hyperlink" Target="../P005_Zephyr&#24037;&#31243;&#32452;&#32455;&#19982;&#39537;&#21160;&#27169;&#22411;_Windows.md" TargetMode="External"/></Relationships>
</file>

<file path=ppt/slides/_rels/model23.xml.rels><?xml version='1.0' encoding='UTF-8' standalone='yes'?>
<Relationships xmlns="http://schemas.openxmlformats.org/package/2006/relationships"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23.xml"/><Relationship Id="rIdModelReading" Type="http://schemas.openxmlformats.org/officeDocument/2006/relationships/hyperlink" Target="../P005_Zephyr&#24037;&#31243;&#32452;&#32455;&#19982;&#39537;&#21160;&#27169;&#22411;_Windows.md" TargetMode="External"/></Relationships>
</file>

<file path=ppt/slides/_rels/model24.xml.rels><?xml version='1.0' encoding='UTF-8' standalone='yes'?>
<Relationships xmlns="http://schemas.openxmlformats.org/package/2006/relationships"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24.xml"/><Relationship Id="rIdModelReading" Type="http://schemas.openxmlformats.org/officeDocument/2006/relationships/hyperlink" Target="../P005_Zephyr&#24037;&#31243;&#32452;&#32455;&#19982;&#39537;&#21160;&#27169;&#22411;_Windows.md" TargetMode="External"/></Relationships>
</file>

<file path=ppt/slides/_rels/model25.xml.rels><?xml version='1.0' encoding='UTF-8' standalone='yes'?>
<Relationships xmlns="http://schemas.openxmlformats.org/package/2006/relationships"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25.xml"/><Relationship Id="rIdModelReading" Type="http://schemas.openxmlformats.org/officeDocument/2006/relationships/hyperlink" Target="../P005_Zephyr&#24037;&#31243;&#32452;&#32455;&#19982;&#39537;&#21160;&#27169;&#22411;_Windows.md" TargetMode="External"/></Relationships>
</file>

<file path=ppt/slides/_rels/model26.xml.rels><?xml version='1.0' encoding='UTF-8' standalone='yes'?>
<Relationships xmlns="http://schemas.openxmlformats.org/package/2006/relationships"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26.xml"/><Relationship Id="rIdModelReading" Type="http://schemas.openxmlformats.org/officeDocument/2006/relationships/hyperlink" Target="../P005_Zephyr&#24037;&#31243;&#32452;&#32455;&#19982;&#39537;&#21160;&#27169;&#22411;_Windows.md" TargetMode="External"/></Relationships>
</file>

<file path=ppt/slides/_rels/model27.xml.rels><?xml version='1.0' encoding='UTF-8' standalone='yes'?>
<Relationships xmlns="http://schemas.openxmlformats.org/package/2006/relationships"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27.xml"/><Relationship Id="rIdModelReading" Type="http://schemas.openxmlformats.org/officeDocument/2006/relationships/hyperlink" Target="../P005_Zephyr&#24037;&#31243;&#32452;&#32455;&#19982;&#39537;&#21160;&#27169;&#22411;_Windows.md" TargetMode="External"/></Relationships>
</file>

<file path=ppt/slides/_rels/model28.xml.rels><?xml version='1.0' encoding='UTF-8' standalone='yes'?>
<Relationships xmlns="http://schemas.openxmlformats.org/package/2006/relationships"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28.xml"/><Relationship Id="rIdModelReading" Type="http://schemas.openxmlformats.org/officeDocument/2006/relationships/hyperlink" Target="../P005_Zephyr&#24037;&#31243;&#32452;&#32455;&#19982;&#39537;&#21160;&#27169;&#22411;_Windows.md" TargetMode="External"/></Relationships>
</file>

<file path=ppt/slides/_rels/model29.xml.rels><?xml version='1.0' encoding='UTF-8' standalone='yes'?>
<Relationships xmlns="http://schemas.openxmlformats.org/package/2006/relationships"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29.xml"/><Relationship Id="rIdModelReading" Type="http://schemas.openxmlformats.org/officeDocument/2006/relationships/hyperlink" Target="../P005_Zephyr&#24037;&#31243;&#32452;&#32455;&#19982;&#39537;&#21160;&#27169;&#22411;_Windows.md" TargetMode="External"/></Relationships>
</file>

<file path=ppt/slides/_rels/model30.xml.rels><?xml version='1.0' encoding='UTF-8' standalone='yes'?>
<Relationships xmlns="http://schemas.openxmlformats.org/package/2006/relationships"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30.xml"/><Relationship Id="rIdModelReading" Type="http://schemas.openxmlformats.org/officeDocument/2006/relationships/hyperlink" Target="../P005_Zephyr&#24037;&#31243;&#32452;&#32455;&#19982;&#39537;&#21160;&#27169;&#22411;_Windows.md" TargetMode="External"/></Relationships>
</file>

<file path=ppt/slides/_rels/model31.xml.rels><?xml version='1.0' encoding='UTF-8' standalone='yes'?>
<Relationships xmlns="http://schemas.openxmlformats.org/package/2006/relationships"><Relationship Id="rIdReading" Type="http://schemas.openxmlformats.org/officeDocument/2006/relationships/hyperlink" Target="../P005_Zephyr&#24037;&#31243;&#32452;&#32455;&#19982;&#39537;&#21160;&#27169;&#22411;_Windows.md" TargetMode="External"/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31.xml"/><Relationship Id="rIdModelReading" Type="http://schemas.openxmlformats.org/officeDocument/2006/relationships/hyperlink" Target="../P005_Zephyr&#24037;&#31243;&#32452;&#32455;&#19982;&#39537;&#21160;&#27169;&#22411;_Windows.md" TargetMode="External"/></Relationships>
</file>

<file path=ppt/slides/_rels/model32.xml.rels><?xml version='1.0' encoding='UTF-8' standalone='yes'?>
<Relationships xmlns="http://schemas.openxmlformats.org/package/2006/relationships"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32.xml"/><Relationship Id="rIdModelReading" Type="http://schemas.openxmlformats.org/officeDocument/2006/relationships/hyperlink" Target="../P005_Zephyr&#24037;&#31243;&#32452;&#32455;&#19982;&#39537;&#21160;&#27169;&#22411;_Windows.md" TargetMode="External"/></Relationships>
</file>

<file path=ppt/slides/_rels/model33.xml.rels><?xml version='1.0' encoding='UTF-8' standalone='yes'?>
<Relationships xmlns="http://schemas.openxmlformats.org/package/2006/relationships"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33.xml"/><Relationship Id="rIdModelReading" Type="http://schemas.openxmlformats.org/officeDocument/2006/relationships/hyperlink" Target="../P005_Zephyr&#24037;&#31243;&#32452;&#32455;&#19982;&#39537;&#21160;&#27169;&#22411;_Windows.md" TargetMode="External"/></Relationships>
</file>

<file path=ppt/slides/_rels/model34.xml.rels><?xml version='1.0' encoding='UTF-8' standalone='yes'?>
<Relationships xmlns="http://schemas.openxmlformats.org/package/2006/relationships"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34.xml"/><Relationship Id="rIdModelReading" Type="http://schemas.openxmlformats.org/officeDocument/2006/relationships/hyperlink" Target="../P005_Zephyr&#24037;&#31243;&#32452;&#32455;&#19982;&#39537;&#21160;&#27169;&#22411;_Windows.md" TargetMode="External"/></Relationships>
</file>

<file path=ppt/slides/_rels/model35.xml.rels><?xml version='1.0' encoding='UTF-8' standalone='yes'?>
<Relationships xmlns="http://schemas.openxmlformats.org/package/2006/relationships"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35.xml"/><Relationship Id="rIdModelReading" Type="http://schemas.openxmlformats.org/officeDocument/2006/relationships/hyperlink" Target="../P005_Zephyr&#24037;&#31243;&#32452;&#32455;&#19982;&#39537;&#21160;&#27169;&#22411;_Windows.md" TargetMode="External"/></Relationships>
</file>

<file path=ppt/slides/_rels/model36.xml.rels><?xml version='1.0' encoding='UTF-8' standalone='yes'?>
<Relationships xmlns="http://schemas.openxmlformats.org/package/2006/relationships"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36.xml"/><Relationship Id="rIdModelReading" Type="http://schemas.openxmlformats.org/officeDocument/2006/relationships/hyperlink" Target="../P005_Zephyr&#24037;&#31243;&#32452;&#32455;&#19982;&#39537;&#21160;&#27169;&#22411;_Windows.md" TargetMode="External"/></Relationships>
</file>

<file path=ppt/slides/_rels/model37.xml.rels><?xml version='1.0' encoding='UTF-8' standalone='yes'?>
<Relationships xmlns="http://schemas.openxmlformats.org/package/2006/relationships"><Relationship Id="rIdReading" Type="http://schemas.openxmlformats.org/officeDocument/2006/relationships/hyperlink" Target="../P005_Zephyr&#24037;&#31243;&#32452;&#32455;&#19982;&#39537;&#21160;&#27169;&#22411;_Windows.md" TargetMode="External"/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37.xml"/><Relationship Id="rIdModelReading" Type="http://schemas.openxmlformats.org/officeDocument/2006/relationships/hyperlink" Target="../P005_Zephyr&#24037;&#31243;&#32452;&#32455;&#19982;&#39537;&#21160;&#27169;&#22411;_Windows.md" TargetMode="External"/></Relationships>
</file>

<file path=ppt/slides/_rels/model38.xml.rels><?xml version='1.0' encoding='UTF-8' standalone='yes'?>
<Relationships xmlns="http://schemas.openxmlformats.org/package/2006/relationships"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38.xml"/><Relationship Id="rIdModelReading" Type="http://schemas.openxmlformats.org/officeDocument/2006/relationships/hyperlink" Target="../P005_Zephyr&#24037;&#31243;&#32452;&#32455;&#19982;&#39537;&#21160;&#27169;&#22411;_Windows.md" TargetMode="External"/></Relationships>
</file>

<file path=ppt/slides/_rels/model39.xml.rels><?xml version='1.0' encoding='UTF-8' standalone='yes'?>
<Relationships xmlns="http://schemas.openxmlformats.org/package/2006/relationships"><Relationship Id="rIdReading" Type="http://schemas.openxmlformats.org/officeDocument/2006/relationships/hyperlink" Target="../P005_Zephyr&#24037;&#31243;&#32452;&#32455;&#19982;&#39537;&#21160;&#27169;&#22411;_Windows.md" TargetMode="External"/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39.xml"/><Relationship Id="rIdModelReading" Type="http://schemas.openxmlformats.org/officeDocument/2006/relationships/hyperlink" Target="../P005_Zephyr&#24037;&#31243;&#32452;&#32455;&#19982;&#39537;&#21160;&#27169;&#22411;_Windows.md" TargetMode="External"/></Relationships>
</file>

<file path=ppt/slides/_rels/model40.xml.rels><?xml version='1.0' encoding='UTF-8' standalone='yes'?>
<Relationships xmlns="http://schemas.openxmlformats.org/package/2006/relationships"><Relationship Id="rIdReading" Type="http://schemas.openxmlformats.org/officeDocument/2006/relationships/hyperlink" Target="../P005_Zephyr&#24037;&#31243;&#32452;&#32455;&#19982;&#39537;&#21160;&#27169;&#22411;_Windows.md" TargetMode="External"/><Relationship Id="rIdCommand" Type="http://schemas.openxmlformats.org/officeDocument/2006/relationships/hyperlink" Target="../commands/P005_Windows/trace-baseline-build.txt" TargetMode="External"/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40.xml"/><Relationship Id="rIdModelReading" Type="http://schemas.openxmlformats.org/officeDocument/2006/relationships/hyperlink" Target="../P005_Zephyr&#24037;&#31243;&#32452;&#32455;&#19982;&#39537;&#21160;&#27169;&#22411;_Windows.md" TargetMode="External"/></Relationships>
</file>

<file path=ppt/slides/_rels/model41.xml.rels><?xml version='1.0' encoding='UTF-8' standalone='yes'?>
<Relationships xmlns="http://schemas.openxmlformats.org/package/2006/relationships"><Relationship Id="rIdReading" Type="http://schemas.openxmlformats.org/officeDocument/2006/relationships/hyperlink" Target="../P005_Zephyr&#24037;&#31243;&#32452;&#32455;&#19982;&#39537;&#21160;&#27169;&#22411;_Windows.md" TargetMode="External"/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41.xml"/><Relationship Id="rIdModelReading" Type="http://schemas.openxmlformats.org/officeDocument/2006/relationships/hyperlink" Target="../P005_Zephyr&#24037;&#31243;&#32452;&#32455;&#19982;&#39537;&#21160;&#27169;&#22411;_Windows.md" TargetMode="External"/></Relationships>
</file>

<file path=ppt/slides/_rels/model42.xml.rels><?xml version='1.0' encoding='UTF-8' standalone='yes'?>
<Relationships xmlns="http://schemas.openxmlformats.org/package/2006/relationships"><Relationship Id="rIdReading" Type="http://schemas.openxmlformats.org/officeDocument/2006/relationships/hyperlink" Target="../P005_Zephyr&#24037;&#31243;&#32452;&#32455;&#19982;&#39537;&#21160;&#27169;&#22411;_Windows.md" TargetMode="External"/><Relationship Id="rIdCommand" Type="http://schemas.openxmlformats.org/officeDocument/2006/relationships/hyperlink" Target="../commands/P004_Windows/fetch-cmsis-if-missing.txt" TargetMode="External"/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42.xml"/><Relationship Id="rIdModelReading" Type="http://schemas.openxmlformats.org/officeDocument/2006/relationships/hyperlink" Target="../P005_Zephyr&#24037;&#31243;&#32452;&#32455;&#19982;&#39537;&#21160;&#27169;&#22411;_Windows.md" TargetMode="External"/></Relationships>
</file>

<file path=ppt/slides/model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647700" y="914400"/>
            <a:ext cx="19050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0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180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rPr>
              <a:t>P005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952625"/>
            <a:ext cx="7572375" cy="1666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Zephyr 工程组织</a:t>
            </a:r>
          </a:p>
          <a:p>
            <a:pPr>
              <a:def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与驱动模型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47700" y="4248150"/>
            <a:ext cx="7334250" cy="666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25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225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rPr>
              <a:t>Windows x64  UCRT64 实操教程</a:t>
            </a:r>
          </a:p>
        </p:txBody>
      </p:sp>
      <p:sp>
        <p:nvSpPr>
          <p:cNvPr id="5" name="Presenter lizhaojun"/>
          <p:cNvSpPr>
            <a:spLocks noGrp="1"/>
          </p:cNvSpPr>
          <p:nvPr/>
        </p:nvSpPr>
        <p:spPr>
          <a:xfrm>
            <a:off x="609600" y="4972050"/>
            <a:ext cx="5334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2025">
                <a:solidFill>
                  <a:srgbClr val="C4B7E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>
                <a:solidFill>
                  <a:srgbClr val="C4B7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C4B7E0"/>
                </a:solidFill>
                <a:latin typeface="Microsoft YaHei"/>
                <a:ea typeface="Microsoft YaHei"/>
                <a:cs typeface="Microsoft YaHei"/>
              </a:rPr>
              <a:t>主讲人：lizhaojun</a:t>
            </a:r>
          </a:p>
        </p:txBody>
      </p:sp>
    </p:spTree>
  </p:cSld>
  <p:clrMapOvr>
    <a:masterClrMapping/>
  </p:clrMapOvr>
</p:sld>
</file>

<file path=ppt/slides/model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从官方工程理解驱动怎样连接具体硬件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P005 · 工程组织、配置与驱动模型</a:t>
            </a:r>
          </a:p>
        </p:txBody>
      </p:sp>
      <p:sp>
        <p:nvSpPr>
          <p:cNvPr id="4" name="Body 0"/>
          <p:cNvSpPr>
            <a:spLocks noGrp="1"/>
          </p:cNvSpPr>
          <p:nvPr/>
        </p:nvSpPr>
        <p:spPr>
          <a:xfrm>
            <a:off x="609600" y="177165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沿同一份 hello_world 固件选择应用与 mps2/an386，找到架构、SoC、板配置和 CMSDK 外设驱动各自的位置。</a:t>
            </a:r>
          </a:p>
        </p:txBody>
      </p:sp>
      <p:sp>
        <p:nvSpPr>
          <p:cNvPr id="5" name="Body 1"/>
          <p:cNvSpPr>
            <a:spLocks noGrp="1"/>
          </p:cNvSpPr>
          <p:nvPr/>
        </p:nvSpPr>
        <p:spPr>
          <a:xfrm>
            <a:off x="609600" y="273558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先区分标准 UART 接口与具体 IP 实现，再追 DTS、Kconfig、板 defconfig、应用配置、CMake、生成头与设备实例，直到真正读写寄存器。</a:t>
            </a:r>
          </a:p>
        </p:txBody>
      </p:sp>
      <p:sp>
        <p:nvSpPr>
          <p:cNvPr id="6" name="Body 2"/>
          <p:cNvSpPr>
            <a:spLocks noGrp="1"/>
          </p:cNvSpPr>
          <p:nvPr/>
        </p:nvSpPr>
        <p:spPr>
          <a:xfrm>
            <a:off x="609600" y="369951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读完后再迁移到 HC32：我们已经能判断哪些接口可复用、哪些实现需要补齐，以及为什么选择外部 DDL。</a:t>
            </a:r>
          </a:p>
        </p:txBody>
      </p:sp>
      <p:sp>
        <p:nvSpPr>
          <p:cNvPr id="7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ea typeface="Microsoft YaHei"/>
                <a:hlinkClick r:id="rIdModelReading"/>
              </a:rPr>
              <a:t>完整解释与操作：配套 Markdown P005</a:t>
            </a:r>
          </a:p>
        </p:txBody>
      </p:sp>
      <p:sp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D231DB10-C444-4D42-9C34-4015FF75C4DC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MPS2 是平台，AN386 是系统目标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P005 · 工程组织、配置与驱动模型</a:t>
            </a:r>
          </a:p>
        </p:txBody>
      </p:sp>
      <p:sp>
        <p:nvSpPr>
          <p:cNvPr id="4" name="Body 0"/>
          <p:cNvSpPr>
            <a:spLocks noGrp="1"/>
          </p:cNvSpPr>
          <p:nvPr/>
        </p:nvSpPr>
        <p:spPr>
          <a:xfrm>
            <a:off x="609600" y="177165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MPS2 是 Arm 的 Cortex-M 原型开发平台，使用 FPGA 装载不同处理器系统设计；板资源承载这些系统。</a:t>
            </a:r>
          </a:p>
        </p:txBody>
      </p:sp>
      <p:sp>
        <p:nvSpPr>
          <p:cNvPr id="5" name="Body 1"/>
          <p:cNvSpPr>
            <a:spLocks noGrp="1"/>
          </p:cNvSpPr>
          <p:nvPr/>
        </p:nvSpPr>
        <p:spPr>
          <a:xfrm>
            <a:off x="609600" y="273558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AN386 对应 Cortex-M4F 系统设计与 FPGA 映像。内核实现 Armv7E-M，属于 Armv7-M 家族；当前目标有浮点和 MPU 能力。</a:t>
            </a:r>
          </a:p>
        </p:txBody>
      </p:sp>
      <p:sp>
        <p:nvSpPr>
          <p:cNvPr id="6" name="Body 2"/>
          <p:cNvSpPr>
            <a:spLocks noGrp="1"/>
          </p:cNvSpPr>
          <p:nvPr/>
        </p:nvSpPr>
        <p:spPr>
          <a:xfrm>
            <a:off x="609600" y="369951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因此 mps2/an386 是一个具体硬件组合。它不能简化成一颗叫 MPS2 的固定 MCU，也不能与 Cortex-M3 的 AN385 随意交换。</a:t>
            </a:r>
          </a:p>
        </p:txBody>
      </p:sp>
      <p:sp>
        <p:nvSpPr>
          <p:cNvPr id="7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Reading"/>
              </a:rPr>
              <a:t>完整解释与操作：配套 Markdown P005</a:t>
            </a:r>
          </a:p>
        </p:txBody>
      </p:sp>
      <p:sp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B0E3A678-6D76-452F-AD13-5E74E5E28084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通用接口、具体驱动和板配置各管什么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P005 · 工程组织、配置与驱动模型</a:t>
            </a:r>
          </a:p>
        </p:txBody>
      </p:sp>
      <p:sp>
        <p:nvSpPr>
          <p:cNvPr id="4" name="Body 0"/>
          <p:cNvSpPr>
            <a:spLocks noGrp="1"/>
          </p:cNvSpPr>
          <p:nvPr/>
        </p:nvSpPr>
        <p:spPr>
          <a:xfrm>
            <a:off x="609600" y="177165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应用调用 Zephyr UART 接口；</a:t>
            </a:r>
            <a:r>
              <a:rPr>
                <a:solidFill>
                  <a:srgbClr val="0070C0"/>
                </a:solidFill>
                <a:ea typeface="Microsoft YaHei"/>
              </a:rPr>
              <a:t>uart_cmsdk_apb.c</a:t>
            </a:r>
            <a:r>
              <a:t> 实现 CMSDK APB UART 这一种外设 IP。文件名已经标明硬件类型，它不是所有串口共用的寄存器代码。</a:t>
            </a:r>
          </a:p>
        </p:txBody>
      </p:sp>
      <p:sp>
        <p:nvSpPr>
          <p:cNvPr id="5" name="Body 1"/>
          <p:cNvSpPr>
            <a:spLocks noGrp="1"/>
          </p:cNvSpPr>
          <p:nvPr/>
        </p:nvSpPr>
        <p:spPr>
          <a:xfrm>
            <a:off x="609600" y="273558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MPS2 与 MPS3 使用同一 IP 时复用驱动；各自 DTS 提供基地址、中断和时钟，再生成各自设备实例。配置私有化不要求复制一份驱动。</a:t>
            </a:r>
          </a:p>
        </p:txBody>
      </p:sp>
      <p:sp>
        <p:nvSpPr>
          <p:cNvPr id="6" name="Body 2"/>
          <p:cNvSpPr>
            <a:spLocks noGrp="1"/>
          </p:cNvSpPr>
          <p:nvPr/>
        </p:nvSpPr>
        <p:spPr>
          <a:xfrm>
            <a:off x="609600" y="369951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设备树减少每块板重复硬编码的配置；不同外设的寄存器语义仍需要具体驱动或 HAL 实现。本章继续展开选源和实例链。</a:t>
            </a:r>
          </a:p>
        </p:txBody>
      </p:sp>
      <p:sp>
        <p:nvSpPr>
          <p:cNvPr id="7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ModelReading"/>
              </a:rPr>
              <a:t>完整解释与操作：配套 Markdown P005</a:t>
            </a:r>
          </a:p>
        </p:txBody>
      </p:sp>
      <p:sp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D231DB10-C444-4D42-9C34-4015FF75C4DC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理解顺序与构建输入要接起来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P005 · 工程组织、配置与驱动模型</a:t>
            </a:r>
          </a:p>
        </p:txBody>
      </p:sp>
      <p:sp>
        <p:nvSpPr>
          <p:cNvPr id="4" name="Flow 0"/>
          <p:cNvSpPr>
            <a:spLocks noGrp="1"/>
          </p:cNvSpPr>
          <p:nvPr/>
        </p:nvSpPr>
        <p:spPr>
          <a:xfrm>
            <a:off x="609600" y="1771650"/>
            <a:ext cx="3479800" cy="952500"/>
          </a:xfrm>
          <a:prstGeom prst="rect">
            <a:avLst/>
          </a:prstGeom>
          <a:solidFill>
            <a:srgbClr val="F5F2FA"/>
          </a:solidFill>
          <a:ln w="12383">
            <a:solidFill>
              <a:srgbClr val="7350BC"/>
            </a:solidFill>
          </a:ln>
        </p:spPr>
        <p:txBody>
          <a:bodyPr lIns="95250" tIns="76200" rIns="95250" bIns="76200"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架构 → SoC → 板</a:t>
            </a:r>
          </a:p>
        </p:txBody>
      </p:sp>
      <p:sp>
        <p:nvSpPr>
          <p:cNvPr id="5" name="Arrow 0"/>
          <p:cNvSpPr>
            <a:spLocks noGrp="1"/>
          </p:cNvSpPr>
          <p:nvPr/>
        </p:nvSpPr>
        <p:spPr>
          <a:xfrm>
            <a:off x="4127500" y="2171700"/>
            <a:ext cx="190500" cy="152400"/>
          </a:xfrm>
          <a:prstGeom prst="rightArrow">
            <a:avLst/>
          </a:prstGeom>
          <a:solidFill>
            <a:srgbClr val="7350BC"/>
          </a:solidFill>
          <a:ln w="0">
            <a:noFill/>
          </a:ln>
        </p:spPr>
      </p:sp>
      <p:sp>
        <p:nvSpPr>
          <p:cNvPr id="6" name="Flow 1"/>
          <p:cNvSpPr>
            <a:spLocks noGrp="1"/>
          </p:cNvSpPr>
          <p:nvPr/>
        </p:nvSpPr>
        <p:spPr>
          <a:xfrm>
            <a:off x="4356100" y="1771650"/>
            <a:ext cx="3479800" cy="952500"/>
          </a:xfrm>
          <a:prstGeom prst="rect">
            <a:avLst/>
          </a:prstGeom>
          <a:solidFill>
            <a:srgbClr val="F5F2FA"/>
          </a:solidFill>
          <a:ln w="12383">
            <a:solidFill>
              <a:srgbClr val="7350BC"/>
            </a:solidFill>
          </a:ln>
        </p:spPr>
        <p:txBody>
          <a:bodyPr lIns="95250" tIns="76200" rIns="95250" bIns="76200"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BOARD 选择一致的硬件组合</a:t>
            </a:r>
          </a:p>
        </p:txBody>
      </p:sp>
      <p:sp>
        <p:nvSpPr>
          <p:cNvPr id="7" name="Arrow 1"/>
          <p:cNvSpPr>
            <a:spLocks noGrp="1"/>
          </p:cNvSpPr>
          <p:nvPr/>
        </p:nvSpPr>
        <p:spPr>
          <a:xfrm>
            <a:off x="7874000" y="2171700"/>
            <a:ext cx="190500" cy="152400"/>
          </a:xfrm>
          <a:prstGeom prst="rightArrow">
            <a:avLst/>
          </a:prstGeom>
          <a:solidFill>
            <a:srgbClr val="7350BC"/>
          </a:solidFill>
          <a:ln w="0">
            <a:noFill/>
          </a:ln>
        </p:spPr>
      </p:sp>
      <p:sp>
        <p:nvSpPr>
          <p:cNvPr id="8" name="Flow 2"/>
          <p:cNvSpPr>
            <a:spLocks noGrp="1"/>
          </p:cNvSpPr>
          <p:nvPr/>
        </p:nvSpPr>
        <p:spPr>
          <a:xfrm>
            <a:off x="8102600" y="1771650"/>
            <a:ext cx="3479800" cy="952500"/>
          </a:xfrm>
          <a:prstGeom prst="rect">
            <a:avLst/>
          </a:prstGeom>
          <a:solidFill>
            <a:srgbClr val="F5F2FA"/>
          </a:solidFill>
          <a:ln w="12383">
            <a:solidFill>
              <a:srgbClr val="7350BC"/>
            </a:solidFill>
          </a:ln>
        </p:spPr>
        <p:txBody>
          <a:bodyPr lIns="95250" tIns="76200" rIns="95250" bIns="76200"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应用 + 组件配置 → 固件</a:t>
            </a:r>
          </a:p>
        </p:txBody>
      </p:sp>
      <p:sp>
        <p:nvSpPr>
          <p:cNvPr id="9" name="Body 0"/>
          <p:cNvSpPr>
            <a:spLocks noGrp="1"/>
          </p:cNvSpPr>
          <p:nvPr/>
        </p:nvSpPr>
        <p:spPr>
          <a:xfrm>
            <a:off x="609600" y="2952750"/>
            <a:ext cx="10972800" cy="7421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认识顺序是：CPU 架构 → 芯片或 SoC → 具体板 → 应用 → 组件配置 → 固件。每层都回答上一层还没确定的问题。</a:t>
            </a:r>
          </a:p>
        </p:txBody>
      </p:sp>
      <p:sp>
        <p:nvSpPr>
          <p:cNvPr id="10" name="Body 1"/>
          <p:cNvSpPr>
            <a:spLocks noGrp="1"/>
          </p:cNvSpPr>
          <p:nvPr/>
        </p:nvSpPr>
        <p:spPr>
          <a:xfrm>
            <a:off x="609600" y="3866388"/>
            <a:ext cx="10972800" cy="7421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实际构建通常选择 </a:t>
            </a:r>
            <a:r>
              <a:rPr>
                <a:solidFill>
                  <a:srgbClr val="B84E00"/>
                </a:solidFill>
                <a:ea typeface="Microsoft YaHei"/>
              </a:rPr>
              <a:t>BOARD</a:t>
            </a:r>
            <a:r>
              <a:t> 与应用目录。</a:t>
            </a:r>
            <a:r>
              <a:rPr>
                <a:solidFill>
                  <a:srgbClr val="B84E00"/>
                </a:solidFill>
                <a:ea typeface="Microsoft YaHei"/>
              </a:rPr>
              <a:t>BOARD</a:t>
            </a:r>
            <a:r>
              <a:t> 的名字和 qualifiers 带出配套 SoC、CPU 和板资源，不是任选四个独立开关。</a:t>
            </a:r>
          </a:p>
        </p:txBody>
      </p:sp>
      <p:sp>
        <p:nvSpPr>
          <p:cNvPr id="11" name="Body 2"/>
          <p:cNvSpPr>
            <a:spLocks noGrp="1"/>
          </p:cNvSpPr>
          <p:nvPr/>
        </p:nvSpPr>
        <p:spPr>
          <a:xfrm>
            <a:off x="609600" y="4780026"/>
            <a:ext cx="10972800" cy="7421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同为 Cortex-M4 只能说明可共享部分架构支持；要换成 HC32 的 UART、时钟和引脚，仍需要 HC32 SoC 与 UYUP 板定义。</a:t>
            </a:r>
          </a:p>
        </p:txBody>
      </p:sp>
      <p:sp>
        <p:nvSpPr>
          <p:cNvPr id="12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Reading"/>
              </a:rPr>
              <a:t>完整解释与操作：配套 Markdown P005</a:t>
            </a:r>
          </a:p>
        </p:txBody>
      </p:sp>
      <p:sp>
        <p:nvSpPr>
          <p:cNvPr id="13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EECFF7A9-8F09-4B0E-89ED-C66E2D0608D6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5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为什么用 MPS2 / AN386 作对照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P005 · 工程组织、配置与驱动模型</a:t>
            </a:r>
          </a:p>
        </p:txBody>
      </p:sp>
      <p:sp>
        <p:nvSpPr>
          <p:cNvPr id="4" name="Body 0"/>
          <p:cNvSpPr>
            <a:spLocks noGrp="1"/>
          </p:cNvSpPr>
          <p:nvPr/>
        </p:nvSpPr>
        <p:spPr>
          <a:xfrm>
            <a:off x="609600" y="177165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AN386 是 MPS2 的 Cortex-M4F 目标。官方已经提供板定义、SoC 选择、设备树和可用驱动，hello_world 可直接选它构建。</a:t>
            </a:r>
          </a:p>
        </p:txBody>
      </p:sp>
      <p:sp>
        <p:nvSpPr>
          <p:cNvPr id="5" name="Body 1"/>
          <p:cNvSpPr>
            <a:spLocks noGrp="1"/>
          </p:cNvSpPr>
          <p:nvPr/>
        </p:nvSpPr>
        <p:spPr>
          <a:xfrm>
            <a:off x="609600" y="273558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这让我们保持硬件支持不变，只改变一个自定义组件，容易判断错误来自组件接入还是板移植。</a:t>
            </a:r>
          </a:p>
        </p:txBody>
      </p:sp>
      <p:sp>
        <p:nvSpPr>
          <p:cNvPr id="6" name="Body 2"/>
          <p:cNvSpPr>
            <a:spLocks noGrp="1"/>
          </p:cNvSpPr>
          <p:nvPr/>
        </p:nvSpPr>
        <p:spPr>
          <a:xfrm>
            <a:off x="609600" y="369951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本章可在电脑上完成构建并用 QEMU 观察输出。接着以 HC32 对照同样的接入关系，逐文件移植练习继续在 P012。</a:t>
            </a:r>
          </a:p>
        </p:txBody>
      </p:sp>
      <p:sp>
        <p:nvSpPr>
          <p:cNvPr id="7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Reading"/>
              </a:rPr>
              <a:t>完整解释与操作：配套 Markdown P005</a:t>
            </a:r>
          </a:p>
        </p:txBody>
      </p:sp>
      <p:sp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FEC04581-2E6F-4ACE-95C1-CA5AA34E5A24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6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固件还需要源码组件与工具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P005 · 工程组织、配置与驱动模型</a:t>
            </a:r>
          </a:p>
        </p:txBody>
      </p:sp>
      <p:sp>
        <p:nvSpPr>
          <p:cNvPr id="4" name="Flow 0"/>
          <p:cNvSpPr>
            <a:spLocks noGrp="1"/>
          </p:cNvSpPr>
          <p:nvPr/>
        </p:nvSpPr>
        <p:spPr>
          <a:xfrm>
            <a:off x="609600" y="1771650"/>
            <a:ext cx="3479800" cy="952500"/>
          </a:xfrm>
          <a:prstGeom prst="rect">
            <a:avLst/>
          </a:prstGeom>
          <a:solidFill>
            <a:srgbClr val="F5F2FA"/>
          </a:solidFill>
          <a:ln w="12383">
            <a:solidFill>
              <a:srgbClr val="7350BC"/>
            </a:solidFill>
          </a:ln>
        </p:spPr>
        <p:txBody>
          <a:bodyPr lIns="95250" tIns="76200" rIns="95250" bIns="76200"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应用 + Zephyr 板/SoC/架构/驱动</a:t>
            </a:r>
          </a:p>
        </p:txBody>
      </p:sp>
      <p:sp>
        <p:nvSpPr>
          <p:cNvPr id="5" name="Arrow 0"/>
          <p:cNvSpPr>
            <a:spLocks noGrp="1"/>
          </p:cNvSpPr>
          <p:nvPr/>
        </p:nvSpPr>
        <p:spPr>
          <a:xfrm>
            <a:off x="4127500" y="2171700"/>
            <a:ext cx="190500" cy="152400"/>
          </a:xfrm>
          <a:prstGeom prst="rightArrow">
            <a:avLst/>
          </a:prstGeom>
          <a:solidFill>
            <a:srgbClr val="7350BC"/>
          </a:solidFill>
          <a:ln w="0">
            <a:noFill/>
          </a:ln>
        </p:spPr>
      </p:sp>
      <p:sp>
        <p:nvSpPr>
          <p:cNvPr id="6" name="Flow 1"/>
          <p:cNvSpPr>
            <a:spLocks noGrp="1"/>
          </p:cNvSpPr>
          <p:nvPr/>
        </p:nvSpPr>
        <p:spPr>
          <a:xfrm>
            <a:off x="4356100" y="1771650"/>
            <a:ext cx="3479800" cy="952500"/>
          </a:xfrm>
          <a:prstGeom prst="rect">
            <a:avLst/>
          </a:prstGeom>
          <a:solidFill>
            <a:srgbClr val="F5F2FA"/>
          </a:solidFill>
          <a:ln w="12383">
            <a:solidFill>
              <a:srgbClr val="7350BC"/>
            </a:solidFill>
          </a:ln>
        </p:spPr>
        <p:txBody>
          <a:bodyPr lIns="95250" tIns="76200" rIns="95250" bIns="76200"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外部源码模块：CMSIS / HAL / 普通组件</a:t>
            </a:r>
          </a:p>
        </p:txBody>
      </p:sp>
      <p:sp>
        <p:nvSpPr>
          <p:cNvPr id="7" name="Arrow 1"/>
          <p:cNvSpPr>
            <a:spLocks noGrp="1"/>
          </p:cNvSpPr>
          <p:nvPr/>
        </p:nvSpPr>
        <p:spPr>
          <a:xfrm>
            <a:off x="7874000" y="2171700"/>
            <a:ext cx="190500" cy="152400"/>
          </a:xfrm>
          <a:prstGeom prst="rightArrow">
            <a:avLst/>
          </a:prstGeom>
          <a:solidFill>
            <a:srgbClr val="7350BC"/>
          </a:solidFill>
          <a:ln w="0">
            <a:noFill/>
          </a:ln>
        </p:spPr>
      </p:sp>
      <p:sp>
        <p:nvSpPr>
          <p:cNvPr id="8" name="Flow 2"/>
          <p:cNvSpPr>
            <a:spLocks noGrp="1"/>
          </p:cNvSpPr>
          <p:nvPr/>
        </p:nvSpPr>
        <p:spPr>
          <a:xfrm>
            <a:off x="8102600" y="1771650"/>
            <a:ext cx="3479800" cy="952500"/>
          </a:xfrm>
          <a:prstGeom prst="rect">
            <a:avLst/>
          </a:prstGeom>
          <a:solidFill>
            <a:srgbClr val="F5F2FA"/>
          </a:solidFill>
          <a:ln w="12383">
            <a:solidFill>
              <a:srgbClr val="7350BC"/>
            </a:solidFill>
          </a:ln>
        </p:spPr>
        <p:txBody>
          <a:bodyPr lIns="95250" tIns="76200" rIns="95250" bIns="76200"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SDK 编译与链接 → 固件</a:t>
            </a:r>
          </a:p>
        </p:txBody>
      </p:sp>
      <p:sp>
        <p:nvSpPr>
          <p:cNvPr id="9" name="Body 0"/>
          <p:cNvSpPr>
            <a:spLocks noGrp="1"/>
          </p:cNvSpPr>
          <p:nvPr/>
        </p:nvSpPr>
        <p:spPr>
          <a:xfrm>
            <a:off x="609600" y="2952750"/>
            <a:ext cx="10972800" cy="7421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Zephyr 内核、架构、SoC 和驱动实现系统与硬件支持；外部源码模块补充当前配置需要的接口或实现。</a:t>
            </a:r>
          </a:p>
        </p:txBody>
      </p:sp>
      <p:sp>
        <p:nvSpPr>
          <p:cNvPr id="10" name="Body 1"/>
          <p:cNvSpPr>
            <a:spLocks noGrp="1"/>
          </p:cNvSpPr>
          <p:nvPr/>
        </p:nvSpPr>
        <p:spPr>
          <a:xfrm>
            <a:off x="609600" y="3866388"/>
            <a:ext cx="10972800" cy="7421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HAL 是硬件抽象层，DDL 是厂商设备驱动库：它们把外设寄存器操作封装成接口。Zephyr 驱动可以调用这些库，也可以直接实现寄存器访问。</a:t>
            </a:r>
          </a:p>
        </p:txBody>
      </p:sp>
      <p:sp>
        <p:nvSpPr>
          <p:cNvPr id="11" name="Body 2"/>
          <p:cNvSpPr>
            <a:spLocks noGrp="1"/>
          </p:cNvSpPr>
          <p:nvPr/>
        </p:nvSpPr>
        <p:spPr>
          <a:xfrm>
            <a:off x="609600" y="4780026"/>
            <a:ext cx="10972800" cy="7421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Zephyr SDK 在电脑上提供编译器、链接器等工具。它不会替代板支持，也不会因为安装了 SDK 就自动提供某个 HAL 源码。</a:t>
            </a:r>
          </a:p>
        </p:txBody>
      </p:sp>
      <p:sp>
        <p:nvSpPr>
          <p:cNvPr id="12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Reading"/>
              </a:rPr>
              <a:t>完整解释与操作：配套 Markdown P005</a:t>
            </a:r>
          </a:p>
        </p:txBody>
      </p:sp>
      <p:sp>
        <p:nvSpPr>
          <p:cNvPr id="13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156E6085-D9F9-445F-BB49-895E1FD73CD6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7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CMSIS、CMSDK、SDK 分别是什么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P005 · 工程组织、配置与驱动模型</a:t>
            </a:r>
          </a:p>
        </p:txBody>
      </p:sp>
      <p:sp>
        <p:nvSpPr>
          <p:cNvPr id="4" name="Body 0"/>
          <p:cNvSpPr>
            <a:spLocks noGrp="1"/>
          </p:cNvSpPr>
          <p:nvPr/>
        </p:nvSpPr>
        <p:spPr>
          <a:xfrm>
            <a:off x="609600" y="177165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CMSIS 是 Arm 的标准软件接口及配套代码。本例使用 CMSIS_6 的 Core 内核头，提供内核寄存器与 NVIC 等接口，最终包含 </a:t>
            </a:r>
            <a:r>
              <a:rPr>
                <a:solidFill>
                  <a:srgbClr val="0070C0"/>
                </a:solidFill>
                <a:ea typeface="Microsoft YaHei"/>
              </a:rPr>
              <a:t>core_cm4.h</a:t>
            </a:r>
            <a:r>
              <a:t>。</a:t>
            </a:r>
          </a:p>
        </p:txBody>
      </p:sp>
      <p:sp>
        <p:nvSpPr>
          <p:cNvPr id="5" name="Body 1"/>
          <p:cNvSpPr>
            <a:spLocks noGrp="1"/>
          </p:cNvSpPr>
          <p:nvPr/>
        </p:nvSpPr>
        <p:spPr>
          <a:xfrm>
            <a:off x="609600" y="273558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CMSDK 是本目标若干 Arm 外设接口的名称，例如 CMSDK UART / GPIO。它出现在设备树与驱动名，不表示另一个必装的 SDK。</a:t>
            </a:r>
          </a:p>
        </p:txBody>
      </p:sp>
      <p:sp>
        <p:nvSpPr>
          <p:cNvPr id="6" name="Body 2"/>
          <p:cNvSpPr>
            <a:spLocks noGrp="1"/>
          </p:cNvSpPr>
          <p:nvPr/>
        </p:nvSpPr>
        <p:spPr>
          <a:xfrm>
            <a:off x="609600" y="369951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Zephyr SDK 是电脑端编译工具包。本例 CMSIS 主要以头文件参与，所以没有 CMSIS 的独立 .c 条目，也能构成真实依赖。</a:t>
            </a:r>
          </a:p>
        </p:txBody>
      </p:sp>
      <p:sp>
        <p:nvSpPr>
          <p:cNvPr id="7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Reading"/>
              </a:rPr>
              <a:t>完整解释与操作：配套 Markdown P005</a:t>
            </a:r>
          </a:p>
        </p:txBody>
      </p:sp>
      <p:sp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8C84550D-8881-42C6-8D1D-B4B5F87CE7C0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8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模块是源码接入契约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P005 · 工程组织、配置与驱动模型</a:t>
            </a:r>
          </a:p>
        </p:txBody>
      </p:sp>
      <p:sp>
        <p:nvSpPr>
          <p:cNvPr id="4" name="Body 0"/>
          <p:cNvSpPr>
            <a:spLocks noGrp="1"/>
          </p:cNvSpPr>
          <p:nvPr/>
        </p:nvSpPr>
        <p:spPr>
          <a:xfrm>
            <a:off x="609600" y="177165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 xml:space="preserve">模块先进入发现范围，再读取 </a:t>
            </a:r>
            <a:r>
              <a:rPr>
                <a:solidFill>
                  <a:srgbClr val="0070C0"/>
                </a:solidFill>
                <a:ea typeface="Microsoft YaHei"/>
              </a:rPr>
              <a:t>module.yml</a:t>
            </a:r>
            <a:r>
              <a:rPr>
                <a:solidFill>
                  <a:srgbClr val="29263B"/>
                </a:solidFill>
                <a:ea typeface="Microsoft YaHei"/>
              </a:rPr>
              <a:t xml:space="preserve">（当前源码也接受 </a:t>
            </a:r>
            <a:r>
              <a:rPr>
                <a:solidFill>
                  <a:srgbClr val="0070C0"/>
                </a:solidFill>
                <a:ea typeface="Microsoft YaHei"/>
              </a:rPr>
              <a:t>module.yaml</a:t>
            </a:r>
            <a:r>
              <a:rPr>
                <a:solidFill>
                  <a:srgbClr val="29263B"/>
                </a:solidFill>
                <a:ea typeface="Microsoft YaHei"/>
              </a:rPr>
              <a:t xml:space="preserve">）。无声明时，只有 </a:t>
            </a:r>
            <a:r>
              <a:rPr>
                <a:solidFill>
                  <a:srgbClr val="0070C0"/>
                </a:solidFill>
                <a:ea typeface="Microsoft YaHei"/>
              </a:rPr>
              <a:t>zephyr/CMakeLists.txt</a:t>
            </a:r>
            <a:r>
              <a:rPr>
                <a:solidFill>
                  <a:srgbClr val="29263B"/>
                </a:solidFill>
                <a:ea typeface="Microsoft YaHei"/>
              </a:rPr>
              <a:t xml:space="preserve"> 与 </a:t>
            </a:r>
            <a:r>
              <a:rPr>
                <a:solidFill>
                  <a:srgbClr val="0070C0"/>
                </a:solidFill>
                <a:ea typeface="Microsoft YaHei"/>
              </a:rPr>
              <a:t>zephyr/Kconfig</a:t>
            </a:r>
            <a:r>
              <a:rPr>
                <a:solidFill>
                  <a:srgbClr val="29263B"/>
                </a:solidFill>
                <a:ea typeface="Microsoft YaHei"/>
              </a:rPr>
              <a:t xml:space="preserve"> 同时存在才按旧式模块接入。</a:t>
            </a:r>
          </a:p>
        </p:txBody>
      </p:sp>
      <p:sp>
        <p:nvSpPr>
          <p:cNvPr id="5" name="Body 1"/>
          <p:cNvSpPr>
            <a:spLocks noGrp="1"/>
          </p:cNvSpPr>
          <p:nvPr/>
        </p:nvSpPr>
        <p:spPr>
          <a:xfrm>
            <a:off x="609600" y="273558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CMSIS_6 提供内核头，hal_xhsc 提供华大设备与外设源码，普通模块也可提供业务函数。模块机制相同，适用硬件与贡献内容不同。</a:t>
            </a:r>
          </a:p>
        </p:txBody>
      </p:sp>
      <p:sp>
        <p:nvSpPr>
          <p:cNvPr id="6" name="Body 2"/>
          <p:cNvSpPr>
            <a:spLocks noGrp="1"/>
          </p:cNvSpPr>
          <p:nvPr/>
        </p:nvSpPr>
        <p:spPr>
          <a:xfrm>
            <a:off x="609600" y="369951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A02B93"/>
                </a:solidFill>
                <a:ea typeface="Microsoft YaHei"/>
              </a:rPr>
              <a:t>west</a:t>
            </a:r>
            <a:r>
              <a:t> 管理仓库获取与版本。一个项目存在、被识别为模块、功能选中、源文件编译，是需要逐阶段确认的事情。</a:t>
            </a:r>
          </a:p>
        </p:txBody>
      </p:sp>
      <p:sp>
        <p:nvSpPr>
          <p:cNvPr id="7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Reading"/>
              </a:rPr>
              <a:t>完整解释与操作：配套 Markdown P005</a:t>
            </a:r>
          </a:p>
        </p:txBody>
      </p:sp>
      <p:sp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3D6244D1-97EB-45EE-8979-E922D51B1547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9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目录按职责组织，驱动按硬件实现区分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P005 · 工程组织、配置与驱动模型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="609600" y="1771650"/>
          <a:ext cx="10972800" cy="3143250"/>
        </p:xfrm>
        <a:graphic>
          <a:graphicData uri="http://schemas.openxmlformats.org/drawingml/2006/table">
            <a:tbl>
              <a:tblPr/>
              <a:tblGrid>
                <a:gridCol w="3619500"/>
                <a:gridCol w="7353300"/>
              </a:tblGrid>
              <a:tr h="62865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所在位置</a:t>
                      </a:r>
                    </a:p>
                  </a:txBody>
                  <a:tcPr marL="91440" marR="91440" marT="45720" marB="45720" anchor="ctr">
                    <a:solidFill>
                      <a:srgbClr val="EEE8F6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它回答的问题</a:t>
                      </a:r>
                    </a:p>
                  </a:txBody>
                  <a:tcPr marL="91440" marR="91440" marT="45720" marB="45720" anchor="ctr">
                    <a:solidFill>
                      <a:srgbClr val="EEE8F6"/>
                    </a:solidFill>
                  </a:tcPr>
                </a:tc>
              </a:tr>
              <a:tr h="62865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include/zephyr/drivers/uart.h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上层怎样统一使用 UART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drivers/serial/uart_cmsdk_apb.c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CMSDK UART 怎样配置和收发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</a:tr>
              <a:tr h="62865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boards/、soc/、dts/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目标采用什么硬件与实例配置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外部 hal_xhsc / hc32_port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厂商底层与本工程适配怎样分别维护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</a:tr>
            </a:tbl>
          </a:graphicData>
        </a:graphic>
      </p:graphicFrame>
      <p:sp>
        <p:nvSpPr>
          <p:cNvPr id="5" name="Body 0"/>
          <p:cNvSpPr>
            <a:spLocks noGrp="1"/>
          </p:cNvSpPr>
          <p:nvPr/>
        </p:nvSpPr>
        <p:spPr>
          <a:xfrm>
            <a:off x="609600" y="5086350"/>
            <a:ext cx="10972800" cy="7170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外设 IP 是芯片里可复用的硬件模块。</a:t>
            </a:r>
            <a:r>
              <a:rPr>
                <a:solidFill>
                  <a:srgbClr val="0070C0"/>
                </a:solidFill>
                <a:ea typeface="Microsoft YaHei"/>
              </a:rPr>
              <a:t>uart_cmsdk_apb.c</a:t>
            </a:r>
            <a:r>
              <a:t> 中的 cmsdk_apb 标识一种 UART 实现，不能把它理解成所有 UART 的通用层。</a:t>
            </a:r>
          </a:p>
        </p:txBody>
      </p:sp>
      <p:sp>
        <p:nvSpPr>
          <p:cNvPr id="6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ModelReading"/>
              </a:rPr>
              <a:t>完整解释与操作：配套 Markdown P005</a:t>
            </a:r>
          </a:p>
        </p:txBody>
      </p:sp>
      <p:sp>
        <p:nvSpPr>
          <p:cNvPr id="7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D231DB10-C444-4D42-9C34-4015FF75C4DC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10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共享范围与源码位置是两个维度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P005 · 工程组织、配置与驱动模型</a:t>
            </a:r>
          </a:p>
        </p:txBody>
      </p:sp>
      <p:sp>
        <p:nvSpPr>
          <p:cNvPr id="4" name="Body 0"/>
          <p:cNvSpPr>
            <a:spLocks noGrp="1"/>
          </p:cNvSpPr>
          <p:nvPr/>
        </p:nvSpPr>
        <p:spPr>
          <a:xfrm>
            <a:off x="609600" y="177165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共享范围：UART API 跨实现共用；CMSDK 驱动在兼容该 IP 的平台间复用；某块板的地址、连线和默认控制台属于实例配置。</a:t>
            </a:r>
          </a:p>
        </p:txBody>
      </p:sp>
      <p:sp>
        <p:nvSpPr>
          <p:cNvPr id="5" name="Body 1"/>
          <p:cNvSpPr>
            <a:spLocks noGrp="1"/>
          </p:cNvSpPr>
          <p:nvPr/>
        </p:nvSpPr>
        <p:spPr>
          <a:xfrm>
            <a:off x="609600" y="273558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源码位置：这些实现可以由 Zephyr 主仓维护，也可以由树外模块维护。搬到独立仓库不会自动消除芯片耦合，放在树内也不表示所有应用都编译它。</a:t>
            </a:r>
          </a:p>
        </p:txBody>
      </p:sp>
      <p:sp>
        <p:nvSpPr>
          <p:cNvPr id="6" name="Body 2"/>
          <p:cNvSpPr>
            <a:spLocks noGrp="1"/>
          </p:cNvSpPr>
          <p:nvPr/>
        </p:nvSpPr>
        <p:spPr>
          <a:xfrm>
            <a:off x="609600" y="369951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本工程把 HC32 适配与 DDL 分开维护，是为了明确接口和版本边界。源码模块随固件编译链接，不等同于 Linux 的可加载 .ko。</a:t>
            </a:r>
          </a:p>
        </p:txBody>
      </p:sp>
      <p:sp>
        <p:nvSpPr>
          <p:cNvPr id="7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ModelReading"/>
              </a:rPr>
              <a:t>完整解释与操作：配套 Markdown P005</a:t>
            </a:r>
          </a:p>
        </p:txBody>
      </p:sp>
      <p:sp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D231DB10-C444-4D42-9C34-4015FF75C4DC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11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应用与 </a:t>
            </a:r>
            <a:r>
              <a:rPr>
                <a:solidFill>
                  <a:srgbClr val="B84E00"/>
                </a:solidFill>
                <a:ea typeface="Microsoft YaHei"/>
              </a:rPr>
              <a:t>BOARD</a:t>
            </a:r>
            <a:r>
              <a:t> 是两项输入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P005 · 工程组织、配置与驱动模型</a:t>
            </a:r>
          </a:p>
        </p:txBody>
      </p:sp>
      <p:sp>
        <p:nvSpPr>
          <p:cNvPr id="4" name="Flow 0"/>
          <p:cNvSpPr>
            <a:spLocks noGrp="1"/>
          </p:cNvSpPr>
          <p:nvPr/>
        </p:nvSpPr>
        <p:spPr>
          <a:xfrm>
            <a:off x="609600" y="1771650"/>
            <a:ext cx="3479800" cy="952500"/>
          </a:xfrm>
          <a:prstGeom prst="rect">
            <a:avLst/>
          </a:prstGeom>
          <a:solidFill>
            <a:srgbClr val="F5F2FA"/>
          </a:solidFill>
          <a:ln w="12383">
            <a:solidFill>
              <a:srgbClr val="7350BC"/>
            </a:solidFill>
          </a:ln>
        </p:spPr>
        <p:txBody>
          <a:bodyPr lIns="95250" tIns="76200" rIns="95250" bIns="76200"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应用 hello_world</a:t>
            </a:r>
          </a:p>
        </p:txBody>
      </p:sp>
      <p:sp>
        <p:nvSpPr>
          <p:cNvPr id="5" name="Arrow 0"/>
          <p:cNvSpPr>
            <a:spLocks noGrp="1"/>
          </p:cNvSpPr>
          <p:nvPr/>
        </p:nvSpPr>
        <p:spPr>
          <a:xfrm>
            <a:off x="4127500" y="2171700"/>
            <a:ext cx="190500" cy="152400"/>
          </a:xfrm>
          <a:prstGeom prst="rightArrow">
            <a:avLst/>
          </a:prstGeom>
          <a:solidFill>
            <a:srgbClr val="7350BC"/>
          </a:solidFill>
          <a:ln w="0">
            <a:noFill/>
          </a:ln>
        </p:spPr>
      </p:sp>
      <p:sp>
        <p:nvSpPr>
          <p:cNvPr id="6" name="Flow 1"/>
          <p:cNvSpPr>
            <a:spLocks noGrp="1"/>
          </p:cNvSpPr>
          <p:nvPr/>
        </p:nvSpPr>
        <p:spPr>
          <a:xfrm>
            <a:off x="4356100" y="1771650"/>
            <a:ext cx="3479800" cy="952500"/>
          </a:xfrm>
          <a:prstGeom prst="rect">
            <a:avLst/>
          </a:prstGeom>
          <a:solidFill>
            <a:srgbClr val="F5F2FA"/>
          </a:solidFill>
          <a:ln w="12383">
            <a:solidFill>
              <a:srgbClr val="7350BC"/>
            </a:solidFill>
          </a:ln>
        </p:spPr>
        <p:txBody>
          <a:bodyPr lIns="95250" tIns="76200" rIns="95250" bIns="76200"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BOARD mps2/an386</a:t>
            </a:r>
          </a:p>
        </p:txBody>
      </p:sp>
      <p:sp>
        <p:nvSpPr>
          <p:cNvPr id="7" name="Arrow 1"/>
          <p:cNvSpPr>
            <a:spLocks noGrp="1"/>
          </p:cNvSpPr>
          <p:nvPr/>
        </p:nvSpPr>
        <p:spPr>
          <a:xfrm>
            <a:off x="7874000" y="2171700"/>
            <a:ext cx="190500" cy="152400"/>
          </a:xfrm>
          <a:prstGeom prst="rightArrow">
            <a:avLst/>
          </a:prstGeom>
          <a:solidFill>
            <a:srgbClr val="7350BC"/>
          </a:solidFill>
          <a:ln w="0">
            <a:noFill/>
          </a:ln>
        </p:spPr>
      </p:sp>
      <p:sp>
        <p:nvSpPr>
          <p:cNvPr id="8" name="Flow 2"/>
          <p:cNvSpPr>
            <a:spLocks noGrp="1"/>
          </p:cNvSpPr>
          <p:nvPr/>
        </p:nvSpPr>
        <p:spPr>
          <a:xfrm>
            <a:off x="8102600" y="1771650"/>
            <a:ext cx="3479800" cy="952500"/>
          </a:xfrm>
          <a:prstGeom prst="rect">
            <a:avLst/>
          </a:prstGeom>
          <a:solidFill>
            <a:srgbClr val="F5F2FA"/>
          </a:solidFill>
          <a:ln w="12383">
            <a:solidFill>
              <a:srgbClr val="7350BC"/>
            </a:solidFill>
          </a:ln>
        </p:spPr>
        <p:txBody>
          <a:bodyPr lIns="95250" tIns="76200" rIns="95250" bIns="76200"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同一次 Build → zephyr.elf</a:t>
            </a:r>
          </a:p>
        </p:txBody>
      </p:sp>
      <p:sp>
        <p:nvSpPr>
          <p:cNvPr id="9" name="Body 0"/>
          <p:cNvSpPr>
            <a:spLocks noGrp="1"/>
          </p:cNvSpPr>
          <p:nvPr/>
        </p:nvSpPr>
        <p:spPr>
          <a:xfrm>
            <a:off x="609600" y="2952750"/>
            <a:ext cx="10972800" cy="7421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hello_world 是包含 </a:t>
            </a:r>
            <a:r>
              <a:rPr>
                <a:solidFill>
                  <a:srgbClr val="0070C0"/>
                </a:solidFill>
                <a:ea typeface="Microsoft YaHei"/>
              </a:rPr>
              <a:t>main.c</a:t>
            </a:r>
            <a:r>
              <a:t>、</a:t>
            </a:r>
            <a:r>
              <a:rPr>
                <a:solidFill>
                  <a:srgbClr val="0070C0"/>
                </a:solidFill>
                <a:ea typeface="Microsoft YaHei"/>
              </a:rPr>
              <a:t>CMakeLists.txt</a:t>
            </a:r>
            <a:r>
              <a:t> 与 </a:t>
            </a:r>
            <a:r>
              <a:rPr>
                <a:solidFill>
                  <a:srgbClr val="0070C0"/>
                </a:solidFill>
                <a:ea typeface="Microsoft YaHei"/>
              </a:rPr>
              <a:t>prj.conf</a:t>
            </a:r>
            <a:r>
              <a:t> 的应用，它说明要运行什么业务。</a:t>
            </a:r>
          </a:p>
        </p:txBody>
      </p:sp>
      <p:sp>
        <p:nvSpPr>
          <p:cNvPr id="10" name="Body 1"/>
          <p:cNvSpPr>
            <a:spLocks noGrp="1"/>
          </p:cNvSpPr>
          <p:nvPr/>
        </p:nvSpPr>
        <p:spPr>
          <a:xfrm>
            <a:off x="609600" y="3866388"/>
            <a:ext cx="10972800" cy="7421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mps2/an386 是板目标，选择硬件平台、CPU、内存和外设描述。同一应用可为不同受支持板生成不同固件。</a:t>
            </a:r>
          </a:p>
        </p:txBody>
      </p:sp>
      <p:sp>
        <p:nvSpPr>
          <p:cNvPr id="11" name="Body 2"/>
          <p:cNvSpPr>
            <a:spLocks noGrp="1"/>
          </p:cNvSpPr>
          <p:nvPr/>
        </p:nvSpPr>
        <p:spPr>
          <a:xfrm>
            <a:off x="609600" y="4780026"/>
            <a:ext cx="10972800" cy="7421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Build 目录保存这一次应用与板的组合。改用一个应用，不等于创建一块新板；换板也不是把应用复制一遍。</a:t>
            </a:r>
          </a:p>
        </p:txBody>
      </p:sp>
      <p:sp>
        <p:nvSpPr>
          <p:cNvPr id="12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Reading"/>
              </a:rPr>
              <a:t>完整解释与操作：配套 Markdown P005</a:t>
            </a:r>
          </a:p>
        </p:txBody>
      </p:sp>
      <p:sp>
        <p:nvSpPr>
          <p:cNvPr id="13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96021524-7D8B-4177-A076-C7E38C6D818C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12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应用入口决定本次业务源码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P005 · 工程组织、配置与驱动模型</a:t>
            </a:r>
          </a:p>
        </p:txBody>
      </p:sp>
      <p:sp>
        <p:nvSpPr>
          <p:cNvPr id="4" name="Continuous code"/>
          <p:cNvSpPr>
            <a:spLocks noGrp="1"/>
          </p:cNvSpPr>
          <p:nvPr/>
        </p:nvSpPr>
        <p:spPr>
          <a:xfrm>
            <a:off x="609600" y="1771650"/>
            <a:ext cx="10972800" cy="1485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cmake_minimum_required(VERSION 3.28.0)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087B3D"/>
                </a:solidFill>
                <a:ea typeface="Microsoft YaHei"/>
              </a:rPr>
              <a:t>find_package</a:t>
            </a:r>
            <a:r>
              <a:t>(Zephyr REQUIRED HINTS $ENV{</a:t>
            </a:r>
            <a:r>
              <a:rPr>
                <a:solidFill>
                  <a:srgbClr val="B84E00"/>
                </a:solidFill>
                <a:ea typeface="Microsoft YaHei"/>
              </a:rPr>
              <a:t>ZEPHYR_BASE</a:t>
            </a:r>
            <a:r>
              <a:t>})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087B3D"/>
                </a:solidFill>
                <a:ea typeface="Microsoft YaHei"/>
              </a:rPr>
              <a:t>project</a:t>
            </a:r>
            <a:r>
              <a:t>(hello_world)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087B3D"/>
                </a:solidFill>
                <a:ea typeface="Microsoft YaHei"/>
              </a:rPr>
              <a:t>target_sources</a:t>
            </a:r>
            <a:r>
              <a:t>(app PRIVATE </a:t>
            </a:r>
            <a:r>
              <a:rPr>
                <a:solidFill>
                  <a:srgbClr val="0070C0"/>
                </a:solidFill>
                <a:ea typeface="Microsoft YaHei"/>
              </a:rPr>
              <a:t>src/main.c</a:t>
            </a:r>
            <a:r>
              <a:t>)</a:t>
            </a:r>
          </a:p>
        </p:txBody>
      </p:sp>
      <p:sp>
        <p:nvSpPr>
          <p:cNvPr id="5" name="Body 0"/>
          <p:cNvSpPr>
            <a:spLocks noGrp="1"/>
          </p:cNvSpPr>
          <p:nvPr/>
        </p:nvSpPr>
        <p:spPr>
          <a:xfrm>
            <a:off x="609600" y="3448050"/>
            <a:ext cx="10972800" cy="7170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代码为官方 hello_world 的原有构建入口。应用根中的 CMakeLists 决定加入 </a:t>
            </a:r>
            <a:r>
              <a:rPr>
                <a:solidFill>
                  <a:srgbClr val="0070C0"/>
                </a:solidFill>
                <a:ea typeface="Microsoft YaHei"/>
              </a:rPr>
              <a:t>main.c</a:t>
            </a:r>
            <a:r>
              <a:t>；</a:t>
            </a:r>
            <a:r>
              <a:rPr>
                <a:solidFill>
                  <a:srgbClr val="0070C0"/>
                </a:solidFill>
                <a:ea typeface="Microsoft YaHei"/>
              </a:rPr>
              <a:t>prj.conf</a:t>
            </a:r>
            <a:r>
              <a:t> 配置功能，可选 overlay 调整本应用硬件使用。</a:t>
            </a:r>
          </a:p>
        </p:txBody>
      </p:sp>
      <p:sp>
        <p:nvSpPr>
          <p:cNvPr id="6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Reading"/>
              </a:rPr>
              <a:t>完整解释与操作：配套 Markdown P005</a:t>
            </a:r>
          </a:p>
        </p:txBody>
      </p:sp>
      <p:sp>
        <p:nvSpPr>
          <p:cNvPr id="7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30A579D0-7EA6-4AB7-A70C-9C4AB529E455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13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命令里分别选应用、板和输出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P005 · 工程组织、配置与驱动模型</a:t>
            </a:r>
          </a:p>
        </p:txBody>
      </p:sp>
      <p:sp>
        <p:nvSpPr>
          <p:cNvPr id="4" name="Continuous code"/>
          <p:cNvSpPr>
            <a:spLocks noGrp="1"/>
          </p:cNvSpPr>
          <p:nvPr/>
        </p:nvSpPr>
        <p:spPr>
          <a:xfrm>
            <a:off x="609600" y="1771650"/>
            <a:ext cx="10972800" cy="1485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A02B93"/>
                </a:solidFill>
                <a:ea typeface="Microsoft YaHei"/>
              </a:rPr>
              <a:t>west</a:t>
            </a:r>
            <a:r>
              <a:t> build -b mps2/an386 </a:t>
            </a:r>
            <a:r>
              <a:rPr>
                <a:solidFill>
                  <a:srgbClr val="0070C0"/>
                </a:solidFill>
                <a:ea typeface="Microsoft YaHei"/>
              </a:rPr>
              <a:t>samples/hello_world</a:t>
            </a:r>
            <a:r>
              <a:t> \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  -d </a:t>
            </a:r>
            <a:r>
              <a:rPr>
                <a:solidFill>
                  <a:srgbClr val="0070C0"/>
                </a:solidFill>
                <a:ea typeface="Microsoft YaHei"/>
              </a:rPr>
              <a:t>build/learning-tools/p006/hello_world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A02B93"/>
                </a:solidFill>
                <a:ea typeface="Microsoft YaHei"/>
              </a:rPr>
              <a:t>cmake</a:t>
            </a:r>
            <a:r>
              <a:t> -S </a:t>
            </a:r>
            <a:r>
              <a:rPr>
                <a:solidFill>
                  <a:srgbClr val="0070C0"/>
                </a:solidFill>
                <a:ea typeface="Microsoft YaHei"/>
              </a:rPr>
              <a:t>samples/hello_world</a:t>
            </a:r>
            <a:r>
              <a:t> \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  -B </a:t>
            </a:r>
            <a:r>
              <a:rPr>
                <a:solidFill>
                  <a:srgbClr val="0070C0"/>
                </a:solidFill>
                <a:ea typeface="Microsoft YaHei"/>
              </a:rPr>
              <a:t>build/learning-tools/p006/hello_world-cmake</a:t>
            </a:r>
            <a:r>
              <a:t> -DBOARD=mps2/an386</a:t>
            </a:r>
          </a:p>
        </p:txBody>
      </p:sp>
      <p:sp>
        <p:nvSpPr>
          <p:cNvPr id="5" name="Body 0"/>
          <p:cNvSpPr>
            <a:spLocks noGrp="1"/>
          </p:cNvSpPr>
          <p:nvPr/>
        </p:nvSpPr>
        <p:spPr>
          <a:xfrm>
            <a:off x="609600" y="3448050"/>
            <a:ext cx="10972800" cy="7170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A02B93"/>
                </a:solidFill>
                <a:ea typeface="Microsoft YaHei"/>
              </a:rPr>
              <a:t>west</a:t>
            </a:r>
            <a:r>
              <a:t> 的应用路径对应 CMake 的 -S；-b 对应 </a:t>
            </a:r>
            <a:r>
              <a:rPr>
                <a:solidFill>
                  <a:srgbClr val="B84E00"/>
                </a:solidFill>
                <a:ea typeface="Microsoft YaHei"/>
              </a:rPr>
              <a:t>BOARD</a:t>
            </a:r>
            <a:r>
              <a:t>；-d 对应 -B。本页只对照参数位置，完整环境与命令在后页及附件。</a:t>
            </a:r>
          </a:p>
        </p:txBody>
      </p:sp>
      <p:sp>
        <p:nvSpPr>
          <p:cNvPr id="6" name="Reading link"/>
          <p:cNvSpPr>
            <a:spLocks noGrp="1"/>
          </p:cNvSpPr>
          <p:nvPr/>
        </p:nvSpPr>
        <p:spPr>
          <a:xfrm>
            <a:off x="609600" y="6105525"/>
            <a:ext cx="619125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Reading"/>
              </a:rPr>
              <a:t>完整解释与操作：配套 Markdown P005</a:t>
            </a:r>
          </a:p>
        </p:txBody>
      </p:sp>
      <p:sp>
        <p:nvSpPr>
          <p:cNvPr id="7" name="Command link"/>
          <p:cNvSpPr>
            <a:spLocks noGrp="1"/>
          </p:cNvSpPr>
          <p:nvPr/>
        </p:nvSpPr>
        <p:spPr>
          <a:xfrm>
            <a:off x="8191500" y="6105525"/>
            <a:ext cx="33909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ea typeface="Microsoft YaHei"/>
                <a:hlinkClick r:id="rIdCommand"/>
              </a:rPr>
              <a:t>完整命令：附件 02</a:t>
            </a:r>
          </a:p>
        </p:txBody>
      </p:sp>
      <p:sp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68FF830B-F0DD-4CD1-B7B2-BEEE0614BA60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14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应用与板的组合需要独立目录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P005 · 工程组织、配置与驱动模型</a:t>
            </a:r>
          </a:p>
        </p:txBody>
      </p:sp>
      <p:sp>
        <p:nvSpPr>
          <p:cNvPr id="4" name="Flow 0"/>
          <p:cNvSpPr>
            <a:spLocks noGrp="1"/>
          </p:cNvSpPr>
          <p:nvPr/>
        </p:nvSpPr>
        <p:spPr>
          <a:xfrm>
            <a:off x="609600" y="1771650"/>
            <a:ext cx="3479800" cy="952500"/>
          </a:xfrm>
          <a:prstGeom prst="rect">
            <a:avLst/>
          </a:prstGeom>
          <a:solidFill>
            <a:srgbClr val="F5F2FA"/>
          </a:solidFill>
          <a:ln w="12383">
            <a:solidFill>
              <a:srgbClr val="7350BC"/>
            </a:solidFill>
          </a:ln>
        </p:spPr>
        <p:txBody>
          <a:bodyPr lIns="95250" tIns="76200" rIns="95250" bIns="76200"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hello_world + AN386 → hello_world</a:t>
            </a:r>
          </a:p>
        </p:txBody>
      </p:sp>
      <p:sp>
        <p:nvSpPr>
          <p:cNvPr id="5" name="Arrow 0"/>
          <p:cNvSpPr>
            <a:spLocks noGrp="1"/>
          </p:cNvSpPr>
          <p:nvPr/>
        </p:nvSpPr>
        <p:spPr>
          <a:xfrm>
            <a:off x="4127500" y="2171700"/>
            <a:ext cx="190500" cy="152400"/>
          </a:xfrm>
          <a:prstGeom prst="rightArrow">
            <a:avLst/>
          </a:prstGeom>
          <a:solidFill>
            <a:srgbClr val="7350BC"/>
          </a:solidFill>
          <a:ln w="0">
            <a:noFill/>
          </a:ln>
        </p:spPr>
      </p:sp>
      <p:sp>
        <p:nvSpPr>
          <p:cNvPr id="6" name="Flow 1"/>
          <p:cNvSpPr>
            <a:spLocks noGrp="1"/>
          </p:cNvSpPr>
          <p:nvPr/>
        </p:nvSpPr>
        <p:spPr>
          <a:xfrm>
            <a:off x="4356100" y="1771650"/>
            <a:ext cx="3479800" cy="952500"/>
          </a:xfrm>
          <a:prstGeom prst="rect">
            <a:avLst/>
          </a:prstGeom>
          <a:solidFill>
            <a:srgbClr val="F5F2FA"/>
          </a:solidFill>
          <a:ln w="12383">
            <a:solidFill>
              <a:srgbClr val="7350BC"/>
            </a:solidFill>
          </a:ln>
        </p:spPr>
        <p:txBody>
          <a:bodyPr lIns="95250" tIns="76200" rIns="95250" bIns="76200"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component_hello + AN386 → component_hello</a:t>
            </a:r>
          </a:p>
        </p:txBody>
      </p:sp>
      <p:sp>
        <p:nvSpPr>
          <p:cNvPr id="7" name="Arrow 1"/>
          <p:cNvSpPr>
            <a:spLocks noGrp="1"/>
          </p:cNvSpPr>
          <p:nvPr/>
        </p:nvSpPr>
        <p:spPr>
          <a:xfrm>
            <a:off x="7874000" y="2171700"/>
            <a:ext cx="190500" cy="152400"/>
          </a:xfrm>
          <a:prstGeom prst="rightArrow">
            <a:avLst/>
          </a:prstGeom>
          <a:solidFill>
            <a:srgbClr val="7350BC"/>
          </a:solidFill>
          <a:ln w="0">
            <a:noFill/>
          </a:ln>
        </p:spPr>
      </p:sp>
      <p:sp>
        <p:nvSpPr>
          <p:cNvPr id="8" name="Flow 2"/>
          <p:cNvSpPr>
            <a:spLocks noGrp="1"/>
          </p:cNvSpPr>
          <p:nvPr/>
        </p:nvSpPr>
        <p:spPr>
          <a:xfrm>
            <a:off x="8102600" y="1771650"/>
            <a:ext cx="3479800" cy="952500"/>
          </a:xfrm>
          <a:prstGeom prst="rect">
            <a:avLst/>
          </a:prstGeom>
          <a:solidFill>
            <a:srgbClr val="F5F2FA"/>
          </a:solidFill>
          <a:ln w="12383">
            <a:solidFill>
              <a:srgbClr val="7350BC"/>
            </a:solidFill>
          </a:ln>
        </p:spPr>
        <p:txBody>
          <a:bodyPr lIns="95250" tIns="76200" rIns="95250" bIns="76200"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hello_world + AN385 → hello_world-an385</a:t>
            </a:r>
          </a:p>
        </p:txBody>
      </p:sp>
      <p:sp>
        <p:nvSpPr>
          <p:cNvPr id="9" name="Body 0"/>
          <p:cNvSpPr>
            <a:spLocks noGrp="1"/>
          </p:cNvSpPr>
          <p:nvPr/>
        </p:nvSpPr>
        <p:spPr>
          <a:xfrm>
            <a:off x="609600" y="2952750"/>
            <a:ext cx="10972800" cy="7421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 xml:space="preserve">本章先构建 hello_world + </a:t>
            </a:r>
            <a:r>
              <a:rPr sz="210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mps2/an386</a:t>
            </a:r>
            <a:r>
              <a: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 xml:space="preserve">，输出 </a:t>
            </a:r>
            <a:r>
              <a:rPr sz="210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p006/hello_world</a:t>
            </a:r>
            <a:r>
              <a: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；P006 再换成自己的 component_hello 应用，板仍保持不变。</a:t>
            </a:r>
          </a:p>
        </p:txBody>
      </p:sp>
      <p:sp>
        <p:nvSpPr>
          <p:cNvPr id="10" name="Body 1"/>
          <p:cNvSpPr>
            <a:spLocks noGrp="1"/>
          </p:cNvSpPr>
          <p:nvPr/>
        </p:nvSpPr>
        <p:spPr>
          <a:xfrm>
            <a:off x="609600" y="3866388"/>
            <a:ext cx="10972800" cy="7421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同板换应用时，应用路径与输出一起换成 component_hello；同应用换到 AN385 时，</a:t>
            </a:r>
            <a:r>
              <a:rPr>
                <a:solidFill>
                  <a:srgbClr val="B84E00"/>
                </a:solidFill>
                <a:ea typeface="Microsoft YaHei"/>
              </a:rPr>
              <a:t>BOARD</a:t>
            </a:r>
            <a:r>
              <a:t> 与输出换成对应的新组合。</a:t>
            </a:r>
          </a:p>
        </p:txBody>
      </p:sp>
      <p:sp>
        <p:nvSpPr>
          <p:cNvPr id="11" name="Body 2"/>
          <p:cNvSpPr>
            <a:spLocks noGrp="1"/>
          </p:cNvSpPr>
          <p:nvPr/>
        </p:nvSpPr>
        <p:spPr>
          <a:xfrm>
            <a:off x="609600" y="4780026"/>
            <a:ext cx="10972800" cy="7421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Zephyr 源码根、应用根、模块根和生成目录分别承担不同职责。不能把下载仓库根直接当成唯一应用，也不要混用旧 Build 缓存。</a:t>
            </a:r>
          </a:p>
        </p:txBody>
      </p:sp>
      <p:sp>
        <p:nvSpPr>
          <p:cNvPr id="12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Reading"/>
              </a:rPr>
              <a:t>完整解释与操作：配套 Markdown P005</a:t>
            </a:r>
          </a:p>
        </p:txBody>
      </p:sp>
      <p:sp>
        <p:nvSpPr>
          <p:cNvPr id="13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AE94E14E-42B2-4E87-A85B-00B1918723B9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15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官网示例用 AN385，本教程选 AN386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P005 · 工程组织、配置与驱动模型</a:t>
            </a:r>
          </a:p>
        </p:txBody>
      </p:sp>
      <p:sp>
        <p:nvSpPr>
          <p:cNvPr id="4" name="Body 0"/>
          <p:cNvSpPr>
            <a:spLocks noGrp="1"/>
          </p:cNvSpPr>
          <p:nvPr/>
        </p:nvSpPr>
        <p:spPr>
          <a:xfrm>
            <a:off x="609600" y="177165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官方 MPS2 Armv7-M 文档的 hello_world 示例明确使用 mps2/an385；它同时把 AN385、AN386、AN500 列为受支持目标。</a:t>
            </a:r>
          </a:p>
        </p:txBody>
      </p:sp>
      <p:sp>
        <p:nvSpPr>
          <p:cNvPr id="5" name="Body 1"/>
          <p:cNvSpPr>
            <a:spLocks noGrp="1"/>
          </p:cNvSpPr>
          <p:nvPr/>
        </p:nvSpPr>
        <p:spPr>
          <a:xfrm>
            <a:off x="609600" y="273558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本教程保留同一个官方 hello_world 应用，另选 mps2/an386，以 Cortex-M4 系统作为 HC32 迁移前的对照。</a:t>
            </a:r>
          </a:p>
        </p:txBody>
      </p:sp>
      <p:sp>
        <p:nvSpPr>
          <p:cNvPr id="6" name="Body 2"/>
          <p:cNvSpPr>
            <a:spLocks noGrp="1"/>
          </p:cNvSpPr>
          <p:nvPr/>
        </p:nvSpPr>
        <p:spPr>
          <a:xfrm>
            <a:off x="609600" y="369951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所以后页命令是本教程选择的应用与板组合。应用、板目标与独立输出三项都明确，不能把它标作官网原样命令。</a:t>
            </a:r>
          </a:p>
        </p:txBody>
      </p:sp>
      <p:sp>
        <p:nvSpPr>
          <p:cNvPr id="7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Reading"/>
              </a:rPr>
              <a:t>完整解释与操作：配套 Markdown P005</a:t>
            </a:r>
          </a:p>
        </p:txBody>
      </p:sp>
      <p:sp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0FCC226C-B303-44A6-821E-7B62B3CC5865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16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先建立官方应用的对照构建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P005 · 工程组织、配置与驱动模型</a:t>
            </a:r>
          </a:p>
        </p:txBody>
      </p:sp>
      <p:sp>
        <p:nvSpPr>
          <p:cNvPr id="4" name="Continuous code"/>
          <p:cNvSpPr>
            <a:spLocks noGrp="1"/>
          </p:cNvSpPr>
          <p:nvPr/>
        </p:nvSpPr>
        <p:spPr>
          <a:xfrm>
            <a:off x="609600" y="1771650"/>
            <a:ext cx="10972800" cy="2171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A02B93"/>
                </a:solidFill>
                <a:ea typeface="Microsoft YaHei"/>
              </a:rPr>
              <a:t>cd</a:t>
            </a:r>
            <a:r>
              <a:t> </a:t>
            </a:r>
            <a:r>
              <a:rPr>
                <a:solidFill>
                  <a:srgbClr val="0070C0"/>
                </a:solidFill>
                <a:ea typeface="Microsoft YaHei"/>
              </a:rPr>
              <a:t>/g/zephyr_practice/zephyr-main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A02B93"/>
                </a:solidFill>
                <a:ea typeface="Microsoft YaHei"/>
              </a:rPr>
              <a:t>source</a:t>
            </a:r>
            <a:r>
              <a:t> .venv/Scripts/activate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export </a:t>
            </a:r>
            <a:r>
              <a:rPr>
                <a:solidFill>
                  <a:srgbClr val="B84E00"/>
                </a:solidFill>
                <a:ea typeface="Microsoft YaHei"/>
              </a:rPr>
              <a:t>ZEPHYR_BASE</a:t>
            </a:r>
            <a:r>
              <a:t>='</a:t>
            </a:r>
            <a:r>
              <a:rPr>
                <a:solidFill>
                  <a:srgbClr val="0070C0"/>
                </a:solidFill>
                <a:ea typeface="Microsoft YaHei"/>
              </a:rPr>
              <a:t>G:/zephyr_practice/zephyr-main'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A02B93"/>
                </a:solidFill>
                <a:ea typeface="Microsoft YaHei"/>
              </a:rPr>
              <a:t>west</a:t>
            </a:r>
            <a:r>
              <a:t> build -b mps2/an386 </a:t>
            </a:r>
            <a:r>
              <a:rPr>
                <a:solidFill>
                  <a:srgbClr val="0070C0"/>
                </a:solidFill>
                <a:ea typeface="Microsoft YaHei"/>
              </a:rPr>
              <a:t>samples/hello_world</a:t>
            </a:r>
            <a:r>
              <a:t> \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  -d </a:t>
            </a:r>
            <a:r>
              <a:rPr>
                <a:solidFill>
                  <a:srgbClr val="0070C0"/>
                </a:solidFill>
                <a:ea typeface="Microsoft YaHei"/>
              </a:rPr>
              <a:t>build/learning-tools/p006/hello_world</a:t>
            </a:r>
            <a:r>
              <a:t> \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  -- -DCMAKE_EXPORT_COMPILE_COMMANDS=ON</a:t>
            </a:r>
          </a:p>
        </p:txBody>
      </p:sp>
      <p:sp>
        <p:nvSpPr>
          <p:cNvPr id="5" name="Body 0"/>
          <p:cNvSpPr>
            <a:spLocks noGrp="1"/>
          </p:cNvSpPr>
          <p:nvPr/>
        </p:nvSpPr>
        <p:spPr>
          <a:xfrm>
            <a:off x="609600" y="4133850"/>
            <a:ext cx="10972800" cy="7170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在 UCRT64 执行本页完整块。先确认 SDK 与 CMSIS 已准备；本章用独立 p006 输出目录保留这次对照。</a:t>
            </a:r>
          </a:p>
        </p:txBody>
      </p:sp>
      <p:sp>
        <p:nvSpPr>
          <p:cNvPr id="6" name="Reading link"/>
          <p:cNvSpPr>
            <a:spLocks noGrp="1"/>
          </p:cNvSpPr>
          <p:nvPr/>
        </p:nvSpPr>
        <p:spPr>
          <a:xfrm>
            <a:off x="609600" y="6105525"/>
            <a:ext cx="619125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Reading"/>
              </a:rPr>
              <a:t>完整解释与操作：配套 Markdown P005</a:t>
            </a:r>
          </a:p>
        </p:txBody>
      </p:sp>
      <p:sp>
        <p:nvSpPr>
          <p:cNvPr id="7" name="Command link"/>
          <p:cNvSpPr>
            <a:spLocks noGrp="1"/>
          </p:cNvSpPr>
          <p:nvPr/>
        </p:nvSpPr>
        <p:spPr>
          <a:xfrm>
            <a:off x="8191500" y="6105525"/>
            <a:ext cx="33909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ea typeface="Microsoft YaHei"/>
                <a:hlinkClick r:id="rIdCommand"/>
              </a:rPr>
              <a:t>完整命令：附件 02</a:t>
            </a:r>
          </a:p>
        </p:txBody>
      </p:sp>
      <p:sp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5D676E38-75F3-42C9-AEF6-A32D3869E650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17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MPS2 的硬件支持由哪些层组成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P005 · 工程组织、配置与驱动模型</a:t>
            </a:r>
          </a:p>
        </p:txBody>
      </p:sp>
      <p:sp>
        <p:nvSpPr>
          <p:cNvPr id="4" name="Flow 0"/>
          <p:cNvSpPr>
            <a:spLocks noGrp="1"/>
          </p:cNvSpPr>
          <p:nvPr/>
        </p:nvSpPr>
        <p:spPr>
          <a:xfrm>
            <a:off x="609600" y="1771650"/>
            <a:ext cx="3479800" cy="952500"/>
          </a:xfrm>
          <a:prstGeom prst="rect">
            <a:avLst/>
          </a:prstGeom>
          <a:solidFill>
            <a:srgbClr val="F5F2FA"/>
          </a:solidFill>
          <a:ln w="12383">
            <a:solidFill>
              <a:srgbClr val="7350BC"/>
            </a:solidFill>
          </a:ln>
        </p:spPr>
        <p:txBody>
          <a:bodyPr lIns="95250" tIns="76200" rIns="95250" bIns="76200"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boards/arm/mps2 + soc/arm/mps2</a:t>
            </a:r>
          </a:p>
        </p:txBody>
      </p:sp>
      <p:sp>
        <p:nvSpPr>
          <p:cNvPr id="5" name="Arrow 0"/>
          <p:cNvSpPr>
            <a:spLocks noGrp="1"/>
          </p:cNvSpPr>
          <p:nvPr/>
        </p:nvSpPr>
        <p:spPr>
          <a:xfrm>
            <a:off x="4127500" y="2171700"/>
            <a:ext cx="190500" cy="152400"/>
          </a:xfrm>
          <a:prstGeom prst="rightArrow">
            <a:avLst/>
          </a:prstGeom>
          <a:solidFill>
            <a:srgbClr val="7350BC"/>
          </a:solidFill>
          <a:ln w="0">
            <a:noFill/>
          </a:ln>
        </p:spPr>
      </p:sp>
      <p:sp>
        <p:nvSpPr>
          <p:cNvPr id="6" name="Flow 1"/>
          <p:cNvSpPr>
            <a:spLocks noGrp="1"/>
          </p:cNvSpPr>
          <p:nvPr/>
        </p:nvSpPr>
        <p:spPr>
          <a:xfrm>
            <a:off x="4356100" y="1771650"/>
            <a:ext cx="3479800" cy="952500"/>
          </a:xfrm>
          <a:prstGeom prst="rect">
            <a:avLst/>
          </a:prstGeom>
          <a:solidFill>
            <a:srgbClr val="F5F2FA"/>
          </a:solidFill>
          <a:ln w="12383">
            <a:solidFill>
              <a:srgbClr val="7350BC"/>
            </a:solidFill>
          </a:ln>
        </p:spPr>
        <p:txBody>
          <a:bodyPr lIns="95250" tIns="76200" rIns="95250" bIns="76200"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arch/arm/core/cortex_m + CMSIS_6</a:t>
            </a:r>
          </a:p>
        </p:txBody>
      </p:sp>
      <p:sp>
        <p:nvSpPr>
          <p:cNvPr id="7" name="Arrow 1"/>
          <p:cNvSpPr>
            <a:spLocks noGrp="1"/>
          </p:cNvSpPr>
          <p:nvPr/>
        </p:nvSpPr>
        <p:spPr>
          <a:xfrm>
            <a:off x="7874000" y="2171700"/>
            <a:ext cx="190500" cy="152400"/>
          </a:xfrm>
          <a:prstGeom prst="rightArrow">
            <a:avLst/>
          </a:prstGeom>
          <a:solidFill>
            <a:srgbClr val="7350BC"/>
          </a:solidFill>
          <a:ln w="0">
            <a:noFill/>
          </a:ln>
        </p:spPr>
      </p:sp>
      <p:sp>
        <p:nvSpPr>
          <p:cNvPr id="8" name="Flow 2"/>
          <p:cNvSpPr>
            <a:spLocks noGrp="1"/>
          </p:cNvSpPr>
          <p:nvPr/>
        </p:nvSpPr>
        <p:spPr>
          <a:xfrm>
            <a:off x="8102600" y="1771650"/>
            <a:ext cx="3479800" cy="952500"/>
          </a:xfrm>
          <a:prstGeom prst="rect">
            <a:avLst/>
          </a:prstGeom>
          <a:solidFill>
            <a:srgbClr val="F5F2FA"/>
          </a:solidFill>
          <a:ln w="12383">
            <a:solidFill>
              <a:srgbClr val="7350BC"/>
            </a:solidFill>
          </a:ln>
        </p:spPr>
        <p:txBody>
          <a:bodyPr lIns="95250" tIns="76200" rIns="95250" bIns="76200"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drivers：UART / GPIO / pinctrl / SysTick</a:t>
            </a:r>
          </a:p>
        </p:txBody>
      </p:sp>
      <p:sp>
        <p:nvSpPr>
          <p:cNvPr id="9" name="Body 0"/>
          <p:cNvSpPr>
            <a:spLocks noGrp="1"/>
          </p:cNvSpPr>
          <p:nvPr/>
        </p:nvSpPr>
        <p:spPr>
          <a:xfrm>
            <a:off x="609600" y="2952750"/>
            <a:ext cx="10972800" cy="7421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板层描述内存、外设、引脚与默认配置；SoC 层确定 ARM / Cortex-M4，并提供芯片系列的头文件和接入规则。</a:t>
            </a:r>
          </a:p>
        </p:txBody>
      </p:sp>
      <p:sp>
        <p:nvSpPr>
          <p:cNvPr id="10" name="Body 1"/>
          <p:cNvSpPr>
            <a:spLocks noGrp="1"/>
          </p:cNvSpPr>
          <p:nvPr/>
        </p:nvSpPr>
        <p:spPr>
          <a:xfrm>
            <a:off x="609600" y="3866388"/>
            <a:ext cx="10972800" cy="7421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架构层实现复位、向量、中断入口和线程上下文；CMSIS 内核头提供 NVIC、SysTick 等内核寄存器与接口。</a:t>
            </a:r>
          </a:p>
        </p:txBody>
      </p:sp>
      <p:sp>
        <p:nvSpPr>
          <p:cNvPr id="11" name="Body 2"/>
          <p:cNvSpPr>
            <a:spLocks noGrp="1"/>
          </p:cNvSpPr>
          <p:nvPr/>
        </p:nvSpPr>
        <p:spPr>
          <a:xfrm>
            <a:off x="609600" y="4780026"/>
            <a:ext cx="10972800" cy="7421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外设层已有 CMSDK UART / GPIO、MMIO GPIO、pinctrl 和系统计时驱动。硬件抽象职责是完整组合，不要求都装进名为 HAL 的独立库。</a:t>
            </a:r>
          </a:p>
        </p:txBody>
      </p:sp>
      <p:sp>
        <p:nvSpPr>
          <p:cNvPr id="12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Reading"/>
              </a:rPr>
              <a:t>完整解释与操作：配套 Markdown P005</a:t>
            </a:r>
          </a:p>
        </p:txBody>
      </p:sp>
      <p:sp>
        <p:nvSpPr>
          <p:cNvPr id="13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A8A90E97-9FA2-4E67-80DD-0965B4111418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18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Arm 确实提供独立 BSP / Pack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P005 · 工程组织、配置与驱动模型</a:t>
            </a:r>
          </a:p>
        </p:txBody>
      </p:sp>
      <p:sp>
        <p:nvSpPr>
          <p:cNvPr id="4" name="Body 0"/>
          <p:cNvSpPr>
            <a:spLocks noGrp="1"/>
          </p:cNvSpPr>
          <p:nvPr/>
        </p:nvSpPr>
        <p:spPr>
          <a:xfrm>
            <a:off x="609600" y="177165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Arm Keil 官方有 V2M-MPS2_CMx_BSP，包含 Board Support 与 Device Support；MPS2 不是没有厂商支持包。</a:t>
            </a:r>
          </a:p>
        </p:txBody>
      </p:sp>
      <p:sp>
        <p:nvSpPr>
          <p:cNvPr id="5" name="Body 1"/>
          <p:cNvSpPr>
            <a:spLocks noGrp="1"/>
          </p:cNvSpPr>
          <p:nvPr/>
        </p:nvSpPr>
        <p:spPr>
          <a:xfrm>
            <a:off x="609600" y="273558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另一件事是：当前 Zephyr 的 mps2/an386 是否用到它。此构建走 Zephyr 自有板、SoC、架构与驱动，再引用 CMSIS_6。</a:t>
            </a:r>
          </a:p>
        </p:txBody>
      </p:sp>
      <p:sp>
        <p:nvSpPr>
          <p:cNvPr id="6" name="Body 2"/>
          <p:cNvSpPr>
            <a:spLocks noGrp="1"/>
          </p:cNvSpPr>
          <p:nvPr/>
        </p:nvSpPr>
        <p:spPr>
          <a:xfrm>
            <a:off x="609600" y="369951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本次清单和编译输入未直接使用该 BSP Pack。因此不把下载 Pack 列为必做，也不能据此声称所有 MPS2 开发方式都不需要它。</a:t>
            </a:r>
          </a:p>
        </p:txBody>
      </p:sp>
      <p:sp>
        <p:nvSpPr>
          <p:cNvPr id="7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Reading"/>
              </a:rPr>
              <a:t>完整解释与操作：配套 Markdown P005</a:t>
            </a:r>
          </a:p>
        </p:txBody>
      </p:sp>
      <p:sp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ECF75712-BF23-434A-856C-CC48419A96AC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19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从 </a:t>
            </a:r>
            <a:r>
              <a:rPr>
                <a:solidFill>
                  <a:srgbClr val="B84E00"/>
                </a:solidFill>
                <a:ea typeface="Microsoft YaHei"/>
              </a:rPr>
              <a:t>BOARD</a:t>
            </a:r>
            <a:r>
              <a:t> 进入 CPU 架构支持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P005 · 工程组织、配置与驱动模型</a:t>
            </a:r>
          </a:p>
        </p:txBody>
      </p:sp>
      <p:sp>
        <p:nvSpPr>
          <p:cNvPr id="4" name="Flow 0"/>
          <p:cNvSpPr>
            <a:spLocks noGrp="1"/>
          </p:cNvSpPr>
          <p:nvPr/>
        </p:nvSpPr>
        <p:spPr>
          <a:xfrm>
            <a:off x="609600" y="1771650"/>
            <a:ext cx="3479800" cy="952500"/>
          </a:xfrm>
          <a:prstGeom prst="rect">
            <a:avLst/>
          </a:prstGeom>
          <a:solidFill>
            <a:srgbClr val="F5F2FA"/>
          </a:solidFill>
          <a:ln w="12383">
            <a:solidFill>
              <a:srgbClr val="7350BC"/>
            </a:solidFill>
          </a:ln>
        </p:spPr>
        <p:txBody>
          <a:bodyPr lIns="95250" tIns="76200" rIns="95250" bIns="76200"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mps2/an386 → board.yml / Kconfig.mps2</a:t>
            </a:r>
          </a:p>
        </p:txBody>
      </p:sp>
      <p:sp>
        <p:nvSpPr>
          <p:cNvPr id="5" name="Arrow 0"/>
          <p:cNvSpPr>
            <a:spLocks noGrp="1"/>
          </p:cNvSpPr>
          <p:nvPr/>
        </p:nvSpPr>
        <p:spPr>
          <a:xfrm>
            <a:off x="4127500" y="2171700"/>
            <a:ext cx="190500" cy="152400"/>
          </a:xfrm>
          <a:prstGeom prst="rightArrow">
            <a:avLst/>
          </a:prstGeom>
          <a:solidFill>
            <a:srgbClr val="7350BC"/>
          </a:solidFill>
          <a:ln w="0">
            <a:noFill/>
          </a:ln>
        </p:spPr>
      </p:sp>
      <p:sp>
        <p:nvSpPr>
          <p:cNvPr id="6" name="Flow 1"/>
          <p:cNvSpPr>
            <a:spLocks noGrp="1"/>
          </p:cNvSpPr>
          <p:nvPr/>
        </p:nvSpPr>
        <p:spPr>
          <a:xfrm>
            <a:off x="4356100" y="1771650"/>
            <a:ext cx="3479800" cy="952500"/>
          </a:xfrm>
          <a:prstGeom prst="rect">
            <a:avLst/>
          </a:prstGeom>
          <a:solidFill>
            <a:srgbClr val="F5F2FA"/>
          </a:solidFill>
          <a:ln w="12383">
            <a:solidFill>
              <a:srgbClr val="7350BC"/>
            </a:solidFill>
          </a:ln>
        </p:spPr>
        <p:txBody>
          <a:bodyPr lIns="95250" tIns="76200" rIns="95250" bIns="76200"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SOC_AN386 → ARM / CPU_CORTEX_M4</a:t>
            </a:r>
          </a:p>
        </p:txBody>
      </p:sp>
      <p:sp>
        <p:nvSpPr>
          <p:cNvPr id="7" name="Arrow 1"/>
          <p:cNvSpPr>
            <a:spLocks noGrp="1"/>
          </p:cNvSpPr>
          <p:nvPr/>
        </p:nvSpPr>
        <p:spPr>
          <a:xfrm>
            <a:off x="7874000" y="2171700"/>
            <a:ext cx="190500" cy="152400"/>
          </a:xfrm>
          <a:prstGeom prst="rightArrow">
            <a:avLst/>
          </a:prstGeom>
          <a:solidFill>
            <a:srgbClr val="7350BC"/>
          </a:solidFill>
          <a:ln w="0">
            <a:noFill/>
          </a:ln>
        </p:spPr>
      </p:sp>
      <p:sp>
        <p:nvSpPr>
          <p:cNvPr id="8" name="Flow 2"/>
          <p:cNvSpPr>
            <a:spLocks noGrp="1"/>
          </p:cNvSpPr>
          <p:nvPr/>
        </p:nvSpPr>
        <p:spPr>
          <a:xfrm>
            <a:off x="8102600" y="1771650"/>
            <a:ext cx="3479800" cy="952500"/>
          </a:xfrm>
          <a:prstGeom prst="rect">
            <a:avLst/>
          </a:prstGeom>
          <a:solidFill>
            <a:srgbClr val="F5F2FA"/>
          </a:solidFill>
          <a:ln w="12383">
            <a:solidFill>
              <a:srgbClr val="7350BC"/>
            </a:solidFill>
          </a:ln>
        </p:spPr>
        <p:txBody>
          <a:bodyPr lIns="95250" tIns="76200" rIns="95250" bIns="76200"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arch/arm/core/cortex_m → 启动与上下文</a:t>
            </a:r>
          </a:p>
        </p:txBody>
      </p:sp>
      <p:sp>
        <p:nvSpPr>
          <p:cNvPr id="9" name="Body 0"/>
          <p:cNvSpPr>
            <a:spLocks noGrp="1"/>
          </p:cNvSpPr>
          <p:nvPr/>
        </p:nvSpPr>
        <p:spPr>
          <a:xfrm>
            <a:off x="609600" y="2952750"/>
            <a:ext cx="10972800" cy="7421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B84E00"/>
                </a:solidFill>
                <a:ea typeface="Microsoft YaHei"/>
              </a:rPr>
              <a:t>BOARD</a:t>
            </a:r>
            <a:r>
              <a:t> 的 mps2 部分找到板定义，an386 选中对应 SoC；板 Kconfig 进而选择 </a:t>
            </a:r>
            <a:r>
              <a:rPr>
                <a:solidFill>
                  <a:srgbClr val="0070C0"/>
                </a:solidFill>
                <a:ea typeface="Microsoft YaHei"/>
              </a:rPr>
              <a:t>SOC_AN386</a:t>
            </a:r>
            <a:r>
              <a:t>。</a:t>
            </a:r>
          </a:p>
        </p:txBody>
      </p:sp>
      <p:sp>
        <p:nvSpPr>
          <p:cNvPr id="10" name="Body 1"/>
          <p:cNvSpPr>
            <a:spLocks noGrp="1"/>
          </p:cNvSpPr>
          <p:nvPr/>
        </p:nvSpPr>
        <p:spPr>
          <a:xfrm>
            <a:off x="609600" y="3866388"/>
            <a:ext cx="10972800" cy="7421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MPS2 的 SoC Kconfig 选择 ARM、Cortex-M4、MPU 与 VFP。架构 CMake 据此进入 Cortex-M 目录。</a:t>
            </a:r>
          </a:p>
        </p:txBody>
      </p:sp>
      <p:sp>
        <p:nvSpPr>
          <p:cNvPr id="11" name="Body 2"/>
          <p:cNvSpPr>
            <a:spLocks noGrp="1"/>
          </p:cNvSpPr>
          <p:nvPr/>
        </p:nvSpPr>
        <p:spPr>
          <a:xfrm>
            <a:off x="609600" y="4780026"/>
            <a:ext cx="10972800" cy="7421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所以 </a:t>
            </a:r>
            <a:r>
              <a:rPr>
                <a:solidFill>
                  <a:srgbClr val="0070C0"/>
                </a:solidFill>
                <a:ea typeface="Microsoft YaHei"/>
              </a:rPr>
              <a:t>reset.S</a:t>
            </a:r>
            <a:r>
              <a:t>、</a:t>
            </a:r>
            <a:r>
              <a:rPr>
                <a:solidFill>
                  <a:srgbClr val="0070C0"/>
                </a:solidFill>
                <a:ea typeface="Microsoft YaHei"/>
              </a:rPr>
              <a:t>vector_table.S</a:t>
            </a:r>
            <a:r>
              <a:t>、</a:t>
            </a:r>
            <a:r>
              <a:rPr>
                <a:solidFill>
                  <a:srgbClr val="0070C0"/>
                </a:solidFill>
                <a:ea typeface="Microsoft YaHei"/>
              </a:rPr>
              <a:t>thread.c</a:t>
            </a:r>
            <a:r>
              <a:t> 等实现已被选入。应用不需要另写一套启动文件；这些文件也不是 SDK 生成的。</a:t>
            </a:r>
          </a:p>
        </p:txBody>
      </p:sp>
      <p:sp>
        <p:nvSpPr>
          <p:cNvPr id="12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Reading"/>
              </a:rPr>
              <a:t>完整解释与操作：配套 Markdown P005</a:t>
            </a:r>
          </a:p>
        </p:txBody>
      </p:sp>
      <p:sp>
        <p:nvSpPr>
          <p:cNvPr id="13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51EE6A4A-F8C2-4469-A9F7-29D0C0196A27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20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NVIC、节拍、内存和时钟也有来源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P005 · 工程组织、配置与驱动模型</a:t>
            </a:r>
          </a:p>
        </p:txBody>
      </p:sp>
      <p:sp>
        <p:nvSpPr>
          <p:cNvPr id="4" name="Body 0"/>
          <p:cNvSpPr>
            <a:spLocks noGrp="1"/>
          </p:cNvSpPr>
          <p:nvPr/>
        </p:nvSpPr>
        <p:spPr>
          <a:xfrm>
            <a:off x="609600" y="177165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Cortex-M 的 </a:t>
            </a:r>
            <a:r>
              <a:rPr>
                <a:solidFill>
                  <a:srgbClr val="0070C0"/>
                </a:solidFill>
                <a:ea typeface="Microsoft YaHei"/>
              </a:rPr>
              <a:t>irq_manage.c</a:t>
            </a:r>
            <a:r>
              <a:t> 调用 CMSIS 的 NVIC_EnableIRQ / NVIC_SetPriority 等接口，连接 Zephyr 中断管理和内核寄存器。</a:t>
            </a:r>
          </a:p>
        </p:txBody>
      </p:sp>
      <p:sp>
        <p:nvSpPr>
          <p:cNvPr id="5" name="Body 1"/>
          <p:cNvSpPr>
            <a:spLocks noGrp="1"/>
          </p:cNvSpPr>
          <p:nvPr/>
        </p:nvSpPr>
        <p:spPr>
          <a:xfrm>
            <a:off x="609600" y="273558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B84E00"/>
                </a:solidFill>
                <a:ea typeface="Microsoft YaHei"/>
              </a:rPr>
              <a:t>CONFIG_CORTEX_M_SYSTICK</a:t>
            </a:r>
            <a:r>
              <a:t> 选择 </a:t>
            </a:r>
            <a:r>
              <a:rPr>
                <a:solidFill>
                  <a:srgbClr val="0070C0"/>
                </a:solidFill>
                <a:ea typeface="Microsoft YaHei"/>
              </a:rPr>
              <a:t>cortex_m_systick.c</a:t>
            </a:r>
            <a:r>
              <a:t> 提供系统节拍。板 DTS 定义 Flash、SRAM 和 25 MHz 固定时钟节点，链接布局按这些输入形成。</a:t>
            </a:r>
          </a:p>
        </p:txBody>
      </p:sp>
      <p:sp>
        <p:nvSpPr>
          <p:cNvPr id="6" name="Body 2"/>
          <p:cNvSpPr>
            <a:spLocks noGrp="1"/>
          </p:cNvSpPr>
          <p:nvPr/>
        </p:nvSpPr>
        <p:spPr>
          <a:xfrm>
            <a:off x="609600" y="369951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这些职责分别位于架构、CMSIS、计时驱动和板描述中。不要看到 </a:t>
            </a:r>
            <a:r>
              <a:rPr>
                <a:solidFill>
                  <a:srgbClr val="0070C0"/>
                </a:solidFill>
                <a:ea typeface="Microsoft YaHei"/>
              </a:rPr>
              <a:t>soc.c</a:t>
            </a:r>
            <a:r>
              <a:t> 就猜它完成所有时钟初始化；该文件还含其他 MPS2 变体共用代码。</a:t>
            </a:r>
          </a:p>
        </p:txBody>
      </p:sp>
      <p:sp>
        <p:nvSpPr>
          <p:cNvPr id="7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Reading"/>
              </a:rPr>
              <a:t>完整解释与操作：配套 Markdown P005</a:t>
            </a:r>
          </a:p>
        </p:txBody>
      </p:sp>
      <p:sp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69F02178-1A37-4D96-949F-82D961B60360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21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设备树说明 UART 在哪里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P005 · 工程组织、配置与驱动模型</a:t>
            </a:r>
          </a:p>
        </p:txBody>
      </p:sp>
      <p:sp>
        <p:nvSpPr>
          <p:cNvPr id="4" name="Continuous code"/>
          <p:cNvSpPr>
            <a:spLocks noGrp="1"/>
          </p:cNvSpPr>
          <p:nvPr/>
        </p:nvSpPr>
        <p:spPr>
          <a:xfrm>
            <a:off x="609600" y="1771650"/>
            <a:ext cx="10972800" cy="182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uart0: uart@40004000 {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    compatible = "arm,cmsdk-uart";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    reg = &lt;0x40004000 0x1000&gt;;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    current-speed = &lt;115200&gt;;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};</a:t>
            </a:r>
          </a:p>
        </p:txBody>
      </p:sp>
      <p:sp>
        <p:nvSpPr>
          <p:cNvPr id="5" name="Body 0"/>
          <p:cNvSpPr>
            <a:spLocks noGrp="1"/>
          </p:cNvSpPr>
          <p:nvPr/>
        </p:nvSpPr>
        <p:spPr>
          <a:xfrm>
            <a:off x="609600" y="3790950"/>
            <a:ext cx="10972800" cy="7170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板的 chosen 已把 console 指向 uart0。这段原文件摘录说明接口种类、地址和波特率，只读理解即可。</a:t>
            </a:r>
          </a:p>
        </p:txBody>
      </p:sp>
      <p:sp>
        <p:nvSpPr>
          <p:cNvPr id="6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Reading"/>
              </a:rPr>
              <a:t>完整解释与操作：配套 Markdown P005</a:t>
            </a:r>
          </a:p>
        </p:txBody>
      </p:sp>
      <p:sp>
        <p:nvSpPr>
          <p:cNvPr id="7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60CAE0EA-AFB9-4726-859C-D53A673F7C35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22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同一种 UART，用不同配置服务不同平台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P005 · 工程组织、配置与驱动模型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="609600" y="1771650"/>
          <a:ext cx="10972800" cy="2514600"/>
        </p:xfrm>
        <a:graphic>
          <a:graphicData uri="http://schemas.openxmlformats.org/drawingml/2006/table">
            <a:tbl>
              <a:tblPr/>
              <a:tblGrid>
                <a:gridCol w="3048000"/>
                <a:gridCol w="3810000"/>
                <a:gridCol w="4114800"/>
              </a:tblGrid>
              <a:tr h="62865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UART0 配置</a:t>
                      </a:r>
                    </a:p>
                  </a:txBody>
                  <a:tcPr marL="91440" marR="91440" marT="45720" marB="45720" anchor="ctr">
                    <a:solidFill>
                      <a:srgbClr val="EEE8F6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MPS2</a:t>
                      </a:r>
                    </a:p>
                  </a:txBody>
                  <a:tcPr marL="91440" marR="91440" marT="45720" marB="45720" anchor="ctr">
                    <a:solidFill>
                      <a:srgbClr val="EEE8F6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MPS3 的本例配置</a:t>
                      </a:r>
                    </a:p>
                  </a:txBody>
                  <a:tcPr marL="91440" marR="91440" marT="45720" marB="45720" anchor="ctr">
                    <a:solidFill>
                      <a:srgbClr val="EEE8F6"/>
                    </a:solidFill>
                  </a:tcPr>
                </a:tc>
              </a:tr>
              <a:tr h="62865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compatible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arm,cmsdk-uart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arm,cmsdk-uart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reg 基地址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0x40004000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0x09303000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</a:tr>
              <a:tr h="62865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TX / RX 中断号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/ 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 / 33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Body 0"/>
          <p:cNvSpPr>
            <a:spLocks noGrp="1"/>
          </p:cNvSpPr>
          <p:nvPr/>
        </p:nvSpPr>
        <p:spPr>
          <a:xfrm>
            <a:off x="609600" y="4457700"/>
            <a:ext cx="10972800" cy="7170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同一 IP 复用寄存器操作，各实例保存自己的地址和中断。寄存器语义不同的外设仍需对应驱动，设备树不能生成操作算法。</a:t>
            </a:r>
          </a:p>
        </p:txBody>
      </p:sp>
      <p:sp>
        <p:nvSpPr>
          <p:cNvPr id="6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ModelReading"/>
              </a:rPr>
              <a:t>完整解释与操作：配套 Markdown P005</a:t>
            </a:r>
          </a:p>
        </p:txBody>
      </p:sp>
      <p:sp>
        <p:nvSpPr>
          <p:cNvPr id="7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D231DB10-C444-4D42-9C34-4015FF75C4DC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23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Kconfig 文件沿入口读取，不按目录自动生效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P005 · 工程组织、配置与驱动模型</a:t>
            </a:r>
          </a:p>
        </p:txBody>
      </p:sp>
      <p:sp>
        <p:nvSpPr>
          <p:cNvPr id="4" name="Body 0"/>
          <p:cNvSpPr>
            <a:spLocks noGrp="1"/>
          </p:cNvSpPr>
          <p:nvPr/>
        </p:nvSpPr>
        <p:spPr>
          <a:xfrm>
            <a:off x="609600" y="177165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顶层 Kconfig 进入 Kconfig.zephyr，再由 </a:t>
            </a:r>
            <a:r>
              <a:rPr>
                <a:solidFill>
                  <a:srgbClr val="0070C0"/>
                </a:solidFill>
                <a:ea typeface="Microsoft YaHei"/>
              </a:rPr>
              <a:t>drivers/Kconfig</a:t>
            </a:r>
            <a:r>
              <a:t> 读取串口 Kconfig。串口文件明确写出 rsource "Kconfig.cmsdk_apb"，才读入这个实现的声明。</a:t>
            </a:r>
          </a:p>
        </p:txBody>
      </p:sp>
      <p:sp>
        <p:nvSpPr>
          <p:cNvPr id="5" name="Body 1"/>
          <p:cNvSpPr>
            <a:spLocks noGrp="1"/>
          </p:cNvSpPr>
          <p:nvPr/>
        </p:nvSpPr>
        <p:spPr>
          <a:xfrm>
            <a:off x="609600" y="273558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A02B93"/>
                </a:solidFill>
                <a:ea typeface="Microsoft YaHei"/>
              </a:rPr>
              <a:t>source</a:t>
            </a:r>
            <a:r>
              <a:t> 按 Kconfig 的源码根规则定位，rsource 相对当前 Kconfig 文件定位。本例逐条列出驱动配置入口，不会自动扫描目录里新增的 Kconfig 文件。</a:t>
            </a:r>
          </a:p>
        </p:txBody>
      </p:sp>
      <p:sp>
        <p:nvSpPr>
          <p:cNvPr id="6" name="Body 2"/>
          <p:cNvSpPr>
            <a:spLocks noGrp="1"/>
          </p:cNvSpPr>
          <p:nvPr/>
        </p:nvSpPr>
        <p:spPr>
          <a:xfrm>
            <a:off x="609600" y="369951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新增私有驱动时，既要让它的 Kconfig 声明可达，也要让后面的 CMake 选源规则可达；只复制文件或只写 </a:t>
            </a:r>
            <a:r>
              <a:rPr>
                <a:solidFill>
                  <a:srgbClr val="0070C0"/>
                </a:solidFill>
                <a:ea typeface="Microsoft YaHei"/>
              </a:rPr>
              <a:t>prj.conf</a:t>
            </a:r>
            <a:r>
              <a:t> 都不完整。</a:t>
            </a:r>
          </a:p>
        </p:txBody>
      </p:sp>
      <p:sp>
        <p:nvSpPr>
          <p:cNvPr id="7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ModelReading"/>
              </a:rPr>
              <a:t>完整解释与操作：配套 Markdown P005</a:t>
            </a:r>
          </a:p>
        </p:txBody>
      </p:sp>
      <p:sp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D231DB10-C444-4D42-9C34-4015FF75C4DC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24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一个 Kconfig 符号怎样成为可选实现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P005 · 工程组织、配置与驱动模型</a:t>
            </a:r>
          </a:p>
        </p:txBody>
      </p:sp>
      <p:sp>
        <p:nvSpPr>
          <p:cNvPr id="4" name="Continuous code"/>
          <p:cNvSpPr>
            <a:spLocks noGrp="1"/>
          </p:cNvSpPr>
          <p:nvPr/>
        </p:nvSpPr>
        <p:spPr>
          <a:xfrm>
            <a:off x="609600" y="1771650"/>
            <a:ext cx="10972800" cy="1485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config UART_CMSDK_APB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    bool "ARM CMSDK APB UART driver"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    default y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    depends on DT_HAS_ARM_CMSDK_UART_ENABLED</a:t>
            </a:r>
          </a:p>
        </p:txBody>
      </p:sp>
      <p:sp>
        <p:nvSpPr>
          <p:cNvPr id="5" name="Body 0"/>
          <p:cNvSpPr>
            <a:spLocks noGrp="1"/>
          </p:cNvSpPr>
          <p:nvPr/>
        </p:nvSpPr>
        <p:spPr>
          <a:xfrm>
            <a:off x="609600" y="3448050"/>
            <a:ext cx="10972800" cy="7170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config 声明名不带 CONFIG_。bool 表示开关；default y 只在依赖满足等条件下提供默认值。depends on 限制可选条件，不是负责下载或编译。</a:t>
            </a:r>
          </a:p>
        </p:txBody>
      </p:sp>
      <p:sp>
        <p:nvSpPr>
          <p:cNvPr id="6" name="Body 1"/>
          <p:cNvSpPr>
            <a:spLocks noGrp="1"/>
          </p:cNvSpPr>
          <p:nvPr/>
        </p:nvSpPr>
        <p:spPr>
          <a:xfrm>
            <a:off x="609600" y="4336542"/>
            <a:ext cx="10972800" cy="7170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DT_HAS_ARM_CMSDK_UART_ENABLED 来自设备树支持的 Kconfig 生成规则。最终值由启用节点及配置求值决定，不能在 </a:t>
            </a:r>
            <a:r>
              <a:rPr>
                <a:solidFill>
                  <a:srgbClr val="0070C0"/>
                </a:solidFill>
                <a:ea typeface="Microsoft YaHei"/>
              </a:rPr>
              <a:t>prj.conf</a:t>
            </a:r>
            <a:r>
              <a:t> 强设来绕过缺失硬件。</a:t>
            </a:r>
          </a:p>
        </p:txBody>
      </p:sp>
      <p:sp>
        <p:nvSpPr>
          <p:cNvPr id="7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ModelReading"/>
              </a:rPr>
              <a:t>完整解释与操作：配套 Markdown P005</a:t>
            </a:r>
          </a:p>
        </p:txBody>
      </p:sp>
      <p:sp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D231DB10-C444-4D42-9C34-4015FF75C4DC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25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default、depends on 与 select 不做同一件事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P005 · 工程组织、配置与驱动模型</a:t>
            </a:r>
          </a:p>
        </p:txBody>
      </p:sp>
      <p:sp>
        <p:nvSpPr>
          <p:cNvPr id="4" name="Body 0"/>
          <p:cNvSpPr>
            <a:spLocks noGrp="1"/>
          </p:cNvSpPr>
          <p:nvPr/>
        </p:nvSpPr>
        <p:spPr>
          <a:xfrm>
            <a:off x="609600" y="177165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depends on 给当前符号设置前提。default 是没有显式覆盖时的候选值，仍受依赖约束；最终结果应检查 .config，不能只看声明里的 default y。</a:t>
            </a:r>
          </a:p>
        </p:txBody>
      </p:sp>
      <p:sp>
        <p:nvSpPr>
          <p:cNvPr id="5" name="Body 1"/>
          <p:cNvSpPr>
            <a:spLocks noGrp="1"/>
          </p:cNvSpPr>
          <p:nvPr/>
        </p:nvSpPr>
        <p:spPr>
          <a:xfrm>
            <a:off x="609600" y="273558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select 是反向依赖，当前驱动选中后推动另一个符号启用。本例声明串口驱动能力并选择 PINCTRL；它不是添加源文件的命令。</a:t>
            </a:r>
          </a:p>
        </p:txBody>
      </p:sp>
      <p:sp>
        <p:nvSpPr>
          <p:cNvPr id="6" name="Body 2"/>
          <p:cNvSpPr>
            <a:spLocks noGrp="1"/>
          </p:cNvSpPr>
          <p:nvPr/>
        </p:nvSpPr>
        <p:spPr>
          <a:xfrm>
            <a:off x="609600" y="369951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select 可能绕过被选择符号自身的依赖，不能拿它作为“缺什么就强制开启”的办法。新增驱动要把硬件前提、能力声明和编译规则分别写清。</a:t>
            </a:r>
          </a:p>
        </p:txBody>
      </p:sp>
      <p:sp>
        <p:nvSpPr>
          <p:cNvPr id="7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ModelReading"/>
              </a:rPr>
              <a:t>完整解释与操作：配套 Markdown P005</a:t>
            </a:r>
          </a:p>
        </p:txBody>
      </p:sp>
      <p:sp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D231DB10-C444-4D42-9C34-4015FF75C4DC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26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板 defconfig、应用配置与默认规则如何合并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P005 · 工程组织、配置与驱动模型</a:t>
            </a:r>
          </a:p>
        </p:txBody>
      </p:sp>
      <p:sp>
        <p:nvSpPr>
          <p:cNvPr id="4" name="Body 0"/>
          <p:cNvSpPr>
            <a:spLocks noGrp="1"/>
          </p:cNvSpPr>
          <p:nvPr/>
        </p:nvSpPr>
        <p:spPr>
          <a:xfrm>
            <a:off x="609600" y="177165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mps2_an386_defconfig 是板的配置赋值片段，包含 </a:t>
            </a:r>
            <a:r>
              <a:rPr>
                <a:solidFill>
                  <a:srgbClr val="B84E00"/>
                </a:solidFill>
                <a:ea typeface="Microsoft YaHei"/>
              </a:rPr>
              <a:t>CONFIG_SERIAL</a:t>
            </a:r>
            <a:r>
              <a:t>=y、</a:t>
            </a:r>
            <a:r>
              <a:rPr>
                <a:solidFill>
                  <a:srgbClr val="B84E00"/>
                </a:solidFill>
                <a:ea typeface="Microsoft YaHei"/>
              </a:rPr>
              <a:t>CONFIG_UART_CONSOLE</a:t>
            </a:r>
            <a:r>
              <a:t>=y。应用 </a:t>
            </a:r>
            <a:r>
              <a:rPr>
                <a:solidFill>
                  <a:srgbClr val="0070C0"/>
                </a:solidFill>
                <a:ea typeface="Microsoft YaHei"/>
              </a:rPr>
              <a:t>prj.conf</a:t>
            </a:r>
            <a:r>
              <a:t> 再提出本应用需要的功能。</a:t>
            </a:r>
          </a:p>
        </p:txBody>
      </p:sp>
      <p:sp>
        <p:nvSpPr>
          <p:cNvPr id="5" name="Body 1"/>
          <p:cNvSpPr>
            <a:spLocks noGrp="1"/>
          </p:cNvSpPr>
          <p:nvPr/>
        </p:nvSpPr>
        <p:spPr>
          <a:xfrm>
            <a:off x="609600" y="273558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Kconfig.defconfig 使用 Kconfig 语法补充条件默认值。MPS2 在 SERIAL 开启时给 UART_INTERRUPT_DRIVEN 默认 y，它与 xxx_defconfig 不是同一种文件。</a:t>
            </a:r>
          </a:p>
        </p:txBody>
      </p:sp>
      <p:sp>
        <p:nvSpPr>
          <p:cNvPr id="6" name="Body 2"/>
          <p:cNvSpPr>
            <a:spLocks noGrp="1"/>
          </p:cNvSpPr>
          <p:nvPr/>
        </p:nvSpPr>
        <p:spPr>
          <a:xfrm>
            <a:off x="609600" y="369951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配置片段按构建规则合并后仍要经过依赖求值。合法的应用赋值可覆盖板默认；新增驱动的符号、依赖和选源规则仍必须事先存在。</a:t>
            </a:r>
          </a:p>
        </p:txBody>
      </p:sp>
      <p:sp>
        <p:nvSpPr>
          <p:cNvPr id="7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ModelReading"/>
              </a:rPr>
              <a:t>完整解释与操作：配套 Markdown P005</a:t>
            </a:r>
          </a:p>
        </p:txBody>
      </p:sp>
      <p:sp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D231DB10-C444-4D42-9C34-4015FF75C4DC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27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同一个开关在三个文件中的写法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P005 · 工程组织、配置与驱动模型</a:t>
            </a:r>
          </a:p>
        </p:txBody>
      </p:sp>
      <p:sp>
        <p:nvSpPr>
          <p:cNvPr id="4" name="Continuous code"/>
          <p:cNvSpPr>
            <a:spLocks noGrp="1"/>
          </p:cNvSpPr>
          <p:nvPr/>
        </p:nvSpPr>
        <p:spPr>
          <a:xfrm>
            <a:off x="609600" y="1771650"/>
            <a:ext cx="10972800" cy="2171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646173"/>
                </a:solidFill>
                <a:ea typeface="Microsoft YaHei"/>
              </a:rPr>
              <a:t># Kconfig 中声明（名称没有 CONFIG_ 前缀）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config UART_CMSDK_APB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646173"/>
                </a:solidFill>
                <a:ea typeface="Microsoft YaHei"/>
              </a:rPr>
              <a:t># .config 中保存最终值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B84E00"/>
                </a:solidFill>
                <a:ea typeface="Microsoft YaHei"/>
              </a:rPr>
              <a:t>CONFIG_UART_CMSDK_APB</a:t>
            </a:r>
            <a:r>
              <a:t>=y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/* </a:t>
            </a:r>
            <a:r>
              <a:rPr>
                <a:solidFill>
                  <a:srgbClr val="0070C0"/>
                </a:solidFill>
                <a:ea typeface="Microsoft YaHei"/>
              </a:rPr>
              <a:t>autoconf.h</a:t>
            </a:r>
            <a:r>
              <a:t> 中供 C 预处理使用 */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646173"/>
                </a:solidFill>
                <a:ea typeface="Microsoft YaHei"/>
              </a:rPr>
              <a:t>#define CONFIG_UART_CMSDK_APB 1</a:t>
            </a:r>
          </a:p>
        </p:txBody>
      </p:sp>
      <p:sp>
        <p:nvSpPr>
          <p:cNvPr id="5" name="Body 0"/>
          <p:cNvSpPr>
            <a:spLocks noGrp="1"/>
          </p:cNvSpPr>
          <p:nvPr/>
        </p:nvSpPr>
        <p:spPr>
          <a:xfrm>
            <a:off x="609600" y="4133850"/>
            <a:ext cx="10972800" cy="7170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声明、最终配置和 C 宏是三个表示形式。bool 关闭时，.config 通常记录未启用，</a:t>
            </a:r>
            <a:r>
              <a:rPr>
                <a:solidFill>
                  <a:srgbClr val="0070C0"/>
                </a:solidFill>
                <a:ea typeface="Microsoft YaHei"/>
              </a:rPr>
              <a:t>autoconf.h</a:t>
            </a:r>
            <a:r>
              <a:t> 则不定义对应宏；不能用 #ifdef 测试一个手写为 0 的宏是否开启。</a:t>
            </a:r>
          </a:p>
        </p:txBody>
      </p:sp>
      <p:sp>
        <p:nvSpPr>
          <p:cNvPr id="6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ModelReading"/>
              </a:rPr>
              <a:t>完整解释与操作：配套 Markdown P005</a:t>
            </a:r>
          </a:p>
        </p:txBody>
      </p:sp>
      <p:sp>
        <p:nvSpPr>
          <p:cNvPr id="7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D231DB10-C444-4D42-9C34-4015FF75C4DC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28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最终配置分别交给 CMake 和 C 编译器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P005 · 工程组织、配置与驱动模型</a:t>
            </a:r>
          </a:p>
        </p:txBody>
      </p:sp>
      <p:sp>
        <p:nvSpPr>
          <p:cNvPr id="4" name="Body 0"/>
          <p:cNvSpPr>
            <a:spLocks noGrp="1"/>
          </p:cNvSpPr>
          <p:nvPr/>
        </p:nvSpPr>
        <p:spPr>
          <a:xfrm>
            <a:off x="609600" y="177165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板默认配置、应用 </a:t>
            </a:r>
            <a:r>
              <a:rPr>
                <a:solidFill>
                  <a:srgbClr val="0070C0"/>
                </a:solidFill>
                <a:ea typeface="Microsoft YaHei"/>
              </a:rPr>
              <a:t>prj.conf</a:t>
            </a:r>
            <a:r>
              <a:t> 等输入参与 Kconfig 求值，生成 </a:t>
            </a:r>
            <a:r>
              <a:rPr>
                <a:solidFill>
                  <a:srgbClr val="0070C0"/>
                </a:solidFill>
                <a:ea typeface="Microsoft YaHei"/>
              </a:rPr>
              <a:t>build/zephyr/.config</a:t>
            </a:r>
            <a:r>
              <a:t>，以及 </a:t>
            </a:r>
            <a:r>
              <a:rPr>
                <a:solidFill>
                  <a:srgbClr val="0070C0"/>
                </a:solidFill>
                <a:ea typeface="Microsoft YaHei"/>
              </a:rPr>
              <a:t>include/generated/zephyr/autoconf.h</a:t>
            </a:r>
            <a:r>
              <a:t>。不要直接修改生成文件。</a:t>
            </a:r>
          </a:p>
        </p:txBody>
      </p:sp>
      <p:sp>
        <p:nvSpPr>
          <p:cNvPr id="5" name="Body 1"/>
          <p:cNvSpPr>
            <a:spLocks noGrp="1"/>
          </p:cNvSpPr>
          <p:nvPr/>
        </p:nvSpPr>
        <p:spPr>
          <a:xfrm>
            <a:off x="609600" y="273558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CMake 的 import_kconfig 读取 .config，把 </a:t>
            </a:r>
            <a:r>
              <a:rPr>
                <a:solidFill>
                  <a:srgbClr val="B84E00"/>
                </a:solidFill>
                <a:ea typeface="Microsoft YaHei"/>
              </a:rPr>
              <a:t>CONFIG_UART_CMSDK_APB</a:t>
            </a:r>
            <a:r>
              <a:t> 等变成 CMake 变量，供选目录、选源文件使用。</a:t>
            </a:r>
          </a:p>
        </p:txBody>
      </p:sp>
      <p:sp>
        <p:nvSpPr>
          <p:cNvPr id="6" name="Body 2"/>
          <p:cNvSpPr>
            <a:spLocks noGrp="1"/>
          </p:cNvSpPr>
          <p:nvPr/>
        </p:nvSpPr>
        <p:spPr>
          <a:xfrm>
            <a:off x="609600" y="369951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GNU 编译命令通过 -imacros 提供 </a:t>
            </a:r>
            <a:r>
              <a:rPr>
                <a:solidFill>
                  <a:srgbClr val="0070C0"/>
                </a:solidFill>
                <a:ea typeface="Microsoft YaHei"/>
              </a:rPr>
              <a:t>autoconf.h</a:t>
            </a:r>
            <a:r>
              <a:t>。C 源码里的 #ifdef CONFIG_* 读取的是这些预处理定义；CMake 变量本身不会直接进入 C 语言。</a:t>
            </a:r>
          </a:p>
        </p:txBody>
      </p:sp>
      <p:sp>
        <p:nvSpPr>
          <p:cNvPr id="7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ModelReading"/>
              </a:rPr>
              <a:t>完整解释与操作：配套 Markdown P005</a:t>
            </a:r>
          </a:p>
        </p:txBody>
      </p:sp>
      <p:sp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D231DB10-C444-4D42-9C34-4015FF75C4DC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29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父目录决定是否进入串口的 CMake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P005 · 工程组织、配置与驱动模型</a:t>
            </a:r>
          </a:p>
        </p:txBody>
      </p:sp>
      <p:sp>
        <p:nvSpPr>
          <p:cNvPr id="4" name="Continuous code"/>
          <p:cNvSpPr>
            <a:spLocks noGrp="1"/>
          </p:cNvSpPr>
          <p:nvPr/>
        </p:nvSpPr>
        <p:spPr>
          <a:xfrm>
            <a:off x="609600" y="1771650"/>
            <a:ext cx="10972800" cy="2171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646173"/>
                </a:solidFill>
                <a:ea typeface="Microsoft YaHei"/>
              </a:rPr>
              <a:t># drivers/CMakeLists.txt，只读源码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add_subdirectory_ifdef(</a:t>
            </a:r>
            <a:r>
              <a:rPr>
                <a:solidFill>
                  <a:srgbClr val="B84E00"/>
                </a:solidFill>
                <a:ea typeface="Microsoft YaHei"/>
              </a:rPr>
              <a:t>CONFIG_SERIAL</a:t>
            </a:r>
            <a:r>
              <a:t> serial)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/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646173"/>
                </a:solidFill>
                <a:ea typeface="Microsoft YaHei"/>
              </a:rPr>
              <a:t># drivers/serial/CMakeLists.txt，只读源码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087B3D"/>
                </a:solidFill>
                <a:ea typeface="Microsoft YaHei"/>
              </a:rPr>
              <a:t>zephyr_library_sources_ifdef</a:t>
            </a:r>
            <a:r>
              <a:t>(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  </a:t>
            </a:r>
            <a:r>
              <a:rPr>
                <a:solidFill>
                  <a:srgbClr val="B84E00"/>
                </a:solidFill>
                <a:ea typeface="Microsoft YaHei"/>
              </a:rPr>
              <a:t>CONFIG_UART_CMSDK_APB</a:t>
            </a:r>
            <a:r>
              <a:t> </a:t>
            </a:r>
            <a:r>
              <a:rPr>
                <a:solidFill>
                  <a:srgbClr val="0070C0"/>
                </a:solidFill>
                <a:ea typeface="Microsoft YaHei"/>
              </a:rPr>
              <a:t>uart_cmsdk_apb.c</a:t>
            </a:r>
            <a:r>
              <a:t>)</a:t>
            </a:r>
          </a:p>
        </p:txBody>
      </p:sp>
      <p:sp>
        <p:nvSpPr>
          <p:cNvPr id="5" name="Body 0"/>
          <p:cNvSpPr>
            <a:spLocks noGrp="1"/>
          </p:cNvSpPr>
          <p:nvPr/>
        </p:nvSpPr>
        <p:spPr>
          <a:xfrm>
            <a:off x="609600" y="4133850"/>
            <a:ext cx="10972800" cy="7170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先有父目录的 add_subdirectory，子目录的 </a:t>
            </a:r>
            <a:r>
              <a:rPr>
                <a:solidFill>
                  <a:srgbClr val="0070C0"/>
                </a:solidFill>
                <a:ea typeface="Microsoft YaHei"/>
              </a:rPr>
              <a:t>CMakeLists.txt</a:t>
            </a:r>
            <a:r>
              <a:t> 才执行。这里 </a:t>
            </a:r>
            <a:r>
              <a:rPr>
                <a:solidFill>
                  <a:srgbClr val="B84E00"/>
                </a:solidFill>
                <a:ea typeface="Microsoft YaHei"/>
              </a:rPr>
              <a:t>CONFIG_SERIAL</a:t>
            </a:r>
            <a:r>
              <a:t> 决定进入 serial；它不是看到 </a:t>
            </a:r>
            <a:r>
              <a:rPr>
                <a:solidFill>
                  <a:srgbClr val="0070C0"/>
                </a:solidFill>
                <a:ea typeface="Microsoft YaHei"/>
              </a:rPr>
              <a:t>drivers/serial</a:t>
            </a:r>
            <a:r>
              <a:t> 目录就自动编译。</a:t>
            </a:r>
          </a:p>
        </p:txBody>
      </p:sp>
      <p:sp>
        <p:nvSpPr>
          <p:cNvPr id="6" name="Body 1"/>
          <p:cNvSpPr>
            <a:spLocks noGrp="1"/>
          </p:cNvSpPr>
          <p:nvPr/>
        </p:nvSpPr>
        <p:spPr>
          <a:xfrm>
            <a:off x="609600" y="5022342"/>
            <a:ext cx="10972800" cy="7170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进入串口目录后，各条 </a:t>
            </a:r>
            <a:r>
              <a:rPr>
                <a:solidFill>
                  <a:srgbClr val="087B3D"/>
                </a:solidFill>
                <a:ea typeface="Microsoft YaHei"/>
              </a:rPr>
              <a:t>zephyr_library_sources_ifdef</a:t>
            </a:r>
            <a:r>
              <a:t> 再按具体驱动符号添加对应 .c。公共入口与硬件实现的选择分两层。</a:t>
            </a:r>
          </a:p>
        </p:txBody>
      </p:sp>
      <p:sp>
        <p:nvSpPr>
          <p:cNvPr id="7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ModelReading"/>
              </a:rPr>
              <a:t>完整解释与操作：配套 Markdown P005</a:t>
            </a:r>
          </a:p>
        </p:txBody>
      </p:sp>
      <p:sp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D231DB10-C444-4D42-9C34-4015FF75C4DC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30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从硬件描述选到真正的源文件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P005 · 工程组织、配置与驱动模型</a:t>
            </a:r>
          </a:p>
        </p:txBody>
      </p:sp>
      <p:sp>
        <p:nvSpPr>
          <p:cNvPr id="4" name="Continuous code"/>
          <p:cNvSpPr>
            <a:spLocks noGrp="1"/>
          </p:cNvSpPr>
          <p:nvPr/>
        </p:nvSpPr>
        <p:spPr>
          <a:xfrm>
            <a:off x="609600" y="1771650"/>
            <a:ext cx="10972800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087B3D"/>
                </a:solidFill>
                <a:ea typeface="Microsoft YaHei"/>
              </a:rPr>
              <a:t>zephyr_library_sources_ifdef</a:t>
            </a:r>
            <a:r>
              <a:t>(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  </a:t>
            </a:r>
            <a:r>
              <a:rPr>
                <a:solidFill>
                  <a:srgbClr val="B84E00"/>
                </a:solidFill>
                <a:ea typeface="Microsoft YaHei"/>
              </a:rPr>
              <a:t>CONFIG_UART_CMSDK_APB</a:t>
            </a:r>
            <a:r>
              <a:t> </a:t>
            </a:r>
            <a:r>
              <a:rPr>
                <a:solidFill>
                  <a:srgbClr val="0070C0"/>
                </a:solidFill>
                <a:ea typeface="Microsoft YaHei"/>
              </a:rPr>
              <a:t>uart_cmsdk_apb.c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)</a:t>
            </a:r>
          </a:p>
        </p:txBody>
      </p:sp>
      <p:sp>
        <p:nvSpPr>
          <p:cNvPr id="5" name="Body 0"/>
          <p:cNvSpPr>
            <a:spLocks noGrp="1"/>
          </p:cNvSpPr>
          <p:nvPr/>
        </p:nvSpPr>
        <p:spPr>
          <a:xfrm>
            <a:off x="609600" y="3105150"/>
            <a:ext cx="10972800" cy="7170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启用的 arm,cmsdk-uart 节点使驱动依赖满足；UART_CMSDK_APB 默认开启，这段原有 CMake 规则把实现加入编译。</a:t>
            </a:r>
          </a:p>
        </p:txBody>
      </p:sp>
      <p:sp>
        <p:nvSpPr>
          <p:cNvPr id="6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Reading"/>
              </a:rPr>
              <a:t>完整解释与操作：配套 Markdown P005</a:t>
            </a:r>
          </a:p>
        </p:txBody>
      </p:sp>
      <p:sp>
        <p:nvSpPr>
          <p:cNvPr id="7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E3C95B94-B47B-4DF0-B30C-1A4DB23FDA49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31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选源、裁剪函数、创建设备实例分别判断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P005 · 工程组织、配置与驱动模型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="609600" y="1771650"/>
          <a:ext cx="10972800" cy="3048000"/>
        </p:xfrm>
        <a:graphic>
          <a:graphicData uri="http://schemas.openxmlformats.org/drawingml/2006/table">
            <a:tbl>
              <a:tblPr/>
              <a:tblGrid>
                <a:gridCol w="2476500"/>
                <a:gridCol w="4857750"/>
                <a:gridCol w="3638550"/>
              </a:tblGrid>
              <a:tr h="76200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控制方式</a:t>
                      </a:r>
                    </a:p>
                  </a:txBody>
                  <a:tcPr marL="91440" marR="91440" marT="45720" marB="45720" anchor="ctr">
                    <a:solidFill>
                      <a:srgbClr val="EEE8F6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</a:t>
                      </a:r>
                    </a:p>
                  </a:txBody>
                  <a:tcPr marL="91440" marR="91440" marT="45720" marB="45720" anchor="ctr">
                    <a:solidFill>
                      <a:srgbClr val="EEE8F6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实际效果</a:t>
                      </a:r>
                    </a:p>
                  </a:txBody>
                  <a:tcPr marL="91440" marR="91440" marT="45720" marB="45720" anchor="ctr">
                    <a:solidFill>
                      <a:srgbClr val="EEE8F6"/>
                    </a:solidFill>
                  </a:tcPr>
                </a:tc>
              </a:tr>
              <a:tr h="76200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CMake 条件选源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B84E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CONFIG_UART_CMSDK_APB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选中驱动源文件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 预处理 #ifdef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B84E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CONFIG_UART_INTERRUPT_DRIVEN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保留中断代码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</a:tr>
              <a:tr h="76200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设备树实例宏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匹配且启用的节点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生成对应设备实例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Body 0"/>
          <p:cNvSpPr>
            <a:spLocks noGrp="1"/>
          </p:cNvSpPr>
          <p:nvPr/>
        </p:nvSpPr>
        <p:spPr>
          <a:xfrm>
            <a:off x="609600" y="4991100"/>
            <a:ext cx="10972800" cy="7170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驱动 .c 被编译，不等于所有条件分支都存在，也不等于会创建一个没有启用节点的设备。排错时要先判断自己卡在哪一层。</a:t>
            </a:r>
          </a:p>
        </p:txBody>
      </p:sp>
      <p:sp>
        <p:nvSpPr>
          <p:cNvPr id="6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ModelReading"/>
              </a:rPr>
              <a:t>完整解释与操作：配套 Markdown P005</a:t>
            </a:r>
          </a:p>
        </p:txBody>
      </p:sp>
      <p:sp>
        <p:nvSpPr>
          <p:cNvPr id="7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D231DB10-C444-4D42-9C34-4015FF75C4DC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32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CONFIG 宏与 DT 宏从不同规则进入源码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P005 · 工程组织、配置与驱动模型</a:t>
            </a:r>
          </a:p>
        </p:txBody>
      </p:sp>
      <p:sp>
        <p:nvSpPr>
          <p:cNvPr id="4" name="Continuous code"/>
          <p:cNvSpPr>
            <a:spLocks noGrp="1"/>
          </p:cNvSpPr>
          <p:nvPr/>
        </p:nvSpPr>
        <p:spPr>
          <a:xfrm>
            <a:off x="609600" y="1771650"/>
            <a:ext cx="10972800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/* 说明片段：局部宏与 Zephyr 头文件 */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646173"/>
                </a:solidFill>
                <a:ea typeface="Microsoft YaHei"/>
              </a:rPr>
              <a:t>#define DT_DRV_COMPAT arm_cmsdk_uart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646173"/>
                </a:solidFill>
                <a:ea typeface="Microsoft YaHei"/>
              </a:rPr>
              <a:t>#include &lt;zephyr/device.h&gt;</a:t>
            </a:r>
          </a:p>
        </p:txBody>
      </p:sp>
      <p:sp>
        <p:nvSpPr>
          <p:cNvPr id="5" name="Body 0"/>
          <p:cNvSpPr>
            <a:spLocks noGrp="1"/>
          </p:cNvSpPr>
          <p:nvPr/>
        </p:nvSpPr>
        <p:spPr>
          <a:xfrm>
            <a:off x="609600" y="3105150"/>
            <a:ext cx="10972800" cy="7170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CONFIG_* 来自 Kconfig 的生成头。DT_INST_* 由 Zephyr 设备树头文件提供，并使用 </a:t>
            </a:r>
            <a:r>
              <a:rPr>
                <a:solidFill>
                  <a:srgbClr val="0070C0"/>
                </a:solidFill>
                <a:ea typeface="Microsoft YaHei"/>
              </a:rPr>
              <a:t>devicetree_generated.h</a:t>
            </a:r>
            <a:r>
              <a:t> 中的数据展开。</a:t>
            </a:r>
          </a:p>
        </p:txBody>
      </p:sp>
      <p:sp>
        <p:nvSpPr>
          <p:cNvPr id="6" name="Body 1"/>
          <p:cNvSpPr>
            <a:spLocks noGrp="1"/>
          </p:cNvSpPr>
          <p:nvPr/>
        </p:nvSpPr>
        <p:spPr>
          <a:xfrm>
            <a:off x="609600" y="3993642"/>
            <a:ext cx="10972800" cy="7170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DT_DRV_COMPAT 是当前驱动源文件主动定义的宏：把 arm,cmsdk-uart 写成 C 标识符 arm_cmsdk_uart，限定后续实例宏所指的硬件类型。</a:t>
            </a:r>
          </a:p>
        </p:txBody>
      </p:sp>
      <p:sp>
        <p:nvSpPr>
          <p:cNvPr id="7" name="Body 2"/>
          <p:cNvSpPr>
            <a:spLocks noGrp="1"/>
          </p:cNvSpPr>
          <p:nvPr/>
        </p:nvSpPr>
        <p:spPr>
          <a:xfrm>
            <a:off x="609600" y="4882134"/>
            <a:ext cx="10972800" cy="7170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这个局部宏不能代替 CONFIG_*，也不会自动为本目录所有文件定义。文件夹名、文件名前缀都不会产生这种匹配关系。</a:t>
            </a:r>
          </a:p>
        </p:txBody>
      </p:sp>
      <p:sp>
        <p:nvSpPr>
          <p:cNvPr id="8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ModelReading"/>
              </a:rPr>
              <a:t>完整解释与操作：配套 Markdown P005</a:t>
            </a:r>
          </a:p>
        </p:txBody>
      </p:sp>
      <p:sp>
        <p:nvSpPr>
          <p:cNvPr id="9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D231DB10-C444-4D42-9C34-4015FF75C4DC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33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设备实例把板配置交给共享驱动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P005 · 工程组织、配置与驱动模型</a:t>
            </a:r>
          </a:p>
        </p:txBody>
      </p:sp>
      <p:sp>
        <p:nvSpPr>
          <p:cNvPr id="4" name="Continuous code"/>
          <p:cNvSpPr>
            <a:spLocks noGrp="1"/>
          </p:cNvSpPr>
          <p:nvPr/>
        </p:nvSpPr>
        <p:spPr>
          <a:xfrm>
            <a:off x="609600" y="1771650"/>
            <a:ext cx="10972800" cy="182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/* 源码节选：每个实例拥有自己的配置 */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.uart = (volatile struct uart_cmsdk_apb *)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        DT_INST_REG_ADDR(n),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.sys_clk_freq = DT_INST_PROP_BY_PHANDLE(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        n, clocks, clock_frequency),</a:t>
            </a:r>
          </a:p>
        </p:txBody>
      </p:sp>
      <p:sp>
        <p:nvSpPr>
          <p:cNvPr id="5" name="Body 0"/>
          <p:cNvSpPr>
            <a:spLocks noGrp="1"/>
          </p:cNvSpPr>
          <p:nvPr/>
        </p:nvSpPr>
        <p:spPr>
          <a:xfrm>
            <a:off x="609600" y="3790950"/>
            <a:ext cx="10972800" cy="7170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DT_INST_REG_ADDR(n) 提供第 n 个匹配实例的基地址；DT_INST_PROP 取得该实例的属性。驱动把它们写入各自 config/data，而不是改写一份 MPS2 私有收发代码。</a:t>
            </a:r>
          </a:p>
        </p:txBody>
      </p:sp>
      <p:sp>
        <p:nvSpPr>
          <p:cNvPr id="6" name="Body 1"/>
          <p:cNvSpPr>
            <a:spLocks noGrp="1"/>
          </p:cNvSpPr>
          <p:nvPr/>
        </p:nvSpPr>
        <p:spPr>
          <a:xfrm>
            <a:off x="609600" y="4679442"/>
            <a:ext cx="10972800" cy="7170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实例编号由生成规则决定，不能简单等同于节点标签 uart0。上层用设备树节点取得对应设备对象。</a:t>
            </a:r>
          </a:p>
        </p:txBody>
      </p:sp>
      <p:sp>
        <p:nvSpPr>
          <p:cNvPr id="7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ModelReading"/>
              </a:rPr>
              <a:t>完整解释与操作：配套 Markdown P005</a:t>
            </a:r>
          </a:p>
        </p:txBody>
      </p:sp>
      <p:sp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D231DB10-C444-4D42-9C34-4015FF75C4DC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34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注册设备时同时连接配置、初始化和操作表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P005 · 工程组织、配置与驱动模型</a:t>
            </a:r>
          </a:p>
        </p:txBody>
      </p:sp>
      <p:sp>
        <p:nvSpPr>
          <p:cNvPr id="4" name="Continuous code"/>
          <p:cNvSpPr>
            <a:spLocks noGrp="1"/>
          </p:cNvSpPr>
          <p:nvPr/>
        </p:nvSpPr>
        <p:spPr>
          <a:xfrm>
            <a:off x="609600" y="1771650"/>
            <a:ext cx="10972800" cy="2171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/* CMSDK 驱动原有操作表节选 */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static DEVICE_API(uart, uart_cmsdk_apb_driver_api) = {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    .poll_in = uart_cmsdk_apb_poll_in,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    .poll_out = uart_cmsdk_apb_poll_out,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    /* 其他操作省略 */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};</a:t>
            </a:r>
          </a:p>
        </p:txBody>
      </p:sp>
      <p:sp>
        <p:nvSpPr>
          <p:cNvPr id="5" name="Body 0"/>
          <p:cNvSpPr>
            <a:spLocks noGrp="1"/>
          </p:cNvSpPr>
          <p:nvPr/>
        </p:nvSpPr>
        <p:spPr>
          <a:xfrm>
            <a:off x="609600" y="4133850"/>
            <a:ext cx="10972800" cy="7170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DEVICE_DT_INST_DEFINE 为当前实例关联 config、可变 data、初始化函数与 API 表，并记录初始化等级。启动时按规则初始化，运行时再通过设备对象使用。</a:t>
            </a:r>
          </a:p>
        </p:txBody>
      </p:sp>
      <p:sp>
        <p:nvSpPr>
          <p:cNvPr id="6" name="Body 1"/>
          <p:cNvSpPr>
            <a:spLocks noGrp="1"/>
          </p:cNvSpPr>
          <p:nvPr/>
        </p:nvSpPr>
        <p:spPr>
          <a:xfrm>
            <a:off x="609600" y="5022342"/>
            <a:ext cx="10972800" cy="7170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上方操作表把标准 poll_out 槽位指向 CMSDK 实现。同一接口可以对应 HC32 的另一张操作表，不需要把所有芯片写进一个收发函数。</a:t>
            </a:r>
          </a:p>
        </p:txBody>
      </p:sp>
      <p:sp>
        <p:nvSpPr>
          <p:cNvPr id="7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ModelReading"/>
              </a:rPr>
              <a:t>完整解释与操作：配套 Markdown P005</a:t>
            </a:r>
          </a:p>
        </p:txBody>
      </p:sp>
      <p:sp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D231DB10-C444-4D42-9C34-4015FF75C4DC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35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运行时按设备对象找到具体外设实现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P005 · 工程组织、配置与驱动模型</a:t>
            </a:r>
          </a:p>
        </p:txBody>
      </p:sp>
      <p:sp>
        <p:nvSpPr>
          <p:cNvPr id="4" name="Flow 0"/>
          <p:cNvSpPr>
            <a:spLocks noGrp="1"/>
          </p:cNvSpPr>
          <p:nvPr/>
        </p:nvSpPr>
        <p:spPr>
          <a:xfrm>
            <a:off x="609600" y="1771650"/>
            <a:ext cx="2543175" cy="952500"/>
          </a:xfrm>
          <a:prstGeom prst="rect">
            <a:avLst/>
          </a:prstGeom>
          <a:solidFill>
            <a:srgbClr val="F5F2FA"/>
          </a:solidFill>
          <a:ln w="12383">
            <a:solidFill>
              <a:srgbClr val="7350BC"/>
            </a:solidFill>
          </a:ln>
        </p:spPr>
        <p:txBody>
          <a:bodyPr lIns="95250" tIns="76200" rIns="95250" bIns="76200"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UART 标准接口</a:t>
            </a:r>
          </a:p>
        </p:txBody>
      </p:sp>
      <p:sp>
        <p:nvSpPr>
          <p:cNvPr id="5" name="Arrow 0"/>
          <p:cNvSpPr>
            <a:spLocks noGrp="1"/>
          </p:cNvSpPr>
          <p:nvPr/>
        </p:nvSpPr>
        <p:spPr>
          <a:xfrm>
            <a:off x="3190875" y="2171700"/>
            <a:ext cx="190500" cy="152400"/>
          </a:xfrm>
          <a:prstGeom prst="rightArrow">
            <a:avLst/>
          </a:prstGeom>
          <a:solidFill>
            <a:srgbClr val="7350BC"/>
          </a:solidFill>
          <a:ln w="0">
            <a:noFill/>
          </a:ln>
        </p:spPr>
      </p:sp>
      <p:sp>
        <p:nvSpPr>
          <p:cNvPr id="6" name="Flow 1"/>
          <p:cNvSpPr>
            <a:spLocks noGrp="1"/>
          </p:cNvSpPr>
          <p:nvPr/>
        </p:nvSpPr>
        <p:spPr>
          <a:xfrm>
            <a:off x="3419475" y="1771650"/>
            <a:ext cx="2543175" cy="952500"/>
          </a:xfrm>
          <a:prstGeom prst="rect">
            <a:avLst/>
          </a:prstGeom>
          <a:solidFill>
            <a:srgbClr val="F5F2FA"/>
          </a:solidFill>
          <a:ln w="12383">
            <a:solidFill>
              <a:srgbClr val="7350BC"/>
            </a:solidFill>
          </a:ln>
        </p:spPr>
        <p:txBody>
          <a:bodyPr lIns="95250" tIns="76200" rIns="95250" bIns="76200"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设备的 API 表</a:t>
            </a:r>
          </a:p>
        </p:txBody>
      </p:sp>
      <p:sp>
        <p:nvSpPr>
          <p:cNvPr id="7" name="Arrow 1"/>
          <p:cNvSpPr>
            <a:spLocks noGrp="1"/>
          </p:cNvSpPr>
          <p:nvPr/>
        </p:nvSpPr>
        <p:spPr>
          <a:xfrm>
            <a:off x="6000750" y="2171700"/>
            <a:ext cx="190500" cy="152400"/>
          </a:xfrm>
          <a:prstGeom prst="rightArrow">
            <a:avLst/>
          </a:prstGeom>
          <a:solidFill>
            <a:srgbClr val="7350BC"/>
          </a:solidFill>
          <a:ln w="0">
            <a:noFill/>
          </a:ln>
        </p:spPr>
      </p:sp>
      <p:sp>
        <p:nvSpPr>
          <p:cNvPr id="8" name="Flow 2"/>
          <p:cNvSpPr>
            <a:spLocks noGrp="1"/>
          </p:cNvSpPr>
          <p:nvPr/>
        </p:nvSpPr>
        <p:spPr>
          <a:xfrm>
            <a:off x="6229350" y="1771650"/>
            <a:ext cx="2543175" cy="952500"/>
          </a:xfrm>
          <a:prstGeom prst="rect">
            <a:avLst/>
          </a:prstGeom>
          <a:solidFill>
            <a:srgbClr val="F5F2FA"/>
          </a:solidFill>
          <a:ln w="12383">
            <a:solidFill>
              <a:srgbClr val="7350BC"/>
            </a:solidFill>
          </a:ln>
        </p:spPr>
        <p:txBody>
          <a:bodyPr lIns="95250" tIns="76200" rIns="95250" bIns="76200"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CMSDK 回调</a:t>
            </a:r>
          </a:p>
        </p:txBody>
      </p:sp>
      <p:sp>
        <p:nvSpPr>
          <p:cNvPr id="9" name="Arrow 2"/>
          <p:cNvSpPr>
            <a:spLocks noGrp="1"/>
          </p:cNvSpPr>
          <p:nvPr/>
        </p:nvSpPr>
        <p:spPr>
          <a:xfrm>
            <a:off x="8810625" y="2171700"/>
            <a:ext cx="190500" cy="152400"/>
          </a:xfrm>
          <a:prstGeom prst="rightArrow">
            <a:avLst/>
          </a:prstGeom>
          <a:solidFill>
            <a:srgbClr val="7350BC"/>
          </a:solidFill>
          <a:ln w="0">
            <a:noFill/>
          </a:ln>
        </p:spPr>
      </p:sp>
      <p:sp>
        <p:nvSpPr>
          <p:cNvPr id="10" name="Flow 3"/>
          <p:cNvSpPr>
            <a:spLocks noGrp="1"/>
          </p:cNvSpPr>
          <p:nvPr/>
        </p:nvSpPr>
        <p:spPr>
          <a:xfrm>
            <a:off x="9039225" y="1771650"/>
            <a:ext cx="2543175" cy="952500"/>
          </a:xfrm>
          <a:prstGeom prst="rect">
            <a:avLst/>
          </a:prstGeom>
          <a:solidFill>
            <a:srgbClr val="F5F2FA"/>
          </a:solidFill>
          <a:ln w="12383">
            <a:solidFill>
              <a:srgbClr val="7350BC"/>
            </a:solidFill>
          </a:ln>
        </p:spPr>
        <p:txBody>
          <a:bodyPr lIns="95250" tIns="76200" rIns="95250" bIns="76200"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该实例的寄存器</a:t>
            </a:r>
          </a:p>
        </p:txBody>
      </p:sp>
      <p:sp>
        <p:nvSpPr>
          <p:cNvPr id="11" name="Body 0"/>
          <p:cNvSpPr>
            <a:spLocks noGrp="1"/>
          </p:cNvSpPr>
          <p:nvPr/>
        </p:nvSpPr>
        <p:spPr>
          <a:xfrm>
            <a:off x="609600" y="2952750"/>
            <a:ext cx="10972800" cy="7421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uart_poll_out(dev, c) 从设备操作表找到 poll_out 回调。CMSDK 实现通过 dev-&gt;config 取得基地址，等待状态位后写数据寄存器。</a:t>
            </a:r>
          </a:p>
        </p:txBody>
      </p:sp>
      <p:sp>
        <p:nvSpPr>
          <p:cNvPr id="12" name="Body 1"/>
          <p:cNvSpPr>
            <a:spLocks noGrp="1"/>
          </p:cNvSpPr>
          <p:nvPr/>
        </p:nvSpPr>
        <p:spPr>
          <a:xfrm>
            <a:off x="609600" y="3866388"/>
            <a:ext cx="10972800" cy="7421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设备树解决实例参数，设备模型解决接口分派，外设驱动解决操作语义。函数最后访问寄存器，并不意味着前面的两层不存在。</a:t>
            </a:r>
          </a:p>
        </p:txBody>
      </p:sp>
      <p:sp>
        <p:nvSpPr>
          <p:cNvPr id="13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ModelReading"/>
              </a:rPr>
              <a:t>完整解释与操作：配套 Markdown P005</a:t>
            </a:r>
          </a:p>
        </p:txBody>
      </p:sp>
      <p:sp>
        <p:nvSpPr>
          <p:cNvPr id="14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D231DB10-C444-4D42-9C34-4015FF75C4DC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36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硬件访问已在 Zephyr 驱动中实现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P005 · 工程组织、配置与驱动模型</a:t>
            </a:r>
          </a:p>
        </p:txBody>
      </p:sp>
      <p:sp>
        <p:nvSpPr>
          <p:cNvPr id="4" name="Body 0"/>
          <p:cNvSpPr>
            <a:spLocks noGrp="1"/>
          </p:cNvSpPr>
          <p:nvPr/>
        </p:nvSpPr>
        <p:spPr>
          <a:xfrm>
            <a:off x="609600" y="177165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console 通过 uart_poll_out() 调用设备 API，最终进入 uart_cmsdk_apb_poll_out()。驱动等待发送状态位，再向 UART data 寄存器写字符。</a:t>
            </a:r>
          </a:p>
        </p:txBody>
      </p:sp>
      <p:sp>
        <p:nvSpPr>
          <p:cNvPr id="5" name="Body 1"/>
          <p:cNvSpPr>
            <a:spLocks noGrp="1"/>
          </p:cNvSpPr>
          <p:nvPr/>
        </p:nvSpPr>
        <p:spPr>
          <a:xfrm>
            <a:off x="609600" y="273558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0070C0"/>
                </a:solidFill>
                <a:ea typeface="Microsoft YaHei"/>
              </a:rPr>
              <a:t>uart_cmsdk_apb.c</a:t>
            </a:r>
            <a:r>
              <a:t> 已定义寄存器结构，并用 DT_INST_REG_ADDR 取设备树地址。GPIO 的 CMSDK 驱动也在树内直接读写端口寄存器。</a:t>
            </a:r>
          </a:p>
        </p:txBody>
      </p:sp>
      <p:sp>
        <p:nvSpPr>
          <p:cNvPr id="6" name="Body 2"/>
          <p:cNvSpPr>
            <a:spLocks noGrp="1"/>
          </p:cNvSpPr>
          <p:nvPr/>
        </p:nvSpPr>
        <p:spPr>
          <a:xfrm>
            <a:off x="609600" y="369951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</a:rPr>
              <a:t>本例没有把这些外设操作另外抽成独立裸机库。共享的是 CMSDK IP 实现，板级配置来自设备树；是否复用厂商 DDL 是另一项工程选择。</a:t>
            </a:r>
          </a:p>
        </p:txBody>
      </p:sp>
      <p:sp>
        <p:nvSpPr>
          <p:cNvPr id="7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Reading"/>
              </a:rPr>
              <a:t>完整解释与操作：配套 Markdown P005</a:t>
            </a:r>
          </a:p>
        </p:txBody>
      </p:sp>
      <p:sp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22FB6706-5C2D-4E00-9A12-405D034465B3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37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共享驱动中的 SoC 特例仍需单独审查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P005 · 工程组织、配置与驱动模型</a:t>
            </a:r>
          </a:p>
        </p:txBody>
      </p:sp>
      <p:sp>
        <p:nvSpPr>
          <p:cNvPr id="4" name="Body 0"/>
          <p:cNvSpPr>
            <a:spLocks noGrp="1"/>
          </p:cNvSpPr>
          <p:nvPr/>
        </p:nvSpPr>
        <p:spPr>
          <a:xfrm>
            <a:off x="609600" y="177165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当前 CMSDK UART 驱动确有 BEETLE 系列专用时钟处理分支。因此“多个平台共享”不等于实现已经完全没有 SoC 耦合。</a:t>
            </a:r>
          </a:p>
        </p:txBody>
      </p:sp>
      <p:sp>
        <p:nvSpPr>
          <p:cNvPr id="5" name="Body 1"/>
          <p:cNvSpPr>
            <a:spLocks noGrp="1"/>
          </p:cNvSpPr>
          <p:nvPr/>
        </p:nvSpPr>
        <p:spPr>
          <a:xfrm>
            <a:off x="609600" y="273558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支持新硬件时先判断差异：地址、IRQ和连接可用设备树表达；时钟、引脚交给相应子系统；寄存器行为差异需要变体数据或专用实现。</a:t>
            </a:r>
          </a:p>
        </p:txBody>
      </p:sp>
      <p:sp>
        <p:nvSpPr>
          <p:cNvPr id="6" name="Body 2"/>
          <p:cNvSpPr>
            <a:spLocks noGrp="1"/>
          </p:cNvSpPr>
          <p:nvPr/>
        </p:nvSpPr>
        <p:spPr>
          <a:xfrm>
            <a:off x="609600" y="369951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是否移到树外属于维护选择。真正要审查的是接口和依赖边界、特例范围与验证覆盖，不能只用目录有没有芯片名判断。</a:t>
            </a:r>
          </a:p>
        </p:txBody>
      </p:sp>
      <p:sp>
        <p:nvSpPr>
          <p:cNvPr id="7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ModelReading"/>
              </a:rPr>
              <a:t>完整解释与操作：配套 Markdown P005</a:t>
            </a:r>
          </a:p>
        </p:txBody>
      </p:sp>
      <p:sp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D231DB10-C444-4D42-9C34-4015FF75C4DC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38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板支持、编译进入、实际使用要分清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P005 · 工程组织、配置与驱动模型</a:t>
            </a:r>
          </a:p>
        </p:txBody>
      </p:sp>
      <p:sp>
        <p:nvSpPr>
          <p:cNvPr id="4" name="Body 0"/>
          <p:cNvSpPr>
            <a:spLocks noGrp="1"/>
          </p:cNvSpPr>
          <p:nvPr/>
        </p:nvSpPr>
        <p:spPr>
          <a:xfrm>
            <a:off x="609600" y="177165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本例编译清单含 UART、CMSDK GPIO、MMIO GPIO、pinctrl 与 SysTick。GPIO 默认开启，所以会编译；hello_world 的业务仍只是输出问候。</a:t>
            </a:r>
          </a:p>
        </p:txBody>
      </p:sp>
      <p:sp>
        <p:nvSpPr>
          <p:cNvPr id="5" name="Body 1"/>
          <p:cNvSpPr>
            <a:spLocks noGrp="1"/>
          </p:cNvSpPr>
          <p:nvPr/>
        </p:nvSpPr>
        <p:spPr>
          <a:xfrm>
            <a:off x="609600" y="273558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板还描述 I²C、看门狗、以太网等接口，相应 Zephyr 驱动存在。支持某功能不表示当前应用已经启用它，本次也不能据此宣称所有外设都经过运行验证。</a:t>
            </a:r>
          </a:p>
        </p:txBody>
      </p:sp>
      <p:sp>
        <p:nvSpPr>
          <p:cNvPr id="6" name="Body 2"/>
          <p:cNvSpPr>
            <a:spLocks noGrp="1"/>
          </p:cNvSpPr>
          <p:nvPr/>
        </p:nvSpPr>
        <p:spPr>
          <a:xfrm>
            <a:off x="609600" y="369951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先看板支持范围，再看最终 .config / DTS，最后看实际源文件与运行结果。只有模块目录存在，不能证明某段代码进入了固件或执行过。</a:t>
            </a:r>
          </a:p>
        </p:txBody>
      </p:sp>
      <p:sp>
        <p:nvSpPr>
          <p:cNvPr id="7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Reading"/>
              </a:rPr>
              <a:t>完整解释与操作：配套 Markdown P005</a:t>
            </a:r>
          </a:p>
        </p:txBody>
      </p:sp>
      <p:sp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4653F08E-B78B-40C6-88A7-CF9AC95E3388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39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用同一次产物反查代码来源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P005 · 工程组织、配置与驱动模型</a:t>
            </a:r>
          </a:p>
        </p:txBody>
      </p:sp>
      <p:sp>
        <p:nvSpPr>
          <p:cNvPr id="4" name="Body 0"/>
          <p:cNvSpPr>
            <a:spLocks noGrp="1"/>
          </p:cNvSpPr>
          <p:nvPr/>
        </p:nvSpPr>
        <p:spPr>
          <a:xfrm>
            <a:off x="609600" y="177165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.config 记录本次选择的板、SoC、CPU 和驱动开关；</a:t>
            </a:r>
            <a:r>
              <a:rPr>
                <a:solidFill>
                  <a:srgbClr val="0070C0"/>
                </a:solidFill>
                <a:ea typeface="Microsoft YaHei"/>
              </a:rPr>
              <a:t>zephyr.dts</a:t>
            </a:r>
            <a:r>
              <a:t> 记录合成后的硬件资源与 console 绑定。</a:t>
            </a:r>
          </a:p>
        </p:txBody>
      </p:sp>
      <p:sp>
        <p:nvSpPr>
          <p:cNvPr id="5" name="Body 1"/>
          <p:cNvSpPr>
            <a:spLocks noGrp="1"/>
          </p:cNvSpPr>
          <p:nvPr/>
        </p:nvSpPr>
        <p:spPr>
          <a:xfrm>
            <a:off x="609600" y="273558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0070C0"/>
                </a:solidFill>
                <a:ea typeface="Microsoft YaHei"/>
              </a:rPr>
              <a:t>compile_commands.json</a:t>
            </a:r>
            <a:r>
              <a:t> 给出每个选入编译的源及参数。找到 UART / GPIO / 架构文件，再找 CMSIS/Core/Include，才能说明实际输入。</a:t>
            </a:r>
          </a:p>
        </p:txBody>
      </p:sp>
      <p:sp>
        <p:nvSpPr>
          <p:cNvPr id="6" name="Body 2"/>
          <p:cNvSpPr>
            <a:spLocks noGrp="1"/>
          </p:cNvSpPr>
          <p:nvPr/>
        </p:nvSpPr>
        <p:spPr>
          <a:xfrm>
            <a:off x="609600" y="369951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请读取刚生成的 p006/hello_world 目录。旧构建或另一个 </a:t>
            </a:r>
            <a:r>
              <a:rPr>
                <a:solidFill>
                  <a:srgbClr val="B84E00"/>
                </a:solidFill>
                <a:ea typeface="Microsoft YaHei"/>
              </a:rPr>
              <a:t>BOARD</a:t>
            </a:r>
            <a:r>
              <a:t> 的记录不能用来证明这一次的选择。</a:t>
            </a:r>
          </a:p>
        </p:txBody>
      </p:sp>
      <p:sp>
        <p:nvSpPr>
          <p:cNvPr id="7" name="Reading link"/>
          <p:cNvSpPr>
            <a:spLocks noGrp="1"/>
          </p:cNvSpPr>
          <p:nvPr/>
        </p:nvSpPr>
        <p:spPr>
          <a:xfrm>
            <a:off x="609600" y="6105525"/>
            <a:ext cx="619125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Reading"/>
              </a:rPr>
              <a:t>完整解释与操作：配套 Markdown P005</a:t>
            </a:r>
          </a:p>
        </p:txBody>
      </p:sp>
      <p:sp>
        <p:nvSpPr>
          <p:cNvPr id="8" name="Command link"/>
          <p:cNvSpPr>
            <a:spLocks noGrp="1"/>
          </p:cNvSpPr>
          <p:nvPr/>
        </p:nvSpPr>
        <p:spPr>
          <a:xfrm>
            <a:off x="8191500" y="6105525"/>
            <a:ext cx="33909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ea typeface="Microsoft YaHei"/>
                <a:hlinkClick r:id="rIdCommand"/>
              </a:rPr>
              <a:t>完整命令：附件 10</a:t>
            </a:r>
          </a:p>
        </p:txBody>
      </p:sp>
      <p:sp>
        <p:nvSpPr>
          <p:cNvPr id="9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65E2FE39-757D-499E-AD17-5CD27561B9F9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40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主仓接入规则不是外部源码包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P005 · 工程组织、配置与驱动模型</a:t>
            </a:r>
          </a:p>
        </p:txBody>
      </p:sp>
      <p:sp>
        <p:nvSpPr>
          <p:cNvPr id="4" name="Flow 0"/>
          <p:cNvSpPr>
            <a:spLocks noGrp="1"/>
          </p:cNvSpPr>
          <p:nvPr/>
        </p:nvSpPr>
        <p:spPr>
          <a:xfrm>
            <a:off x="609600" y="1771650"/>
            <a:ext cx="3479800" cy="952500"/>
          </a:xfrm>
          <a:prstGeom prst="rect">
            <a:avLst/>
          </a:prstGeom>
          <a:solidFill>
            <a:srgbClr val="F5F2FA"/>
          </a:solidFill>
          <a:ln w="12383">
            <a:solidFill>
              <a:srgbClr val="7350BC"/>
            </a:solidFill>
          </a:ln>
        </p:spPr>
        <p:txBody>
          <a:bodyPr lIns="95250" tIns="76200" rIns="95250" bIns="76200"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主仓：modules/cmsis_6 接入规则</a:t>
            </a:r>
          </a:p>
        </p:txBody>
      </p:sp>
      <p:sp>
        <p:nvSpPr>
          <p:cNvPr id="5" name="Arrow 0"/>
          <p:cNvSpPr>
            <a:spLocks noGrp="1"/>
          </p:cNvSpPr>
          <p:nvPr/>
        </p:nvSpPr>
        <p:spPr>
          <a:xfrm>
            <a:off x="4127500" y="2171700"/>
            <a:ext cx="190500" cy="152400"/>
          </a:xfrm>
          <a:prstGeom prst="rightArrow">
            <a:avLst/>
          </a:prstGeom>
          <a:solidFill>
            <a:srgbClr val="7350BC"/>
          </a:solidFill>
          <a:ln w="0">
            <a:noFill/>
          </a:ln>
        </p:spPr>
      </p:sp>
      <p:sp>
        <p:nvSpPr>
          <p:cNvPr id="6" name="Flow 1"/>
          <p:cNvSpPr>
            <a:spLocks noGrp="1"/>
          </p:cNvSpPr>
          <p:nvPr/>
        </p:nvSpPr>
        <p:spPr>
          <a:xfrm>
            <a:off x="4356100" y="1771650"/>
            <a:ext cx="3479800" cy="952500"/>
          </a:xfrm>
          <a:prstGeom prst="rect">
            <a:avLst/>
          </a:prstGeom>
          <a:solidFill>
            <a:srgbClr val="F5F2FA"/>
          </a:solidFill>
          <a:ln w="12383">
            <a:solidFill>
              <a:srgbClr val="7350BC"/>
            </a:solidFill>
          </a:ln>
        </p:spPr>
        <p:txBody>
          <a:bodyPr lIns="95250" tIns="76200" rIns="95250" bIns="76200"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外部：modules/hal/cmsis_6 原始头文件</a:t>
            </a:r>
          </a:p>
        </p:txBody>
      </p:sp>
      <p:sp>
        <p:nvSpPr>
          <p:cNvPr id="7" name="Arrow 1"/>
          <p:cNvSpPr>
            <a:spLocks noGrp="1"/>
          </p:cNvSpPr>
          <p:nvPr/>
        </p:nvSpPr>
        <p:spPr>
          <a:xfrm>
            <a:off x="7874000" y="2171700"/>
            <a:ext cx="190500" cy="152400"/>
          </a:xfrm>
          <a:prstGeom prst="rightArrow">
            <a:avLst/>
          </a:prstGeom>
          <a:solidFill>
            <a:srgbClr val="7350BC"/>
          </a:solidFill>
          <a:ln w="0">
            <a:noFill/>
          </a:ln>
        </p:spPr>
      </p:sp>
      <p:sp>
        <p:nvSpPr>
          <p:cNvPr id="8" name="Flow 2"/>
          <p:cNvSpPr>
            <a:spLocks noGrp="1"/>
          </p:cNvSpPr>
          <p:nvPr/>
        </p:nvSpPr>
        <p:spPr>
          <a:xfrm>
            <a:off x="8102600" y="1771650"/>
            <a:ext cx="3479800" cy="952500"/>
          </a:xfrm>
          <a:prstGeom prst="rect">
            <a:avLst/>
          </a:prstGeom>
          <a:solidFill>
            <a:srgbClr val="F5F2FA"/>
          </a:solidFill>
          <a:ln w="12383">
            <a:solidFill>
              <a:srgbClr val="7350BC"/>
            </a:solidFill>
          </a:ln>
        </p:spPr>
        <p:txBody>
          <a:bodyPr lIns="95250" tIns="76200" rIns="95250" bIns="76200"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规则读取外部目录 → 编译 include</a:t>
            </a:r>
          </a:p>
        </p:txBody>
      </p:sp>
      <p:sp>
        <p:nvSpPr>
          <p:cNvPr id="9" name="Body 0"/>
          <p:cNvSpPr>
            <a:spLocks noGrp="1"/>
          </p:cNvSpPr>
          <p:nvPr/>
        </p:nvSpPr>
        <p:spPr>
          <a:xfrm>
            <a:off x="609600" y="2952750"/>
            <a:ext cx="10972800" cy="7421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zephyr-main/</a:t>
            </a:r>
            <a:r>
              <a:rPr>
                <a:solidFill>
                  <a:srgbClr val="0070C0"/>
                </a:solidFill>
                <a:ea typeface="Microsoft YaHei"/>
              </a:rPr>
              <a:t>modules/cmsis_6</a:t>
            </a:r>
            <a:r>
              <a:t> 保存 Zephyr 怎样使用 CMSIS 的接入规则；真正 Arm 头文件位于工作区根 </a:t>
            </a:r>
            <a:r>
              <a:rPr>
                <a:solidFill>
                  <a:srgbClr val="0070C0"/>
                </a:solidFill>
                <a:ea typeface="Microsoft YaHei"/>
              </a:rPr>
              <a:t>modules/hal/cmsis_6</a:t>
            </a:r>
            <a:r>
              <a:t>。</a:t>
            </a:r>
          </a:p>
        </p:txBody>
      </p:sp>
      <p:sp>
        <p:nvSpPr>
          <p:cNvPr id="10" name="Body 1"/>
          <p:cNvSpPr>
            <a:spLocks noGrp="1"/>
          </p:cNvSpPr>
          <p:nvPr/>
        </p:nvSpPr>
        <p:spPr>
          <a:xfrm>
            <a:off x="609600" y="3866388"/>
            <a:ext cx="10972800" cy="7421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外部 </a:t>
            </a:r>
            <a:r>
              <a:rPr>
                <a:solidFill>
                  <a:srgbClr val="0070C0"/>
                </a:solidFill>
                <a:ea typeface="Microsoft YaHei"/>
              </a:rPr>
              <a:t>module.yml</a:t>
            </a:r>
            <a:r>
              <a:t> 的 </a:t>
            </a:r>
            <a:r>
              <a:rPr>
                <a:solidFill>
                  <a:srgbClr val="A02B93"/>
                </a:solidFill>
                <a:ea typeface="Microsoft YaHei"/>
              </a:rPr>
              <a:t>cmake</a:t>
            </a:r>
            <a:r>
              <a:t>-ext / kconfig-ext 表示使用 Zephyr 一侧规则。当前模块目录变量仍指向原始包，因此规则能找到 CMSIS/Core/Include。</a:t>
            </a:r>
          </a:p>
        </p:txBody>
      </p:sp>
      <p:sp>
        <p:nvSpPr>
          <p:cNvPr id="11" name="Body 2"/>
          <p:cNvSpPr>
            <a:spLocks noGrp="1"/>
          </p:cNvSpPr>
          <p:nvPr/>
        </p:nvSpPr>
        <p:spPr>
          <a:xfrm>
            <a:off x="609600" y="4780026"/>
            <a:ext cx="10972800" cy="7421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只下载 Zephyr、看到主仓有 </a:t>
            </a:r>
            <a:r>
              <a:rPr>
                <a:solidFill>
                  <a:srgbClr val="0070C0"/>
                </a:solidFill>
                <a:ea typeface="Microsoft YaHei"/>
              </a:rPr>
              <a:t>modules/cmsis_6</a:t>
            </a:r>
            <a:r>
              <a:t>，不代表已经取到完整 CMSIS。两个目录名相近，来源和版本责任必须分开判断。</a:t>
            </a:r>
          </a:p>
        </p:txBody>
      </p:sp>
      <p:sp>
        <p:nvSpPr>
          <p:cNvPr id="12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Reading"/>
              </a:rPr>
              <a:t>完整解释与操作：配套 Markdown P005</a:t>
            </a:r>
          </a:p>
        </p:txBody>
      </p:sp>
      <p:sp>
        <p:nvSpPr>
          <p:cNvPr id="13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A9E6FD85-332D-459E-8A6A-E08434CC8B36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41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按当前清单获取 CMSIS_6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P005 · 工程组织、配置与驱动模型</a:t>
            </a:r>
          </a:p>
        </p:txBody>
      </p:sp>
      <p:sp>
        <p:nvSpPr>
          <p:cNvPr id="4" name="Continuous code"/>
          <p:cNvSpPr>
            <a:spLocks noGrp="1"/>
          </p:cNvSpPr>
          <p:nvPr/>
        </p:nvSpPr>
        <p:spPr>
          <a:xfrm>
            <a:off x="609600" y="1771650"/>
            <a:ext cx="10972800" cy="182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A02B93"/>
                </a:solidFill>
                <a:ea typeface="Microsoft YaHei"/>
              </a:rPr>
              <a:t>cd</a:t>
            </a:r>
            <a:r>
              <a:t> </a:t>
            </a:r>
            <a:r>
              <a:rPr>
                <a:solidFill>
                  <a:srgbClr val="0070C0"/>
                </a:solidFill>
                <a:ea typeface="Microsoft YaHei"/>
              </a:rPr>
              <a:t>/g/zephyr_practice/zephyr-main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A02B93"/>
                </a:solidFill>
                <a:ea typeface="Microsoft YaHei"/>
              </a:rPr>
              <a:t>source</a:t>
            </a:r>
            <a:r>
              <a:t> .venv/Scripts/activate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A02B93"/>
                </a:solidFill>
                <a:ea typeface="Microsoft YaHei"/>
              </a:rPr>
              <a:t>west</a:t>
            </a:r>
            <a:r>
              <a:t> list cmsis_6 -f '{url} {revision} {abspath}' &amp;&amp; \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A02B93"/>
                </a:solidFill>
                <a:ea typeface="Microsoft YaHei"/>
              </a:rPr>
              <a:t>west</a:t>
            </a:r>
            <a:r>
              <a:t> update cmsis_6 &amp;&amp; \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A02B93"/>
                </a:solidFill>
                <a:ea typeface="Microsoft YaHei"/>
              </a:rPr>
              <a:t>test</a:t>
            </a:r>
            <a:r>
              <a:t> -f </a:t>
            </a:r>
            <a:r>
              <a:rPr>
                <a:solidFill>
                  <a:srgbClr val="0070C0"/>
                </a:solidFill>
                <a:ea typeface="Microsoft YaHei"/>
              </a:rPr>
              <a:t>../modules/hal/cmsis_6/CMSIS/Core/Include/core_cm4.h</a:t>
            </a:r>
          </a:p>
        </p:txBody>
      </p:sp>
      <p:sp>
        <p:nvSpPr>
          <p:cNvPr id="5" name="Body 0"/>
          <p:cNvSpPr>
            <a:spLocks noGrp="1"/>
          </p:cNvSpPr>
          <p:nvPr/>
        </p:nvSpPr>
        <p:spPr>
          <a:xfrm>
            <a:off x="609600" y="3790950"/>
            <a:ext cx="10972800" cy="7170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仅缺包时在 UCRT64 执行。</a:t>
            </a:r>
            <a:r>
              <a:rPr>
                <a:solidFill>
                  <a:srgbClr val="A02B93"/>
                </a:solidFill>
                <a:ea typeface="Microsoft YaHei"/>
              </a:rPr>
              <a:t>west</a:t>
            </a:r>
            <a:r>
              <a:t> list 显示当前来源、固定版本和落点，update 才下载；准备完成的环境跳过这一步。</a:t>
            </a:r>
          </a:p>
        </p:txBody>
      </p:sp>
      <p:sp>
        <p:nvSpPr>
          <p:cNvPr id="6" name="Reading link"/>
          <p:cNvSpPr>
            <a:spLocks noGrp="1"/>
          </p:cNvSpPr>
          <p:nvPr/>
        </p:nvSpPr>
        <p:spPr>
          <a:xfrm>
            <a:off x="609600" y="6105525"/>
            <a:ext cx="619125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Reading"/>
              </a:rPr>
              <a:t>完整解释与操作：配套 Markdown P005</a:t>
            </a:r>
          </a:p>
        </p:txBody>
      </p:sp>
      <p:sp>
        <p:nvSpPr>
          <p:cNvPr id="7" name="Command link"/>
          <p:cNvSpPr>
            <a:spLocks noGrp="1"/>
          </p:cNvSpPr>
          <p:nvPr/>
        </p:nvSpPr>
        <p:spPr>
          <a:xfrm>
            <a:off x="8191500" y="6105525"/>
            <a:ext cx="33909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ea typeface="Microsoft YaHei"/>
                <a:hlinkClick r:id="rIdCommand"/>
              </a:rPr>
              <a:t>完整命令：附件 15</a:t>
            </a:r>
          </a:p>
        </p:txBody>
      </p:sp>
      <p:sp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4DACEB6-A318-45C4-96E6-FF8915E7089C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42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9939</Words>
  <Application>Microsoft Office PowerPoint</Application>
  <DocSecurity>0</DocSecurity>
  <PresentationFormat>宽屏</PresentationFormat>
  <Paragraphs>1307</Paragraphs>
  <Slides>42</Slides>
  <Notes>79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10</vt:i4>
      </vt:variant>
      <vt:variant>
        <vt:lpstr>幻灯片标题</vt:lpstr>
      </vt:variant>
      <vt:variant>
        <vt:i4>79</vt:i4>
      </vt:variant>
    </vt:vector>
  </HeadingPairs>
  <TitlesOfParts>
    <vt:vector size="93" baseType="lpstr">
      <vt:lpstr>Noto Sans SC</vt:lpstr>
      <vt:lpstr>Microsoft YaHei</vt:lpstr>
      <vt:lpstr>Aptos</vt:lpstr>
      <vt:lpstr>Consolas</vt:lpstr>
      <vt:lpstr>ChatGPT</vt:lpstr>
      <vt:lpstr>ChatGPT</vt:lpstr>
      <vt:lpstr>ChatGPT</vt:lpstr>
      <vt:lpstr>ChatGPT</vt:lpstr>
      <vt:lpstr>ChatGPT</vt:lpstr>
      <vt:lpstr>ChatGPT</vt:lpstr>
      <vt:lpstr>ChatGPT</vt:lpstr>
      <vt:lpstr>ChatGPT</vt:lpstr>
      <vt:lpstr>ChatGPT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兆军 李</cp:lastModifiedBy>
  <cp:revision>98</cp:revision>
  <dcterms:created xsi:type="dcterms:W3CDTF">2026-10-06T03:23:18Z</dcterms:created>
  <dcterms:modified xsi:type="dcterms:W3CDTF">2026-10-06T12:32:53Z</dcterms:modified>
</cp:coreProperties>
</file>