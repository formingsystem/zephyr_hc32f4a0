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6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7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8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9.xml" ContentType="application/vnd.openxmlformats-officedocument.theme+xml"/>
  <Override PartName="/ppt/slideLayouts/slideLayout5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guide14.xml" ContentType="application/vnd.openxmlformats-officedocument.presentationml.slide+xml"/>
  <Override PartName="/ppt/notesSlides/guide14.xml" ContentType="application/vnd.openxmlformats-officedocument.presentationml.notesSlide+xml"/>
  <Override PartName="/ppt/slides/guide15.xml" ContentType="application/vnd.openxmlformats-officedocument.presentationml.slide+xml"/>
  <Override PartName="/ppt/notesSlides/guide1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62" r:id="rId3"/>
    <p:sldMasterId id="2147483669" r:id="rId4"/>
    <p:sldMasterId id="2147483676" r:id="rId5"/>
    <p:sldMasterId id="2147483683" r:id="rId6"/>
    <p:sldMasterId id="2147483690" r:id="rId7"/>
    <p:sldMasterId id="2147483697" r:id="rId8"/>
    <p:sldMasterId id="2147483704" r:id="rId9"/>
    <p:sldMasterId id="2147483712" r:id="rId10"/>
  </p:sldMasterIdLst>
  <p:notesMasterIdLst>
    <p:notesMasterId r:id="rId33"/>
  </p:notesMasterIdLst>
  <p:sldIdLst>
    <p:sldId id="801" r:id="rIdGuideOrder1"/>
    <p:sldId id="802" r:id="rIdGuideOrder2"/>
    <p:sldId id="803" r:id="rIdGuideOrder3"/>
    <p:sldId id="804" r:id="rIdGuideOrder4"/>
    <p:sldId id="805" r:id="rIdGuideOrder5"/>
    <p:sldId id="806" r:id="rIdGuideOrder6"/>
    <p:sldId id="807" r:id="rIdGuideOrder7"/>
    <p:sldId id="808" r:id="rIdGuideOrder8"/>
    <p:sldId id="809" r:id="rIdGuideOrder9"/>
    <p:sldId id="810" r:id="rIdGuideOrder10"/>
    <p:sldId id="811" r:id="rIdGuideOrder11"/>
    <p:sldId id="812" r:id="rIdGuideOrder12"/>
    <p:sldId id="813" r:id="rIdGuideOrder13"/>
    <p:sldId id="814" r:id="rIdGuideOrder14"/>
    <p:sldId id="815" r:id="rIdGuideOrder15"/>
    <p:sldId id="816" r:id="rIdGuideOrder16"/>
    <p:sldId id="817" r:id="rIdGuideOrder17"/>
    <p:sldId id="818" r:id="rIdGuideOrder18"/>
    <p:sldId id="819" r:id="rIdGuideOrder19"/>
    <p:sldId id="820" r:id="rIdGuideOrder20"/>
    <p:sldId id="821" r:id="rIdGuideOrder21"/>
    <p:sldId id="822" r:id="rIdGuideOrder22"/>
    <p:sldId id="823" r:id="rIdGuideOrder23"/>
    <p:sldId id="824" r:id="rIdGuideOrder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45" autoAdjust="0"/>
  </p:normalViewPr>
  <p:slideViewPr>
    <p:cSldViewPr snapToGrid="0">
      <p:cViewPr varScale="1">
        <p:scale>
          <a:sx n="126" d="100"/>
          <a:sy n="126" d="100"/>
        </p:scale>
        <p:origin x="487" y="75"/>
      </p:cViewPr>
      <p:guideLst/>
    </p:cSldViewPr>
  </p:slideViewPr>
  <p:outlineViewPr>
    <p:cViewPr>
      <p:scale>
        <a:sx n="33" d="100"/>
        <a:sy n="33" d="100"/>
      </p:scale>
      <p:origin x="0" y="-8561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4138" y="5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34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36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35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GuideOrder1" Type="http://schemas.openxmlformats.org/officeDocument/2006/relationships/slide" Target="slides/slide1.xml"/><Relationship Id="rIdGuideOrder2" Type="http://schemas.openxmlformats.org/officeDocument/2006/relationships/slide" Target="slides/slide2.xml"/><Relationship Id="rIdGuideOrder3" Type="http://schemas.openxmlformats.org/officeDocument/2006/relationships/slide" Target="slides/guide14.xml"/><Relationship Id="rIdGuideOrder4" Type="http://schemas.openxmlformats.org/officeDocument/2006/relationships/slide" Target="slides/slide3.xml"/><Relationship Id="rIdGuideOrder5" Type="http://schemas.openxmlformats.org/officeDocument/2006/relationships/slide" Target="slides/slide4.xml"/><Relationship Id="rIdGuideOrder6" Type="http://schemas.openxmlformats.org/officeDocument/2006/relationships/slide" Target="slides/slide5.xml"/><Relationship Id="rIdGuideOrder7" Type="http://schemas.openxmlformats.org/officeDocument/2006/relationships/slide" Target="slides/slide6.xml"/><Relationship Id="rIdGuideOrder8" Type="http://schemas.openxmlformats.org/officeDocument/2006/relationships/slide" Target="slides/slide7.xml"/><Relationship Id="rIdGuideOrder9" Type="http://schemas.openxmlformats.org/officeDocument/2006/relationships/slide" Target="slides/slide8.xml"/><Relationship Id="rIdGuideOrder10" Type="http://schemas.openxmlformats.org/officeDocument/2006/relationships/slide" Target="slides/slide9.xml"/><Relationship Id="rIdGuideOrder11" Type="http://schemas.openxmlformats.org/officeDocument/2006/relationships/slide" Target="slides/slide10.xml"/><Relationship Id="rIdGuideOrder12" Type="http://schemas.openxmlformats.org/officeDocument/2006/relationships/slide" Target="slides/slide11.xml"/><Relationship Id="rIdGuideOrder13" Type="http://schemas.openxmlformats.org/officeDocument/2006/relationships/slide" Target="slides/slide12.xml"/><Relationship Id="rIdGuideOrder14" Type="http://schemas.openxmlformats.org/officeDocument/2006/relationships/slide" Target="slides/slide13.xml"/><Relationship Id="rIdGuideOrder15" Type="http://schemas.openxmlformats.org/officeDocument/2006/relationships/slide" Target="slides/slide14.xml"/><Relationship Id="rIdGuideOrder16" Type="http://schemas.openxmlformats.org/officeDocument/2006/relationships/slide" Target="slides/slide15.xml"/><Relationship Id="rIdGuideOrder17" Type="http://schemas.openxmlformats.org/officeDocument/2006/relationships/slide" Target="slides/slide16.xml"/><Relationship Id="rIdGuideOrder18" Type="http://schemas.openxmlformats.org/officeDocument/2006/relationships/slide" Target="slides/slide17.xml"/><Relationship Id="rIdGuideOrder19" Type="http://schemas.openxmlformats.org/officeDocument/2006/relationships/slide" Target="slides/slide18.xml"/><Relationship Id="rIdGuideOrder20" Type="http://schemas.openxmlformats.org/officeDocument/2006/relationships/slide" Target="slides/slide19.xml"/><Relationship Id="rIdGuideOrder21" Type="http://schemas.openxmlformats.org/officeDocument/2006/relationships/slide" Target="slides/slide20.xml"/><Relationship Id="rIdGuideOrder22" Type="http://schemas.openxmlformats.org/officeDocument/2006/relationships/slide" Target="slides/slide21.xml"/><Relationship Id="rIdGuideOrder23" Type="http://schemas.openxmlformats.org/officeDocument/2006/relationships/slide" Target="slides/guide15.xml"/><Relationship Id="rIdGuideOrder24" Type="http://schemas.openxmlformats.org/officeDocument/2006/relationships/slide" Target="slides/slide2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guide14.xml.rels><?xml version='1.0' encoding='UTF-8' standalone='yes'?>
<Relationships xmlns="http://schemas.openxmlformats.org/package/2006/relationships"><Relationship Id="rId2" Type="http://schemas.openxmlformats.org/officeDocument/2006/relationships/slide" Target="../slides/guide14.xml"/><Relationship Id="rId1" Type="http://schemas.openxmlformats.org/officeDocument/2006/relationships/notesMaster" Target="../notesMasters/notesMaster1.xml"/></Relationships>
</file>

<file path=ppt/notesSlides/_rels/guide15.xml.rels><?xml version='1.0' encoding='UTF-8' standalone='yes'?>
<Relationships xmlns="http://schemas.openxmlformats.org/package/2006/relationships"><Relationship Id="rId2" Type="http://schemas.openxmlformats.org/officeDocument/2006/relationships/slide" Target="../slides/guide15.xml"/><Relationship Id="rId1" Type="http://schemas.openxmlformats.org/officeDocument/2006/relationships/notesMaster" Target="../notesMasters/notesMaster1.xml"/></Relationships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gu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7.1。</a:t>
            </a:r>
          </a:p>
          <a:p>
            <a:r>
              <a:t>前一册已把组件接进 Zephyr：目录被发现后，为什么某个 .c 才获得编译命令？</a:t>
            </a:r>
          </a:p>
          <a:p>
            <a:r>
              <a:t>本册暂时把工程缩小成主机上的一个程序和一个库。亲自改变源码、头文件与链接关系，观察 CMake 生成的任务。</a:t>
            </a:r>
          </a:p>
          <a:p>
            <a:r>
              <a:t>随后回到 hello_world，就能理解 app 目标、模块库与条件选源，而不是记住一串函数名。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gu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7.6。</a:t>
            </a:r>
          </a:p>
          <a:p>
            <a:r>
              <a:t>应用的 main.c 属于 app；组件的 greeting.c 属于模块创建的库。头文件目录告诉使用者如何找到声明。</a:t>
            </a:r>
          </a:p>
          <a:p>
            <a:r>
              <a:t>Kconfig 先产生 CONFIG_APP_GREETING；模块 CMake 再按这个条件选择源文件。目录存在与源文件参与编译是两件事。</a:t>
            </a:r>
          </a:p>
          <a:p>
            <a:r>
              <a:t>下一册继续解释：应用调用 find_package(Zephyr) 后，app 和这些模块目标是怎样建立起来的。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承接 P002 主机工具与 Python。本章建立 Zephyr CMake 接口的共同模型：输入由谁读取、默认如何工作、保存在哪里，以及何时需要覆盖。后续 P003—P012 回顾各自接口，并讲解本模块的结构与完整实验。</a:t>
            </a:r>
          </a:p>
          <a:p>
            <a:r>
              <a:t>配套正文：learning/P01_zephyr_make_project/P007_Zephyr应用构建_Windows.md。</a:t>
            </a:r>
          </a:p>
          <a:p>
            <a:r>
              <a:t>源码依据：Zephyr cmake/modules/FindZephyr-sdk.cmake、FindHostTools.cmake、FindTargetTools.cmake、zephyr_module.cmake 与 extensions.cmake；SDK 1.0.1 的 cmake 包。</a:t>
            </a:r>
          </a:p>
          <a:p>
            <a:r>
              <a:t>主讲人：lizhaojun。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对应正文：P007_原生CMake与目标模型_Windows.md</a:t>
            </a:r>
          </a:p>
          <a:p>
            <a:r>
              <a:t>7.1 · 本册只建立 CMake 基础</a:t>
            </a:r>
          </a:p>
          <a:p>
            <a:r>
              <a:t>先认识构建对象，再理解命令。</a:t>
            </a:r>
          </a:p>
          <a:p>
            <a:r>
              <a:t>本册产物：Windows 主机上的 my_app.exe。</a:t>
            </a:r>
          </a:p>
          <a:p>
            <a:r>
              <a:t>P008 再引入 Zephyr 与目标板；west 单独在 P009。</a:t>
            </a:r>
          </a:p>
          <a:p>
            <a:endParaRPr/>
          </a:p>
          <a:p>
            <a:endParaRPr/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对应正文：P007_原生CMake与目标模型_Windows.md</a:t>
            </a:r>
          </a:p>
          <a:p>
            <a:r>
              <a:t>7.1 · 三种职责</a:t>
            </a:r>
          </a:p>
          <a:p>
            <a:r>
              <a:t>CMake 读取脚本，建立目标和依赖关系，生成后端规则。</a:t>
            </a:r>
          </a:p>
          <a:p>
            <a:r>
              <a:t>Ninja 按规则执行需要更新的任务。</a:t>
            </a:r>
          </a:p>
          <a:p>
            <a:r>
              <a:t>GCC 把 C 源码编成对象，再由链接工具形成程序。</a:t>
            </a:r>
          </a:p>
          <a:p>
            <a:r>
              <a:t>cmake --build 是调用已选后端的入口。</a:t>
            </a:r>
          </a:p>
          <a:p>
            <a:endParaRPr/>
          </a:p>
          <a:p>
            <a:endParaRPr/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对应正文：P007_原生CMake与目标模型_Windows.md</a:t>
            </a:r>
          </a:p>
          <a:p>
            <a:r>
              <a:t>7.1 · 一次配置命令内部</a:t>
            </a:r>
          </a:p>
          <a:p>
            <a:r>
              <a:t>configure：执行 CMakeLists，识别编译器，建立目标关系。</a:t>
            </a:r>
          </a:p>
          <a:p>
            <a:r>
              <a:t>generate：把这些关系写成所选生成器的规则。</a:t>
            </a:r>
          </a:p>
          <a:p>
            <a:r>
              <a:t>build：后端执行规则；前两步成功还不等于程序编译完成。</a:t>
            </a:r>
          </a:p>
          <a:p>
            <a:endParaRPr/>
          </a:p>
          <a:p>
            <a:endParaRPr/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对应正文：P007_原生CMake与目标模型_Windows.md</a:t>
            </a:r>
          </a:p>
          <a:p>
            <a:r>
              <a:t>7.2.1 · 这些练习文件由读者创建</a:t>
            </a:r>
          </a:p>
          <a:p>
            <a:r>
              <a:t>练习位置：build/learning-tools/cmake-native/。</a:t>
            </a:r>
          </a:p>
          <a:p>
            <a:r>
              <a:t>source/ 放 CMakeLists.txt、main.c；out/ 放工具生成结果。</a:t>
            </a:r>
          </a:p>
          <a:p>
            <a:r>
              <a:t>不修改 samples/hello_world；这还不是 Zephyr 应用。</a:t>
            </a:r>
          </a:p>
          <a:p>
            <a:r>
              <a:t>目录已存在先检查，不覆盖此前练习。</a:t>
            </a:r>
          </a:p>
          <a:p>
            <a:endParaRPr/>
          </a:p>
          <a:p>
            <a:endParaRPr/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对应正文：P007_原生CMake与目标模型_Windows.md</a:t>
            </a:r>
          </a:p>
          <a:p>
            <a:r>
              <a:t>7.2.1 · Windows UCRT64</a:t>
            </a:r>
          </a:p>
          <a:p>
            <a:r>
              <a:t>本例输出 Windows 程序，因此使用 UCRT64 主机 GCC。</a:t>
            </a:r>
          </a:p>
          <a:p>
            <a:r>
              <a:t>预期 gcc -dumpmachine 为 x86_64-w64-mingw32。</a:t>
            </a:r>
          </a:p>
          <a:p>
            <a:r>
              <a:t>缺少时按 MD 的可选 pacman 步骤安装；这不代替 ARM SDK。</a:t>
            </a:r>
          </a:p>
          <a:p>
            <a:endParaRPr/>
          </a:p>
          <a:p>
            <a:r>
              <a:t># Windows UCRT64；进入实验源码根。</a:t>
            </a:r>
          </a:p>
          <a:p>
            <a:r>
              <a:t>cd /g/zephyr_practice/zephyr-main</a:t>
            </a:r>
          </a:p>
          <a:p>
            <a:r>
              <a:t>cmake --version</a:t>
            </a:r>
          </a:p>
          <a:p>
            <a:r>
              <a:t>ninja --version</a:t>
            </a:r>
          </a:p>
          <a:p>
            <a:r>
              <a:t>gcc -dumpmachine</a:t>
            </a:r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对应正文：P007_原生CMake与目标模型_Windows.md</a:t>
            </a:r>
          </a:p>
          <a:p>
            <a:r>
              <a:t>7.2.1 · 文件内容，不是终端命令</a:t>
            </a:r>
          </a:p>
          <a:p>
            <a:r>
              <a:t>自行创建 source/main.c；完整目录创建与写文件操作见 MD。</a:t>
            </a:r>
          </a:p>
          <a:p>
            <a:r>
              <a:t>下方“配套正文”包含可复制的完整操作和已存在目录分支。</a:t>
            </a:r>
          </a:p>
          <a:p>
            <a:endParaRPr/>
          </a:p>
          <a:p>
            <a:r>
              <a:t>#include &lt;stdio.h&gt;</a:t>
            </a:r>
          </a:p>
          <a:p>
            <a:endParaRPr/>
          </a:p>
          <a:p>
            <a:r>
              <a:t>int main(void)</a:t>
            </a:r>
          </a:p>
          <a:p>
            <a:r>
              <a:t>{</a:t>
            </a:r>
          </a:p>
          <a:p>
            <a:r>
              <a:t>    puts("Hello from native CMake");</a:t>
            </a:r>
          </a:p>
          <a:p>
            <a:r>
              <a:t>    return 0;</a:t>
            </a:r>
          </a:p>
          <a:p>
            <a:r>
              <a:t>}</a:t>
            </a:r>
          </a:p>
          <a:p>
            <a:r>
              <a:t>依据：https://cmake.org/cmake/help/latest/guide/tutorial/Getting Started with CMake.html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对应正文：P007_原生CMake与目标模型_Windows.md</a:t>
            </a:r>
          </a:p>
          <a:p>
            <a:r>
              <a:t>7.2.2 · 自行创建 source/CMakeLists.txt</a:t>
            </a:r>
          </a:p>
          <a:p>
            <a:r>
              <a:t>project 命名工程并启用 C 语言；不是输出文件名。</a:t>
            </a:r>
          </a:p>
          <a:p>
            <a:r>
              <a:t>add_executable 创建 my_app 目标，main.c 是它的源码。</a:t>
            </a:r>
          </a:p>
          <a:p>
            <a:r>
              <a:t>在 Windows 上构建这个目标，得到 my_app.exe。</a:t>
            </a:r>
          </a:p>
          <a:p>
            <a:endParaRPr/>
          </a:p>
          <a:p>
            <a:r>
              <a:t>cmake_minimum_required(VERSION 3.28)</a:t>
            </a:r>
          </a:p>
          <a:p>
            <a:r>
              <a:t>project(native_demo LANGUAGES C)</a:t>
            </a:r>
          </a:p>
          <a:p>
            <a:r>
              <a:t>add_executable(my_app main.c)</a:t>
            </a:r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对应正文：P007_原生CMake与目标模型_Windows.md</a:t>
            </a:r>
          </a:p>
          <a:p>
            <a:r>
              <a:t>7.2.3 · 两个练习文件已经存在</a:t>
            </a:r>
          </a:p>
          <a:p>
            <a:r>
              <a:t>先核对主机 C 编译器，再看到 Configuring done / Generating done。</a:t>
            </a:r>
          </a:p>
          <a:p>
            <a:r>
              <a:t>生成 out/CMakeCache.txt 和 out/build.ninja；失败时不继续 build。</a:t>
            </a:r>
          </a:p>
          <a:p>
            <a:endParaRPr/>
          </a:p>
          <a:p>
            <a:r>
              <a:t># Windows UCRT64；实验源码根。</a:t>
            </a:r>
          </a:p>
          <a:p>
            <a:r>
              <a:t>cd /g/zephyr_practice/zephyr-main</a:t>
            </a:r>
          </a:p>
          <a:p>
            <a:r>
              <a:t>cmake -S build/learning-tools/cmake-native/source \</a:t>
            </a:r>
          </a:p>
          <a:p>
            <a:r>
              <a:t>  -B build/learning-tools/cmake-native/out -G Ninja</a:t>
            </a:r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对应正文：P007_原生CMake与目标模型_Windows.md</a:t>
            </a:r>
          </a:p>
          <a:p>
            <a:r>
              <a:t>7.2.3 · out 已配置并生成成功</a:t>
            </a:r>
          </a:p>
          <a:p>
            <a:r>
              <a:t>预期输出 Hello from native CMake。</a:t>
            </a:r>
          </a:p>
          <a:p>
            <a:r>
              <a:t>条件分支避免失败后误运行旧 exe；完整错误先看首个失败任务。</a:t>
            </a:r>
          </a:p>
          <a:p>
            <a:endParaRPr/>
          </a:p>
          <a:p>
            <a:r>
              <a:t># Windows UCRT64；实验源码根。</a:t>
            </a:r>
          </a:p>
          <a:p>
            <a:r>
              <a:t>cd /g/zephyr_practice/zephyr-main</a:t>
            </a:r>
          </a:p>
          <a:p>
            <a:r>
              <a:t>if cmake --build build/learning-tools/cmake-native/out --parallel 4; then</a:t>
            </a:r>
          </a:p>
          <a:p>
            <a:r>
              <a:t>  ./build/learning-tools/cmake-native/out/my_app.exe</a:t>
            </a:r>
          </a:p>
          <a:p>
            <a:r>
              <a:t>else</a:t>
            </a:r>
          </a:p>
          <a:p>
            <a:r>
              <a:t>  printf '%s\n' '构建失败，先检查错误。'</a:t>
            </a:r>
          </a:p>
          <a:p>
            <a:r>
              <a:t>fi</a:t>
            </a:r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对应正文：P007_原生CMake与目标模型_Windows.md</a:t>
            </a:r>
          </a:p>
          <a:p>
            <a:r>
              <a:t>7.3.1 · 组成图，不是执行顺序</a:t>
            </a:r>
          </a:p>
          <a:p>
            <a:r>
              <a:t>目标是属性的归属点：源码、头文件目录、宏、编译选项和链接关系。</a:t>
            </a:r>
          </a:p>
          <a:p>
            <a:r>
              <a:t>磁盘上新建 foo.c 不代表它自动参与构建。</a:t>
            </a:r>
          </a:p>
          <a:p>
            <a:endParaRPr/>
          </a:p>
          <a:p>
            <a:endParaRPr/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对应正文：P007_原生CMake与目标模型_Windows.md</a:t>
            </a:r>
          </a:p>
          <a:p>
            <a:r>
              <a:t>7.3.1 · 等价替换，不重复创建同名目标</a:t>
            </a:r>
          </a:p>
          <a:p>
            <a:r>
              <a:t>target_sources 向已存在的 my_app 添加源码。</a:t>
            </a:r>
          </a:p>
          <a:p>
            <a:r>
              <a:t>PRIVATE 表示这些源码用于目标自身，不作为接口源码传播。</a:t>
            </a:r>
          </a:p>
          <a:p>
            <a:endParaRPr/>
          </a:p>
          <a:p>
            <a:r>
              <a:t>cmake_minimum_required(VERSION 3.28)</a:t>
            </a:r>
          </a:p>
          <a:p>
            <a:r>
              <a:t>project(native_demo LANGUAGES C)</a:t>
            </a:r>
          </a:p>
          <a:p>
            <a:r>
              <a:t>add_executable(my_app)</a:t>
            </a:r>
          </a:p>
          <a:p>
            <a:r>
              <a:t>target_sources(my_app PRIVATE main.c)</a:t>
            </a:r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对应正文：P007_原生CMake与目标模型_Windows.md</a:t>
            </a:r>
          </a:p>
          <a:p>
            <a:r>
              <a:t>7.3.2 · 第二阶段替换练习文件</a:t>
            </a:r>
          </a:p>
          <a:p>
            <a:r>
              <a:t>新建 include/add.h、src/add.c；更新 main.c 调用 add(2, 3)。</a:t>
            </a:r>
          </a:p>
          <a:p>
            <a:r>
              <a:t>四份完整文件见 MD 与配套 labs/cmake_native/02_targets。</a:t>
            </a:r>
          </a:p>
          <a:p>
            <a:r>
              <a:t>先保留个人改动；这些文件均是教程提供，不是官方原有。</a:t>
            </a:r>
          </a:p>
          <a:p>
            <a:endParaRPr/>
          </a:p>
          <a:p>
            <a:endParaRPr/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对应正文：P007_原生CMake与目标模型_Windows.md</a:t>
            </a:r>
          </a:p>
          <a:p>
            <a:r>
              <a:t>7.3.2 · 第二阶段 CMakeLists.txt 主体</a:t>
            </a:r>
          </a:p>
          <a:p>
            <a:r>
              <a:t>arithmetic 提供头文件目录并形成静态库。</a:t>
            </a:r>
          </a:p>
          <a:p>
            <a:r>
              <a:t>my_app 链接它，同时接收其公开的使用要求。</a:t>
            </a:r>
          </a:p>
          <a:p>
            <a:endParaRPr/>
          </a:p>
          <a:p>
            <a:r>
              <a:t>cmake_minimum_required(VERSION 3.28)</a:t>
            </a:r>
          </a:p>
          <a:p>
            <a:r>
              <a:t>project(native_demo LANGUAGES C)</a:t>
            </a:r>
          </a:p>
          <a:p>
            <a:r>
              <a:t>add_library(arithmetic STATIC src/add.c)</a:t>
            </a:r>
          </a:p>
          <a:p>
            <a:r>
              <a:t>target_include_directories(arithmetic PUBLIC</a:t>
            </a:r>
          </a:p>
          <a:p>
            <a:r>
              <a:t>  "${CMAKE_CURRENT_SOURCE_DIR}/include")</a:t>
            </a:r>
          </a:p>
          <a:p>
            <a:r>
              <a:t>add_executable(my_app main.c)</a:t>
            </a:r>
          </a:p>
          <a:p>
            <a:r>
              <a:t>target_link_libraries(my_app PRIVATE arithmetic)</a:t>
            </a:r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对应正文：P007_原生CMake与目标模型_Windows.md</a:t>
            </a:r>
          </a:p>
          <a:p>
            <a:r>
              <a:rPr/>
              <a:t>7.3.2 · 使用要求的传播</a:t>
            </a:r>
          </a:p>
          <a:p>
            <a:r>
              <a:rPr/>
              <a:t>PRIVATE：给目标自身。</a:t>
            </a:r>
          </a:p>
          <a:p>
            <a:r>
              <a:rPr/>
              <a:t>PUBLIC：给目标自身，也给使用者。</a:t>
            </a:r>
          </a:p>
          <a:p>
            <a:r>
              <a:rPr/>
              <a:t>INTERFACE：只给使用者。</a:t>
            </a:r>
          </a:p>
          <a:p>
            <a:r>
              <a:rPr>
                <a:solidFill>
                  <a:srgbClr val="29263B"/>
                </a:solidFill>
              </a:rPr>
              <a:t>这里按编译要求理解；静态库的最终链接依赖另有传播规则。</a:t>
            </a:r>
          </a:p>
          <a:p>
            <a:endParaRPr/>
          </a:p>
          <a:p/>
          <a:p>
            <a:r>
              <a:rPr/>
              <a:t>依据：https://cmake.org/cmake/help/latest/manual/cmake-buildsystem.7.html</a:t>
            </a:r>
          </a:p>
          <a:p>
            <a:r>
              <a:rPr/>
              <a:t>本机原件：CMake 帮助：manual/cmake-buildsystem.7.rst</a:t>
            </a:r>
          </a:p>
          <a:p/>
          <a:p>
            <a:r>
              <a:rPr/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对应正文：P007_原生CMake与目标模型_Windows.md</a:t>
            </a:r>
          </a:p>
          <a:p>
            <a:r>
              <a:t>7.3.2 · 两目标练习的结果</a:t>
            </a:r>
          </a:p>
          <a:p>
            <a:r>
              <a:t>改入口后重新配置同一 out，再 cmake --build，运行 my_app.exe。</a:t>
            </a:r>
          </a:p>
          <a:p>
            <a:r>
              <a:t>预期 2 + 3 = 5；完整命令沿用 7.2.3。</a:t>
            </a:r>
          </a:p>
          <a:p>
            <a:r>
              <a:t>普通 C 文件变化通常只需增量构建；已登记输入也可能触发重配。</a:t>
            </a:r>
          </a:p>
          <a:p>
            <a:r>
              <a:t>编译行可观察 include 路径，链接行可观察 arithmetic 库。</a:t>
            </a:r>
          </a:p>
          <a:p>
            <a:endParaRPr/>
          </a:p>
          <a:p>
            <a:endParaRPr/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对应正文：P007_原生CMake与目标模型_Windows.md</a:t>
            </a:r>
          </a:p>
          <a:p>
            <a:r>
              <a:t>7.4.1 · 只读布局变体，非必做迁移</a:t>
            </a:r>
          </a:p>
          <a:p>
            <a:r>
              <a:t>根入口处理到 add_subdirectory(lib)，就进入 lib/CMakeLists.txt。</a:t>
            </a:r>
          </a:p>
          <a:p>
            <a:r>
              <a:t>仍属于同一次 CMake 配置，不会启动第二套编译系统。</a:t>
            </a:r>
          </a:p>
          <a:p>
            <a:r>
              <a:t>子目录中 CMAKE_CURRENT_SOURCE_DIR 指向 lib。</a:t>
            </a:r>
          </a:p>
          <a:p>
            <a:endParaRPr/>
          </a:p>
          <a:p>
            <a:endParaRPr/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对应正文：P007_原生CMake与目标模型_Windows.md</a:t>
            </a:r>
          </a:p>
          <a:p>
            <a:r>
              <a:t>7.4.2 · 先认识包，再认识 Zephyr 包</a:t>
            </a:r>
          </a:p>
          <a:p>
            <a:r>
              <a:t>Config 模式寻找 NameConfig.cmake 等入口。</a:t>
            </a:r>
          </a:p>
          <a:p>
            <a:r>
              <a:t>Module 模式寻找 FindName.cmake。</a:t>
            </a:r>
          </a:p>
          <a:p>
            <a:r>
              <a:t>找到后在同一 CMake 进程执行相关脚本；该命令本身不是下载器。</a:t>
            </a:r>
          </a:p>
          <a:p>
            <a:endParaRPr/>
          </a:p>
          <a:p>
            <a:endParaRPr/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对应正文：P007_原生CMake与目标模型_Windows.md</a:t>
            </a:r>
          </a:p>
          <a:p>
            <a:r>
              <a:t>7.4.2 · 找到一个不代表找到另一个</a:t>
            </a:r>
          </a:p>
          <a:p>
            <a:r>
              <a:t>ZephyrConfig.cmake：源码提供的构建入口。</a:t>
            </a:r>
          </a:p>
          <a:p>
            <a:r>
              <a:t>Zephyr-sdkConfig.cmake：SDK 提供的工具发现入口。</a:t>
            </a:r>
          </a:p>
          <a:p>
            <a:r>
              <a:t>Zephyr_DIR 定位前者；SDK 路线与注册在 P003。</a:t>
            </a:r>
          </a:p>
          <a:p>
            <a:r>
              <a:t>不是每个 CMake 包都会创建 app；那是 Zephyr 初始化的行为。</a:t>
            </a:r>
          </a:p>
          <a:p>
            <a:endParaRPr/>
          </a:p>
          <a:p>
            <a:endParaRPr/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对应正文：P007_原生CMake与目标模型_Windows.md</a:t>
            </a:r>
          </a:p>
          <a:p>
            <a:r>
              <a:t>7.5 · 三种对象各有读取者</a:t>
            </a:r>
          </a:p>
          <a:p>
            <a:r>
              <a:t>普通变量：脚本当前作用域中读取。</a:t>
            </a:r>
          </a:p>
          <a:p>
            <a:r>
              <a:t>缓存项：保存在所选构建目录，后续配置可能继续使用。</a:t>
            </a:r>
          </a:p>
          <a:p>
            <a:r>
              <a:t>目标属性：属于指定 target，影响其构建或使用要求。</a:t>
            </a:r>
          </a:p>
          <a:p>
            <a:r>
              <a:t>-D 传了一个名字，不等于编译器自动收到同名宏。</a:t>
            </a:r>
          </a:p>
          <a:p>
            <a:endParaRPr/>
          </a:p>
          <a:p>
            <a:endParaRPr/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对应正文：P007_原生CMake与目标模型_Windows.md</a:t>
            </a:r>
          </a:p>
          <a:p>
            <a:r>
              <a:t>7.5 · DEMO_TRACE 是教程自定义选项</a:t>
            </a:r>
          </a:p>
          <a:p>
            <a:r>
              <a:t>先创建 my_app，再加入以下片段。</a:t>
            </a:r>
          </a:p>
          <a:p>
            <a:r>
              <a:t>option 声明缓存项；if 读取；target 接口才把宏加入编译规则。</a:t>
            </a:r>
          </a:p>
          <a:p>
            <a:endParaRPr/>
          </a:p>
          <a:p>
            <a:r>
              <a:t>option(DEMO_TRACE "Enable tutorial trace" OFF)</a:t>
            </a:r>
          </a:p>
          <a:p>
            <a:r>
              <a:t>if(DEMO_TRACE)</a:t>
            </a:r>
          </a:p>
          <a:p>
            <a:r>
              <a:t>  target_compile_definitions(my_app PRIVATE DEMO_TRACE=1)</a:t>
            </a:r>
          </a:p>
          <a:p>
            <a:r>
              <a:t>endif()</a:t>
            </a:r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对应正文：P007_原生CMake与目标模型_Windows.md</a:t>
            </a:r>
          </a:p>
          <a:p>
            <a:r>
              <a:t>7.6 · 下一册只增加一个新问题</a:t>
            </a:r>
          </a:p>
          <a:p>
            <a:r>
              <a:t>普通程序：自己 add_executable，然后添加源码与属性。</a:t>
            </a:r>
          </a:p>
          <a:p>
            <a:r>
              <a:t>Zephyr 应用：先 find_package，随后直接 target_sources(app)。</a:t>
            </a:r>
          </a:p>
          <a:p>
            <a:r>
              <a:t>Zephyr 加载应用时先创建 app；下一册展开这个过程。</a:t>
            </a:r>
          </a:p>
          <a:p>
            <a:r>
              <a:t>缓存深入 P011；west 入门与调用关系单独在 P009。</a:t>
            </a:r>
          </a:p>
          <a:p>
            <a:endParaRPr/>
          </a:p>
          <a:p>
            <a:endParaRPr/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D09EFEC-A256-4351-8E97-7435A86F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30F8346-A555-47D3-A2E1-BCC543F08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9FFD06F-FE24-49EC-9194-56ADD2F7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AC000BD-3078-4113-9B52-8F4DA1A5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5CD6595-793E-4B5C-9A13-3CF885E93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BB22602-462A-4044-8815-D4D7F3722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E035DCF-B384-44F7-973A-284F6383E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F8291D3-BA4E-489C-A187-B06D1729689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399FC7-8945-4254-8CD9-64E421CA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03ED6C9-C27E-4C55-88EE-9831E748E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5D4413F-A4F9-4B51-AFFD-82864AF6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FD08B3B-12D0-41D2-8648-0D0790686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FCE3EA2-4F10-45DA-B0F9-258DCBCC0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38891C-D6D9-446A-AA0F-2E808D94E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EE30FA7-471B-4F2E-909C-EB3A4775D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AE93EF2-48DD-4353-892F-7737D8D05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3B0FB94-361B-4E83-BDD7-72F259E41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C0F9B30-F258-4C66-9BAE-8E6CCCBEB1C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39B7AF1-5458-40DC-A2A4-C3E940EA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53A861C-2F71-4C8D-BA0B-22424FAA9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B36E5FB-B942-4F81-863B-14311E9F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AF2B295-21D1-4984-B654-FBF7CAE9D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3D17426-DC83-4E87-92D1-C42F39DE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AA50F02-7FF7-4768-AAE3-6D461A8E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8FD79E2-AB77-4BDF-8B79-A0298C13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1A1B3CA-10A8-42A1-A449-401A8E29B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5583886-4F04-4841-AF3F-4DA161B10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EC602EA-9C36-498E-96AE-A097FAF5590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A2BC890-15D0-44AE-9D82-5FBCB33AC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0CC2291-CE8F-48FC-89EB-53256BB32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C598CAA-C856-4FEE-A978-34E621BAF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829FEA2-767A-4E79-B26D-7FA7A3B10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9C698EE-F7BC-472F-B0AE-719B18E8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2E4F364-3711-43C3-B07A-3F13F1CE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5597017-FD42-445A-A879-4A45D335B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0DD197A-8666-4022-AE39-C778E2BD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08BA7AF-E378-4A60-8E19-7FA3870E8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65E0796-E8CF-4125-A4B7-51245344049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D840989-4046-4F67-8519-5CAC5F92F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71EAF3-957C-48C2-B0E2-F32C7C847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2F728ED-C843-4E3D-B8CB-B19A2035F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11DF1EC-56E5-4C33-849E-1A55A3202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04FB50E-9440-418F-AEBC-C0C082EE8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D4E580-EA8C-4260-AE81-4E793E49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FF1DF06-173D-4620-9B12-18F05E5C3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5EAD1C6-4DD4-4A65-9B8A-B62315FEC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C3A2051-86A6-450D-93E1-4CA1394BB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CFCC3E3-BC99-4A46-9206-9E90D8F7444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478AD7-3F2E-4904-BBBE-EC7CFCDA2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358C676-B293-45B8-ADCE-18F796344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03B24EA-8579-4A7F-BFCD-E4FFA8879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B6F869A-59A0-43E8-9F21-B67A7103F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672EB19-2E93-4233-9A53-912C17E7B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B0D8C91-F5E1-41E0-84C6-ECDE1D0A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28322EB-D798-4141-BA0A-3447C6565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7D8381E-58A3-4F99-B440-89507AF6B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ECA5C48-DFF3-4541-8AD8-65F68C6FC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263B4A2-54D7-4E0A-9501-D01FF940171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4B62F69-FD43-4A6B-B9C0-11F83020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D3B2FF7-D4E7-4EEC-933D-DD35C92C4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AA2868-E8E9-49AB-8A3B-B4FC708ED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0266387-2782-4A3F-9870-F042E2FBD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BF6B388-0C1C-4EA3-83B8-6F2F71CD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426D79A-BF0D-4F26-8411-4E82B234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CCAC56B-7E9F-4B09-9ED0-A3A6E5A27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DE1107C-8FD5-461A-8F34-B7D2C96F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6D141E0-5B82-4D36-A319-BE6154D3D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CD4BFC1-10CD-4521-83BA-5960561193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F454303-BC41-44C1-AE26-65F1721C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35CEBDC-4BFF-405F-B2FA-1E7F2185B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1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>
            <a:extLst>
              <a:ext uri="{FF2B5EF4-FFF2-40B4-BE49-F238E27FC236}">
                <a16:creationId xmlns:a16="http://schemas.microsoft.com/office/drawing/2014/main" id="{F2514CA8-5324-427A-8F58-A1771CD4AD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guide14.xml.rels><?xml version='1.0' encoding='UTF-8' standalone='yes'?>
<Relationships xmlns="http://schemas.openxmlformats.org/package/2006/relationships"><Relationship Id="rIdLayout" Type="http://schemas.openxmlformats.org/officeDocument/2006/relationships/slideLayout" Target="../slideLayouts/slideLayout54.xml"/><Relationship Id="rIdNotes" Type="http://schemas.openxmlformats.org/officeDocument/2006/relationships/notesSlide" Target="../notesSlides/guide14.xml"/><Relationship Id="rIdReading" Type="http://schemas.openxmlformats.org/officeDocument/2006/relationships/hyperlink" Target="../P007_&#21407;&#29983;CMake&#19982;&#30446;&#26631;&#27169;&#22411;_Windows.md" TargetMode="External"/></Relationships>
</file>

<file path=ppt/slides/_rels/guide15.xml.rels><?xml version='1.0' encoding='UTF-8' standalone='yes'?>
<Relationships xmlns="http://schemas.openxmlformats.org/package/2006/relationships"><Relationship Id="rIdLayout" Type="http://schemas.openxmlformats.org/officeDocument/2006/relationships/slideLayout" Target="../slideLayouts/slideLayout54.xml"/><Relationship Id="rIdNotes" Type="http://schemas.openxmlformats.org/officeDocument/2006/relationships/notesSlide" Target="../notesSlides/guide15.xml"/><Relationship Id="rIdReading" Type="http://schemas.openxmlformats.org/officeDocument/2006/relationships/hyperlink" Target="../P007_&#21407;&#29983;CMake&#19982;&#30446;&#26631;&#27169;&#22411;_Windows.md" TargetMode="External"/></Relationships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5.xml"/></Relationships>
</file>

<file path=ppt/slides/_rels/slide2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7_&#21407;&#29983;CMake&#19982;&#30446;&#26631;&#27169;&#22411;_Windows.md" TargetMode="Externa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7_&#21407;&#29983;CMake&#19982;&#30446;&#26631;&#27169;&#22411;_Windows.md" TargetMode="External"/></Relationships>
</file>

<file path=ppt/slides/_rels/slide4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7_&#21407;&#29983;CMake&#19982;&#30446;&#26631;&#27169;&#22411;_Windows.md" TargetMode="External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7_&#21407;&#29983;CMake&#19982;&#30446;&#26631;&#27169;&#22411;_Windows.md" TargetMode="External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7_&#21407;&#29983;CMake&#19982;&#30446;&#26631;&#27169;&#22411;_Windows.md" TargetMode="Externa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guide/tutorial/Getting%20Started%20with%20CMake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7_&#21407;&#29983;CMake&#19982;&#30446;&#26631;&#27169;&#22411;_Windows.md" TargetMode="External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7_&#21407;&#29983;CMake&#19982;&#30446;&#26631;&#27169;&#22411;_Windows.md" TargetMode="External"/></Relationships>
</file>

<file path=ppt/slides/_rels/slide9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7_&#21407;&#29983;CMake&#19982;&#30446;&#26631;&#27169;&#22411;_Windows.md" TargetMode="External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7_&#21407;&#29983;CMake&#19982;&#30446;&#26631;&#27169;&#22411;_Windows.md" TargetMode="External"/></Relationships>
</file>

<file path=ppt/slides/_rels/slide11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7_&#21407;&#29983;CMake&#19982;&#30446;&#26631;&#27169;&#22411;_Windows.md" TargetMode="External"/></Relationships>
</file>

<file path=ppt/slides/_rels/slide12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7_&#21407;&#29983;CMake&#19982;&#30446;&#26631;&#27169;&#22411;_Windows.md" TargetMode="External"/></Relationships>
</file>

<file path=ppt/slides/_rels/slide13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7_&#21407;&#29983;CMake&#19982;&#30446;&#26631;&#27169;&#22411;_Windows.md" TargetMode="External"/></Relationships>
</file>

<file path=ppt/slides/_rels/slide14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7_&#21407;&#29983;CMake&#19982;&#30446;&#26631;&#27169;&#22411;_Windows.md" TargetMode="External"/></Relationships>
</file>

<file path=ppt/slides/_rels/slide15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7_&#21407;&#29983;CMake&#19982;&#30446;&#26631;&#27169;&#22411;_Windows.md" TargetMode="External"/></Relationships>
</file>

<file path=ppt/slides/_rels/slide16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7_&#21407;&#29983;CMake&#19982;&#30446;&#26631;&#27169;&#22411;_Windows.md" TargetMode="External"/></Relationships>
</file>

<file path=ppt/slides/_rels/slide17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7_&#21407;&#29983;CMake&#19982;&#30446;&#26631;&#27169;&#22411;_Windows.md" TargetMode="External"/></Relationships>
</file>

<file path=ppt/slides/_rels/slide18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7_&#21407;&#29983;CMake&#19982;&#30446;&#26631;&#27169;&#22411;_Windows.md" TargetMode="External"/></Relationships>
</file>

<file path=ppt/slides/_rels/slide19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7_&#21407;&#29983;CMake&#19982;&#30446;&#26631;&#27169;&#22411;_Windows.md" TargetMode="External"/></Relationships>
</file>

<file path=ppt/slides/_rels/slide20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7_&#21407;&#29983;CMake&#19982;&#30446;&#26631;&#27169;&#22411;_Windows.md" TargetMode="External"/></Relationships>
</file>

<file path=ppt/slides/_rels/slide21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7_&#21407;&#29983;CMake&#19982;&#30446;&#26631;&#27169;&#22411;_Windows.md" TargetMode="External"/></Relationships>
</file>

<file path=ppt/slides/_rels/slide22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7_&#21407;&#29983;CMake&#19982;&#30446;&#26631;&#27169;&#22411;_Windows.md" TargetMode="External"/></Relationships>
</file>

<file path=ppt/slides/gu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为什么先拆开一个小 C 工程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7.1 · 从当前任务理解工程组织</a:t>
            </a:r>
          </a:p>
        </p:txBody>
      </p:sp>
      <p:sp>
        <p:nvSpPr>
          <p:cNvPr id="4" name="Flow 0"/>
          <p:cNvSpPr>
            <a:spLocks noGrp="1"/>
          </p:cNvSpPr>
          <p:nvPr/>
        </p:nvSpPr>
        <p:spPr>
          <a:xfrm>
            <a:off x="609600" y="1771650"/>
            <a:ext cx="2543175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读入工程描述</a:t>
            </a:r>
          </a:p>
        </p:txBody>
      </p:sp>
      <p:sp>
        <p:nvSpPr>
          <p:cNvPr id="5" name="Arrow 0"/>
          <p:cNvSpPr>
            <a:spLocks noGrp="1"/>
          </p:cNvSpPr>
          <p:nvPr/>
        </p:nvSpPr>
        <p:spPr>
          <a:xfrm>
            <a:off x="3190875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6" name="Flow 1"/>
          <p:cNvSpPr>
            <a:spLocks noGrp="1"/>
          </p:cNvSpPr>
          <p:nvPr/>
        </p:nvSpPr>
        <p:spPr>
          <a:xfrm>
            <a:off x="3419475" y="1771650"/>
            <a:ext cx="2543175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形成构建目标</a:t>
            </a:r>
          </a:p>
        </p:txBody>
      </p:sp>
      <p:sp>
        <p:nvSpPr>
          <p:cNvPr id="7" name="Arrow 1"/>
          <p:cNvSpPr>
            <a:spLocks noGrp="1"/>
          </p:cNvSpPr>
          <p:nvPr/>
        </p:nvSpPr>
        <p:spPr>
          <a:xfrm>
            <a:off x="6000750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8" name="Flow 2"/>
          <p:cNvSpPr>
            <a:spLocks noGrp="1"/>
          </p:cNvSpPr>
          <p:nvPr/>
        </p:nvSpPr>
        <p:spPr>
          <a:xfrm>
            <a:off x="6229350" y="1771650"/>
            <a:ext cx="2543175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生成编译任务</a:t>
            </a:r>
          </a:p>
        </p:txBody>
      </p:sp>
      <p:sp>
        <p:nvSpPr>
          <p:cNvPr id="9" name="Arrow 2"/>
          <p:cNvSpPr>
            <a:spLocks noGrp="1"/>
          </p:cNvSpPr>
          <p:nvPr/>
        </p:nvSpPr>
        <p:spPr>
          <a:xfrm>
            <a:off x="8810625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10" name="Flow 3"/>
          <p:cNvSpPr>
            <a:spLocks noGrp="1"/>
          </p:cNvSpPr>
          <p:nvPr/>
        </p:nvSpPr>
        <p:spPr>
          <a:xfrm>
            <a:off x="9039225" y="1771650"/>
            <a:ext cx="2543175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观察结果变化</a:t>
            </a:r>
          </a:p>
        </p:txBody>
      </p:sp>
      <p:sp>
        <p:nvSpPr>
          <p:cNvPr id="11" name="Body 0"/>
          <p:cNvSpPr>
            <a:spLocks noGrp="1"/>
          </p:cNvSpPr>
          <p:nvPr/>
        </p:nvSpPr>
        <p:spPr>
          <a:xfrm>
            <a:off x="609600" y="2952750"/>
            <a:ext cx="10972800" cy="39014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前一册已把组件接进 Zephyr：目录被发现后，为什么某个 .c 才获得编译命令？</a:t>
            </a:r>
          </a:p>
        </p:txBody>
      </p:sp>
      <p:sp>
        <p:nvSpPr>
          <p:cNvPr id="12" name="Body 1"/>
          <p:cNvSpPr>
            <a:spLocks noGrp="1"/>
          </p:cNvSpPr>
          <p:nvPr/>
        </p:nvSpPr>
        <p:spPr>
          <a:xfrm>
            <a:off x="609600" y="3514344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本册暂时把工程缩小成主机上的一个程序和一个库。亲自改变源码、头文件与链接关系，观察 CMake 生成的任务。</a:t>
            </a:r>
          </a:p>
        </p:txBody>
      </p:sp>
      <p:sp>
        <p:nvSpPr>
          <p:cNvPr id="13" name="Body 2"/>
          <p:cNvSpPr>
            <a:spLocks noGrp="1"/>
          </p:cNvSpPr>
          <p:nvPr/>
        </p:nvSpPr>
        <p:spPr>
          <a:xfrm>
            <a:off x="609600" y="4427982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随后回到 hello_world，就能理解 app 目标、模块库与条件选源，而不是记住一串函数名。</a:t>
            </a:r>
          </a:p>
        </p:txBody>
      </p:sp>
      <p:sp>
        <p:nvSpPr>
          <p:cNvPr id="14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Reading"/>
              </a:rPr>
              <a:t>完整解释与操作：配套 Markdown 7.1</a:t>
            </a:r>
          </a:p>
        </p:txBody>
      </p:sp>
      <p:sp>
        <p:nvSpPr>
          <p:cNvPr id="15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DB9F328-5C67-43F0-B765-97ADBF8E96D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gu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把目标模型带回自己的组件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7.6 · 从当前任务理解工程组织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应用的 </a:t>
            </a:r>
            <a:r>
              <a:rPr>
                <a:solidFill>
                  <a:srgbClr val="0070C0"/>
                </a:solidFill>
                <a:ea typeface="Microsoft YaHei"/>
              </a:rPr>
              <a:t>main.c</a:t>
            </a:r>
            <a:r>
              <a:t> 属于 app；组件的 </a:t>
            </a:r>
            <a:r>
              <a:rPr>
                <a:solidFill>
                  <a:srgbClr val="0070C0"/>
                </a:solidFill>
                <a:ea typeface="Microsoft YaHei"/>
              </a:rPr>
              <a:t>greeting.c</a:t>
            </a:r>
            <a:r>
              <a:t> 属于模块创建的库。头文件目录告诉使用者如何找到声明。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Kconfig 先产生 </a:t>
            </a:r>
            <a:r>
              <a:rPr>
                <a:solidFill>
                  <a:srgbClr val="B84E00"/>
                </a:solidFill>
                <a:ea typeface="Microsoft YaHei"/>
              </a:rPr>
              <a:t>CONFIG_APP_GREETING</a:t>
            </a:r>
            <a:r>
              <a:t>；模块 CMake 再按这个条件选择源文件。目录存在与源文件参与编译是两件事。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下一册继续解释：应用调用 </a:t>
            </a:r>
            <a:r>
              <a:rPr>
                <a:solidFill>
                  <a:srgbClr val="087B3D"/>
                </a:solidFill>
                <a:ea typeface="Microsoft YaHei"/>
              </a:rPr>
              <a:t>find_package</a:t>
            </a:r>
            <a:r>
              <a:t>(Zephyr) 后，app 和这些模块目标是怎样建立起来的。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Reading"/>
              </a:rPr>
              <a:t>完整解释与操作：配套 Markdown 7.6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7795DF0-A41A-4289-B4DA-81CBDFBB206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D686CA-009C-46C0-9649-59779F457B10}"/>
              </a:ext>
            </a:extLst>
          </p:cNvPr>
          <p:cNvSpPr>
            <a:spLocks noGrp="1"/>
          </p:cNvSpPr>
          <p:nvPr/>
        </p:nvSpPr>
        <p:spPr>
          <a:xfrm>
            <a:off x="647700" y="914400"/>
            <a:ext cx="1905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P007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3EA0C4-B462-4BE3-B25A-16FBB35A6FF0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7572375" cy="1666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原生CMake与目标模型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3B33A2-9A6E-4A0A-9111-996B334312DA}"/>
              </a:ext>
            </a:extLst>
          </p:cNvPr>
          <p:cNvSpPr>
            <a:spLocks noGrp="1"/>
          </p:cNvSpPr>
          <p:nvPr/>
        </p:nvSpPr>
        <p:spPr>
          <a:xfrm>
            <a:off x="647700" y="4248150"/>
            <a:ext cx="73342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Windows x64  UCRT64 实操教程</a:t>
            </a:r>
          </a:p>
        </p:txBody>
      </p:sp>
      <p:sp>
        <p:nvSpPr>
          <p:cNvPr id="6" name="Presenter lizhaojun">
            <a:extLst>
              <a:ext uri="{FF2B5EF4-FFF2-40B4-BE49-F238E27FC236}">
                <a16:creationId xmlns:a16="http://schemas.microsoft.com/office/drawing/2014/main" id="{133315A9-327F-4AF3-9469-360FC6999EB2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5334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rPr>
              <a:t>主讲人：lizhaojun</a:t>
            </a:r>
          </a:p>
        </p:txBody>
      </p:sp>
    </p:spTree>
    <p:extLst>
      <p:ext uri="{BB962C8B-B14F-4D97-AF65-F5344CB8AC3E}">
        <p14:creationId xmlns:p14="http://schemas.microsoft.com/office/powerpoint/2010/main" val="1122830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F039112-67F3-45C4-AE80-C2725DADD70A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从一个普通 C 程序开始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68ABB643-6094-445F-B27E-E159D710539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7.1 · 本册只建立 CMake 基础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0F7C86D2-0AAF-4217-8AF3-0AB04F65AED2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先认识构建对象，再理解命令。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本册产物：Windows 主机上的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my_app.exe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P008 再引入 Zephyr 与目标板；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单独在 P009。</a:t>
            </a:r>
          </a:p>
        </p:txBody>
      </p:sp>
      <p:sp>
        <p:nvSpPr>
          <p:cNvPr id="5" name="Model 源码与构建目录">
            <a:extLst>
              <a:ext uri="{FF2B5EF4-FFF2-40B4-BE49-F238E27FC236}">
                <a16:creationId xmlns:a16="http://schemas.microsoft.com/office/drawing/2014/main" id="{207145FA-6C89-4913-AB4B-0DC90F7C9108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源码与构建目录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1A592555-ADAF-4D10-B56A-E024760F00AE}"/>
              </a:ext>
            </a:extLst>
          </p:cNvPr>
          <p:cNvSpPr>
            <a:spLocks noGrp="1"/>
          </p:cNvSpPr>
          <p:nvPr/>
        </p:nvSpPr>
        <p:spPr>
          <a:xfrm>
            <a:off x="31146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目标与属性">
            <a:extLst>
              <a:ext uri="{FF2B5EF4-FFF2-40B4-BE49-F238E27FC236}">
                <a16:creationId xmlns:a16="http://schemas.microsoft.com/office/drawing/2014/main" id="{1DF4ED44-8C24-4DB4-AFC0-DDA012704CBE}"/>
              </a:ext>
            </a:extLst>
          </p:cNvPr>
          <p:cNvSpPr>
            <a:spLocks noGrp="1"/>
          </p:cNvSpPr>
          <p:nvPr/>
        </p:nvSpPr>
        <p:spPr>
          <a:xfrm>
            <a:off x="34480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目标与属性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7E2585E5-F6B8-4319-8EE2-4946284875DC}"/>
              </a:ext>
            </a:extLst>
          </p:cNvPr>
          <p:cNvSpPr>
            <a:spLocks noGrp="1"/>
          </p:cNvSpPr>
          <p:nvPr/>
        </p:nvSpPr>
        <p:spPr>
          <a:xfrm>
            <a:off x="59531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配置与生成">
            <a:extLst>
              <a:ext uri="{FF2B5EF4-FFF2-40B4-BE49-F238E27FC236}">
                <a16:creationId xmlns:a16="http://schemas.microsoft.com/office/drawing/2014/main" id="{F586B0D6-072A-475B-B643-AF474D0A0A43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配置与生成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BDD939EB-0D4B-49D9-BE46-B1E0B851D52A}"/>
              </a:ext>
            </a:extLst>
          </p:cNvPr>
          <p:cNvSpPr>
            <a:spLocks noGrp="1"/>
          </p:cNvSpPr>
          <p:nvPr/>
        </p:nvSpPr>
        <p:spPr>
          <a:xfrm>
            <a:off x="8791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el 后端与编译器">
            <a:extLst>
              <a:ext uri="{FF2B5EF4-FFF2-40B4-BE49-F238E27FC236}">
                <a16:creationId xmlns:a16="http://schemas.microsoft.com/office/drawing/2014/main" id="{76DAE53E-B0A3-479D-B60B-14821A0B302D}"/>
              </a:ext>
            </a:extLst>
          </p:cNvPr>
          <p:cNvSpPr>
            <a:spLocks noGrp="1"/>
          </p:cNvSpPr>
          <p:nvPr/>
        </p:nvSpPr>
        <p:spPr>
          <a:xfrm>
            <a:off x="91249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后端与编译器</a:t>
            </a:r>
          </a:p>
        </p:txBody>
      </p:sp>
      <p:sp>
        <p:nvSpPr>
          <p:cNvPr id="12" name="Evidence">
            <a:extLst>
              <a:ext uri="{FF2B5EF4-FFF2-40B4-BE49-F238E27FC236}">
                <a16:creationId xmlns:a16="http://schemas.microsoft.com/office/drawing/2014/main" id="{511F52B3-EA13-44D5-9F1E-A4BDA399BEAE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</a:t>
            </a:r>
            <a:r>
              <a:rPr u="sng">
                <a:solidFill>
                  <a:srgbClr val="0070C0"/>
                </a:solidFill>
                <a:hlinkClick r:id="rId3"/>
              </a:rPr>
              <a:t>buildsystem.7.rst</a:t>
            </a:r>
          </a:p>
        </p:txBody>
      </p:sp>
      <p:sp>
        <p:nvSpPr>
          <p:cNvPr id="13" name="Reading link">
            <a:extLst>
              <a:ext uri="{FF2B5EF4-FFF2-40B4-BE49-F238E27FC236}">
                <a16:creationId xmlns:a16="http://schemas.microsoft.com/office/drawing/2014/main" id="{DB4FD23C-14E6-46F3-87EF-F5F388FF4681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7.1</a:t>
            </a: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1A07A53-38AA-4646-A54A-B4A0420CBA3E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Semantic color legend">
            <a:extLst>
              <a:ext uri="{FF2B5EF4-FFF2-40B4-BE49-F238E27FC236}">
                <a16:creationId xmlns:a16="http://schemas.microsoft.com/office/drawing/2014/main" id="{39154CEE-9E0E-4815-8A42-342F49989EDD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t>阅读标色： </a:t>
            </a:r>
            <a:r>
              <a:rPr>
                <a:solidFill>
                  <a:srgbClr val="B84E00"/>
                </a:solidFill>
              </a:rPr>
              <a:t>变量 / 参数</a:t>
            </a:r>
            <a:r>
              <a:t>     </a:t>
            </a:r>
            <a:r>
              <a:rPr>
                <a:solidFill>
                  <a:srgbClr val="0070C0"/>
                </a:solidFill>
              </a:rPr>
              <a:t>文件 / 路径</a:t>
            </a:r>
            <a:r>
              <a:t>     </a:t>
            </a:r>
            <a:r>
              <a:rPr>
                <a:solidFill>
                  <a:srgbClr val="087B3D"/>
                </a:solidFill>
              </a:rPr>
              <a:t>接口函数</a:t>
            </a:r>
            <a:r>
              <a:t>     </a:t>
            </a:r>
            <a:r>
              <a:rPr>
                <a:solidFill>
                  <a:srgbClr val="A02B93"/>
                </a:solidFill>
              </a:rPr>
              <a:t>终端命令</a:t>
            </a: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54DF6DD-88F2-4925-B836-562BE4E908D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谁描述关系，谁执行编译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ED4827A6-65F4-4D84-B645-B54196B0A43C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7.1 · 三种职责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AF40C5D3-3F42-4800-AAD6-E48702B3F695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读取脚本，建立目标和依赖关系，生成后端规则。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</a:rPr>
              <a:t>Ninja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按规则执行需要更新的任务。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</a:rPr>
              <a:t>GCC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把 C 源码编成对象，再由链接工具形成程序。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>
                <a:solidFill>
                  <a:srgbClr val="A02B93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--build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是调用已选后端的入口。</a:t>
            </a:r>
          </a:p>
        </p:txBody>
      </p:sp>
      <p:sp>
        <p:nvSpPr>
          <p:cNvPr id="5" name="Model CMake → 规则">
            <a:extLst>
              <a:ext uri="{FF2B5EF4-FFF2-40B4-BE49-F238E27FC236}">
                <a16:creationId xmlns:a16="http://schemas.microsoft.com/office/drawing/2014/main" id="{AFD3D619-A1BA-4F21-A5A7-29BB37C691D5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340360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 → 规则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0DB85E53-EF8A-49E1-8E45-59C9497C4AA4}"/>
              </a:ext>
            </a:extLst>
          </p:cNvPr>
          <p:cNvSpPr>
            <a:spLocks noGrp="1"/>
          </p:cNvSpPr>
          <p:nvPr/>
        </p:nvSpPr>
        <p:spPr>
          <a:xfrm>
            <a:off x="40608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Ninja → 任务">
            <a:extLst>
              <a:ext uri="{FF2B5EF4-FFF2-40B4-BE49-F238E27FC236}">
                <a16:creationId xmlns:a16="http://schemas.microsoft.com/office/drawing/2014/main" id="{35EEF5C4-EBDB-4FDB-A960-F258F1FF4471}"/>
              </a:ext>
            </a:extLst>
          </p:cNvPr>
          <p:cNvSpPr>
            <a:spLocks noGrp="1"/>
          </p:cNvSpPr>
          <p:nvPr/>
        </p:nvSpPr>
        <p:spPr>
          <a:xfrm>
            <a:off x="4394200" y="3905250"/>
            <a:ext cx="340360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Ninja → 任务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9BEBF4FA-9873-44FC-A93E-E40C9124CE18}"/>
              </a:ext>
            </a:extLst>
          </p:cNvPr>
          <p:cNvSpPr>
            <a:spLocks noGrp="1"/>
          </p:cNvSpPr>
          <p:nvPr/>
        </p:nvSpPr>
        <p:spPr>
          <a:xfrm>
            <a:off x="78454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GCC / 链接 → 程序">
            <a:extLst>
              <a:ext uri="{FF2B5EF4-FFF2-40B4-BE49-F238E27FC236}">
                <a16:creationId xmlns:a16="http://schemas.microsoft.com/office/drawing/2014/main" id="{CBE0B0DB-AA0D-4D22-AEA5-793A19D8D6AC}"/>
              </a:ext>
            </a:extLst>
          </p:cNvPr>
          <p:cNvSpPr>
            <a:spLocks noGrp="1"/>
          </p:cNvSpPr>
          <p:nvPr/>
        </p:nvSpPr>
        <p:spPr>
          <a:xfrm>
            <a:off x="8178800" y="3905250"/>
            <a:ext cx="340360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GCC / 链接 → 程序</a:t>
            </a:r>
          </a:p>
        </p:txBody>
      </p:sp>
      <p:sp>
        <p:nvSpPr>
          <p:cNvPr id="10" name="Evidence">
            <a:extLst>
              <a:ext uri="{FF2B5EF4-FFF2-40B4-BE49-F238E27FC236}">
                <a16:creationId xmlns:a16="http://schemas.microsoft.com/office/drawing/2014/main" id="{6540049B-0140-40B8-B4B4-4C34808B3FE9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</a:t>
            </a:r>
            <a:r>
              <a:rPr u="sng">
                <a:solidFill>
                  <a:srgbClr val="0070C0"/>
                </a:solidFill>
                <a:hlinkClick r:id="rId3"/>
              </a:rPr>
              <a:t>buildsystem.7.rst</a:t>
            </a:r>
          </a:p>
        </p:txBody>
      </p:sp>
      <p:sp>
        <p:nvSpPr>
          <p:cNvPr id="11" name="Reading link">
            <a:extLst>
              <a:ext uri="{FF2B5EF4-FFF2-40B4-BE49-F238E27FC236}">
                <a16:creationId xmlns:a16="http://schemas.microsoft.com/office/drawing/2014/main" id="{48A00253-FC7A-4749-9135-38350E1F7B2B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7.1</a:t>
            </a:r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B9BED99-9756-4EEE-B0F1-C5A1E901488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6426A6D-9515-46C6-8BD1-0DE5D23A29B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configure 和 generate 不是同一步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0452FDE3-02D4-4389-9A0C-432DBC6699B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7.1 · 一次配置命令内部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50538ED9-1CC9-4317-BFCF-DEFB501EA60C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configure：执行 CMakeLists，识别编译器，建立目标关系。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generate：把这些关系写成所选生成器的规则。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build：后端执行规则；前两步成功还不等于程序编译完成。</a:t>
            </a:r>
          </a:p>
        </p:txBody>
      </p:sp>
      <p:sp>
        <p:nvSpPr>
          <p:cNvPr id="5" name="Model CMakeLists.txt">
            <a:extLst>
              <a:ext uri="{FF2B5EF4-FFF2-40B4-BE49-F238E27FC236}">
                <a16:creationId xmlns:a16="http://schemas.microsoft.com/office/drawing/2014/main" id="{72EF06D6-EDF7-44C6-A231-8ED906ED8655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CMakeLists.txt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D9F19871-1E49-4FD6-AEB5-58E40DBCB270}"/>
              </a:ext>
            </a:extLst>
          </p:cNvPr>
          <p:cNvSpPr>
            <a:spLocks noGrp="1"/>
          </p:cNvSpPr>
          <p:nvPr/>
        </p:nvSpPr>
        <p:spPr>
          <a:xfrm>
            <a:off x="31146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目标关系图">
            <a:extLst>
              <a:ext uri="{FF2B5EF4-FFF2-40B4-BE49-F238E27FC236}">
                <a16:creationId xmlns:a16="http://schemas.microsoft.com/office/drawing/2014/main" id="{7F430CEA-ED33-48CD-ADA8-E5A153101D01}"/>
              </a:ext>
            </a:extLst>
          </p:cNvPr>
          <p:cNvSpPr>
            <a:spLocks noGrp="1"/>
          </p:cNvSpPr>
          <p:nvPr/>
        </p:nvSpPr>
        <p:spPr>
          <a:xfrm>
            <a:off x="34480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目标关系图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6AD17794-FEEC-438A-AF43-BF4BE246F504}"/>
              </a:ext>
            </a:extLst>
          </p:cNvPr>
          <p:cNvSpPr>
            <a:spLocks noGrp="1"/>
          </p:cNvSpPr>
          <p:nvPr/>
        </p:nvSpPr>
        <p:spPr>
          <a:xfrm>
            <a:off x="59531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build.ninja">
            <a:extLst>
              <a:ext uri="{FF2B5EF4-FFF2-40B4-BE49-F238E27FC236}">
                <a16:creationId xmlns:a16="http://schemas.microsoft.com/office/drawing/2014/main" id="{BCD9C835-F514-446A-A270-1A6072CCF58D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build.ninja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BEF094CD-C163-4EC1-8488-DE4A519A256C}"/>
              </a:ext>
            </a:extLst>
          </p:cNvPr>
          <p:cNvSpPr>
            <a:spLocks noGrp="1"/>
          </p:cNvSpPr>
          <p:nvPr/>
        </p:nvSpPr>
        <p:spPr>
          <a:xfrm>
            <a:off x="8791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el my_app.exe">
            <a:extLst>
              <a:ext uri="{FF2B5EF4-FFF2-40B4-BE49-F238E27FC236}">
                <a16:creationId xmlns:a16="http://schemas.microsoft.com/office/drawing/2014/main" id="{3FF40988-C402-43C1-84D8-F056CABF972D}"/>
              </a:ext>
            </a:extLst>
          </p:cNvPr>
          <p:cNvSpPr>
            <a:spLocks noGrp="1"/>
          </p:cNvSpPr>
          <p:nvPr/>
        </p:nvSpPr>
        <p:spPr>
          <a:xfrm>
            <a:off x="91249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my_app.exe</a:t>
            </a:r>
          </a:p>
        </p:txBody>
      </p:sp>
      <p:sp>
        <p:nvSpPr>
          <p:cNvPr id="12" name="Evidence">
            <a:extLst>
              <a:ext uri="{FF2B5EF4-FFF2-40B4-BE49-F238E27FC236}">
                <a16:creationId xmlns:a16="http://schemas.microsoft.com/office/drawing/2014/main" id="{65CCC58B-0D37-45B7-9500-C820E36A7F7E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</a:t>
            </a:r>
            <a:r>
              <a:rPr u="sng">
                <a:solidFill>
                  <a:srgbClr val="0070C0"/>
                </a:solidFill>
                <a:hlinkClick r:id="rId3"/>
              </a:rPr>
              <a:t>buildsystem.7.rst</a:t>
            </a:r>
          </a:p>
        </p:txBody>
      </p:sp>
      <p:sp>
        <p:nvSpPr>
          <p:cNvPr id="13" name="Reading link">
            <a:extLst>
              <a:ext uri="{FF2B5EF4-FFF2-40B4-BE49-F238E27FC236}">
                <a16:creationId xmlns:a16="http://schemas.microsoft.com/office/drawing/2014/main" id="{1479FEE2-AAB6-4CCB-AED5-8FC3A837EE10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7.1</a:t>
            </a: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258C016-EBA6-49DC-A59D-DE47FFAB31C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640F9D4-9A42-460F-A565-100BE995E74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源码目录与构建目录分开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5577B68A-D3B3-414B-9992-52DBC86A693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7.2.1 · 这些练习文件由读者创建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FBC50041-7599-4C91-8053-A4E3B66AFD09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3332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练习位置：</a:t>
            </a:r>
            <a:r>
              <a:rPr dirty="0" err="1">
                <a:solidFill>
                  <a:srgbClr val="0070C0"/>
                </a:solidFill>
              </a:rPr>
              <a:t>build</a:t>
            </a:r>
            <a:r>
              <a:rPr dirty="0">
                <a:solidFill>
                  <a:srgbClr val="0070C0"/>
                </a:solidFill>
              </a:rPr>
              <a:t>/learning-tools/</a:t>
            </a:r>
            <a:r>
              <a:rPr dirty="0" err="1">
                <a:solidFill>
                  <a:srgbClr val="0070C0"/>
                </a:solidFill>
              </a:rPr>
              <a:t>cmake</a:t>
            </a:r>
            <a:r>
              <a:rPr dirty="0">
                <a:solidFill>
                  <a:srgbClr val="0070C0"/>
                </a:solidFill>
              </a:rPr>
              <a:t>-native/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source/ 放 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CMakeLists.txt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main.c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；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out/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放工具生成结果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不修改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samples/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hello_world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；这还不是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Zephyr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目录已存在先检查，不覆盖此前练习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Model source：自己写">
            <a:extLst>
              <a:ext uri="{FF2B5EF4-FFF2-40B4-BE49-F238E27FC236}">
                <a16:creationId xmlns:a16="http://schemas.microsoft.com/office/drawing/2014/main" id="{1B10CB06-6EF2-4E1A-B5DE-AB091871A484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source</a:t>
            </a: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：自己写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91951992-95B1-4296-B13E-C670DAD6C5D9}"/>
              </a:ext>
            </a:extLst>
          </p:cNvPr>
          <p:cNvSpPr>
            <a:spLocks noGrp="1"/>
          </p:cNvSpPr>
          <p:nvPr/>
        </p:nvSpPr>
        <p:spPr>
          <a:xfrm>
            <a:off x="3114675" y="453390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-S 选择入口">
            <a:extLst>
              <a:ext uri="{FF2B5EF4-FFF2-40B4-BE49-F238E27FC236}">
                <a16:creationId xmlns:a16="http://schemas.microsoft.com/office/drawing/2014/main" id="{F6AE1A13-9B02-4383-9242-18378F6531CA}"/>
              </a:ext>
            </a:extLst>
          </p:cNvPr>
          <p:cNvSpPr>
            <a:spLocks noGrp="1"/>
          </p:cNvSpPr>
          <p:nvPr/>
        </p:nvSpPr>
        <p:spPr>
          <a:xfrm>
            <a:off x="3448050" y="441960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-S</a:t>
            </a: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选择入口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98B3B6CB-5810-4EE9-8C93-B6CF9B3BC118}"/>
              </a:ext>
            </a:extLst>
          </p:cNvPr>
          <p:cNvSpPr>
            <a:spLocks noGrp="1"/>
          </p:cNvSpPr>
          <p:nvPr/>
        </p:nvSpPr>
        <p:spPr>
          <a:xfrm>
            <a:off x="5953125" y="453390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-B 选择 out">
            <a:extLst>
              <a:ext uri="{FF2B5EF4-FFF2-40B4-BE49-F238E27FC236}">
                <a16:creationId xmlns:a16="http://schemas.microsoft.com/office/drawing/2014/main" id="{845283DD-0204-4DAA-9BC5-F396EA0EC029}"/>
              </a:ext>
            </a:extLst>
          </p:cNvPr>
          <p:cNvSpPr>
            <a:spLocks noGrp="1"/>
          </p:cNvSpPr>
          <p:nvPr/>
        </p:nvSpPr>
        <p:spPr>
          <a:xfrm>
            <a:off x="6286500" y="441960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-B</a:t>
            </a: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选择 out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60FB073A-C44C-4C9D-9B1A-025196BDE33B}"/>
              </a:ext>
            </a:extLst>
          </p:cNvPr>
          <p:cNvSpPr>
            <a:spLocks noGrp="1"/>
          </p:cNvSpPr>
          <p:nvPr/>
        </p:nvSpPr>
        <p:spPr>
          <a:xfrm>
            <a:off x="8791575" y="453390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el out：工具生成">
            <a:extLst>
              <a:ext uri="{FF2B5EF4-FFF2-40B4-BE49-F238E27FC236}">
                <a16:creationId xmlns:a16="http://schemas.microsoft.com/office/drawing/2014/main" id="{672CB20F-6411-47BA-97CD-F91589B23A3F}"/>
              </a:ext>
            </a:extLst>
          </p:cNvPr>
          <p:cNvSpPr>
            <a:spLocks noGrp="1"/>
          </p:cNvSpPr>
          <p:nvPr/>
        </p:nvSpPr>
        <p:spPr>
          <a:xfrm>
            <a:off x="9124950" y="441960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out</a:t>
            </a: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：工具生成</a:t>
            </a:r>
          </a:p>
        </p:txBody>
      </p:sp>
      <p:sp>
        <p:nvSpPr>
          <p:cNvPr id="12" name="Evidence">
            <a:extLst>
              <a:ext uri="{FF2B5EF4-FFF2-40B4-BE49-F238E27FC236}">
                <a16:creationId xmlns:a16="http://schemas.microsoft.com/office/drawing/2014/main" id="{4F5F8404-0F42-484E-8A0F-F051FB586FC7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</a:t>
            </a:r>
            <a:r>
              <a:rPr u="sng">
                <a:solidFill>
                  <a:srgbClr val="0070C0"/>
                </a:solidFill>
                <a:hlinkClick r:id="rId3"/>
              </a:rPr>
              <a:t>buildsystem.7.rst</a:t>
            </a:r>
          </a:p>
        </p:txBody>
      </p:sp>
      <p:sp>
        <p:nvSpPr>
          <p:cNvPr id="13" name="Reading link">
            <a:extLst>
              <a:ext uri="{FF2B5EF4-FFF2-40B4-BE49-F238E27FC236}">
                <a16:creationId xmlns:a16="http://schemas.microsoft.com/office/drawing/2014/main" id="{E4E1BD21-6203-4E68-8839-0FF7CC2B8186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7.2.1</a:t>
            </a: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C9D12F7-7042-4C61-AB88-D8759D2BA70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E0DB196-7306-4301-A964-9779031B002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本例需要主机编译器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2AD3E5FD-25E7-49DF-A378-4739D970B3D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7.2.1 · Windows UCRT64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10B8ACEA-42A6-4604-9391-EACC3EA30244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733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Windows UCRT64；进入实验源码根。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/g/zephyr_practice/zephyr-main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--version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ninja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--version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29263B"/>
                </a:solidFill>
              </a:rPr>
              <a:t>gcc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-dumpmachine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A2F0899E-ADE7-4DB3-8ADA-1B6591176EEE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10972800" cy="1971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本例输出 Windows 程序，因此使用 UCRT64 主机 GCC。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预期 gcc </a:t>
            </a:r>
            <a:r>
              <a:rPr sz="180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-dumpmachine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为 x86_64-w64-mingw32。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缺少时按 MD 的可选 </a:t>
            </a:r>
            <a:r>
              <a:rPr sz="180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pacman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步骤安装；这不代替 ARM SDK。</a:t>
            </a:r>
          </a:p>
        </p:txBody>
      </p:sp>
      <p:sp>
        <p:nvSpPr>
          <p:cNvPr id="6" name="Evidence">
            <a:extLst>
              <a:ext uri="{FF2B5EF4-FFF2-40B4-BE49-F238E27FC236}">
                <a16:creationId xmlns:a16="http://schemas.microsoft.com/office/drawing/2014/main" id="{7C8277B9-925B-4F01-B971-00F64780FEFB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</a:t>
            </a:r>
            <a:r>
              <a:rPr u="sng">
                <a:solidFill>
                  <a:srgbClr val="0070C0"/>
                </a:solidFill>
                <a:hlinkClick r:id="rId3"/>
              </a:rPr>
              <a:t>buildsystem.7.rst</a:t>
            </a:r>
          </a:p>
        </p:txBody>
      </p:sp>
      <p:sp>
        <p:nvSpPr>
          <p:cNvPr id="7" name="Reading link">
            <a:extLst>
              <a:ext uri="{FF2B5EF4-FFF2-40B4-BE49-F238E27FC236}">
                <a16:creationId xmlns:a16="http://schemas.microsoft.com/office/drawing/2014/main" id="{01CC07C1-F9EF-4BC3-BC54-974C8E35B361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7.2.1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E5BBBEE-E1F1-4128-B5AA-B13C87474FF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60D0C07-B7B2-4004-AD07-49AA9B3237C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先放入十行左右的 C 程序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2198E6AC-6CA4-4B1E-BCA7-A1C5DAE2A9FC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7.2.1 · 文件内容，不是终端命令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6A2BF912-0890-4610-A1DD-1B671B353B68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</a:t>
            </a:r>
            <a:r>
              <a:rPr sz="1725" b="0">
                <a:solidFill>
                  <a:srgbClr val="087B3D"/>
                </a:solidFill>
                <a:latin typeface="Consolas"/>
                <a:ea typeface="Consolas"/>
                <a:cs typeface="Consolas"/>
              </a:rPr>
              <a:t>include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&lt;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stdio.h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endParaRPr sz="1725" b="0">
              <a:solidFill>
                <a:srgbClr val="29263B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int </a:t>
            </a:r>
            <a:r>
              <a:rPr sz="1725" b="0">
                <a:solidFill>
                  <a:srgbClr val="087B3D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(void)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725" b="0">
                <a:solidFill>
                  <a:srgbClr val="087B3D"/>
                </a:solidFill>
                <a:latin typeface="Consolas"/>
                <a:ea typeface="Consolas"/>
                <a:cs typeface="Consolas"/>
              </a:rPr>
              <a:t>puts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("Hello from native CMake");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  return 0;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45FCC66A-BCB0-4E34-AECA-F41717C05934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10972800" cy="1323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自行创建 </a:t>
            </a:r>
            <a:r>
              <a:rPr sz="18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source/main.c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；完整目录创建与写文件操作见 MD。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下方“配套正文”包含可复制的完整操作和已存在目录分支。</a:t>
            </a:r>
          </a:p>
        </p:txBody>
      </p:sp>
      <p:sp>
        <p:nvSpPr>
          <p:cNvPr id="6" name="Evidence">
            <a:extLst>
              <a:ext uri="{FF2B5EF4-FFF2-40B4-BE49-F238E27FC236}">
                <a16:creationId xmlns:a16="http://schemas.microsoft.com/office/drawing/2014/main" id="{59E658A6-0721-4E0D-A068-DF27D9B6D59D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</a:t>
            </a:r>
            <a:r>
              <a:rPr u="sng">
                <a:solidFill>
                  <a:srgbClr val="0070C0"/>
                </a:solidFill>
                <a:hlinkClick r:id="rId3"/>
              </a:rPr>
              <a:t>buildsystem.7.rst</a:t>
            </a:r>
          </a:p>
        </p:txBody>
      </p:sp>
      <p:sp>
        <p:nvSpPr>
          <p:cNvPr id="7" name="Reading link">
            <a:extLst>
              <a:ext uri="{FF2B5EF4-FFF2-40B4-BE49-F238E27FC236}">
                <a16:creationId xmlns:a16="http://schemas.microsoft.com/office/drawing/2014/main" id="{80CFCEB3-6807-4251-9B3A-CB69104C63D1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7.2.1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CF75E4C-748D-46B8-B386-F2644E0A6E8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BD76679-4B4E-4912-B1C6-5D4266175302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三行入口各自声明什么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00579FFF-3F40-42B6-9D4F-B83B2B13CE3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7.2.2 · 自行创建 source/CMakeLists.txt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F2C8006F-346C-4379-8AAD-73695976A984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619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cmake_minimum_required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VERSION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3.28)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project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(native_demo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LANGUAGES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C)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add_executable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(my_app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main.c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0D61D847-A3C4-47E3-99C5-E5A40E1387D9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10972800" cy="2085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87B3D"/>
                </a:solidFill>
              </a:rPr>
              <a:t>project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命名工程并启用 C 语言；不是输出文件名。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87B3D"/>
                </a:solidFill>
              </a:rPr>
              <a:t>add_executable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创建 my_app 目标，</a:t>
            </a:r>
            <a:r>
              <a:rPr sz="18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main.c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是它的源码。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在 Windows 上构建这个目标，得到 </a:t>
            </a:r>
            <a:r>
              <a:rPr sz="18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my_app.exe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Evidence">
            <a:extLst>
              <a:ext uri="{FF2B5EF4-FFF2-40B4-BE49-F238E27FC236}">
                <a16:creationId xmlns:a16="http://schemas.microsoft.com/office/drawing/2014/main" id="{22B0D153-E898-445C-8BA3-512F4965D14E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</a:t>
            </a:r>
            <a:r>
              <a:rPr u="sng">
                <a:solidFill>
                  <a:srgbClr val="0070C0"/>
                </a:solidFill>
                <a:hlinkClick r:id="rId3"/>
              </a:rPr>
              <a:t>buildsystem.7.rst</a:t>
            </a:r>
          </a:p>
        </p:txBody>
      </p:sp>
      <p:sp>
        <p:nvSpPr>
          <p:cNvPr id="7" name="Reading link">
            <a:extLst>
              <a:ext uri="{FF2B5EF4-FFF2-40B4-BE49-F238E27FC236}">
                <a16:creationId xmlns:a16="http://schemas.microsoft.com/office/drawing/2014/main" id="{91413260-AE54-402B-BDC2-6B1B7E6D3B78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7.2.2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C044EA3-5476-4AFE-A85E-C2A3286A8A8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14D57FA-AA41-4E9F-9A27-67515F8A714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第一次：配置并生成 Ninja 规则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847D99EB-CF78-4E94-B8B6-82FA760AA52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7.2.3 · 两个练习文件已经存在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98648BD2-7102-4318-BE6D-CAAE175CD531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619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Windows UCRT64；实验源码根。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/g/zephyr_practice/zephyr-main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-S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build</a:t>
            </a:r>
            <a:r>
              <a:rPr>
                <a:solidFill>
                  <a:srgbClr val="0070C0"/>
                </a:solidFill>
              </a:rPr>
              <a:t>/learning-tools/cmake-native/source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-B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build</a:t>
            </a:r>
            <a:r>
              <a:rPr>
                <a:solidFill>
                  <a:srgbClr val="0070C0"/>
                </a:solidFill>
              </a:rPr>
              <a:t>/learning-tools/cmake-native/out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-G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Ninja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D0EE4331-CD59-4B72-AF14-D28FADCB0223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10972800" cy="2085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先核对主机 C 编译器，再看到 Configuring done / Generating done。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生成 </a:t>
            </a:r>
            <a:r>
              <a:rPr sz="18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out/CMakeCache.txt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和 </a:t>
            </a:r>
            <a:r>
              <a:rPr sz="18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out/build.ninja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；失败时不继续 build。</a:t>
            </a:r>
          </a:p>
        </p:txBody>
      </p:sp>
      <p:sp>
        <p:nvSpPr>
          <p:cNvPr id="6" name="Evidence">
            <a:extLst>
              <a:ext uri="{FF2B5EF4-FFF2-40B4-BE49-F238E27FC236}">
                <a16:creationId xmlns:a16="http://schemas.microsoft.com/office/drawing/2014/main" id="{49404E2B-C3ED-480E-8923-C5B4742C592F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</a:t>
            </a:r>
            <a:r>
              <a:rPr u="sng">
                <a:solidFill>
                  <a:srgbClr val="0070C0"/>
                </a:solidFill>
                <a:hlinkClick r:id="rId3"/>
              </a:rPr>
              <a:t>buildsystem.7.rst</a:t>
            </a:r>
          </a:p>
        </p:txBody>
      </p:sp>
      <p:sp>
        <p:nvSpPr>
          <p:cNvPr id="7" name="Reading link">
            <a:extLst>
              <a:ext uri="{FF2B5EF4-FFF2-40B4-BE49-F238E27FC236}">
                <a16:creationId xmlns:a16="http://schemas.microsoft.com/office/drawing/2014/main" id="{DAA1DE5F-C73F-45D9-B109-2115CD2612F7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7.2.3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4B6E14C-FE3D-4FEC-B454-E1F6E43A109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7C9D6BF-1FD7-4D65-BB96-F31ACCC162C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第二次：构建成功后才运行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E3F035C8-2EB8-4ADB-A4E4-8872CE43175F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7.2.3 · out 已配置并生成成功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664EC462-8848-4BFF-9A3F-86879D52679F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Windows UCRT64；实验源码根。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/g/zephyr_practice/zephyr-main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A02B93"/>
                </a:solidFill>
              </a:rPr>
              <a:t>cmake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--build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build</a:t>
            </a:r>
            <a:r>
              <a:rPr>
                <a:solidFill>
                  <a:srgbClr val="0070C0"/>
                </a:solidFill>
              </a:rPr>
              <a:t>/learning-tools/cmake-native/out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--parallel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4; </a:t>
            </a: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then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.</a:t>
            </a:r>
            <a:r>
              <a:rPr>
                <a:solidFill>
                  <a:srgbClr val="0070C0"/>
                </a:solidFill>
              </a:rPr>
              <a:t>/build/learning-tools/cmake-native/out/my_app.exe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else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>
                <a:solidFill>
                  <a:srgbClr val="A02B93"/>
                </a:solidFill>
              </a:rPr>
              <a:t>printf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'%s\n' '构建失败，先检查错误。'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fi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36977C9E-13EA-4A0D-9A8B-BDEE5FE5BFB5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10972800" cy="1323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预期输出 Hello from native CMake。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条件分支避免失败后误运行旧 exe；完整错误先看首个失败任务。</a:t>
            </a:r>
          </a:p>
        </p:txBody>
      </p:sp>
      <p:sp>
        <p:nvSpPr>
          <p:cNvPr id="6" name="Evidence">
            <a:extLst>
              <a:ext uri="{FF2B5EF4-FFF2-40B4-BE49-F238E27FC236}">
                <a16:creationId xmlns:a16="http://schemas.microsoft.com/office/drawing/2014/main" id="{20113A16-EB05-4751-8A53-329F85EFB82F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</a:t>
            </a:r>
            <a:r>
              <a:rPr u="sng">
                <a:solidFill>
                  <a:srgbClr val="0070C0"/>
                </a:solidFill>
                <a:hlinkClick r:id="rId3"/>
              </a:rPr>
              <a:t>buildsystem.7.rst</a:t>
            </a:r>
          </a:p>
        </p:txBody>
      </p:sp>
      <p:sp>
        <p:nvSpPr>
          <p:cNvPr id="7" name="Reading link">
            <a:extLst>
              <a:ext uri="{FF2B5EF4-FFF2-40B4-BE49-F238E27FC236}">
                <a16:creationId xmlns:a16="http://schemas.microsoft.com/office/drawing/2014/main" id="{EB6E1569-7B7B-4420-B885-645D29BFEA08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7.2.3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DE8A3AF-CBDE-4DB1-B1E0-D86B4A7E7AF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6BE2633-3991-461C-8E46-C812943DEA9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现代 CMake 围绕 target 组织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867015B5-E537-47A8-A49E-3C7481EF2282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7.3.1 · 组成图，不是执行顺序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D7C5D2BB-CADE-4073-8C13-F8E55A13BCC4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目标是属性的归属点：源码、头文件目录、宏、编译选项和链接关系。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磁盘上新建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foo.c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不代表它自动参与构建。</a:t>
            </a:r>
          </a:p>
        </p:txBody>
      </p:sp>
      <p:sp>
        <p:nvSpPr>
          <p:cNvPr id="5" name="Model CMake target：my_app / arithmetic">
            <a:extLst>
              <a:ext uri="{FF2B5EF4-FFF2-40B4-BE49-F238E27FC236}">
                <a16:creationId xmlns:a16="http://schemas.microsoft.com/office/drawing/2014/main" id="{912CF28F-491C-4AA1-89DF-2D8B0215D565}"/>
              </a:ext>
            </a:extLst>
          </p:cNvPr>
          <p:cNvSpPr>
            <a:spLocks noGrp="1"/>
          </p:cNvSpPr>
          <p:nvPr/>
        </p:nvSpPr>
        <p:spPr>
          <a:xfrm>
            <a:off x="3943350" y="3286125"/>
            <a:ext cx="4286250" cy="52387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 target：my_app / arithmetic</a:t>
            </a:r>
          </a:p>
        </p:txBody>
      </p:sp>
      <p:sp>
        <p:nvSpPr>
          <p:cNvPr id="6" name="Target stem">
            <a:extLst>
              <a:ext uri="{FF2B5EF4-FFF2-40B4-BE49-F238E27FC236}">
                <a16:creationId xmlns:a16="http://schemas.microsoft.com/office/drawing/2014/main" id="{CA7618D0-EE52-428F-9913-33B2930DF6D1}"/>
              </a:ext>
            </a:extLst>
          </p:cNvPr>
          <p:cNvSpPr>
            <a:spLocks noGrp="1"/>
          </p:cNvSpPr>
          <p:nvPr/>
        </p:nvSpPr>
        <p:spPr>
          <a:xfrm>
            <a:off x="6086475" y="3810000"/>
            <a:ext cx="19050" cy="285750"/>
          </a:xfrm>
          <a:prstGeom prst="rect">
            <a:avLst/>
          </a:prstGeom>
          <a:solidFill>
            <a:srgbClr val="6845AC"/>
          </a:solidFill>
          <a:ln w="0">
            <a:noFill/>
          </a:ln>
        </p:spPr>
      </p:sp>
      <p:sp>
        <p:nvSpPr>
          <p:cNvPr id="7" name="Property branch">
            <a:extLst>
              <a:ext uri="{FF2B5EF4-FFF2-40B4-BE49-F238E27FC236}">
                <a16:creationId xmlns:a16="http://schemas.microsoft.com/office/drawing/2014/main" id="{ADC21A7B-48B3-4170-9863-A4A9A8E02A08}"/>
              </a:ext>
            </a:extLst>
          </p:cNvPr>
          <p:cNvSpPr>
            <a:spLocks noGrp="1"/>
          </p:cNvSpPr>
          <p:nvPr/>
        </p:nvSpPr>
        <p:spPr>
          <a:xfrm>
            <a:off x="1447800" y="4095750"/>
            <a:ext cx="9296400" cy="19050"/>
          </a:xfrm>
          <a:prstGeom prst="rect">
            <a:avLst/>
          </a:prstGeom>
          <a:solidFill>
            <a:srgbClr val="6845AC"/>
          </a:solidFill>
          <a:ln w="0">
            <a:noFill/>
          </a:ln>
        </p:spPr>
      </p:sp>
      <p:sp>
        <p:nvSpPr>
          <p:cNvPr id="8" name="Property stem 0">
            <a:extLst>
              <a:ext uri="{FF2B5EF4-FFF2-40B4-BE49-F238E27FC236}">
                <a16:creationId xmlns:a16="http://schemas.microsoft.com/office/drawing/2014/main" id="{E7531C9B-488C-44A2-8625-300E41865435}"/>
              </a:ext>
            </a:extLst>
          </p:cNvPr>
          <p:cNvSpPr>
            <a:spLocks noGrp="1"/>
          </p:cNvSpPr>
          <p:nvPr/>
        </p:nvSpPr>
        <p:spPr>
          <a:xfrm>
            <a:off x="1443990" y="4095750"/>
            <a:ext cx="19050" cy="238125"/>
          </a:xfrm>
          <a:prstGeom prst="rect">
            <a:avLst/>
          </a:prstGeom>
          <a:solidFill>
            <a:srgbClr val="6845AC"/>
          </a:solidFill>
          <a:ln w="0">
            <a:noFill/>
          </a:ln>
        </p:spPr>
      </p:sp>
      <p:sp>
        <p:nvSpPr>
          <p:cNvPr id="9" name="Model Sources">
            <a:extLst>
              <a:ext uri="{FF2B5EF4-FFF2-40B4-BE49-F238E27FC236}">
                <a16:creationId xmlns:a16="http://schemas.microsoft.com/office/drawing/2014/main" id="{91240008-09E2-4444-88FA-BE34DBE0D248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1668780" cy="857250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Sources</a:t>
            </a:r>
          </a:p>
        </p:txBody>
      </p:sp>
      <p:sp>
        <p:nvSpPr>
          <p:cNvPr id="10" name="Property stem 1">
            <a:extLst>
              <a:ext uri="{FF2B5EF4-FFF2-40B4-BE49-F238E27FC236}">
                <a16:creationId xmlns:a16="http://schemas.microsoft.com/office/drawing/2014/main" id="{6B0234F6-5A21-4E29-A41B-8F48C7968F49}"/>
              </a:ext>
            </a:extLst>
          </p:cNvPr>
          <p:cNvSpPr>
            <a:spLocks noGrp="1"/>
          </p:cNvSpPr>
          <p:nvPr/>
        </p:nvSpPr>
        <p:spPr>
          <a:xfrm>
            <a:off x="3303270" y="4095750"/>
            <a:ext cx="19050" cy="238125"/>
          </a:xfrm>
          <a:prstGeom prst="rect">
            <a:avLst/>
          </a:prstGeom>
          <a:solidFill>
            <a:srgbClr val="6845AC"/>
          </a:solidFill>
          <a:ln w="0">
            <a:noFill/>
          </a:ln>
        </p:spPr>
      </p:sp>
      <p:sp>
        <p:nvSpPr>
          <p:cNvPr id="11" name="Model Include directories">
            <a:extLst>
              <a:ext uri="{FF2B5EF4-FFF2-40B4-BE49-F238E27FC236}">
                <a16:creationId xmlns:a16="http://schemas.microsoft.com/office/drawing/2014/main" id="{7BBB97BA-66B7-4600-B2DD-5A61E5B094F8}"/>
              </a:ext>
            </a:extLst>
          </p:cNvPr>
          <p:cNvSpPr>
            <a:spLocks noGrp="1"/>
          </p:cNvSpPr>
          <p:nvPr/>
        </p:nvSpPr>
        <p:spPr>
          <a:xfrm>
            <a:off x="2468880" y="4333875"/>
            <a:ext cx="1668780" cy="857250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Include directories</a:t>
            </a:r>
          </a:p>
        </p:txBody>
      </p:sp>
      <p:sp>
        <p:nvSpPr>
          <p:cNvPr id="12" name="Property stem 2">
            <a:extLst>
              <a:ext uri="{FF2B5EF4-FFF2-40B4-BE49-F238E27FC236}">
                <a16:creationId xmlns:a16="http://schemas.microsoft.com/office/drawing/2014/main" id="{F306F446-3080-4FC1-8791-2982FC26D7E2}"/>
              </a:ext>
            </a:extLst>
          </p:cNvPr>
          <p:cNvSpPr>
            <a:spLocks noGrp="1"/>
          </p:cNvSpPr>
          <p:nvPr/>
        </p:nvSpPr>
        <p:spPr>
          <a:xfrm>
            <a:off x="5162550" y="4095750"/>
            <a:ext cx="19050" cy="238125"/>
          </a:xfrm>
          <a:prstGeom prst="rect">
            <a:avLst/>
          </a:prstGeom>
          <a:solidFill>
            <a:srgbClr val="6845AC"/>
          </a:solidFill>
          <a:ln w="0">
            <a:noFill/>
          </a:ln>
        </p:spPr>
      </p:sp>
      <p:sp>
        <p:nvSpPr>
          <p:cNvPr id="13" name="Model Compile definitions">
            <a:extLst>
              <a:ext uri="{FF2B5EF4-FFF2-40B4-BE49-F238E27FC236}">
                <a16:creationId xmlns:a16="http://schemas.microsoft.com/office/drawing/2014/main" id="{B617EDCE-C440-4641-B1DA-9F90D3A442E4}"/>
              </a:ext>
            </a:extLst>
          </p:cNvPr>
          <p:cNvSpPr>
            <a:spLocks noGrp="1"/>
          </p:cNvSpPr>
          <p:nvPr/>
        </p:nvSpPr>
        <p:spPr>
          <a:xfrm>
            <a:off x="4328160" y="4333875"/>
            <a:ext cx="1668780" cy="857250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Compile definitions</a:t>
            </a:r>
          </a:p>
        </p:txBody>
      </p:sp>
      <p:sp>
        <p:nvSpPr>
          <p:cNvPr id="14" name="Property stem 3">
            <a:extLst>
              <a:ext uri="{FF2B5EF4-FFF2-40B4-BE49-F238E27FC236}">
                <a16:creationId xmlns:a16="http://schemas.microsoft.com/office/drawing/2014/main" id="{553DBC13-7EF8-4D99-88A3-1B741DAB2C2A}"/>
              </a:ext>
            </a:extLst>
          </p:cNvPr>
          <p:cNvSpPr>
            <a:spLocks noGrp="1"/>
          </p:cNvSpPr>
          <p:nvPr/>
        </p:nvSpPr>
        <p:spPr>
          <a:xfrm>
            <a:off x="7021830" y="4095750"/>
            <a:ext cx="19050" cy="238125"/>
          </a:xfrm>
          <a:prstGeom prst="rect">
            <a:avLst/>
          </a:prstGeom>
          <a:solidFill>
            <a:srgbClr val="6845AC"/>
          </a:solidFill>
          <a:ln w="0">
            <a:noFill/>
          </a:ln>
        </p:spPr>
      </p:sp>
      <p:sp>
        <p:nvSpPr>
          <p:cNvPr id="15" name="Model Compile options">
            <a:extLst>
              <a:ext uri="{FF2B5EF4-FFF2-40B4-BE49-F238E27FC236}">
                <a16:creationId xmlns:a16="http://schemas.microsoft.com/office/drawing/2014/main" id="{23DD600E-B26A-4533-976A-E927E15CF65C}"/>
              </a:ext>
            </a:extLst>
          </p:cNvPr>
          <p:cNvSpPr>
            <a:spLocks noGrp="1"/>
          </p:cNvSpPr>
          <p:nvPr/>
        </p:nvSpPr>
        <p:spPr>
          <a:xfrm>
            <a:off x="6187440" y="4333875"/>
            <a:ext cx="1668780" cy="857250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Compile options</a:t>
            </a:r>
          </a:p>
        </p:txBody>
      </p:sp>
      <p:sp>
        <p:nvSpPr>
          <p:cNvPr id="16" name="Property stem 4">
            <a:extLst>
              <a:ext uri="{FF2B5EF4-FFF2-40B4-BE49-F238E27FC236}">
                <a16:creationId xmlns:a16="http://schemas.microsoft.com/office/drawing/2014/main" id="{6AEADED1-B1D9-428D-B797-12050EA0C094}"/>
              </a:ext>
            </a:extLst>
          </p:cNvPr>
          <p:cNvSpPr>
            <a:spLocks noGrp="1"/>
          </p:cNvSpPr>
          <p:nvPr/>
        </p:nvSpPr>
        <p:spPr>
          <a:xfrm>
            <a:off x="8881110" y="4095750"/>
            <a:ext cx="19050" cy="238125"/>
          </a:xfrm>
          <a:prstGeom prst="rect">
            <a:avLst/>
          </a:prstGeom>
          <a:solidFill>
            <a:srgbClr val="6845AC"/>
          </a:solidFill>
          <a:ln w="0">
            <a:noFill/>
          </a:ln>
        </p:spPr>
      </p:sp>
      <p:sp>
        <p:nvSpPr>
          <p:cNvPr id="17" name="Model Link libraries">
            <a:extLst>
              <a:ext uri="{FF2B5EF4-FFF2-40B4-BE49-F238E27FC236}">
                <a16:creationId xmlns:a16="http://schemas.microsoft.com/office/drawing/2014/main" id="{89D31F90-EC61-426F-888E-B6497D954E52}"/>
              </a:ext>
            </a:extLst>
          </p:cNvPr>
          <p:cNvSpPr>
            <a:spLocks noGrp="1"/>
          </p:cNvSpPr>
          <p:nvPr/>
        </p:nvSpPr>
        <p:spPr>
          <a:xfrm>
            <a:off x="8046720" y="4333875"/>
            <a:ext cx="1668780" cy="857250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Link libraries</a:t>
            </a:r>
          </a:p>
        </p:txBody>
      </p:sp>
      <p:sp>
        <p:nvSpPr>
          <p:cNvPr id="18" name="Property stem 5">
            <a:extLst>
              <a:ext uri="{FF2B5EF4-FFF2-40B4-BE49-F238E27FC236}">
                <a16:creationId xmlns:a16="http://schemas.microsoft.com/office/drawing/2014/main" id="{A12A9E85-461B-47C0-A2F9-E28569D0F743}"/>
              </a:ext>
            </a:extLst>
          </p:cNvPr>
          <p:cNvSpPr>
            <a:spLocks noGrp="1"/>
          </p:cNvSpPr>
          <p:nvPr/>
        </p:nvSpPr>
        <p:spPr>
          <a:xfrm>
            <a:off x="10740390" y="4095750"/>
            <a:ext cx="19050" cy="238125"/>
          </a:xfrm>
          <a:prstGeom prst="rect">
            <a:avLst/>
          </a:prstGeom>
          <a:solidFill>
            <a:srgbClr val="6845AC"/>
          </a:solidFill>
          <a:ln w="0">
            <a:noFill/>
          </a:ln>
        </p:spPr>
      </p:sp>
      <p:sp>
        <p:nvSpPr>
          <p:cNvPr id="19" name="Model Usage requirements">
            <a:extLst>
              <a:ext uri="{FF2B5EF4-FFF2-40B4-BE49-F238E27FC236}">
                <a16:creationId xmlns:a16="http://schemas.microsoft.com/office/drawing/2014/main" id="{F0F279DF-A324-4C31-8F78-D3EDA36389F6}"/>
              </a:ext>
            </a:extLst>
          </p:cNvPr>
          <p:cNvSpPr>
            <a:spLocks noGrp="1"/>
          </p:cNvSpPr>
          <p:nvPr/>
        </p:nvSpPr>
        <p:spPr>
          <a:xfrm>
            <a:off x="9906000" y="4333875"/>
            <a:ext cx="1668780" cy="857250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Usage requirements</a:t>
            </a:r>
          </a:p>
        </p:txBody>
      </p:sp>
      <p:sp>
        <p:nvSpPr>
          <p:cNvPr id="20" name="Evidence">
            <a:extLst>
              <a:ext uri="{FF2B5EF4-FFF2-40B4-BE49-F238E27FC236}">
                <a16:creationId xmlns:a16="http://schemas.microsoft.com/office/drawing/2014/main" id="{F00DF4FE-68DC-4AE4-99A2-6B978F6B32FF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</a:t>
            </a:r>
            <a:r>
              <a:rPr u="sng">
                <a:solidFill>
                  <a:srgbClr val="0070C0"/>
                </a:solidFill>
                <a:hlinkClick r:id="rId3"/>
              </a:rPr>
              <a:t>buildsystem.7.rst</a:t>
            </a:r>
          </a:p>
        </p:txBody>
      </p:sp>
      <p:sp>
        <p:nvSpPr>
          <p:cNvPr id="21" name="Reading link">
            <a:extLst>
              <a:ext uri="{FF2B5EF4-FFF2-40B4-BE49-F238E27FC236}">
                <a16:creationId xmlns:a16="http://schemas.microsoft.com/office/drawing/2014/main" id="{40A4D994-9E42-47E1-AF09-CC1FFCB7A3FE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7.3.1</a:t>
            </a:r>
          </a:p>
        </p:txBody>
      </p:sp>
      <p:sp>
        <p:nvSpPr>
          <p:cNvPr id="22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2F8EF8B-F562-4BA2-AD8D-8B01AF1B590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C782D26-0D6E-47AD-9C84-7D9DA6F575B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先创建目标，再添加属性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7F805BD-02F8-4012-9190-12BDB27298CA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7.3.1 · 等价替换，不重复创建同名目标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B9A1AAB7-027D-47E2-8D9D-2FB2B962C594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619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cmake_minimum_required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VERSION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3.28)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project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(native_demo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LANGUAGES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C)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add_executable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(my_app)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target_sources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(my_app </a:t>
            </a:r>
            <a:r>
              <a:rPr>
                <a:solidFill>
                  <a:srgbClr val="B84E00"/>
                </a:solidFill>
              </a:rPr>
              <a:t>PRIVATE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main.c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BF3BBA88-E18D-45B8-A05C-D0C1D60C66D8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10972800" cy="2085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87B3D"/>
                </a:solidFill>
              </a:rPr>
              <a:t>target_sources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向已存在的 my_app 添加源码。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PRIVATE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表示这些源码用于目标自身，不作为接口源码传播。</a:t>
            </a:r>
          </a:p>
        </p:txBody>
      </p:sp>
      <p:sp>
        <p:nvSpPr>
          <p:cNvPr id="6" name="Evidence">
            <a:extLst>
              <a:ext uri="{FF2B5EF4-FFF2-40B4-BE49-F238E27FC236}">
                <a16:creationId xmlns:a16="http://schemas.microsoft.com/office/drawing/2014/main" id="{12471041-2A01-4EF2-AB06-1D053FF0F7EE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</a:t>
            </a:r>
            <a:r>
              <a:rPr u="sng">
                <a:solidFill>
                  <a:srgbClr val="0070C0"/>
                </a:solidFill>
                <a:hlinkClick r:id="rId3"/>
              </a:rPr>
              <a:t>buildsystem.7.rst</a:t>
            </a:r>
          </a:p>
        </p:txBody>
      </p:sp>
      <p:sp>
        <p:nvSpPr>
          <p:cNvPr id="7" name="Reading link">
            <a:extLst>
              <a:ext uri="{FF2B5EF4-FFF2-40B4-BE49-F238E27FC236}">
                <a16:creationId xmlns:a16="http://schemas.microsoft.com/office/drawing/2014/main" id="{245B98AA-C2EA-4393-B0EF-1AD6FA55D2AF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7.3.1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26A584D-6ED0-4A0D-BBCE-E48D03228CC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29F3ECD-4754-4188-A3C5-DF9CAA2D7C5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加入一个库，让关系可以观察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D30F737B-153C-47E7-BCCE-9FBCE8EED82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7.3.2 · 第二阶段替换练习文件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BB22A220-8E80-44D2-949B-CD2DFD91E020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新建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include/add.h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src/add.c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；更新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main.c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调用 add(2, 3)。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四份完整文件见 MD 与配套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labs/cmake_native/02_targets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先保留个人改动；这些文件均是教程提供，不是官方原有。</a:t>
            </a:r>
          </a:p>
        </p:txBody>
      </p:sp>
      <p:sp>
        <p:nvSpPr>
          <p:cNvPr id="5" name="Model add.h 声明">
            <a:extLst>
              <a:ext uri="{FF2B5EF4-FFF2-40B4-BE49-F238E27FC236}">
                <a16:creationId xmlns:a16="http://schemas.microsoft.com/office/drawing/2014/main" id="{F68D0DDD-EC89-4516-A332-1F6985EB6582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add.h</a:t>
            </a: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声明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60246D71-ECF9-4BAD-BC55-747264E81307}"/>
              </a:ext>
            </a:extLst>
          </p:cNvPr>
          <p:cNvSpPr>
            <a:spLocks noGrp="1"/>
          </p:cNvSpPr>
          <p:nvPr/>
        </p:nvSpPr>
        <p:spPr>
          <a:xfrm>
            <a:off x="31146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add.c 实现">
            <a:extLst>
              <a:ext uri="{FF2B5EF4-FFF2-40B4-BE49-F238E27FC236}">
                <a16:creationId xmlns:a16="http://schemas.microsoft.com/office/drawing/2014/main" id="{BA4713C4-D277-47E7-9FF1-4F01035D6431}"/>
              </a:ext>
            </a:extLst>
          </p:cNvPr>
          <p:cNvSpPr>
            <a:spLocks noGrp="1"/>
          </p:cNvSpPr>
          <p:nvPr/>
        </p:nvSpPr>
        <p:spPr>
          <a:xfrm>
            <a:off x="34480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add.c</a:t>
            </a: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实现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149646BA-07F7-4A6B-B486-62373502F1D1}"/>
              </a:ext>
            </a:extLst>
          </p:cNvPr>
          <p:cNvSpPr>
            <a:spLocks noGrp="1"/>
          </p:cNvSpPr>
          <p:nvPr/>
        </p:nvSpPr>
        <p:spPr>
          <a:xfrm>
            <a:off x="59531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arithmetic 库">
            <a:extLst>
              <a:ext uri="{FF2B5EF4-FFF2-40B4-BE49-F238E27FC236}">
                <a16:creationId xmlns:a16="http://schemas.microsoft.com/office/drawing/2014/main" id="{1A04716D-EE38-4A68-B0E2-54766E10762A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arithmetic 库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A54D3B59-B8EC-4743-8567-CBE40D866588}"/>
              </a:ext>
            </a:extLst>
          </p:cNvPr>
          <p:cNvSpPr>
            <a:spLocks noGrp="1"/>
          </p:cNvSpPr>
          <p:nvPr/>
        </p:nvSpPr>
        <p:spPr>
          <a:xfrm>
            <a:off x="8791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el my_app 调用">
            <a:extLst>
              <a:ext uri="{FF2B5EF4-FFF2-40B4-BE49-F238E27FC236}">
                <a16:creationId xmlns:a16="http://schemas.microsoft.com/office/drawing/2014/main" id="{9887C345-77D2-45AB-A23B-12ED0BABC44B}"/>
              </a:ext>
            </a:extLst>
          </p:cNvPr>
          <p:cNvSpPr>
            <a:spLocks noGrp="1"/>
          </p:cNvSpPr>
          <p:nvPr/>
        </p:nvSpPr>
        <p:spPr>
          <a:xfrm>
            <a:off x="91249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my_app 调用</a:t>
            </a:r>
          </a:p>
        </p:txBody>
      </p:sp>
      <p:sp>
        <p:nvSpPr>
          <p:cNvPr id="12" name="Evidence">
            <a:extLst>
              <a:ext uri="{FF2B5EF4-FFF2-40B4-BE49-F238E27FC236}">
                <a16:creationId xmlns:a16="http://schemas.microsoft.com/office/drawing/2014/main" id="{EAF3CA3C-B4F9-4CA8-B3C8-0AFDA41CACB6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</a:t>
            </a:r>
            <a:r>
              <a:rPr u="sng">
                <a:solidFill>
                  <a:srgbClr val="0070C0"/>
                </a:solidFill>
                <a:hlinkClick r:id="rId3"/>
              </a:rPr>
              <a:t>buildsystem.7.rst</a:t>
            </a:r>
          </a:p>
        </p:txBody>
      </p:sp>
      <p:sp>
        <p:nvSpPr>
          <p:cNvPr id="13" name="Reading link">
            <a:extLst>
              <a:ext uri="{FF2B5EF4-FFF2-40B4-BE49-F238E27FC236}">
                <a16:creationId xmlns:a16="http://schemas.microsoft.com/office/drawing/2014/main" id="{25365E90-9405-4BC5-BFD3-BBF84238B719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7.3.2</a:t>
            </a: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199EC6F-7203-41FB-A801-73CA658CA20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7E30D5A-195C-4E85-B673-9280E37A50B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两个目标怎样连接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241CDC8A-E356-4801-8AFA-3CB693897B18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7.3.2 · 第二阶段 CMakeLists.txt 主体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981A6EB4-1226-4B99-A5B1-DABFFC044480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cmake_minimum_required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VERSION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3.28)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project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(native_demo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LANGUAGES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C)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add_library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(arithmetic STATIC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src</a:t>
            </a:r>
            <a:r>
              <a:rPr>
                <a:solidFill>
                  <a:srgbClr val="0070C0"/>
                </a:solidFill>
              </a:rPr>
              <a:t>/add.c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target_include_directories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(arithmetic </a:t>
            </a:r>
            <a:r>
              <a:rPr>
                <a:solidFill>
                  <a:srgbClr val="B84E00"/>
                </a:solidFill>
              </a:rPr>
              <a:t>PUBLIC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"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${</a:t>
            </a:r>
            <a:r>
              <a:rPr>
                <a:solidFill>
                  <a:srgbClr val="B84E00"/>
                </a:solidFill>
              </a:rPr>
              <a:t>CMAKE_CURRENT_SOURCE_DIR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}</a:t>
            </a:r>
            <a:r>
              <a:rPr>
                <a:solidFill>
                  <a:srgbClr val="0070C0"/>
                </a:solidFill>
              </a:rPr>
              <a:t>/include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")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add_executable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(my_app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main.c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target_link_libraries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(my_app </a:t>
            </a:r>
            <a:r>
              <a:rPr>
                <a:solidFill>
                  <a:srgbClr val="B84E00"/>
                </a:solidFill>
              </a:rPr>
              <a:t>PRIVATE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arithmetic)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BC44187C-EEEE-45EF-9A8A-139A05B86C3B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10972800" cy="1323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arithmetic 提供头文件目录并形成静态库。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my_app 链接它，同时接收其公开的使用要求。</a:t>
            </a:r>
          </a:p>
        </p:txBody>
      </p:sp>
      <p:sp>
        <p:nvSpPr>
          <p:cNvPr id="6" name="Evidence">
            <a:extLst>
              <a:ext uri="{FF2B5EF4-FFF2-40B4-BE49-F238E27FC236}">
                <a16:creationId xmlns:a16="http://schemas.microsoft.com/office/drawing/2014/main" id="{F985FB44-E81B-4F1B-965D-66DA76052E6E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</a:t>
            </a:r>
            <a:r>
              <a:rPr u="sng">
                <a:solidFill>
                  <a:srgbClr val="0070C0"/>
                </a:solidFill>
                <a:hlinkClick r:id="rId3"/>
              </a:rPr>
              <a:t>buildsystem.7.rst</a:t>
            </a:r>
          </a:p>
        </p:txBody>
      </p:sp>
      <p:sp>
        <p:nvSpPr>
          <p:cNvPr id="7" name="Reading link">
            <a:extLst>
              <a:ext uri="{FF2B5EF4-FFF2-40B4-BE49-F238E27FC236}">
                <a16:creationId xmlns:a16="http://schemas.microsoft.com/office/drawing/2014/main" id="{2D650261-66B2-4064-9E0A-09A4DD9F25B4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7.3.2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6B601EE-1D2E-4291-8315-F132E3F0205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63061AC-3E9E-4AC0-B5AD-5449DA47FD26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PRIVATE / PUBLIC / INTERFACE 传给谁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C0CA537A-8222-460B-BFBB-2261DE3EE8E8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7.3.2 · 使用要求的传播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EF7D7A29-C52F-4BF2-A1ED-B04BFF816788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PRIVATE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：给目标自身。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PUBLIC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：给目标自身，也给使用者。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INTERFACE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：只给使用者。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这里按编译要求理解；静态库的最终链接依赖另有传播规则。</a:t>
            </a:r>
          </a:p>
        </p:txBody>
      </p:sp>
      <p:sp>
        <p:nvSpPr>
          <p:cNvPr id="5" name="Model arithmetic">
            <a:extLst>
              <a:ext uri="{FF2B5EF4-FFF2-40B4-BE49-F238E27FC236}">
                <a16:creationId xmlns:a16="http://schemas.microsoft.com/office/drawing/2014/main" id="{6178815C-070C-4FB1-8F54-7D8A02E7BD0C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340360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arithmetic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4380FCC1-A448-4D54-8BCB-4D544FA8B642}"/>
              </a:ext>
            </a:extLst>
          </p:cNvPr>
          <p:cNvSpPr>
            <a:spLocks noGrp="1"/>
          </p:cNvSpPr>
          <p:nvPr/>
        </p:nvSpPr>
        <p:spPr>
          <a:xfrm>
            <a:off x="40608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PUBLIC include/">
            <a:extLst>
              <a:ext uri="{FF2B5EF4-FFF2-40B4-BE49-F238E27FC236}">
                <a16:creationId xmlns:a16="http://schemas.microsoft.com/office/drawing/2014/main" id="{D87394C8-65D8-4A75-9704-08F199C9BD6C}"/>
              </a:ext>
            </a:extLst>
          </p:cNvPr>
          <p:cNvSpPr>
            <a:spLocks noGrp="1"/>
          </p:cNvSpPr>
          <p:nvPr/>
        </p:nvSpPr>
        <p:spPr>
          <a:xfrm>
            <a:off x="4394200" y="3905250"/>
            <a:ext cx="340360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PUBLIC</a:t>
            </a: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include/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E8A9622C-31B0-4F3F-A732-1E19285ABFDC}"/>
              </a:ext>
            </a:extLst>
          </p:cNvPr>
          <p:cNvSpPr>
            <a:spLocks noGrp="1"/>
          </p:cNvSpPr>
          <p:nvPr/>
        </p:nvSpPr>
        <p:spPr>
          <a:xfrm>
            <a:off x="78454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链接它的 my_app">
            <a:extLst>
              <a:ext uri="{FF2B5EF4-FFF2-40B4-BE49-F238E27FC236}">
                <a16:creationId xmlns:a16="http://schemas.microsoft.com/office/drawing/2014/main" id="{E6ECE970-90AB-4FC0-A23B-C51E52BCA6AA}"/>
              </a:ext>
            </a:extLst>
          </p:cNvPr>
          <p:cNvSpPr>
            <a:spLocks noGrp="1"/>
          </p:cNvSpPr>
          <p:nvPr/>
        </p:nvSpPr>
        <p:spPr>
          <a:xfrm>
            <a:off x="8178800" y="3905250"/>
            <a:ext cx="340360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链接它的 my_app</a:t>
            </a:r>
          </a:p>
        </p:txBody>
      </p:sp>
      <p:sp>
        <p:nvSpPr>
          <p:cNvPr id="10" name="Evidence">
            <a:extLst>
              <a:ext uri="{FF2B5EF4-FFF2-40B4-BE49-F238E27FC236}">
                <a16:creationId xmlns:a16="http://schemas.microsoft.com/office/drawing/2014/main" id="{64493412-EA61-4514-B72A-D017DE3E9B11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</a:t>
            </a:r>
            <a:r>
              <a:rPr u="sng">
                <a:solidFill>
                  <a:srgbClr val="0070C0"/>
                </a:solidFill>
                <a:hlinkClick r:id="rId3"/>
              </a:rPr>
              <a:t>buildsystem.7.rst</a:t>
            </a:r>
          </a:p>
        </p:txBody>
      </p:sp>
      <p:sp>
        <p:nvSpPr>
          <p:cNvPr id="11" name="Reading link">
            <a:extLst>
              <a:ext uri="{FF2B5EF4-FFF2-40B4-BE49-F238E27FC236}">
                <a16:creationId xmlns:a16="http://schemas.microsoft.com/office/drawing/2014/main" id="{642ECE6D-9FE1-4139-A623-7E57B0176725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7.3.2</a:t>
            </a:r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894A12D-D7B4-4268-9919-5E55BEF83CF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01F1DEB-CED2-403C-A5EE-5E69DEB6F1A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改了文件，再配置和构建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71622C5-5B82-46A4-9552-9C65633454F3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7.3.2 · 两目标练习的结果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3112EFDC-F812-41A7-8556-A4DABF664E3A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81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改入口后重新配置同一 out，再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--build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，运行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my_app.exe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预期 2 + 3 = 5；完整命令沿用 7.2.3。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普通 C 文件变化通常只需增量构建；已登记输入也可能触发重配。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编译行可观察 include 路径，链接行可观察 arithmetic 库。</a:t>
            </a:r>
          </a:p>
        </p:txBody>
      </p:sp>
      <p:sp>
        <p:nvSpPr>
          <p:cNvPr id="5" name="Evidence">
            <a:extLst>
              <a:ext uri="{FF2B5EF4-FFF2-40B4-BE49-F238E27FC236}">
                <a16:creationId xmlns:a16="http://schemas.microsoft.com/office/drawing/2014/main" id="{1F3185FE-9448-49BA-8D13-94258D0D6DA3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</a:t>
            </a:r>
            <a:r>
              <a:rPr u="sng">
                <a:solidFill>
                  <a:srgbClr val="0070C0"/>
                </a:solidFill>
                <a:hlinkClick r:id="rId3"/>
              </a:rPr>
              <a:t>buildsystem.7.rst</a:t>
            </a:r>
          </a:p>
        </p:txBody>
      </p:sp>
      <p:sp>
        <p:nvSpPr>
          <p:cNvPr id="6" name="Reading link">
            <a:extLst>
              <a:ext uri="{FF2B5EF4-FFF2-40B4-BE49-F238E27FC236}">
                <a16:creationId xmlns:a16="http://schemas.microsoft.com/office/drawing/2014/main" id="{D5509CA5-8529-4ACF-A69B-208FD24B1FAA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7.3.2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4CDD822-92B2-4739-B048-27298BDD6AF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45692CD-2FD6-408F-922B-4F799027D4B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add_subdirectory 拆的是脚本组织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413CE5B4-E988-4B58-BCF1-AAE9ADBC9CFB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7.4.1 · 只读布局变体，非必做迁移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8F0387B0-6525-47DC-AE66-9B7920E3F194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根入口处理到 </a:t>
            </a: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add_subdirectory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(lib)，就进入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lib/CMakeLists.txt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仍属于同一次 CMake 配置，不会启动第二套编译系统。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子目录中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CMAKE_CURRENT_SOURCE_DIR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指向 lib。</a:t>
            </a:r>
          </a:p>
        </p:txBody>
      </p:sp>
      <p:sp>
        <p:nvSpPr>
          <p:cNvPr id="5" name="Model 根 CMakeLists">
            <a:extLst>
              <a:ext uri="{FF2B5EF4-FFF2-40B4-BE49-F238E27FC236}">
                <a16:creationId xmlns:a16="http://schemas.microsoft.com/office/drawing/2014/main" id="{A7109B12-8592-442B-85F9-5A927F66449E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根 CMakeLists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CC4E8E8C-C97B-4057-AFB5-0278004EDF97}"/>
              </a:ext>
            </a:extLst>
          </p:cNvPr>
          <p:cNvSpPr>
            <a:spLocks noGrp="1"/>
          </p:cNvSpPr>
          <p:nvPr/>
        </p:nvSpPr>
        <p:spPr>
          <a:xfrm>
            <a:off x="31146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lib/CMakeLists">
            <a:extLst>
              <a:ext uri="{FF2B5EF4-FFF2-40B4-BE49-F238E27FC236}">
                <a16:creationId xmlns:a16="http://schemas.microsoft.com/office/drawing/2014/main" id="{515CFC29-61B6-41E8-BF31-0F54666540CB}"/>
              </a:ext>
            </a:extLst>
          </p:cNvPr>
          <p:cNvSpPr>
            <a:spLocks noGrp="1"/>
          </p:cNvSpPr>
          <p:nvPr/>
        </p:nvSpPr>
        <p:spPr>
          <a:xfrm>
            <a:off x="34480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lib/CMakeLists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BE592612-3557-421E-A99C-193B842DC128}"/>
              </a:ext>
            </a:extLst>
          </p:cNvPr>
          <p:cNvSpPr>
            <a:spLocks noGrp="1"/>
          </p:cNvSpPr>
          <p:nvPr/>
        </p:nvSpPr>
        <p:spPr>
          <a:xfrm>
            <a:off x="59531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建立 arithmetic">
            <a:extLst>
              <a:ext uri="{FF2B5EF4-FFF2-40B4-BE49-F238E27FC236}">
                <a16:creationId xmlns:a16="http://schemas.microsoft.com/office/drawing/2014/main" id="{B86F07DC-FD5B-4894-AB84-3C9236327E9F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建立 arithmetic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FA70E6DF-5A91-4EFE-B253-2C943CA6BF6D}"/>
              </a:ext>
            </a:extLst>
          </p:cNvPr>
          <p:cNvSpPr>
            <a:spLocks noGrp="1"/>
          </p:cNvSpPr>
          <p:nvPr/>
        </p:nvSpPr>
        <p:spPr>
          <a:xfrm>
            <a:off x="8791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el 返回根入口">
            <a:extLst>
              <a:ext uri="{FF2B5EF4-FFF2-40B4-BE49-F238E27FC236}">
                <a16:creationId xmlns:a16="http://schemas.microsoft.com/office/drawing/2014/main" id="{BB78446D-73CC-4C7C-8F5B-19A17B11DCEE}"/>
              </a:ext>
            </a:extLst>
          </p:cNvPr>
          <p:cNvSpPr>
            <a:spLocks noGrp="1"/>
          </p:cNvSpPr>
          <p:nvPr/>
        </p:nvSpPr>
        <p:spPr>
          <a:xfrm>
            <a:off x="91249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返回根入口</a:t>
            </a:r>
          </a:p>
        </p:txBody>
      </p:sp>
      <p:sp>
        <p:nvSpPr>
          <p:cNvPr id="12" name="Evidence">
            <a:extLst>
              <a:ext uri="{FF2B5EF4-FFF2-40B4-BE49-F238E27FC236}">
                <a16:creationId xmlns:a16="http://schemas.microsoft.com/office/drawing/2014/main" id="{3C94E23D-A931-473B-B3DC-EDCCBBE9CE10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</a:t>
            </a:r>
            <a:r>
              <a:rPr u="sng">
                <a:solidFill>
                  <a:srgbClr val="0070C0"/>
                </a:solidFill>
                <a:hlinkClick r:id="rId3"/>
              </a:rPr>
              <a:t>buildsystem.7.rst</a:t>
            </a:r>
          </a:p>
        </p:txBody>
      </p:sp>
      <p:sp>
        <p:nvSpPr>
          <p:cNvPr id="13" name="Reading link">
            <a:extLst>
              <a:ext uri="{FF2B5EF4-FFF2-40B4-BE49-F238E27FC236}">
                <a16:creationId xmlns:a16="http://schemas.microsoft.com/office/drawing/2014/main" id="{8BBB9A6B-0A5D-4A6F-909A-22FD8397ECF1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7.4.1</a:t>
            </a: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16906C3-CB52-4A4E-ADD3-1F06C0322D8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A2F8678-2B21-4F8E-8138-201A0508737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find_package 查找并执行已有入口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A118D1F3-5B49-4B20-B0C0-1B352E995DA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7.4.2 · 先认识包，再认识 Zephyr 包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97C7590E-8EF6-4E73-AA56-FC6BB7390F62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Config 模式寻找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NameConfig.cmake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等入口。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Module 模式寻找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FindName.cmake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找到后在同一 CMake 进程执行相关脚本；该命令本身不是下载器。</a:t>
            </a:r>
          </a:p>
        </p:txBody>
      </p:sp>
      <p:sp>
        <p:nvSpPr>
          <p:cNvPr id="5" name="Model 应用入口">
            <a:extLst>
              <a:ext uri="{FF2B5EF4-FFF2-40B4-BE49-F238E27FC236}">
                <a16:creationId xmlns:a16="http://schemas.microsoft.com/office/drawing/2014/main" id="{3631C732-DECE-4861-93DE-83F96BFACFBE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应用入口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BA62958D-B229-4FF1-B6E1-80FE28D203DB}"/>
              </a:ext>
            </a:extLst>
          </p:cNvPr>
          <p:cNvSpPr>
            <a:spLocks noGrp="1"/>
          </p:cNvSpPr>
          <p:nvPr/>
        </p:nvSpPr>
        <p:spPr>
          <a:xfrm>
            <a:off x="31146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find_package">
            <a:extLst>
              <a:ext uri="{FF2B5EF4-FFF2-40B4-BE49-F238E27FC236}">
                <a16:creationId xmlns:a16="http://schemas.microsoft.com/office/drawing/2014/main" id="{FF5BA009-52B7-40CC-8146-E7FBD31968EA}"/>
              </a:ext>
            </a:extLst>
          </p:cNvPr>
          <p:cNvSpPr>
            <a:spLocks noGrp="1"/>
          </p:cNvSpPr>
          <p:nvPr/>
        </p:nvSpPr>
        <p:spPr>
          <a:xfrm>
            <a:off x="34480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find_package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583500B2-A9A4-4280-AF1E-1F104FD0B918}"/>
              </a:ext>
            </a:extLst>
          </p:cNvPr>
          <p:cNvSpPr>
            <a:spLocks noGrp="1"/>
          </p:cNvSpPr>
          <p:nvPr/>
        </p:nvSpPr>
        <p:spPr>
          <a:xfrm>
            <a:off x="59531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包的配置脚本">
            <a:extLst>
              <a:ext uri="{FF2B5EF4-FFF2-40B4-BE49-F238E27FC236}">
                <a16:creationId xmlns:a16="http://schemas.microsoft.com/office/drawing/2014/main" id="{8AD45AFA-C1AE-4009-B757-3B3E3340D679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包的配置脚本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D8D6ACA3-126C-4234-A885-8311FD51DB09}"/>
              </a:ext>
            </a:extLst>
          </p:cNvPr>
          <p:cNvSpPr>
            <a:spLocks noGrp="1"/>
          </p:cNvSpPr>
          <p:nvPr/>
        </p:nvSpPr>
        <p:spPr>
          <a:xfrm>
            <a:off x="8791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el 返回应用">
            <a:extLst>
              <a:ext uri="{FF2B5EF4-FFF2-40B4-BE49-F238E27FC236}">
                <a16:creationId xmlns:a16="http://schemas.microsoft.com/office/drawing/2014/main" id="{280B3430-3795-4177-A40C-B6CE8E280656}"/>
              </a:ext>
            </a:extLst>
          </p:cNvPr>
          <p:cNvSpPr>
            <a:spLocks noGrp="1"/>
          </p:cNvSpPr>
          <p:nvPr/>
        </p:nvSpPr>
        <p:spPr>
          <a:xfrm>
            <a:off x="91249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返回应用</a:t>
            </a:r>
          </a:p>
        </p:txBody>
      </p:sp>
      <p:sp>
        <p:nvSpPr>
          <p:cNvPr id="12" name="Evidence">
            <a:extLst>
              <a:ext uri="{FF2B5EF4-FFF2-40B4-BE49-F238E27FC236}">
                <a16:creationId xmlns:a16="http://schemas.microsoft.com/office/drawing/2014/main" id="{80E70B7E-5758-45E1-9E7F-7AA6F534CB7E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</a:t>
            </a:r>
            <a:r>
              <a:rPr u="sng">
                <a:solidFill>
                  <a:srgbClr val="0070C0"/>
                </a:solidFill>
                <a:hlinkClick r:id="rId3"/>
              </a:rPr>
              <a:t>buildsystem.7.rst</a:t>
            </a:r>
          </a:p>
        </p:txBody>
      </p:sp>
      <p:sp>
        <p:nvSpPr>
          <p:cNvPr id="13" name="Reading link">
            <a:extLst>
              <a:ext uri="{FF2B5EF4-FFF2-40B4-BE49-F238E27FC236}">
                <a16:creationId xmlns:a16="http://schemas.microsoft.com/office/drawing/2014/main" id="{2133879F-A815-497D-80C9-AB6B747C466B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7.4.2</a:t>
            </a: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A17E0CE-2AE2-4C03-87F9-229B7CF4199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98536C6-8DC3-4756-8683-C1A20935EEA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源码包与 SDK 包不同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D0E675BF-98DC-4DC6-90FD-FB31C041265A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7.4.2 · 找到一个不代表找到另一个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4EFB6861-3503-414F-80FA-53DD8EE05FE2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81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</a:rPr>
              <a:t>ZephyrConfig.cmake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：源码提供的构建入口。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</a:rPr>
              <a:t>Zephyr-sdkConfig.cmake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：SDK 提供的工具发现入口。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Zephyr_DIR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定位前者；SDK 路线与注册在 P003。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不是每个 CMake 包都会创建 app；那是 Zephyr 初始化的行为。</a:t>
            </a:r>
          </a:p>
        </p:txBody>
      </p:sp>
      <p:sp>
        <p:nvSpPr>
          <p:cNvPr id="5" name="Evidence">
            <a:extLst>
              <a:ext uri="{FF2B5EF4-FFF2-40B4-BE49-F238E27FC236}">
                <a16:creationId xmlns:a16="http://schemas.microsoft.com/office/drawing/2014/main" id="{64B7A118-87AC-4BD5-9127-7CCD42B65075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</a:t>
            </a:r>
            <a:r>
              <a:rPr u="sng">
                <a:solidFill>
                  <a:srgbClr val="0070C0"/>
                </a:solidFill>
                <a:hlinkClick r:id="rId3"/>
              </a:rPr>
              <a:t>buildsystem.7.rst</a:t>
            </a:r>
          </a:p>
        </p:txBody>
      </p:sp>
      <p:sp>
        <p:nvSpPr>
          <p:cNvPr id="6" name="Reading link">
            <a:extLst>
              <a:ext uri="{FF2B5EF4-FFF2-40B4-BE49-F238E27FC236}">
                <a16:creationId xmlns:a16="http://schemas.microsoft.com/office/drawing/2014/main" id="{9BDDD210-7E4E-4B40-8E1D-7F009179D17C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7.4.2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FDAF7CF-95A9-49D0-8C2F-D6C2A7D18B0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B40D7FE-4EB6-4A8B-8F37-2820FCDF02E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变量、缓存、目标属性不要混用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03E2440-F15E-4634-A787-5841CE482F8F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7.5 · 三种对象各有读取者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F72A6E2D-A4C1-453C-B8D3-1918F7BA1DEC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81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普通变量：脚本当前作用域中读取。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缓存项：保存在所选构建目录，后续配置可能继续使用。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目标属性：属于指定 target，影响其构建或使用要求。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传了一个名字，不等于编译器自动收到同名宏。</a:t>
            </a:r>
          </a:p>
        </p:txBody>
      </p:sp>
      <p:sp>
        <p:nvSpPr>
          <p:cNvPr id="5" name="Evidence">
            <a:extLst>
              <a:ext uri="{FF2B5EF4-FFF2-40B4-BE49-F238E27FC236}">
                <a16:creationId xmlns:a16="http://schemas.microsoft.com/office/drawing/2014/main" id="{53952474-2053-444C-B2D3-4512AE865096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</a:t>
            </a:r>
            <a:r>
              <a:rPr u="sng">
                <a:solidFill>
                  <a:srgbClr val="0070C0"/>
                </a:solidFill>
                <a:hlinkClick r:id="rId3"/>
              </a:rPr>
              <a:t>buildsystem.7.rst</a:t>
            </a:r>
          </a:p>
        </p:txBody>
      </p:sp>
      <p:sp>
        <p:nvSpPr>
          <p:cNvPr id="6" name="Reading link">
            <a:extLst>
              <a:ext uri="{FF2B5EF4-FFF2-40B4-BE49-F238E27FC236}">
                <a16:creationId xmlns:a16="http://schemas.microsoft.com/office/drawing/2014/main" id="{F5B30AD1-15FC-4CF7-9EE5-877673749022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7.5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F753D9F-4A82-4164-9E79-82509245885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CF2C422-5995-4828-BBE2-9EC49575ACC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一项输入怎样真正影响编译器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4B0CD6DA-35E3-4E0D-859E-AA547D397472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7.5 · DEMO_TRACE 是教程自定义选项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E6FFF137-DE56-4612-8E79-4683C3EBBCEE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619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option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</a:t>
            </a:r>
            <a:r>
              <a:rPr>
                <a:solidFill>
                  <a:srgbClr val="B84E00"/>
                </a:solidFill>
              </a:rPr>
              <a:t>DEMO_TRACE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"Enable tutorial trace" OFF)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if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</a:t>
            </a:r>
            <a:r>
              <a:rPr>
                <a:solidFill>
                  <a:srgbClr val="B84E00"/>
                </a:solidFill>
              </a:rPr>
              <a:t>DEMO_TRACE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>
                <a:solidFill>
                  <a:srgbClr val="087B3D"/>
                </a:solidFill>
              </a:rPr>
              <a:t>target_compile_definitions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(my_app </a:t>
            </a:r>
            <a:r>
              <a:rPr>
                <a:solidFill>
                  <a:srgbClr val="B84E00"/>
                </a:solidFill>
              </a:rPr>
              <a:t>PRIVATE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DEMO_TRACE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=1)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endif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()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8D1C8D66-4049-4423-B851-38AF2F72892C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10972800" cy="2085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先创建 my_app，再加入以下片段。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option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声明缓存项；</a:t>
            </a:r>
            <a:r>
              <a:rPr sz="180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if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读取；target 接口才把宏加入编译规则。</a:t>
            </a:r>
          </a:p>
        </p:txBody>
      </p:sp>
      <p:sp>
        <p:nvSpPr>
          <p:cNvPr id="6" name="Evidence">
            <a:extLst>
              <a:ext uri="{FF2B5EF4-FFF2-40B4-BE49-F238E27FC236}">
                <a16:creationId xmlns:a16="http://schemas.microsoft.com/office/drawing/2014/main" id="{31A6426B-DE5A-40EC-9DD6-1C84ED036E5B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</a:t>
            </a:r>
            <a:r>
              <a:rPr u="sng">
                <a:solidFill>
                  <a:srgbClr val="0070C0"/>
                </a:solidFill>
                <a:hlinkClick r:id="rId3"/>
              </a:rPr>
              <a:t>buildsystem.7.rst</a:t>
            </a:r>
          </a:p>
        </p:txBody>
      </p:sp>
      <p:sp>
        <p:nvSpPr>
          <p:cNvPr id="7" name="Reading link">
            <a:extLst>
              <a:ext uri="{FF2B5EF4-FFF2-40B4-BE49-F238E27FC236}">
                <a16:creationId xmlns:a16="http://schemas.microsoft.com/office/drawing/2014/main" id="{27A3C8FA-6BF4-487D-89C0-03323F098251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7.5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1ECFEDC-EE58-4E3F-B571-F6A0A29A7ED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BA9E328-AEB2-467E-BDB7-9D2E569E44D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把已理解的模型带入 Zephyr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F51C5919-B411-474E-962C-8280852BE7DF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7.6 · 下一册只增加一个新问题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95ED48C4-DF0B-4ED9-BC59-D37898675296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81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普通程序：自己 </a:t>
            </a: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add_executable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，然后添加源码与属性。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应用：先 </a:t>
            </a: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find_package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，随后直接 </a:t>
            </a: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target_sources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(app)。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加载应用时先创建 app；下一册展开这个过程。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缓存深入 P011；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入门与调用关系单独在 P009。</a:t>
            </a:r>
          </a:p>
        </p:txBody>
      </p:sp>
      <p:sp>
        <p:nvSpPr>
          <p:cNvPr id="5" name="Evidence">
            <a:extLst>
              <a:ext uri="{FF2B5EF4-FFF2-40B4-BE49-F238E27FC236}">
                <a16:creationId xmlns:a16="http://schemas.microsoft.com/office/drawing/2014/main" id="{4B8BCF6E-653C-481E-AA0E-EE398CF6A622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</a:t>
            </a:r>
            <a:r>
              <a:rPr u="sng">
                <a:solidFill>
                  <a:srgbClr val="0070C0"/>
                </a:solidFill>
                <a:hlinkClick r:id="rId3"/>
              </a:rPr>
              <a:t>buildsystem.7.rst</a:t>
            </a:r>
          </a:p>
        </p:txBody>
      </p:sp>
      <p:sp>
        <p:nvSpPr>
          <p:cNvPr id="6" name="Reading link">
            <a:extLst>
              <a:ext uri="{FF2B5EF4-FFF2-40B4-BE49-F238E27FC236}">
                <a16:creationId xmlns:a16="http://schemas.microsoft.com/office/drawing/2014/main" id="{76C0D12E-D0D9-4118-84FB-C5508211FF80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7.6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BE54067-CCC8-4D54-AD2C-5A606151450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3527</Words>
  <Application>Microsoft Office PowerPoint</Application>
  <DocSecurity>0</DocSecurity>
  <PresentationFormat>宽屏</PresentationFormat>
  <Paragraphs>541</Paragraphs>
  <Slides>24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22</vt:i4>
      </vt:variant>
    </vt:vector>
  </HeadingPairs>
  <TitlesOfParts>
    <vt:vector size="36" baseType="lpstr">
      <vt:lpstr>Noto Sans SC</vt:lpstr>
      <vt:lpstr>Microsoft YaHei</vt:lpstr>
      <vt:lpstr>Aptos</vt:lpstr>
      <vt:lpstr>Consolas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兆军 李</cp:lastModifiedBy>
  <cp:revision>184</cp:revision>
  <dcterms:created xsi:type="dcterms:W3CDTF">2026-10-06T03:23:18Z</dcterms:created>
  <dcterms:modified xsi:type="dcterms:W3CDTF">2026-10-07T09:17:02Z</dcterms:modified>
</cp:coreProperties>
</file>