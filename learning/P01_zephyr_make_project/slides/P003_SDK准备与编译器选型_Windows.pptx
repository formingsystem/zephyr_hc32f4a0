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37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81490" autoAdjust="0"/>
  </p:normalViewPr>
  <p:slideViewPr>
    <p:cSldViewPr snapToGrid="0">
      <p:cViewPr varScale="1">
        <p:scale>
          <a:sx n="109" d="100"/>
          <a:sy n="109" d="100"/>
        </p:scale>
        <p:origin x="1128" y="48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9" Type="http://schemas.openxmlformats.org/officeDocument/2006/relationships/viewProps" Target="viewProps.xml"/><Relationship Id="rId21" Type="http://schemas.openxmlformats.org/officeDocument/2006/relationships/slide" Target="slides/slide11.xml"/><Relationship Id="rId34" Type="http://schemas.openxmlformats.org/officeDocument/2006/relationships/slide" Target="slides/slide24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slide" Target="slides/slide19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slide" Target="slides/slide2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P011。</a:t>
            </a:r>
          </a:p>
          <a:p>
            <a:r>
              <a:t>配套正文：learning/P01_zephyr_make_project/P003_SDK准备与编译器选型_Windows.md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003_SDK准备与编译器选型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对应正文：P003_SDK准备与编译器选型_Windows.md#section-3-1</a:t>
            </a:r>
          </a:p>
          <a:p>
            <a:r>
              <a:t>本期路线</a:t>
            </a:r>
          </a:p>
          <a:p>
            <a:r>
              <a:t>SDK 下载、安装与工程发现</a:t>
            </a:r>
          </a:p>
          <a:p>
            <a:r>
              <a:t>前置：P002 的 CMake、7-Zip、Python 与 .venv。</a:t>
            </a:r>
          </a:p>
          <a:p>
            <a:r>
              <a:t>本期交付：磁盘上的 SDK / ARM 工具链，以及工程查找它们的入口。</a:t>
            </a:r>
          </a:p>
          <a:p>
            <a:endParaRPr/>
          </a:p>
          <a:p>
            <a:r>
              <a:t>本册使用 Windows x64 与 SDK 1.0.1。编译、运行在 P007；独立工具链是可选分支。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对应正文：P003_SDK准备与编译器选型_Windows.md#section-3-1</a:t>
            </a:r>
          </a:p>
          <a:p>
            <a:r>
              <a:rPr dirty="0"/>
              <a:t>① </a:t>
            </a:r>
            <a:r>
              <a:rPr dirty="0" err="1"/>
              <a:t>认识三种包</a:t>
            </a:r>
            <a:endParaRPr dirty="0"/>
          </a:p>
          <a:p>
            <a:r>
              <a:rPr dirty="0"/>
              <a:t>GNU </a:t>
            </a:r>
            <a:r>
              <a:rPr dirty="0" err="1"/>
              <a:t>SDK、Minimal</a:t>
            </a:r>
            <a:r>
              <a:rPr dirty="0"/>
              <a:t> </a:t>
            </a:r>
            <a:r>
              <a:rPr dirty="0" err="1"/>
              <a:t>与独立工具链</a:t>
            </a:r>
            <a:endParaRPr dirty="0"/>
          </a:p>
          <a:p>
            <a:r>
              <a:rPr dirty="0"/>
              <a:t>Minimal 是 SDK </a:t>
            </a:r>
            <a:r>
              <a:rPr dirty="0" err="1"/>
              <a:t>的精简打包方式，仍带工程接入文件；单独的</a:t>
            </a:r>
            <a:r>
              <a:rPr dirty="0"/>
              <a:t> ARM </a:t>
            </a:r>
            <a:r>
              <a:rPr dirty="0" err="1"/>
              <a:t>包才是组件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多种目标</a:t>
            </a:r>
            <a:r>
              <a:rPr dirty="0"/>
              <a:t> ≠ </a:t>
            </a:r>
            <a:r>
              <a:rPr dirty="0" err="1"/>
              <a:t>同一</a:t>
            </a:r>
            <a:r>
              <a:rPr dirty="0"/>
              <a:t> GCC </a:t>
            </a:r>
            <a:r>
              <a:rPr dirty="0" err="1"/>
              <a:t>的多个版本。GNU</a:t>
            </a:r>
            <a:r>
              <a:rPr dirty="0"/>
              <a:t> / Minimal </a:t>
            </a:r>
            <a:r>
              <a:rPr dirty="0" err="1"/>
              <a:t>补齐后使用同一</a:t>
            </a:r>
            <a:r>
              <a:rPr dirty="0"/>
              <a:t> SDK </a:t>
            </a:r>
            <a:r>
              <a:rPr dirty="0" err="1"/>
              <a:t>入口</a:t>
            </a:r>
            <a:r>
              <a:rPr dirty="0"/>
              <a:t>。</a:t>
            </a:r>
          </a:p>
          <a:p>
            <a:r>
              <a:rPr dirty="0" err="1"/>
              <a:t>依据：https</a:t>
            </a:r>
            <a:r>
              <a:rPr dirty="0"/>
              <a:t>://github.com/</a:t>
            </a:r>
            <a:r>
              <a:rPr dirty="0" err="1"/>
              <a:t>zephyrproject-rtos</a:t>
            </a:r>
            <a:r>
              <a:rPr dirty="0"/>
              <a:t>/</a:t>
            </a:r>
            <a:r>
              <a:rPr dirty="0" err="1"/>
              <a:t>sdk</a:t>
            </a:r>
            <a:r>
              <a:rPr dirty="0"/>
              <a:t>-ng/releases/tag/v1.0.1</a:t>
            </a:r>
          </a:p>
          <a:p>
            <a:r>
              <a:rPr dirty="0" err="1"/>
              <a:t>原文件定位：SDK</a:t>
            </a:r>
            <a:r>
              <a:rPr dirty="0"/>
              <a:t> 1.0.1 Release → SDK Bundle / GNU Toolchains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对应正文：P003_SDK准备与编译器选型_Windows.md#section-3-1</a:t>
            </a:r>
          </a:p>
          <a:p>
            <a:r>
              <a:t>① 认识三种包 · 官方归档提供以下文件</a:t>
            </a:r>
          </a:p>
          <a:p>
            <a:r>
              <a:t>补齐 Minimal 后，SDK 的结构相同</a:t>
            </a:r>
          </a:p>
          <a:p>
            <a:endParaRPr/>
          </a:p>
          <a:p>
            <a:r>
              <a:t>zephyr-sdk-1.0.1/</a:t>
            </a:r>
          </a:p>
          <a:p>
            <a:r>
              <a:t>├─ sdk_version                     SDK 发行版本</a:t>
            </a:r>
          </a:p>
          <a:p>
            <a:r>
              <a:t>├─ setup.cmd                       安装 / 可选注册</a:t>
            </a:r>
          </a:p>
          <a:p>
            <a:r>
              <a:t>├─ cmake/Zephyr-sdkConfig.cmake     工程查找入口</a:t>
            </a:r>
          </a:p>
          <a:p>
            <a:r>
              <a:t>├─ cmake/zephyr/gnu/target.cmake    架构 → 工具链规则</a:t>
            </a:r>
          </a:p>
          <a:p>
            <a:r>
              <a:t>├─ hosttools/                      平台配套工具</a:t>
            </a:r>
          </a:p>
          <a:p>
            <a:r>
              <a:t>└─ gnu/arm-zephyr-eabi/             GNU 已带；Minimal 补入</a:t>
            </a:r>
          </a:p>
          <a:p>
            <a:r>
              <a:t>   ├─ bin/arm-zephyr-eabi-gcc.exe   目标编译器</a:t>
            </a:r>
          </a:p>
          <a:p>
            <a:r>
              <a:t>   └─ arm-zephyr-eabi/             目标头文件与库</a:t>
            </a:r>
          </a:p>
          <a:p>
            <a:r>
              <a:t>这些 CMake 文件不需要自己创建。</a:t>
            </a:r>
          </a:p>
          <a:p>
            <a:r>
              <a:t>找到 SDK 包 ≠ ARM 编译器已安装；Minimal 必须补齐目标工具链。</a:t>
            </a:r>
          </a:p>
          <a:p>
            <a:r>
              <a:t>依据：https://docs.zephyrproject.org/latest/develop/toolchains/zephyr_sdk.html</a:t>
            </a:r>
          </a:p>
          <a:p>
            <a:r>
              <a:t>原文件定位：SDK 根：cmake/Zephyr-sdkConfig.cmake；gnu/arm-zephyr-eabi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本机核对的是</a:t>
            </a:r>
            <a:r>
              <a:rPr dirty="0"/>
              <a:t> G </a:t>
            </a:r>
            <a:r>
              <a:rPr dirty="0" err="1"/>
              <a:t>盘的</a:t>
            </a:r>
            <a:r>
              <a:rPr dirty="0"/>
              <a:t> zephyr-main，版本为4.5.0-rc1。公共示例使用读者输入目录，不固定私人盘符。进入直接含VERSION的一层，SDK_VERSION为1.0.1。下一页沿原生消费者解释这不是自建清单的结论。</a:t>
            </a:r>
          </a:p>
          <a:p>
            <a:endParaRPr dirty="0"/>
          </a:p>
          <a:p>
            <a:r>
              <a:rPr dirty="0"/>
              <a:t>配套正文：learning/P01_zephyr_make_project/P003_SDK准备与编译器选型_Windows.md</a:t>
            </a:r>
          </a:p>
          <a:p>
            <a:r>
              <a:rPr dirty="0"/>
              <a:t>https://github.com/zephyrproject-rtos/zephyr/blob/3777ab91262f93c2c2da7e1ab8cff4e8ea5f4ce4/SDK_VERSION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交叉编译器运行在 Windows 电脑上，为开发板生成机器码。Windows x64 主机包与 arm-zephyr-eabi 目标工具链分别回答两个不同的问题。UCRT64 Bash 没有把 Windows 变成 Linux。HC32 Cortex-M4 属于 ARM 微控制器。</a:t>
            </a:r>
          </a:p>
          <a:p>
            <a:endParaRPr/>
          </a:p>
          <a:p>
            <a:r>
              <a:t>配套正文：learning/P01_zephyr_make_project/P003_SDK准备与编译器选型_Windows.md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对应正文：P003_SDK准备与编译器选型_Windows.md#download</a:t>
            </a:r>
          </a:p>
          <a:p>
            <a:r>
              <a:rPr dirty="0"/>
              <a:t>② </a:t>
            </a:r>
            <a:r>
              <a:rPr dirty="0" err="1"/>
              <a:t>下载并安装</a:t>
            </a:r>
            <a:endParaRPr dirty="0"/>
          </a:p>
          <a:p>
            <a:r>
              <a:rPr dirty="0" err="1"/>
              <a:t>在官方发行页选择下载项</a:t>
            </a:r>
            <a:endParaRPr dirty="0"/>
          </a:p>
          <a:p>
            <a:r>
              <a:rPr dirty="0"/>
              <a:t>GitHub → </a:t>
            </a:r>
            <a:r>
              <a:rPr dirty="0" err="1"/>
              <a:t>zephyrproject-rtos</a:t>
            </a:r>
            <a:r>
              <a:rPr dirty="0"/>
              <a:t> / </a:t>
            </a:r>
            <a:r>
              <a:rPr dirty="0" err="1"/>
              <a:t>sdk</a:t>
            </a:r>
            <a:r>
              <a:rPr dirty="0"/>
              <a:t>-ng → Releases → v1.0.1。</a:t>
            </a:r>
          </a:p>
          <a:p>
            <a:r>
              <a:rPr dirty="0"/>
              <a:t>SDK Bundle </a:t>
            </a:r>
            <a:r>
              <a:rPr dirty="0" err="1"/>
              <a:t>表：Windows</a:t>
            </a:r>
            <a:r>
              <a:rPr dirty="0"/>
              <a:t> 行 → GNU 或 Minimal 列 → x86-64。</a:t>
            </a:r>
          </a:p>
          <a:p>
            <a:endParaRPr dirty="0"/>
          </a:p>
          <a:p>
            <a:r>
              <a:rPr dirty="0"/>
              <a:t>ARM </a:t>
            </a:r>
            <a:r>
              <a:rPr dirty="0" err="1"/>
              <a:t>附件：同页</a:t>
            </a:r>
            <a:r>
              <a:rPr dirty="0"/>
              <a:t> GNU Toolchains → arm-zephyr-</a:t>
            </a:r>
            <a:r>
              <a:rPr dirty="0" err="1"/>
              <a:t>eabi</a:t>
            </a:r>
            <a:r>
              <a:rPr dirty="0"/>
              <a:t> 行 → Windows / x86-64。</a:t>
            </a:r>
          </a:p>
          <a:p>
            <a:r>
              <a:rPr dirty="0" err="1"/>
              <a:t>同时下载同发行的</a:t>
            </a:r>
            <a:r>
              <a:rPr dirty="0"/>
              <a:t> sha256.sum；Source code </a:t>
            </a:r>
            <a:r>
              <a:rPr dirty="0" err="1"/>
              <a:t>不是可安装</a:t>
            </a:r>
            <a:r>
              <a:rPr dirty="0"/>
              <a:t> SDK。</a:t>
            </a:r>
          </a:p>
          <a:p>
            <a:r>
              <a:rPr dirty="0" err="1"/>
              <a:t>依据：https</a:t>
            </a:r>
            <a:r>
              <a:rPr dirty="0"/>
              <a:t>://github.com/</a:t>
            </a:r>
            <a:r>
              <a:rPr dirty="0" err="1"/>
              <a:t>zephyrproject-rtos</a:t>
            </a:r>
            <a:r>
              <a:rPr dirty="0"/>
              <a:t>/</a:t>
            </a:r>
            <a:r>
              <a:rPr dirty="0" err="1"/>
              <a:t>sdk</a:t>
            </a:r>
            <a:r>
              <a:rPr dirty="0"/>
              <a:t>-ng/releases/tag/v1.0.1</a:t>
            </a:r>
          </a:p>
          <a:p>
            <a:r>
              <a:rPr dirty="0" err="1"/>
              <a:t>原文件定位：Release</a:t>
            </a:r>
            <a:r>
              <a:rPr dirty="0"/>
              <a:t> </a:t>
            </a:r>
            <a:r>
              <a:rPr dirty="0" err="1"/>
              <a:t>下载表与</a:t>
            </a:r>
            <a:r>
              <a:rPr dirty="0"/>
              <a:t> Assets → sha256.sum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</a:t>
            </a:r>
          </a:p>
          <a:p>
            <a:r>
              <a:t>② 下载并安装</a:t>
            </a:r>
          </a:p>
          <a:p>
            <a:r>
              <a:t>下载目录、SDK 根与源码根</a:t>
            </a:r>
          </a:p>
          <a:p>
            <a:endParaRPr/>
          </a:p>
          <a:p>
            <a:r>
              <a:t>G:/zephyr_practice/</a:t>
            </a:r>
          </a:p>
          <a:p>
            <a:r>
              <a:t>├─ zephyr-main/                     P001 下载的 Zephyr 源码</a:t>
            </a:r>
          </a:p>
          <a:p>
            <a:r>
              <a:t>├─ zephyr-sdk-1.0.1/                SDK 归档解压后产生</a:t>
            </a:r>
          </a:p>
          <a:p>
            <a:r>
              <a:t>│  ├─ sdk_version</a:t>
            </a:r>
          </a:p>
          <a:p>
            <a:r>
              <a:t>│  ├─ cmake/</a:t>
            </a:r>
          </a:p>
          <a:p>
            <a:r>
              <a:t>│  └─ gnu/arm-zephyr-eabi/          ARM 工具链</a:t>
            </a:r>
          </a:p>
          <a:p>
            <a:r>
              <a:t>├─ arm-zephyr-eabi/                 仅独立工具链路线需要</a:t>
            </a:r>
          </a:p>
          <a:p>
            <a:r>
              <a:t>├─ zephyr-sdk-1.0.1_windows-x86_64_gnu.7z</a:t>
            </a:r>
          </a:p>
          <a:p>
            <a:r>
              <a:t>└─ sha256.sum                      同版官方摘要清单</a:t>
            </a:r>
          </a:p>
          <a:p>
            <a:r>
              <a:t>UCRT64 用 /g/zephyr_practice；PowerShell / 资源管理器用 G:\zephyr_practice。</a:t>
            </a:r>
          </a:p>
          <a:p>
            <a:r>
              <a:t>传给 Windows CMake 的路径用 G:/…；SDK 根是直接含 sdk_version 的那层。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对应正文：P003_SDK准备与编译器选型_Windows.md#section-3-2-1</a:t>
            </a:r>
          </a:p>
          <a:p>
            <a:r>
              <a:t>② 下载并安装</a:t>
            </a:r>
          </a:p>
          <a:p>
            <a:r>
              <a:t>GNU 路线：核验摘要并解压</a:t>
            </a:r>
          </a:p>
          <a:p>
            <a:endParaRPr/>
          </a:p>
          <a:p>
            <a:r>
              <a:t># Windows UCRT64；下载目录；已取得 GNU 包与同版 sha256.sum。</a:t>
            </a:r>
          </a:p>
          <a:p>
            <a:r>
              <a:t>cd /g/zephyr_practice</a:t>
            </a:r>
          </a:p>
          <a:p>
            <a:r>
              <a:t># 必须输出 OK；失败就停止，不解压。</a:t>
            </a:r>
          </a:p>
          <a:p>
            <a:r>
              <a:t>grep -F ' zephyr-sdk-1.0.1_windows-x86_64_gnu.7z' sha256.sum |</a:t>
            </a:r>
          </a:p>
          <a:p>
            <a:r>
              <a:t>  sha256sum --check &amp;&amp;</a:t>
            </a:r>
          </a:p>
          <a:p>
            <a:r>
              <a:t>  7z x zephyr-sdk-1.0.1_windows-x86_64_gnu.7z "-o$(cygpath -m "$PWD")"</a:t>
            </a:r>
          </a:p>
          <a:p>
            <a:r>
              <a:t>目标目录已存在时先核对已有安装，不合并覆盖。输出摘要 OK 后才会解压。</a:t>
            </a:r>
          </a:p>
          <a:p>
            <a:r>
              <a:t>GNU 包已带 ARM，解压后直接到第 13 页核验；无需再执行 /t。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原文件定位：同版 sha256.sum 与 GNU SDK 归档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对应正文：P003_SDK准备与编译器选型_Windows.md#section-3-2-1</a:t>
            </a:r>
          </a:p>
          <a:p>
            <a:r>
              <a:t>② 下载并安装</a:t>
            </a:r>
          </a:p>
          <a:p>
            <a:r>
              <a:t>Minimal 路线：先解压 SDK 框架</a:t>
            </a:r>
          </a:p>
          <a:p>
            <a:endParaRPr/>
          </a:p>
          <a:p>
            <a:r>
              <a:t># Windows UCRT64；下载目录；选择 Minimal 才执行。</a:t>
            </a:r>
          </a:p>
          <a:p>
            <a:r>
              <a:t>cd /g/zephyr_practice</a:t>
            </a:r>
          </a:p>
          <a:p>
            <a:r>
              <a:t># 必须输出 OK；失败就停止，不解压。</a:t>
            </a:r>
          </a:p>
          <a:p>
            <a:r>
              <a:t>grep -F ' zephyr-sdk-1.0.1_windows-x86_64_minimal.7z' sha256.sum |</a:t>
            </a:r>
          </a:p>
          <a:p>
            <a:r>
              <a:t>  sha256sum --check &amp;&amp;</a:t>
            </a:r>
          </a:p>
          <a:p>
            <a:r>
              <a:t>  7z x zephyr-sdk-1.0.1_windows-x86_64_minimal.7z "-o$(cygpath -m "$PWD")"</a:t>
            </a:r>
          </a:p>
          <a:p>
            <a:r>
              <a:t>与上一页二选一；不要把 GNU 与 Minimal 同时解压到同一目录。</a:t>
            </a:r>
          </a:p>
          <a:p>
            <a:r>
              <a:t>此时已有 cmake 与 setup.cmd，下一步只补所需的 ARM 工具链。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原文件定位：Minimal SDK 归档；安装目录结构见第 4 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对应正文：P003_SDK准备与编译器选型_Windows.md#install-arm</a:t>
            </a:r>
          </a:p>
          <a:p>
            <a:r>
              <a:t>② 下载并安装 · 切换 PowerShell</a:t>
            </a:r>
          </a:p>
          <a:p>
            <a:r>
              <a:t>Minimal 在线补装 ARM</a:t>
            </a:r>
          </a:p>
          <a:p>
            <a:endParaRPr/>
          </a:p>
          <a:p>
            <a:r>
              <a:t># Windows PowerShell；Minimal 已解压，且尚未安装 ARM 工具链。</a:t>
            </a:r>
          </a:p>
          <a:p>
            <a:r>
              <a:t>Set-Location -LiteralPath 'G:\zephyr_practice\zephyr-sdk-1.0.1'</a:t>
            </a:r>
          </a:p>
          <a:p>
            <a:r>
              <a:t>Get-Command cmake, 7z -ErrorAction Stop</a:t>
            </a:r>
          </a:p>
          <a:p>
            <a:r>
              <a:t>if (Test-Path '.\gnu\arm-zephyr-eabi') {</a:t>
            </a:r>
          </a:p>
          <a:p>
            <a:r>
              <a:t>    throw '已有 ARM 目录，请先核验，不重复安装'</a:t>
            </a:r>
          </a:p>
          <a:p>
            <a:r>
              <a:t>}</a:t>
            </a:r>
          </a:p>
          <a:p>
            <a:r>
              <a:t>.\setup.cmd /t arm-zephyr-eabi</a:t>
            </a:r>
          </a:p>
          <a:p>
            <a:r>
              <a:t>if ($LASTEXITCODE -ne 0) { throw '安装失败，检查下载输出' }</a:t>
            </a:r>
          </a:p>
          <a:p>
            <a:r>
              <a:t>/t 根据 sdk_version 下载对应附件，再解压进 SDK/gnu。它不等于 /c 注册。</a:t>
            </a:r>
          </a:p>
          <a:p>
            <a:r>
              <a:t>若提示找不到 7z，先重开 PowerShell 刷新 PATH；仍缺少才返回 P002。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原文件定位：SDK/setup.cmd：/t 参数与 process 安装分支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对应正文：P003_SDK准备与编译器选型_Windows.md#install-arm</a:t>
            </a:r>
          </a:p>
          <a:p>
            <a:r>
              <a:t>② 下载并安装 · 离线替代</a:t>
            </a:r>
          </a:p>
          <a:p>
            <a:r>
              <a:t>已有 ARM 包：直接补到 SDK/gnu</a:t>
            </a:r>
          </a:p>
          <a:p>
            <a:endParaRPr/>
          </a:p>
          <a:p>
            <a:r>
              <a:t># Windows UCRT64；Minimal 已解压；ARM 包来自同版 Release。</a:t>
            </a:r>
          </a:p>
          <a:p>
            <a:r>
              <a:t>cd /g/zephyr_practice</a:t>
            </a:r>
          </a:p>
          <a:p>
            <a:r>
              <a:t># 摘要须输出 OK；归档从 arm-zephyr-eabi/ 开始。</a:t>
            </a:r>
          </a:p>
          <a:p>
            <a:r>
              <a:t>grep -F ' toolchain_gnu_windows-x86_64_arm-zephyr-eabi.7z' sha256.sum |</a:t>
            </a:r>
          </a:p>
          <a:p>
            <a:r>
              <a:t>  sha256sum --check &amp;&amp;</a:t>
            </a:r>
          </a:p>
          <a:p>
            <a:r>
              <a:t>  test -f zephyr-sdk-1.0.1/cmake/Zephyr-sdkConfig.cmake &amp;&amp;</a:t>
            </a:r>
          </a:p>
          <a:p>
            <a:r>
              <a:t>  test ! -e zephyr-sdk-1.0.1/gnu/arm-zephyr-eabi &amp;&amp;</a:t>
            </a:r>
          </a:p>
          <a:p>
            <a:r>
              <a:t>  7z x toolchain_gnu_windows-x86_64_arm-zephyr-eabi.7z \</a:t>
            </a:r>
          </a:p>
          <a:p>
            <a:r>
              <a:t>    "-o$(cygpath -m "$PWD/zephyr-sdk-1.0.1/gnu")"</a:t>
            </a:r>
          </a:p>
          <a:p>
            <a:r>
              <a:t>完成后：SDK/gnu/arm-zephyr-eabi/bin/arm-zephyr-eabi-gcc.exe。</a:t>
            </a:r>
          </a:p>
          <a:p>
            <a:r>
              <a:t>任一检查失败就停止；已有 ARM 目录先核验。无需改 CMake，也无需为组装执行 /c。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原文件定位：SDK/setup.cmd：pushd gnu 后解压 toolchain_gnu 附件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对应正文：P003_SDK准备与编译器选型_Windows.md#section-3-2-4</a:t>
            </a:r>
          </a:p>
          <a:p>
            <a:r>
              <a:t>② 下载并安装 · 结果检查</a:t>
            </a:r>
          </a:p>
          <a:p>
            <a:r>
              <a:t>安装完成：核验 SDK 与 ARM GCC</a:t>
            </a:r>
          </a:p>
          <a:p>
            <a:endParaRPr/>
          </a:p>
          <a:p>
            <a:r>
              <a:t># Windows UCRT64；GNU 或 Minimal + ARM 均用相同目录核验。</a:t>
            </a:r>
          </a:p>
          <a:p>
            <a:r>
              <a:t>cd /g/zephyr_practice/zephyr-sdk-1.0.1</a:t>
            </a:r>
          </a:p>
          <a:p>
            <a:r>
              <a:t>cat sdk_version</a:t>
            </a:r>
          </a:p>
          <a:p>
            <a:r>
              <a:t>ls cmake/Zephyr-sdkConfig.cmake</a:t>
            </a:r>
          </a:p>
          <a:p>
            <a:r>
              <a:t>./gnu/arm-zephyr-eabi/bin/arm-zephyr-eabi-gcc.exe --version</a:t>
            </a:r>
          </a:p>
          <a:p>
            <a:r>
              <a:t>./gnu/arm-zephyr-eabi/bin/arm-zephyr-eabi-gcc.exe -dumpmachine</a:t>
            </a:r>
          </a:p>
          <a:p>
            <a:r>
              <a:t>预期：SDK 1.0.1；CMake 包文件存在；GCC 14.3.0；目标 arm-zephyr-eabi。</a:t>
            </a:r>
          </a:p>
          <a:p>
            <a:r>
              <a:t>这证明文件与程序可用，尚不证明某个 Zephyr 构建已选中它。</a:t>
            </a:r>
          </a:p>
          <a:p>
            <a:r>
              <a:t>依据：https://github.com/zephyrproject-rtos/sdk-ng/releases/tag/v1.0.1</a:t>
            </a:r>
          </a:p>
          <a:p>
            <a:r>
              <a:t>原文件定位：Release → Included Components；SDK 安装文件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工程先找 SDK，再找目标编译器</a:t>
            </a:r>
          </a:p>
          <a:p>
            <a:r>
              <a:t>应用的 find_package(Zephyr) 加载 Zephyr 构建逻辑。</a:t>
            </a:r>
          </a:p>
          <a:p>
            <a:r>
              <a:t>Zephyr 请求 find_package(Zephyr-sdk 1.0)，定位 SDK 包，再加载工具链规则。</a:t>
            </a:r>
          </a:p>
          <a:p>
            <a:endParaRPr/>
          </a:p>
          <a:p>
            <a:r>
              <a:t>两种 SDK 包共用此链路。SDK 不复制进 zephyr-main，也无需把所有编译器加入 PATH。</a:t>
            </a:r>
          </a:p>
          <a:p>
            <a:r>
              <a:t>依据：https://github.com/zephyrproject-rtos/zephyr/blob/3777ab91262f93c2c2da7e1ab8cff4e8ea5f4ce4/cmake/modules/FindHostTools.cmake</a:t>
            </a:r>
          </a:p>
          <a:p>
            <a:r>
              <a:t>原文件定位：FindHostTools.cmake → FindZephyr-sdk.cmake → SDK 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Zephyr 源码包与 SDK 包分别定位</a:t>
            </a:r>
          </a:p>
          <a:p>
            <a:endParaRPr/>
          </a:p>
          <a:p>
            <a:endParaRPr/>
          </a:p>
          <a:p>
            <a:r>
              <a:t>能加载 Zephyr，不代表已找到 SDK。</a:t>
            </a:r>
          </a:p>
          <a:p>
            <a:r>
              <a:t>主机 cmake.exe 执行这些 .cmake 脚本；Minimal 自带接入脚本，不必自带 cmake.exe。</a:t>
            </a:r>
          </a:p>
          <a:p>
            <a:r>
              <a:t>依据：https://github.com/zephyrproject-rtos/zephyr/blob/3777ab91262f93c2c2da7e1ab8cff4e8ea5f4ce4/share/zephyr-package/cmake/ZephyrConfig.cmake</a:t>
            </a:r>
          </a:p>
          <a:p>
            <a:r>
              <a:t>原文件定位：ZephyrConfig.cmake；FindZephyr-sdk.cmake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</a:t>
            </a:r>
          </a:p>
          <a:p>
            <a:r>
              <a:t>SDK 发现方式：选一种入口即可</a:t>
            </a:r>
          </a:p>
          <a:p>
            <a:endParaRPr/>
          </a:p>
          <a:p>
            <a:endParaRPr/>
          </a:p>
          <a:p>
            <a:r>
              <a:t>显式 SDK 根由 Zephyr 读取并限定查找位置。默认发现成功时，不再重复指定根或类型。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原文件定位：zephyr_get；带 NO_DEFAULT_PATH 的 find_package 分支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对应正文：P003_SDK准备与编译器选型_Windows.md#sdk-registry</a:t>
            </a:r>
          </a:p>
          <a:p>
            <a:r>
              <a:t>③ 把 SDK 交给工程 · PowerShell</a:t>
            </a:r>
          </a:p>
          <a:p>
            <a:r>
              <a:t>可选：让当前用户的工程自动发现 SDK</a:t>
            </a:r>
          </a:p>
          <a:p>
            <a:endParaRPr/>
          </a:p>
          <a:p>
            <a:r>
              <a:t># Windows PowerShell；可选：准备当前用户的自动发现入口。</a:t>
            </a:r>
          </a:p>
          <a:p>
            <a:r>
              <a:t>Set-Location -LiteralPath 'G:\zephyr_practice\zephyr-sdk-1.0.1'</a:t>
            </a:r>
          </a:p>
          <a:p>
            <a:r>
              <a:t>Get-Command cmake, 7z -ErrorAction Stop</a:t>
            </a:r>
          </a:p>
          <a:p>
            <a:r>
              <a:t>.\setup.cmd /c</a:t>
            </a:r>
          </a:p>
          <a:p>
            <a:r>
              <a:t>if ($LASTEXITCODE -ne 0) { throw '注册失败，查看前面的错误' }</a:t>
            </a:r>
          </a:p>
          <a:p>
            <a:r>
              <a:t>reg.exe query 'HKCU\Software\Kitware\CMake\Packages\Zephyr-sdk'</a:t>
            </a:r>
          </a:p>
          <a:p>
            <a:r>
              <a:t>/c 保存 SDK/cmake 到当前 Windows 用户的 CMake 包记录，跨终端和重启保留。</a:t>
            </a:r>
          </a:p>
          <a:p>
            <a:r>
              <a:t>它不下载编译器、不绑定某个工程；选择显式路径时可以完全不运行。</a:t>
            </a:r>
          </a:p>
          <a:p>
            <a:r>
              <a:t>依据：https://github.com/zephyrproject-rtos/sdk-ng/blob/v1.0.1/scripts/template_setup_win</a:t>
            </a:r>
          </a:p>
          <a:p>
            <a:r>
              <a:t>原文件定位：SDK/cmake/zephyr_sdk_export.cmake → HKCU 的 CMake Packages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对应正文：P003_SDK准备与编译器选型_Windows.md#sdk-environment</a:t>
            </a:r>
          </a:p>
          <a:p>
            <a:r>
              <a:t>③ 把 SDK 交给工程 · UCRT64</a:t>
            </a:r>
          </a:p>
          <a:p>
            <a:r>
              <a:t>不注册：从当前终端传入 SDK 根</a:t>
            </a:r>
          </a:p>
          <a:p>
            <a:endParaRPr/>
          </a:p>
          <a:p>
            <a:r>
              <a:t># Windows UCRT64；源码根；可选：把 SDK 根交给本窗口启动的 CMake。</a:t>
            </a:r>
          </a:p>
          <a:p>
            <a:r>
              <a:t>cd /g/zephyr_practice/zephyr-main</a:t>
            </a:r>
          </a:p>
          <a:p>
            <a:r>
              <a:t>export ZEPHYR_SDK_INSTALL_DIR='G:/zephyr_practice/zephyr-sdk-1.0.1'</a:t>
            </a:r>
          </a:p>
          <a:p>
            <a:r>
              <a:t>printf '%s\n' "$ZEPHYR_SDK_INSTALL_DIR"</a:t>
            </a:r>
          </a:p>
          <a:p>
            <a:r>
              <a:t>之后从本窗口启动的 CMake 继承此输入；不是修改 .venv。</a:t>
            </a:r>
          </a:p>
          <a:p>
            <a:r>
              <a:t>取消环境输入用 [[cmd:unset]] [[v:ZEPHYR_SDK_INSTALL_DIR]]。</a:t>
            </a:r>
          </a:p>
          <a:p>
            <a:r>
              <a:t>已有构建缓存会保留上次选择，换 SDK 时使用新构建目录或按 P010 更新缓存。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原文件定位：zephyr_get(ZEPHYR_SDK_INSTALL_DIR)；CMake CACHE 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对应正文：P003_SDK准备与编译器选型_Windows.md#sdk-configure</a:t>
            </a:r>
          </a:p>
          <a:p>
            <a:r>
              <a:t>③ 把 SDK 交给工程 · 完整示例</a:t>
            </a:r>
          </a:p>
          <a:p>
            <a:r>
              <a:t>不注册：给应用配置命令传入 SDK 根</a:t>
            </a:r>
          </a:p>
          <a:p>
            <a:endParaRPr/>
          </a:p>
          <a:p>
            <a:r>
              <a:t># Windows UCRT64；完成 P002—P005 后执行；新构建目录。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cmake -S samples/hello_world -B build/learning-tools/p003/sdk-explicit \</a:t>
            </a:r>
          </a:p>
          <a:p>
            <a:r>
              <a:t>  -G Ninja -DBOARD=mps2/an386 \</a:t>
            </a:r>
          </a:p>
          <a:p>
            <a:r>
              <a:t>  "-DZephyr_DIR=$(cygpath -m "$PWD")/share/zephyr-package/cmake" \</a:t>
            </a:r>
          </a:p>
          <a:p>
            <a:r>
              <a:t>  "-DPython3_EXECUTABLE=$(cygpath -m "$(command -v python)")" \</a:t>
            </a:r>
          </a:p>
          <a:p>
            <a:r>
              <a:t>  -DZEPHYR_SDK_INSTALL_DIR=G:/zephyr_practice/zephyr-sdk-1.0.1 \</a:t>
            </a:r>
          </a:p>
          <a:p>
            <a:r>
              <a:t>  -DCMAKE_EXPORT_COMPILE_COMMANDS=ON</a:t>
            </a:r>
          </a:p>
          <a:p>
            <a:r>
              <a:t>官方示例：MPS2 / AN386，Cortex-M4，目标 mps2/an386，应用 hello_world。</a:t>
            </a:r>
          </a:p>
          <a:p>
            <a:r>
              <a:t>本页展示接入口；P004—P005 依赖未齐时先不执行。配置成功应显示所选 SDK 路径。</a:t>
            </a:r>
          </a:p>
          <a:p>
            <a:r>
              <a:t>依据：https://github.com/zephyrproject-rtos/zephyr/blob/3777ab91262f93c2c2da7e1ab8cff4e8ea5f4ce4/samples/hello_world/CMakeLists.txt</a:t>
            </a:r>
          </a:p>
          <a:p>
            <a:r>
              <a:t>原文件定位：官方 hello_world + mps2/an386；编译与运行见 P007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对应正文：P003_SDK准备与编译器选型_Windows.md#sdk-discovery</a:t>
            </a:r>
          </a:p>
          <a:p>
            <a:r>
              <a:t>③ 把 SDK 交给工程 · 读取依据</a:t>
            </a:r>
          </a:p>
          <a:p>
            <a:r>
              <a:t>路径由 Zephyr 查找脚本读取</a:t>
            </a:r>
          </a:p>
          <a:p>
            <a:r>
              <a:t>只读 zephyr-main/cmake/modules/FindZephyr-sdk.cmake；不新建或替换。</a:t>
            </a:r>
          </a:p>
          <a:p>
            <a:r>
              <a:t>zephyr_get(ZEPHYR_SDK_INSTALL_DIR)</a:t>
            </a:r>
          </a:p>
          <a:p>
            <a:endParaRPr/>
          </a:p>
          <a:p>
            <a:r>
              <a:t># 在显式 SDK 根分支内，官方调用的关键参数：</a:t>
            </a:r>
          </a:p>
          <a:p>
            <a:r>
              <a:t>find_package(Zephyr-sdk ${Zephyr-sdk_FIND_VERSION_COMPLETE}</a:t>
            </a:r>
          </a:p>
          <a:p>
            <a:r>
              <a:t>  REQUIRED QUIET CONFIG</a:t>
            </a:r>
          </a:p>
          <a:p>
            <a:r>
              <a:t>  HINTS ${ZEPHYR_SDK_INSTALL_DIR} NO_DEFAULT_PATH)</a:t>
            </a:r>
          </a:p>
          <a:p>
            <a:r>
              <a:t>没有显式根：按包记录 / 搜索路径选择兼容 SDK。</a:t>
            </a:r>
          </a:p>
          <a:p>
            <a:r>
              <a:t>已有显式根：只在指定位置找；位置或版本错误就报错，不偷偷换另一套。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原文件定位：文件第 46、76—88 行及后续自动搜索分支（本期修订）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对应正文：P003_SDK准备与编译器选型_Windows.md#compiler-selection</a:t>
            </a:r>
          </a:p>
          <a:p>
            <a:r>
              <a:t>④ 按目标找到编译器</a:t>
            </a:r>
          </a:p>
          <a:p>
            <a:r>
              <a:t>BOARD 的架构如何对应 SDK 中的工具</a:t>
            </a:r>
          </a:p>
          <a:p>
            <a:r>
              <a:t>SDK 路径回答“用哪一套 SDK”；板与 SoC 配置回答“为哪种 CPU 生成程序”。</a:t>
            </a:r>
          </a:p>
          <a:p>
            <a:endParaRPr/>
          </a:p>
          <a:p>
            <a:r>
              <a:t>SDK：[[f:cmake/zephyr/gnu/target.cmake]] 按 [[v:ARCH]] 选择工具前缀。</a:t>
            </a:r>
          </a:p>
          <a:p>
            <a:r>
              <a:t>Zephyr：[[f:cmake/compiler/gcc/target_arm.cmake]] 生成 CPU / FPU / ABI 参数。</a:t>
            </a:r>
          </a:p>
          <a:p>
            <a:r>
              <a:t>HC32F4A0 为 Cortex-M4F，复用 ARM 工具链；板 / SoC 支持仍需 P011 新增。</a:t>
            </a:r>
          </a:p>
          <a:p>
            <a:r>
              <a:t>依据：https://github.com/zephyrproject-rtos/zephyr/blob/3777ab91262f93c2c2da7e1ab8cff4e8ea5f4ce4/cmake/compiler/gcc/target_arm.cmake</a:t>
            </a:r>
          </a:p>
          <a:p>
            <a:r>
              <a:t>原文件定位：SDK target.cmake：CROSS_COMPILE_TARGET_arm；Zephyr target_arm.cmake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对应正文：P003_SDK准备与编译器选型_Windows.md#standalone-toolchain</a:t>
            </a:r>
          </a:p>
          <a:p>
            <a:r>
              <a:t>④ 按目标找到编译器 · 替代路线</a:t>
            </a:r>
          </a:p>
          <a:p>
            <a:r>
              <a:t>可选：独立 ARM 工具链直接接入</a:t>
            </a:r>
          </a:p>
          <a:p>
            <a:r>
              <a:t>保留 G:/zephyr_practice/arm-zephyr-eabi，不放入 SDK。</a:t>
            </a:r>
          </a:p>
          <a:p>
            <a:r>
              <a:t>此目录缺 SDK 包配置，改用 Zephyr 自带的 cross-compile 接入规则。</a:t>
            </a:r>
          </a:p>
          <a:p>
            <a:endParaRPr/>
          </a:p>
          <a:p>
            <a:r>
              <a:t>读取者：zephyr-main/cmake/toolchain/cross-compile/generic.cmake。</a:t>
            </a:r>
          </a:p>
          <a:p>
            <a:r>
              <a:t>前缀末尾保留横线；它不是 bin 目录，也不是完整 gcc.exe 路径。</a:t>
            </a:r>
          </a:p>
          <a:p>
            <a:r>
              <a:t>依据：https://github.com/zephyrproject-rtos/zephyr/blob/3777ab91262f93c2c2da7e1ab8cff4e8ea5f4ce4/cmake/toolchain/cross-compile/generic.cmake</a:t>
            </a:r>
          </a:p>
          <a:p>
            <a:r>
              <a:t>原文件定位：zephyr_get(CROSS_COMPILE)；set(COMPILER gcc)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对应正文：P003_SDK准备与编译器选型_Windows.md#standalone-toolchain</a:t>
            </a:r>
          </a:p>
          <a:p>
            <a:r>
              <a:t>④ 按目标找到编译器 · 替代路线</a:t>
            </a:r>
          </a:p>
          <a:p>
            <a:r>
              <a:t>独立工具链：完整配置示例</a:t>
            </a:r>
          </a:p>
          <a:p>
            <a:endParaRPr/>
          </a:p>
          <a:p>
            <a:r>
              <a:t># Windows UCRT64；完成 P002—P005；已解压同版独立 ARM 包。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unset ZEPHYR_SDK_INSTALL_DIR</a:t>
            </a:r>
          </a:p>
          <a:p>
            <a:r>
              <a:t>cmake -S samples/hello_world -B build/learning-tools/p003/arm-standalone \</a:t>
            </a:r>
          </a:p>
          <a:p>
            <a:r>
              <a:t>  -G Ninja -DBOARD=mps2/an386 \</a:t>
            </a:r>
          </a:p>
          <a:p>
            <a:r>
              <a:t>  "-DZephyr_DIR=$(cygpath -m "$PWD")/share/zephyr-package/cmake" \</a:t>
            </a:r>
          </a:p>
          <a:p>
            <a:r>
              <a:t>  "-DPython3_EXECUTABLE=$(cygpath -m "$(command -v python)")" \</a:t>
            </a:r>
          </a:p>
          <a:p>
            <a:r>
              <a:t>  -DZEPHYR_TOOLCHAIN_VARIANT=cross-compile \</a:t>
            </a:r>
          </a:p>
          <a:p>
            <a:r>
              <a:t>  -DCROSS_COMPILE=G:/zephyr_practice/arm-zephyr-eabi/bin/arm-zephyr-eabi- \</a:t>
            </a:r>
          </a:p>
          <a:p>
            <a:r>
              <a:t>  -DCROSS_COMPILE_TOOLCHAIN_PATH=G:/zephyr_practice/arm-zephyr-eabi \</a:t>
            </a:r>
          </a:p>
          <a:p>
            <a:r>
              <a:t>  -DCMAKE_EXPORT_COMPILE_COMMANDS=ON</a:t>
            </a:r>
          </a:p>
          <a:p>
            <a:r>
              <a:t>替代 SDK 路线；工具链由你选定。换架构时也要换工具链前缀。</a:t>
            </a:r>
          </a:p>
          <a:p>
            <a:r>
              <a:t>依据：https://github.com/zephyrproject-rtos/zephyr/blob/3777ab91262f93c2c2da7e1ab8cff4e8ea5f4ce4/cmake/toolchain/cross-compile/generic.cmake</a:t>
            </a:r>
          </a:p>
          <a:p>
            <a:r>
              <a:t>原文件定位：主机工具仍需 P002；依赖仍需 P004—P005；运行见 P011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④ 按目标找到编译器 · 结果检查</a:t>
            </a:r>
          </a:p>
          <a:p>
            <a:r>
              <a:t>配置后核对工程实际选中的工具</a:t>
            </a:r>
          </a:p>
          <a:p>
            <a:endParaRPr/>
          </a:p>
          <a:p>
            <a:r>
              <a:t># Windows UCRT64；先完成第 19 页的 CMake 配置，才有这些产物。</a:t>
            </a:r>
          </a:p>
          <a:p>
            <a:r>
              <a:t>cd /g/zephyr_practice/zephyr-main/build/learning-tools/p003/sdk-explicit</a:t>
            </a:r>
          </a:p>
          <a:p>
            <a:r>
              <a:t>grep -E 'ZEPHYR_SDK_INSTALL_DIR|CMAKE_C_COMPILER' CMakeCache.txt</a:t>
            </a:r>
          </a:p>
          <a:p>
            <a:r>
              <a:t>grep -m1 'arm-zephyr-eabi-gcc' compile_commands.json</a:t>
            </a:r>
          </a:p>
          <a:p>
            <a:r>
              <a:t>grep -E '^CONFIG_(ARCH|CPU_CORTEX_M4|FPU|ARM)' zephyr/.config</a:t>
            </a:r>
          </a:p>
          <a:p>
            <a:r>
              <a:t>缓存：选中的 SDK / GCC。compile_commands：计划使用的编译命令与 CPU 参数。</a:t>
            </a:r>
          </a:p>
          <a:p>
            <a:r>
              <a:t>.config：板与 SoC 的配置。生成这些文件不等于固件已编译或在板上运行。</a:t>
            </a:r>
          </a:p>
          <a:p>
            <a:r>
              <a:t>依据：https://github.com/zephyrproject-rtos/zephyr/blob/3777ab91262f93c2c2da7e1ab8cff4e8ea5f4ce4/cmake/modules/FindZephyr-sdk.cmake</a:t>
            </a:r>
          </a:p>
          <a:p>
            <a:r>
              <a:t>原文件定位：配置输出与 -B 目录产物；编译日志和产物在 P007 继续核验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结果检查</a:t>
            </a:r>
          </a:p>
          <a:p>
            <a:r>
              <a:t>按失败阶段返回检查</a:t>
            </a:r>
          </a:p>
          <a:p>
            <a:endParaRPr/>
          </a:p>
          <a:p>
            <a:endParaRPr/>
          </a:p>
          <a:p>
            <a:r>
              <a:t>不为排错删除 .west、替换 west.yml，或把独立 ARM 目录冒充 SDK 根。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对应正文：P003_SDK准备与编译器选型_Windows.md#sdk-evidence</a:t>
            </a:r>
          </a:p>
          <a:p>
            <a:r>
              <a:t>本期交接</a:t>
            </a:r>
          </a:p>
          <a:p>
            <a:r>
              <a:t>准备完成后的工程入口</a:t>
            </a:r>
          </a:p>
          <a:p>
            <a:r>
              <a:t>GNU SDK 或 Minimal + ARM：交付含 cmake 与 gnu 的 SDK 根。</a:t>
            </a:r>
          </a:p>
          <a:p>
            <a:r>
              <a:t>可自动发现，也可通过环境变量 / -D 指定；注册并非必需。</a:t>
            </a:r>
          </a:p>
          <a:p>
            <a:r>
              <a:t>独立 ARM：交付程序前缀，由 cross-compile 规则接入。</a:t>
            </a:r>
          </a:p>
          <a:p>
            <a:endParaRPr/>
          </a:p>
          <a:p>
            <a:r>
              <a:t>P006 讲 CMake 基础；P009 / P010 展开接口与缓存。</a:t>
            </a:r>
          </a:p>
          <a:p>
            <a:r>
              <a:t>本期不用学习 SDK 自行发行、west 清单编写或新增芯片适配。</a:t>
            </a:r>
          </a:p>
          <a:p>
            <a:r>
              <a:t>依据：本系列准备流程</a:t>
            </a:r>
          </a:p>
          <a:p>
            <a:r>
              <a:t>原文件定位：正文同名小节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ection-3-1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downloa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ection-3-2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1" TargetMode="External"/><Relationship Id="rId4" Type="http://schemas.openxmlformats.org/officeDocument/2006/relationships/hyperlink" Target="../commands/P003_Windows/sdk-gnu.tx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1" TargetMode="External"/><Relationship Id="rId4" Type="http://schemas.openxmlformats.org/officeDocument/2006/relationships/hyperlink" Target="../commands/P003_Windows/sdk-minimal.txt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install-arm" TargetMode="External"/><Relationship Id="rId4" Type="http://schemas.openxmlformats.org/officeDocument/2006/relationships/hyperlink" Target="../commands/P003_Windows/sdk-arm-online.txt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install-arm" TargetMode="External"/><Relationship Id="rId4" Type="http://schemas.openxmlformats.org/officeDocument/2006/relationships/hyperlink" Target="../commands/P003_Windows/sdk-arm-offline.txt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releases/tag/v1.0.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ection-3-2-4" TargetMode="External"/><Relationship Id="rId4" Type="http://schemas.openxmlformats.org/officeDocument/2006/relationships/hyperlink" Target="../commands/P003_Windows/sdk-verify.txt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HostTools.cmak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share/zephyr-package/cmake/ZephyrConfig.cmake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sdk-ng/blob/v1.0.1/scripts/template_setup_win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registry" TargetMode="External"/><Relationship Id="rId4" Type="http://schemas.openxmlformats.org/officeDocument/2006/relationships/hyperlink" Target="../commands/P003_Windows/sdk-register.txt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environment" TargetMode="External"/><Relationship Id="rId4" Type="http://schemas.openxmlformats.org/officeDocument/2006/relationships/hyperlink" Target="../commands/P003_Windows/sdk-environment.txt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samples/hello_world/CMakeLists.txt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configure" TargetMode="External"/><Relationship Id="rId4" Type="http://schemas.openxmlformats.org/officeDocument/2006/relationships/hyperlink" Target="../commands/P003_Windows/sdk-configure.txt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dk-discover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compiler/gcc/target_arm.cmak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compiler-selection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toolchain/cross-compile/generic.cmak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3_SDK&#20934;&#22791;&#19982;&#32534;&#35793;&#22120;&#36873;&#22411;_Windows.md#standalone-toolchai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toolchain/cross-compile/generic.cmake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tandalone-toolchain" TargetMode="External"/><Relationship Id="rId4" Type="http://schemas.openxmlformats.org/officeDocument/2006/relationships/hyperlink" Target="../commands/P003_Windows/sdk-standalone.txt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/blob/3777ab91262f93c2c2da7e1ab8cff4e8ea5f4ce4/cmake/modules/FindZephyr-sdk.cmake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3_SDK&#20934;&#22791;&#19982;&#32534;&#35793;&#22120;&#36873;&#22411;_Windows.md#sdk-evidence" TargetMode="External"/><Relationship Id="rId4" Type="http://schemas.openxmlformats.org/officeDocument/2006/relationships/hyperlink" Target="../commands/P003_Windows/sdk-evidence.txt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dk-evidence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../P003_SDK&#20934;&#22791;&#19982;&#32534;&#35793;&#22120;&#36873;&#22411;_Windows.md#sdk-evidenc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SDK 准备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与编译器选型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E2F65F6E-DF22-4E60-83E9-5EA6F1065B5B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95CD6297-0E05-4673-891B-7DB00078CC40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8794300-DA16-4047-B6AE-EEDF70D8C65A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4238E96A-C9D9-46F5-A669-434B7404978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下载、安装与工程发现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63B3946B-BF2D-4596-9C0D-4986B6FBA21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本期路线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892C4F05-9058-419A-B33E-DF86D5352A8F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前置：P002 的 CMake、7-Zip、Python 与 .venv。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本期交付：磁盘上的 SDK / ARM 工具链，以及工程查找它们的入口。</a:t>
            </a:r>
          </a:p>
        </p:txBody>
      </p:sp>
      <p:sp>
        <p:nvSpPr>
          <p:cNvPr id="4" name="Diagram ① 认识三种包">
            <a:extLst>
              <a:ext uri="{FF2B5EF4-FFF2-40B4-BE49-F238E27FC236}">
                <a16:creationId xmlns:a16="http://schemas.microsoft.com/office/drawing/2014/main" id="{881E6929-2DF4-4869-AAD6-EF2D475B0C5D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① 认识三种包</a:t>
            </a:r>
          </a:p>
        </p:txBody>
      </p:sp>
      <p:sp>
        <p:nvSpPr>
          <p:cNvPr id="5" name="Diagram ② 下载并安装">
            <a:extLst>
              <a:ext uri="{FF2B5EF4-FFF2-40B4-BE49-F238E27FC236}">
                <a16:creationId xmlns:a16="http://schemas.microsoft.com/office/drawing/2014/main" id="{1DD2EC79-CF46-4522-8DA7-9F0E019BF11C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6" name="Diagram ③ 把 SDK 交给工程">
            <a:extLst>
              <a:ext uri="{FF2B5EF4-FFF2-40B4-BE49-F238E27FC236}">
                <a16:creationId xmlns:a16="http://schemas.microsoft.com/office/drawing/2014/main" id="{D097300E-B4BC-4D4C-B115-F8B5678E345D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sp>
        <p:nvSpPr>
          <p:cNvPr id="7" name="Diagram ④ 按目标找到编译器">
            <a:extLst>
              <a:ext uri="{FF2B5EF4-FFF2-40B4-BE49-F238E27FC236}">
                <a16:creationId xmlns:a16="http://schemas.microsoft.com/office/drawing/2014/main" id="{D8362EE5-A058-46DC-8823-9521FECE9531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213E195B-1012-46B6-9BD9-9246B89428C8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本册使用</a:t>
            </a:r>
            <a:r>
              <a:rPr dirty="0"/>
              <a:t> Windows x64 与 </a:t>
            </a:r>
            <a:r>
              <a:rPr dirty="0">
                <a:hlinkClick r:id="rId3"/>
              </a:rPr>
              <a:t>SDK 1.0.1</a:t>
            </a:r>
            <a:r>
              <a:rPr dirty="0"/>
              <a:t>。编译、运行在 P007；独立工具链是可选分支。</a:t>
            </a:r>
          </a:p>
        </p:txBody>
      </p:sp>
      <p:sp>
        <p:nvSpPr>
          <p:cNvPr id="12" name="Semantic legend">
            <a:extLst>
              <a:ext uri="{FF2B5EF4-FFF2-40B4-BE49-F238E27FC236}">
                <a16:creationId xmlns:a16="http://schemas.microsoft.com/office/drawing/2014/main" id="{2AAB248F-35DD-456E-8DC2-855BD13E9AAD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变量 / 参数</a:t>
            </a:r>
            <a:r>
              <a:t>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56BB85A6-F121-4063-9394-B75C3EB9B0D1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417DB4E6-5F28-4CD9-9100-87175D9D9BF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SDK、Minimal 与独立工具链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069B9868-1A88-430F-97D3-112B4D597F5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认识三种包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921C793C-D189-4294-980B-DEC131AA0C67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Minimal 是 SDK 的精简打包方式，仍带工程接入文件；单独的 ARM 包才是组件。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0C6E692-F6E7-4DA5-986B-604CB948471E}"/>
              </a:ext>
            </a:extLst>
          </p:cNvPr>
          <p:cNvGraphicFramePr/>
          <p:nvPr/>
        </p:nvGraphicFramePr>
        <p:xfrm>
          <a:off x="609600" y="2457450"/>
          <a:ext cx="10972800" cy="2590800"/>
        </p:xfrm>
        <a:graphic>
          <a:graphicData uri="http://schemas.openxmlformats.org/drawingml/2006/table">
            <a:tbl>
              <a:tblPr/>
              <a:tblGrid>
                <a:gridCol w="223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的 CMake 接入文件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目标工具链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 SDK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预装多种目标的 GNU 工具链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SDK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未预装；按需补装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 ARM 包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无完整 SDK 接入框架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 GCC、GDB、二进制工具与库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4B9A8932-2126-4A45-9A2B-C6667A037DE3}"/>
              </a:ext>
            </a:extLst>
          </p:cNvPr>
          <p:cNvSpPr>
            <a:spLocks noGrp="1"/>
          </p:cNvSpPr>
          <p:nvPr/>
        </p:nvSpPr>
        <p:spPr>
          <a:xfrm>
            <a:off x="609600" y="52863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多种目标 ≠ 同一 GCC 的多个版本。GNU / Minimal 补齐后使用同一 SDK 入口。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D7FA8DE9-AFE6-43FD-A55E-92BC680CF34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1.0.1 Release → SDK Bundle / GNU Toolchains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A0C3E657-C98C-4898-8CCB-3552BD989E43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534C2945-0A1C-43D8-B945-923E1C5F763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补齐 Minimal 后，SDK 的结构相同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C29B81B-8822-4A99-9751-F8AB84F1215C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认识三种包 · 官方归档提供以下文件</a:t>
            </a:r>
          </a:p>
        </p:txBody>
      </p:sp>
      <p:sp>
        <p:nvSpPr>
          <p:cNvPr id="3" name="Directory or read-only source">
            <a:extLst>
              <a:ext uri="{FF2B5EF4-FFF2-40B4-BE49-F238E27FC236}">
                <a16:creationId xmlns:a16="http://schemas.microsoft.com/office/drawing/2014/main" id="{6A20C007-C29B-4A25-9BC4-A0B8D52D2D8C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3162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zephyr-sdk-1.0.1/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sdk_version                     SDK 发行版本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setup.cmd                       安装 / 可选注册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</a:t>
            </a:r>
            <a:r>
              <a:rPr>
                <a:solidFill>
                  <a:srgbClr val="0070C0"/>
                </a:solidFill>
              </a:rPr>
              <a:t>cmake/Zephyr-sdkConfig.cmake</a:t>
            </a:r>
            <a:r>
              <a:t>     工程查找入口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</a:t>
            </a:r>
            <a:r>
              <a:rPr>
                <a:solidFill>
                  <a:srgbClr val="0070C0"/>
                </a:solidFill>
              </a:rPr>
              <a:t>cmake/zephyr/gnu/target.cmake</a:t>
            </a:r>
            <a:r>
              <a:t>    架构 → 工具链规则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</a:t>
            </a:r>
            <a:r>
              <a:rPr>
                <a:solidFill>
                  <a:srgbClr val="0070C0"/>
                </a:solidFill>
              </a:rPr>
              <a:t>hosttools/</a:t>
            </a:r>
            <a:r>
              <a:t>                      平台配套工具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└─ </a:t>
            </a:r>
            <a:r>
              <a:rPr>
                <a:solidFill>
                  <a:srgbClr val="0070C0"/>
                </a:solidFill>
              </a:rPr>
              <a:t>gnu/arm-zephyr-eabi/</a:t>
            </a:r>
            <a:r>
              <a:t>             GNU 已带；Minimal 补入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├─ </a:t>
            </a:r>
            <a:r>
              <a:rPr>
                <a:solidFill>
                  <a:srgbClr val="0070C0"/>
                </a:solidFill>
              </a:rPr>
              <a:t>bin/arm-zephyr-eabi-gcc.exe</a:t>
            </a:r>
            <a:r>
              <a:t>   目标编译器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└─ </a:t>
            </a:r>
            <a:r>
              <a:rPr>
                <a:solidFill>
                  <a:srgbClr val="0070C0"/>
                </a:solidFill>
              </a:rPr>
              <a:t>arm-zephyr-eabi/</a:t>
            </a:r>
            <a:r>
              <a:t>             目标头文件与库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DA2310EA-F9C6-458A-AA27-AD3F750757F1}"/>
              </a:ext>
            </a:extLst>
          </p:cNvPr>
          <p:cNvSpPr>
            <a:spLocks noGrp="1"/>
          </p:cNvSpPr>
          <p:nvPr/>
        </p:nvSpPr>
        <p:spPr>
          <a:xfrm>
            <a:off x="609600" y="511492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这些 CMake 文件不需要自己创建。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找到 SDK 包 ≠ ARM 编译器已安装；Minimal 必须补齐目标工具链。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10DAC9E1-A8B4-43FF-8A65-E3322D15E8F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根：cmake/Zephyr-sdkConfig.cmake；gnu/arm-zephyr-eabi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747AC068-1E4E-4258-AFD6-F0684215E3B3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>
            <a:extLst>
              <a:ext uri="{FF2B5EF4-FFF2-40B4-BE49-F238E27FC236}">
                <a16:creationId xmlns:a16="http://schemas.microsoft.com/office/drawing/2014/main" id="{B88F6777-297C-4B75-A5BB-24DE8504B45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确定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原生源码</a:t>
            </a: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所需要的</a:t>
            </a:r>
            <a:r>
              <a:rPr lang="en-US" altLang="zh-CN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</a:t>
            </a:r>
            <a:r>
              <a:rPr lang="zh-CN" altLang="en-US"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包版本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5C748A5E-E70E-33A5-C3F4-30D429106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3200400"/>
            <a:ext cx="6161367" cy="2920436"/>
          </a:xfrm>
          <a:prstGeom prst="rect">
            <a:avLst/>
          </a:prstGeom>
        </p:spPr>
      </p:pic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5C971D2-852F-6960-1FD3-3EA6AF6A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271898"/>
              </p:ext>
            </p:extLst>
          </p:nvPr>
        </p:nvGraphicFramePr>
        <p:xfrm>
          <a:off x="7116416" y="3200400"/>
          <a:ext cx="4428425" cy="2853709"/>
        </p:xfrm>
        <a:graphic>
          <a:graphicData uri="http://schemas.openxmlformats.org/drawingml/2006/table">
            <a:tbl>
              <a:tblPr/>
              <a:tblGrid>
                <a:gridCol w="1960500">
                  <a:extLst>
                    <a:ext uri="{9D8B030D-6E8A-4147-A177-3AD203B41FA5}">
                      <a16:colId xmlns:a16="http://schemas.microsoft.com/office/drawing/2014/main" val="2107482275"/>
                    </a:ext>
                  </a:extLst>
                </a:gridCol>
                <a:gridCol w="2467925">
                  <a:extLst>
                    <a:ext uri="{9D8B030D-6E8A-4147-A177-3AD203B41FA5}">
                      <a16:colId xmlns:a16="http://schemas.microsoft.com/office/drawing/2014/main" val="2139870538"/>
                    </a:ext>
                  </a:extLst>
                </a:gridCol>
              </a:tblGrid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原生文件</a:t>
                      </a:r>
                      <a:endParaRPr sz="1200" b="1" dirty="0">
                        <a:solidFill>
                          <a:srgbClr val="FFFF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读取者或用途</a:t>
                      </a:r>
                      <a:endParaRPr sz="1200" b="1" dirty="0">
                        <a:solidFill>
                          <a:srgbClr val="FFFFFF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096584"/>
                  </a:ext>
                </a:extLst>
              </a:tr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描述 Zephyr：4.5.0-rc1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417614"/>
                  </a:ext>
                </a:extLst>
              </a:tr>
              <a:tr h="481067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SDK_VERSION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推荐/默认安装版本：1.0.1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987153"/>
                  </a:ext>
                </a:extLst>
              </a:tr>
              <a:tr h="705254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doc/conf.py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读版本，生成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SDK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文档下载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URL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150643"/>
                  </a:ext>
                </a:extLst>
              </a:tr>
              <a:tr h="705254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scripts/west_commands/sdk.py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west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sdk</a:t>
                      </a:r>
                      <a:r>
                        <a:rPr sz="1200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install </a:t>
                      </a:r>
                      <a:r>
                        <a:rPr sz="1200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未传版本时读取</a:t>
                      </a:r>
                      <a:endParaRPr sz="1200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275658"/>
                  </a:ext>
                </a:extLst>
              </a:tr>
            </a:tbl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80EDC0A9-B913-5174-E2BE-CB3F1E29BB61}"/>
              </a:ext>
            </a:extLst>
          </p:cNvPr>
          <p:cNvSpPr>
            <a:spLocks noGrp="1"/>
          </p:cNvSpPr>
          <p:nvPr/>
        </p:nvSpPr>
        <p:spPr>
          <a:xfrm>
            <a:off x="7116416" y="2400300"/>
            <a:ext cx="4368335" cy="736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手工下载沿同一来源链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：</a:t>
            </a:r>
            <a:endParaRPr lang="en-US" sz="1950" b="0" dirty="0">
              <a:solidFill>
                <a:srgbClr val="6544B0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lang="en-US" sz="195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    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SDK_VERSION → </a:t>
            </a: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SDK Release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2FB6E41-9875-48AC-AE64-422E4821BA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7" name="Copyable source version command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6429375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</a:rPr>
              <a:t># Windows UCRT64；进入已下载的源码根。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cd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cat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VERSION</a:t>
            </a:r>
          </a:p>
          <a:p>
            <a:pPr>
              <a:lnSpc>
                <a:spcPct val="120000"/>
              </a:lnSpc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</a:rPr>
              <a:t>cat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</a:rPr>
              <a:t>SDK_VERSION</a:t>
            </a:r>
          </a:p>
        </p:txBody>
      </p:sp>
      <p:sp>
        <p:nvSpPr>
          <p:cNvPr id="108" name="Expected versions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85800" y="2743200"/>
            <a:ext cx="642937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</a:pPr>
            <a:r>
              <a:rPr sz="1875">
                <a:solidFill>
                  <a:srgbClr val="29263B"/>
                </a:solidFill>
                <a:latin typeface="Consolas"/>
                <a:ea typeface="Microsoft YaHei"/>
              </a:rPr>
              <a:t>预期：Zephyr 4.5.0-rc1；SDK 1.0.1</a:t>
            </a:r>
          </a:p>
        </p:txBody>
      </p:sp>
    </p:spTree>
    <p:extLst>
      <p:ext uri="{BB962C8B-B14F-4D97-AF65-F5344CB8AC3E}">
        <p14:creationId xmlns:p14="http://schemas.microsoft.com/office/powerpoint/2010/main" val="1724639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2ED9B16F-7AF3-4B89-0520-554072CD7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989915"/>
            <a:ext cx="4606255" cy="156090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itle">
            <a:extLst>
              <a:ext uri="{FF2B5EF4-FFF2-40B4-BE49-F238E27FC236}">
                <a16:creationId xmlns:a16="http://schemas.microsoft.com/office/drawing/2014/main" id="{4E71B982-84EE-4519-9AE8-0AC728C82FA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电脑架构与开发板架构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103565-0A6B-4FB0-8FC3-68FED138B6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04825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1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工具运行在哪里</a:t>
            </a:r>
            <a:endParaRPr sz="2550" b="1" dirty="0">
              <a:solidFill>
                <a:srgbClr val="6544B0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4B017D-6452-4285-83D5-5A3C866E55D8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53340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85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 x64 </a:t>
            </a:r>
            <a:r>
              <a:rPr sz="285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电脑</a:t>
            </a:r>
            <a:endParaRPr sz="285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3ACBBDB-E46C-44E7-8F0A-E43737658E94}"/>
              </a:ext>
            </a:extLst>
          </p:cNvPr>
          <p:cNvSpPr>
            <a:spLocks noGrp="1"/>
          </p:cNvSpPr>
          <p:nvPr/>
        </p:nvSpPr>
        <p:spPr>
          <a:xfrm>
            <a:off x="609600" y="3082811"/>
            <a:ext cx="5286375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 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主机包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windows-x86_64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81FDEE5-B4D1-4E06-900A-27830BE3B5BA}"/>
              </a:ext>
            </a:extLst>
          </p:cNvPr>
          <p:cNvSpPr>
            <a:spLocks noGrp="1"/>
          </p:cNvSpPr>
          <p:nvPr/>
        </p:nvSpPr>
        <p:spPr>
          <a:xfrm>
            <a:off x="6705600" y="1676400"/>
            <a:ext cx="4876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2550" b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生成的程序在哪里运行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8D0B86-613A-453A-9542-662742E6F28F}"/>
              </a:ext>
            </a:extLst>
          </p:cNvPr>
          <p:cNvSpPr>
            <a:spLocks noGrp="1"/>
          </p:cNvSpPr>
          <p:nvPr/>
        </p:nvSpPr>
        <p:spPr>
          <a:xfrm>
            <a:off x="6705600" y="2438400"/>
            <a:ext cx="4876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8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MPS2 / AN386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12CED5-AA07-4419-B406-04636D2001A0}"/>
              </a:ext>
            </a:extLst>
          </p:cNvPr>
          <p:cNvSpPr>
            <a:spLocks noGrp="1"/>
          </p:cNvSpPr>
          <p:nvPr/>
        </p:nvSpPr>
        <p:spPr>
          <a:xfrm>
            <a:off x="6705600" y="3082811"/>
            <a:ext cx="48768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ARM 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目标工具链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arm-zephyr-</a:t>
            </a:r>
            <a:r>
              <a:rPr sz="2250" b="0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eabi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7D4540-8502-4545-80F9-D94C9A78C6B9}"/>
              </a:ext>
            </a:extLst>
          </p:cNvPr>
          <p:cNvSpPr>
            <a:spLocks noGrp="1"/>
          </p:cNvSpPr>
          <p:nvPr/>
        </p:nvSpPr>
        <p:spPr>
          <a:xfrm>
            <a:off x="609600" y="5722868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开发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ARM 单片机时，x64 </a:t>
            </a:r>
            <a:r>
              <a:rPr sz="1950" b="0" dirty="0" err="1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电脑仍选择</a:t>
            </a: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 Windows x86-64 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566837-1BB8-D14A-1A4E-9BF4D84ECE73}"/>
              </a:ext>
            </a:extLst>
          </p:cNvPr>
          <p:cNvSpPr>
            <a:spLocks noGrp="1"/>
          </p:cNvSpPr>
          <p:nvPr/>
        </p:nvSpPr>
        <p:spPr>
          <a:xfrm>
            <a:off x="6705600" y="4236968"/>
            <a:ext cx="4876800" cy="1066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windows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系统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CPU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架构查看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:</a:t>
            </a:r>
            <a:b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</a:b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    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“设置”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-&gt;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“系统”</a:t>
            </a:r>
            <a:r>
              <a:rPr lang="en-US" altLang="zh-CN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-&gt;</a:t>
            </a:r>
            <a:r>
              <a:rPr lang="zh-CN" altLang="en-US" sz="2250" b="0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“关于”</a:t>
            </a:r>
            <a:endParaRPr sz="2250" b="0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0C15D67-2315-3342-535D-1199796C15E1}"/>
              </a:ext>
            </a:extLst>
          </p:cNvPr>
          <p:cNvCxnSpPr>
            <a:stCxn id="14" idx="1"/>
            <a:endCxn id="12" idx="3"/>
          </p:cNvCxnSpPr>
          <p:nvPr/>
        </p:nvCxnSpPr>
        <p:spPr>
          <a:xfrm flipH="1">
            <a:off x="5215855" y="4770368"/>
            <a:ext cx="1489745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4A71D6F-17D1-424B-BF67-6917C05691D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54605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17CB92E1-0AC4-4AEE-B778-99E50FC150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在官方发行页选择下载项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23163E7-D6B3-43F0-BCBB-88D0B7B7052E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② </a:t>
            </a:r>
            <a:r>
              <a:rPr dirty="0" err="1"/>
              <a:t>下载并安装</a:t>
            </a:r>
            <a:endParaRPr dirty="0"/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E5166A96-22C8-40AC-8744-C4F6DAD758BE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GitHub → </a:t>
            </a:r>
            <a:r>
              <a:rPr dirty="0" err="1"/>
              <a:t>zephyrproject-rtos</a:t>
            </a:r>
            <a:r>
              <a:rPr dirty="0"/>
              <a:t> / </a:t>
            </a:r>
            <a:r>
              <a:rPr dirty="0" err="1"/>
              <a:t>sdk</a:t>
            </a:r>
            <a:r>
              <a:rPr dirty="0"/>
              <a:t>-ng → Releases → v1.0.1。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SDK Bundle </a:t>
            </a:r>
            <a:r>
              <a:rPr dirty="0" err="1"/>
              <a:t>表：Windows</a:t>
            </a:r>
            <a:r>
              <a:rPr dirty="0"/>
              <a:t> 行 → GNU 或 Minimal 列 → x86-64。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C2C6EAF-4E36-4D0E-B3B8-004B6B0AB4C5}"/>
              </a:ext>
            </a:extLst>
          </p:cNvPr>
          <p:cNvGraphicFramePr/>
          <p:nvPr/>
        </p:nvGraphicFramePr>
        <p:xfrm>
          <a:off x="609600" y="2714625"/>
          <a:ext cx="10972800" cy="220980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96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下载附件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 路线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zephyr-sdk-1.0.1_windows-x86_64_gnu.7z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路线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zephyr-sdk-1.0.1_windows-x86_64_minimal.7z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已有包离线补 ARM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toolchain_gnu_windows-x86_64_arm-zephyr-eabi.7z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4A285B8C-11A2-47A3-B2D4-205E33844416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ARM </a:t>
            </a:r>
            <a:r>
              <a:rPr dirty="0" err="1"/>
              <a:t>附件：同页</a:t>
            </a:r>
            <a:r>
              <a:rPr dirty="0"/>
              <a:t> GNU Toolchains → arm-zephyr-</a:t>
            </a:r>
            <a:r>
              <a:rPr dirty="0" err="1"/>
              <a:t>eabi</a:t>
            </a:r>
            <a:r>
              <a:rPr dirty="0"/>
              <a:t> 行 → Windows / x86-64。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 err="1"/>
              <a:t>同时下载同发行的</a:t>
            </a:r>
            <a:r>
              <a:rPr dirty="0"/>
              <a:t> sha256.sum；Source code </a:t>
            </a:r>
            <a:r>
              <a:rPr dirty="0" err="1"/>
              <a:t>不是可安装</a:t>
            </a:r>
            <a:r>
              <a:rPr dirty="0"/>
              <a:t> SDK。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C824FA2B-038C-4DA3-96A3-DBC5361B035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依据：Release 下载表与 Assets → sha256.sum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49683973-7482-443C-AA03-A02A40ACDAD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FC6EBF04-6059-4B01-8FE2-4A0110B3349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下载目录、SDK 根与源码根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8455F3C9-7F2E-49F5-BF04-BAC5D8FBC93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Directory or read-only source">
            <a:extLst>
              <a:ext uri="{FF2B5EF4-FFF2-40B4-BE49-F238E27FC236}">
                <a16:creationId xmlns:a16="http://schemas.microsoft.com/office/drawing/2014/main" id="{413AD044-9DA5-4A52-A84D-B0E0AA93E719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3162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G:/zephyr_practice/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</a:t>
            </a:r>
            <a:r>
              <a:rPr>
                <a:solidFill>
                  <a:srgbClr val="0070C0"/>
                </a:solidFill>
              </a:rPr>
              <a:t>zephyr-main/</a:t>
            </a:r>
            <a:r>
              <a:t>                     P001 下载的 Zephyr 源码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</a:t>
            </a:r>
            <a:r>
              <a:rPr>
                <a:solidFill>
                  <a:srgbClr val="0070C0"/>
                </a:solidFill>
              </a:rPr>
              <a:t>zephyr-sdk-1.0.1/</a:t>
            </a:r>
            <a:r>
              <a:t>                SDK 归档解压后产生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│  ├─ sdk_version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│  ├─ </a:t>
            </a:r>
            <a:r>
              <a:rPr>
                <a:solidFill>
                  <a:srgbClr val="0070C0"/>
                </a:solidFill>
              </a:rPr>
              <a:t>cmake/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│  └─ </a:t>
            </a:r>
            <a:r>
              <a:rPr>
                <a:solidFill>
                  <a:srgbClr val="0070C0"/>
                </a:solidFill>
              </a:rPr>
              <a:t>gnu/arm-zephyr-eabi/</a:t>
            </a:r>
            <a:r>
              <a:t>          ARM 工具链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</a:t>
            </a:r>
            <a:r>
              <a:rPr>
                <a:solidFill>
                  <a:srgbClr val="0070C0"/>
                </a:solidFill>
              </a:rPr>
              <a:t>arm-zephyr-eabi/</a:t>
            </a:r>
            <a:r>
              <a:t>                 仅独立工具链路线需要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└─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t>                      同版官方摘要清单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1B16F240-0A81-4EC3-97B0-6FA20C5BB80D}"/>
              </a:ext>
            </a:extLst>
          </p:cNvPr>
          <p:cNvSpPr>
            <a:spLocks noGrp="1"/>
          </p:cNvSpPr>
          <p:nvPr/>
        </p:nvSpPr>
        <p:spPr>
          <a:xfrm>
            <a:off x="609600" y="511492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UCRT64 用 /g/zephyr_practice；PowerShell / 资源管理器用 G:\zephyr_practice。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传给 Windows CMake 的路径用 G:/…；SDK 根是直接含 sdk_version 的那层。</a:t>
            </a:r>
          </a:p>
        </p:txBody>
      </p:sp>
      <p:sp>
        <p:nvSpPr>
          <p:cNvPr id="5" name="MD link">
            <a:extLst>
              <a:ext uri="{FF2B5EF4-FFF2-40B4-BE49-F238E27FC236}">
                <a16:creationId xmlns:a16="http://schemas.microsoft.com/office/drawing/2014/main" id="{5E4E99FF-CDBD-43E4-B873-769A86A8B1E8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87950F18-FFB2-4566-9252-59B3D36C13C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路线：核验摘要并解压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819FDC2F-31B2-4C3A-8EDB-7416C9CB015E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05C7DCF0-62C5-469B-B74D-2C69D94DA36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Windows UCRT64；下载目录；已取得 GNU 包与同版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必须输出 OK；失败就停止，不解压。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t> -F '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  <a: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t> --check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t> x </a:t>
            </a:r>
            <a:r>
              <a:rPr>
                <a:solidFill>
                  <a:srgbClr val="0070C0"/>
                </a:solidFill>
              </a:rPr>
              <a:t>zephyr-sdk-1.0.1_windows-x86_64_gnu.7z</a:t>
            </a:r>
            <a:r>
              <a:t> "-o$(cygpath -m "$PWD")"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AA26006-03C1-40E6-969B-6233CF93B885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目标目录已存在时先核对已有安装，不合并覆盖。输出摘要 OK 后才会解压。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包已带 ARM，解压后直接到第 13 页核验；无需再执行 /t。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DDD5D2ED-F337-455A-B32F-1CAAD47BE309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依据：同版 sha256.sum 与 GNU SDK 归档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99C54DA4-AEFB-4A1A-850B-CA0D4B7DF497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003372B-B4DD-4E2B-A347-7249796ECB7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69C727A6-D087-4E95-9CE8-62616E30AF3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Minimal 路线：先解压 SDK 框架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29E4BA5-788D-42B2-972A-87267FD6E21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7F7F9806-2EC3-45E2-9062-ED246772E44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Windows UCRT64；下载目录；选择 Minimal 才执行。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必须输出 OK；失败就停止，不解压。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t> -F ' </a:t>
            </a:r>
            <a:r>
              <a:rPr>
                <a:solidFill>
                  <a:srgbClr val="0070C0"/>
                </a:solidFill>
              </a:rPr>
              <a:t>zephyr-sdk-1.0.1_windows-x86_64_minimal.7z</a:t>
            </a:r>
            <a: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t> --check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t> x </a:t>
            </a:r>
            <a:r>
              <a:rPr>
                <a:solidFill>
                  <a:srgbClr val="0070C0"/>
                </a:solidFill>
              </a:rPr>
              <a:t>zephyr-sdk-1.0.1_windows-x86_64_minimal.7z</a:t>
            </a:r>
            <a:r>
              <a:t> "-o$(cygpath -m "$PWD")"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C3D62974-59EC-4FEC-9FAC-6BBEABBB8217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与上一页二选一；不要把 GNU 与 Minimal 同时解压到同一目录。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此时已有 cmake 与 setup.cmd，下一步只补所需的 ARM 工具链。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DC87D571-2857-4840-BD0A-E3795E71E71A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依据：Minimal SDK 归档；安装目录结构见第 4 页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E2D002B8-2544-4963-B2E4-C04A96C6BF38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C19A93A4-BBB2-435D-862D-621008D4675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8DE11E6-6468-43AA-B6A6-F2D29540080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Minimal 在线补装 ARM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4F93EA5-6E4C-4703-8536-4FB3228F28E5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切换 PowerShell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A79356A6-78B9-4D35-8CEC-67B724A2DD8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6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Windows PowerShell；Minimal 已解压，且尚未安装 ARM 工具链。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Set-Location</a:t>
            </a:r>
            <a:r>
              <a:t> -LiteralPath 'G:\zephyr_practice\zephyr-sdk-1.0.1'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Get-Command</a:t>
            </a:r>
            <a:r>
              <a:t>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t>, </a:t>
            </a:r>
            <a:r>
              <a:rPr>
                <a:solidFill>
                  <a:srgbClr val="A02B93"/>
                </a:solidFill>
              </a:rPr>
              <a:t>7z</a:t>
            </a:r>
            <a:r>
              <a:t> -ErrorAction Stop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if (</a:t>
            </a:r>
            <a:r>
              <a:rPr>
                <a:solidFill>
                  <a:srgbClr val="A02B93"/>
                </a:solidFill>
              </a:rPr>
              <a:t>Test-Path</a:t>
            </a:r>
            <a:r>
              <a:t> '.\gnu\arm-zephyr-eabi') {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throw '已有 ARM 目录，请先核验，不重复安装'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.\setup.cmd /t arm-zephyr-eabi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if ($LASTEXITCODE -ne 0) { throw '安装失败，检查下载输出' }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AC99489-9CD7-4579-B3BE-8BE589874193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/t 根据 sdk_version 下载对应附件，再解压进 SDK/gnu。它不等于 /c 注册。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若提示找不到 7z，先重开 PowerShell 刷新 PATH；仍缺少才返回 P002。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38994D6B-4C16-4DA0-AA2B-BC7F64313F7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依据：SDK/setup.cmd：/t 参数与 process 安装分支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01260582-0981-43E4-A672-A0223C1B4409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005DDB0-BAFF-401F-A575-68D7DAAAEA2F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518F97EC-5B85-433E-8CEB-E869D95496B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 ARM 包：直接补到 SDK/gnu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3B202885-4503-4C7A-9509-9CCF461C95AC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离线替代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0569A67F-AE60-42C2-B8DF-B1C7B9F2FA7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990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Windows UCRT64；Minimal 已解压；ARM 包来自同版 Release。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</a:rPr>
              <a:t>/g/zephyr_practice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摘要须输出 OK；归档从 </a:t>
            </a:r>
            <a:r>
              <a:rPr>
                <a:solidFill>
                  <a:srgbClr val="0070C0"/>
                </a:solidFill>
              </a:rPr>
              <a:t>arm-zephyr-eabi/</a:t>
            </a:r>
            <a:r>
              <a:t> 开始。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t> -F ' </a:t>
            </a:r>
            <a:r>
              <a:rPr>
                <a:solidFill>
                  <a:srgbClr val="0070C0"/>
                </a:solidFill>
              </a:rPr>
              <a:t>toolchain_gnu_windows-x86_64_arm-zephyr-eabi.7z</a:t>
            </a:r>
            <a:r>
              <a:t>' </a:t>
            </a:r>
            <a:r>
              <a:rPr>
                <a:solidFill>
                  <a:srgbClr val="0070C0"/>
                </a:solidFill>
              </a:rPr>
              <a:t>sha256.sum</a:t>
            </a:r>
            <a:r>
              <a:t> |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</a:rPr>
              <a:t>sha256sum</a:t>
            </a:r>
            <a:r>
              <a:t> --check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</a:rPr>
              <a:t>test</a:t>
            </a:r>
            <a:r>
              <a:t> -f </a:t>
            </a:r>
            <a:r>
              <a:rPr>
                <a:solidFill>
                  <a:srgbClr val="0070C0"/>
                </a:solidFill>
              </a:rPr>
              <a:t>zephyr-sdk-1.0.1/cmake/Zephyr-sdkConfig.cmake</a:t>
            </a:r>
            <a: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</a:rPr>
              <a:t>test</a:t>
            </a:r>
            <a:r>
              <a:t> ! -e </a:t>
            </a:r>
            <a:r>
              <a:rPr>
                <a:solidFill>
                  <a:srgbClr val="0070C0"/>
                </a:solidFill>
              </a:rPr>
              <a:t>zephyr-sdk-1.0.1/gnu/arm-zephyr-eabi</a:t>
            </a:r>
            <a: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>
                <a:solidFill>
                  <a:srgbClr val="A02B93"/>
                </a:solidFill>
              </a:rPr>
              <a:t>7z</a:t>
            </a:r>
            <a:r>
              <a:t> x </a:t>
            </a:r>
            <a:r>
              <a:rPr>
                <a:solidFill>
                  <a:srgbClr val="0070C0"/>
                </a:solidFill>
              </a:rPr>
              <a:t>toolchain_gnu_windows-x86_64_arm-zephyr-eabi.7z</a:t>
            </a:r>
            <a: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"-o$(cygpath -m "$</a:t>
            </a:r>
            <a:r>
              <a:rPr>
                <a:solidFill>
                  <a:srgbClr val="0070C0"/>
                </a:solidFill>
              </a:rPr>
              <a:t>PWD/zephyr-sdk-1.0.1/gnu</a:t>
            </a:r>
            <a:r>
              <a:t>")"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8F9EC959-1CC2-4482-961D-5E8A82D87D2E}"/>
              </a:ext>
            </a:extLst>
          </p:cNvPr>
          <p:cNvSpPr>
            <a:spLocks noGrp="1"/>
          </p:cNvSpPr>
          <p:nvPr/>
        </p:nvSpPr>
        <p:spPr>
          <a:xfrm>
            <a:off x="609600" y="48958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完成后：SDK/gnu/arm-zephyr-eabi/bin/arm-zephyr-eabi-gcc.exe。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任一检查失败就停止；已有 ARM 目录先核验。无需改 CMake，也无需为组装执行 /c。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E7F54C49-90CB-4929-8179-2BFE53F1A166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依据：SDK/setup.cmd：pushd gnu 后解压 toolchain_gnu 附件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D1F187D2-08EE-481D-8C76-0C63D4169ABC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EACF9869-2C49-40B3-AB0B-8C22F464101C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8BFCB9B0-299E-4367-A545-58F04DCA3EA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安装完成：核验 SDK 与 ARM GCC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E26B78D-4EDA-4545-81D5-284C0FCC9122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下载并安装 · 结果检查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58D96005-9768-40B0-B5BF-0533F0B695F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Windows UCRT64；GNU 或 Minimal + ARM 均用相同目录核验。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</a:rPr>
              <a:t>/g/zephyr_practice/zephyr-sdk-1.0.1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cat</a:t>
            </a:r>
            <a:r>
              <a:t> sdk_version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ls</a:t>
            </a:r>
            <a:r>
              <a:t> </a:t>
            </a:r>
            <a:r>
              <a:rPr>
                <a:solidFill>
                  <a:srgbClr val="0070C0"/>
                </a:solidFill>
              </a:rPr>
              <a:t>cmake/Zephyr-sdkConfig.cmake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./gnu/arm-zephyr-eabi/bin/arm-zephyr-eabi-gcc.exe</a:t>
            </a:r>
            <a:r>
              <a:t> 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./gnu/arm-zephyr-eabi/bin/arm-zephyr-eabi-gcc.exe</a:t>
            </a:r>
            <a:r>
              <a:t> -dumpmachine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65B9E4B-5EAA-4C85-83C8-7165B70175DA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预期：SDK 1.0.1；CMake 包文件存在；GCC 14.3.0；目标 arm-zephyr-eabi。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这证明文件与程序可用，尚不证明某个 Zephyr 构建已选中它。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1DA1A724-2BAC-4064-89D0-8AF48E3C8F1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依据：Release → Included Components；SDK 安装文件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2FEB11AE-4AFB-40C2-A2DB-EBE014555C5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E7BAA642-1C39-482D-AB5A-B7C616D74A57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181CFD75-AE66-4611-AE24-ED3B0E0F91A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E234468-65B6-4E92-B5D4-B1E3FBBA3F7B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61315AE-4D7E-4F4D-B48F-DBD3A6CD5CDE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149DC9F4-C3AF-4FAF-8FAD-172EBC1E0C9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工程先找 SDK，再找目标编译器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25FED3A-5C91-402B-BE04-01BB4FDC5F9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FDD98A8-5577-4958-A880-9105948E4D1A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应用的 </a:t>
            </a:r>
            <a:r>
              <a:rPr>
                <a:solidFill>
                  <a:srgbClr val="087B3D"/>
                </a:solidFill>
              </a:rPr>
              <a:t>find_package(Zephyr)</a:t>
            </a:r>
            <a:r>
              <a:t> 加载 Zephyr 构建逻辑。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请求 </a:t>
            </a:r>
            <a:r>
              <a:rPr>
                <a:solidFill>
                  <a:srgbClr val="087B3D"/>
                </a:solidFill>
              </a:rPr>
              <a:t>find_package(Zephyr-sdk 1.0)</a:t>
            </a:r>
            <a:r>
              <a:t>，定位 SDK 包，再加载工具链规则。</a:t>
            </a:r>
          </a:p>
        </p:txBody>
      </p:sp>
      <p:sp>
        <p:nvSpPr>
          <p:cNvPr id="4" name="Diagram 应用 CMakeLists.txt">
            <a:extLst>
              <a:ext uri="{FF2B5EF4-FFF2-40B4-BE49-F238E27FC236}">
                <a16:creationId xmlns:a16="http://schemas.microsoft.com/office/drawing/2014/main" id="{9BC57792-838B-4409-AE1B-1EF6A7E32CE5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 CMakeLists.txt</a:t>
            </a:r>
          </a:p>
        </p:txBody>
      </p:sp>
      <p:sp>
        <p:nvSpPr>
          <p:cNvPr id="5" name="Diagram Zephyr 的查找脚本">
            <a:extLst>
              <a:ext uri="{FF2B5EF4-FFF2-40B4-BE49-F238E27FC236}">
                <a16:creationId xmlns:a16="http://schemas.microsoft.com/office/drawing/2014/main" id="{556E9B68-B8D8-4D24-BF67-A175DFFBA961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的查找脚本</a:t>
            </a:r>
          </a:p>
        </p:txBody>
      </p:sp>
      <p:sp>
        <p:nvSpPr>
          <p:cNvPr id="6" name="Diagram SDK 的 CMake 包">
            <a:extLst>
              <a:ext uri="{FF2B5EF4-FFF2-40B4-BE49-F238E27FC236}">
                <a16:creationId xmlns:a16="http://schemas.microsoft.com/office/drawing/2014/main" id="{5F89077E-4767-4653-81D9-CBA3F5C8EE0B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的 CMake 包</a:t>
            </a:r>
          </a:p>
        </p:txBody>
      </p:sp>
      <p:sp>
        <p:nvSpPr>
          <p:cNvPr id="7" name="Diagram SDK 内的 ARM 工具">
            <a:extLst>
              <a:ext uri="{FF2B5EF4-FFF2-40B4-BE49-F238E27FC236}">
                <a16:creationId xmlns:a16="http://schemas.microsoft.com/office/drawing/2014/main" id="{11A08479-7819-4A3F-A592-0B4C614E20E4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内的 ARM 工具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0B275FA8-F2C9-4B2E-BE8E-E8ADFFB993B2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两种 SDK 包共用此链路。SDK 不复制进 zephyr-main，也无需把所有编译器加入 PATH。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F40C6580-46CD-4F05-9721-DC5954D1F3E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依据：FindHostTools.cmake → FindZephyr-sdk.cmake → SDK cmake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1CFF9C00-F398-4BD5-B249-4CF4FC8D9030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945B5960-6C84-409D-B734-606213F2DE0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源码包与 SDK 包分别定位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9CCF512F-0992-4FAB-9A19-018F7D747F2D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53CA7E8-34E0-4B1B-81F9-2D82983F549C}"/>
              </a:ext>
            </a:extLst>
          </p:cNvPr>
          <p:cNvGraphicFramePr/>
          <p:nvPr/>
        </p:nvGraphicFramePr>
        <p:xfrm>
          <a:off x="609600" y="1819275"/>
          <a:ext cx="10972800" cy="2351309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要定位的对象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包配置文件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显式入口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源码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share/zephyr-package/cmake/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ZephyrConfig.cmake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Zephyr_DIR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安装目录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cmake/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Zephyr-sdkConfig.cmake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ZEPHYR_SDK_INSTALL_DIR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31672A07-A46F-4B5D-8AB8-0152E572986E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能加载 Zephyr，不代表已找到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主机 cmake.exe 执行这些 .cmake 脚本；Minimal 自带接入脚本，不必自带 cmake.exe。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F9C93D00-2C20-44B4-A520-77E519EEFF0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依据：ZephyrConfig.cmake；FindZephyr-sdk.cmake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D7F0F1DA-996F-4403-A915-90CB540D37A4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7CF41714-FB61-4F5B-8830-9B99F3F4D7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发现方式：选一种入口即可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B8FA1400-6C7E-4427-9C98-23B1CE2C120D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871E430-406F-4E7B-94ED-62966D3ACD96}"/>
              </a:ext>
            </a:extLst>
          </p:cNvPr>
          <p:cNvGraphicFramePr/>
          <p:nvPr/>
        </p:nvGraphicFramePr>
        <p:xfrm>
          <a:off x="609600" y="1819275"/>
          <a:ext cx="10972800" cy="3453717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方式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传入 / 查找的内容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保存范围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自动发现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用户包记录、CMake 搜索路径等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候选位置；构建再选兼容版本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环境变量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ZEPHYR_SDK_INSTALL_DIR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SDK 根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当前终端及子进程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-D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同名变量 = SDK 根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该 -B 目录的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CMakeCache.txt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 原生提示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Zephyr-sdk_DIR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SDK/cmake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CMAKE_PREFIX_PATH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= SDK 根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所用终端 / 构建配置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0E77312-B72F-4BAB-A7EE-41641E675CB2}"/>
              </a:ext>
            </a:extLst>
          </p:cNvPr>
          <p:cNvSpPr>
            <a:spLocks noGrp="1"/>
          </p:cNvSpPr>
          <p:nvPr/>
        </p:nvSpPr>
        <p:spPr>
          <a:xfrm>
            <a:off x="609600" y="53911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显式 SDK 根由 Zephyr 读取并限定查找位置。默认发现成功时，不再重复指定根或类型。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3123BF94-2B94-46CF-8230-5D9000C8D2C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依据：zephyr_get；带 NO_DEFAULT_PATH 的 find_package 分支</a:t>
            </a:r>
          </a:p>
        </p:txBody>
      </p:sp>
      <p:sp>
        <p:nvSpPr>
          <p:cNvPr id="6" name="MD link">
            <a:extLst>
              <a:ext uri="{FF2B5EF4-FFF2-40B4-BE49-F238E27FC236}">
                <a16:creationId xmlns:a16="http://schemas.microsoft.com/office/drawing/2014/main" id="{D7A13040-A5E0-433F-AA11-B111AB658BED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A40AA55-671B-4A5B-B205-462AABE240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可选：让当前用户的工程自动发现 SDK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5952A35B-FB6E-45CC-B7A4-D21D3A361016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PowerShell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3D7269BD-D055-4B77-B3E4-C896CA7F00A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19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Windows PowerShell；可选：准备当前用户的自动发现入口。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Set-Location</a:t>
            </a:r>
            <a:r>
              <a:t> -LiteralPath 'G:\zephyr_practice\zephyr-sdk-1.0.1'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Get-Command</a:t>
            </a:r>
            <a:r>
              <a:t>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t>, </a:t>
            </a:r>
            <a:r>
              <a:rPr>
                <a:solidFill>
                  <a:srgbClr val="A02B93"/>
                </a:solidFill>
              </a:rPr>
              <a:t>7z</a:t>
            </a:r>
            <a:r>
              <a:t> -ErrorAction Stop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.\setup.cmd /c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if ($LASTEXITCODE -ne 0) { throw '注册失败，查看前面的错误' 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reg.exe</a:t>
            </a:r>
            <a:r>
              <a:t> query 'HKCU\Software\Kitware\CMake\Packages\Zephyr-sdk'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E843E91E-4424-481E-B839-4437800A0CB6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/c 保存 SDK/cmake 到当前 Windows 用户的 CMake 包记录，跨终端和重启保留。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它不下载编译器、不绑定某个工程；选择显式路径时可以完全不运行。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072D1912-7AAB-4EDF-8426-6949959ABA3F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依据：SDK/cmake/zephyr_sdk_export.cmake → HKCU 的 CMake Packages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539087B8-F90C-4CA6-BB1D-B968C151674A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B58F1EBE-2708-4E4A-8584-35485C77D44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FE15B81B-4BED-4954-98E1-1BCD35DE61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不注册：从当前终端传入 SDK 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C478B245-CF01-428C-96A3-69FCEB2868C0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UCRT64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7349654C-117B-4B2E-933D-0ECF97B4718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37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Windows UCRT64；源码根；可选：把 SDK 根交给本窗口启动的 CMake。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export</a:t>
            </a:r>
            <a:r>
              <a:t>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='</a:t>
            </a:r>
            <a:r>
              <a:rPr>
                <a:solidFill>
                  <a:srgbClr val="0070C0"/>
                </a:solidFill>
              </a:rPr>
              <a:t>G:/zephyr_practice/zephyr-sdk-1.0.1</a:t>
            </a:r>
            <a:r>
              <a:t>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printf</a:t>
            </a:r>
            <a:r>
              <a:t> '%s\n' "$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"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4882E8E9-5D69-4688-92E7-81CF122AD403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466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之后从本窗口启动的 CMake 继承此输入；不是修改 .venv。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取消环境输入用 </a:t>
            </a:r>
            <a:r>
              <a:rPr>
                <a:solidFill>
                  <a:srgbClr val="A02B93"/>
                </a:solidFill>
              </a:rPr>
              <a:t>unset</a:t>
            </a:r>
            <a:r>
              <a:t>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已有构建缓存会保留上次选择，换 SDK 时使用新构建目录或按 P010 更新缓存。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A4D7351D-D342-4174-9A38-56AD281424F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依据：zephyr_get(ZEPHYR_SDK_INSTALL_DIR)；CMake CACHE PATH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F188DEA8-2C86-4661-AC05-0F0DA11B4EF4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58BCAA56-0161-47F6-BD5D-5D7710051CF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45B07592-FA23-49D3-BCCF-CED994B83BB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不注册：给应用配置命令传入 SDK 根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00E805D0-EF2D-404D-A137-949B8F18F77A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完整示例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5928863C-4493-4241-BB01-9F5245A25B6B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329611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# Windows UCRT64；完成 P002—P005 </a:t>
            </a:r>
            <a:r>
              <a:rPr dirty="0" err="1"/>
              <a:t>后执行；新构建目录</a:t>
            </a:r>
            <a:r>
              <a:rPr dirty="0"/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dirty="0"/>
              <a:t> </a:t>
            </a:r>
            <a:r>
              <a:rPr dirty="0">
                <a:solidFill>
                  <a:srgbClr val="0070C0"/>
                </a:solidFill>
              </a:rPr>
              <a:t>/g/</a:t>
            </a:r>
            <a:r>
              <a:rPr dirty="0" err="1">
                <a:solidFill>
                  <a:srgbClr val="0070C0"/>
                </a:solidFill>
              </a:rPr>
              <a:t>zephyr_practice</a:t>
            </a:r>
            <a:r>
              <a:rPr dirty="0">
                <a:solidFill>
                  <a:srgbClr val="0070C0"/>
                </a:solidFill>
              </a:rPr>
              <a:t>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dirty="0"/>
              <a:t> </a:t>
            </a:r>
            <a:r>
              <a:rPr dirty="0">
                <a:solidFill>
                  <a:srgbClr val="0070C0"/>
                </a:solidFill>
              </a:rPr>
              <a:t>.</a:t>
            </a:r>
            <a:r>
              <a:rPr dirty="0" err="1">
                <a:solidFill>
                  <a:srgbClr val="0070C0"/>
                </a:solidFill>
              </a:rPr>
              <a:t>venv</a:t>
            </a:r>
            <a:r>
              <a:rPr dirty="0"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A02B93"/>
                </a:solidFill>
              </a:rPr>
              <a:t>cmake</a:t>
            </a:r>
            <a:r>
              <a:rPr dirty="0"/>
              <a:t> -S </a:t>
            </a:r>
            <a:r>
              <a:rPr dirty="0">
                <a:solidFill>
                  <a:srgbClr val="0070C0"/>
                </a:solidFill>
              </a:rPr>
              <a:t>samples/</a:t>
            </a:r>
            <a:r>
              <a:rPr dirty="0" err="1">
                <a:solidFill>
                  <a:srgbClr val="0070C0"/>
                </a:solidFill>
              </a:rPr>
              <a:t>hello_world</a:t>
            </a:r>
            <a:r>
              <a:rPr dirty="0"/>
              <a:t> -B </a:t>
            </a:r>
            <a:r>
              <a:rPr dirty="0">
                <a:solidFill>
                  <a:srgbClr val="0070C0"/>
                </a:solidFill>
              </a:rPr>
              <a:t>build/learning-tools/p003/</a:t>
            </a:r>
            <a:r>
              <a:rPr dirty="0" err="1">
                <a:solidFill>
                  <a:srgbClr val="0070C0"/>
                </a:solidFill>
              </a:rPr>
              <a:t>sdk</a:t>
            </a:r>
            <a:r>
              <a:rPr dirty="0">
                <a:solidFill>
                  <a:srgbClr val="0070C0"/>
                </a:solidFill>
              </a:rPr>
              <a:t>-explicit</a:t>
            </a:r>
            <a:r>
              <a:rPr dirty="0"/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-G Ninja -D</a:t>
            </a:r>
            <a:r>
              <a:rPr dirty="0">
                <a:solidFill>
                  <a:srgbClr val="B84E00"/>
                </a:solidFill>
              </a:rPr>
              <a:t>BOARD</a:t>
            </a:r>
            <a:r>
              <a:rPr dirty="0"/>
              <a:t>=</a:t>
            </a:r>
            <a:r>
              <a:rPr dirty="0">
                <a:solidFill>
                  <a:srgbClr val="0070C0"/>
                </a:solidFill>
              </a:rPr>
              <a:t>mps2/an386</a:t>
            </a:r>
            <a:r>
              <a:rPr dirty="0"/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"-</a:t>
            </a:r>
            <a:r>
              <a:rPr dirty="0" err="1"/>
              <a:t>D</a:t>
            </a:r>
            <a:r>
              <a:rPr dirty="0" err="1">
                <a:solidFill>
                  <a:srgbClr val="B84E00"/>
                </a:solidFill>
              </a:rPr>
              <a:t>Zephyr_DIR</a:t>
            </a:r>
            <a:r>
              <a:rPr dirty="0"/>
              <a:t>=$(</a:t>
            </a:r>
            <a:r>
              <a:rPr dirty="0" err="1"/>
              <a:t>cygpath</a:t>
            </a:r>
            <a:r>
              <a:rPr dirty="0"/>
              <a:t> -m "$PWD")</a:t>
            </a:r>
            <a:r>
              <a:rPr dirty="0">
                <a:solidFill>
                  <a:srgbClr val="0070C0"/>
                </a:solidFill>
              </a:rPr>
              <a:t>/share/zephyr-package/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dirty="0"/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"-D</a:t>
            </a:r>
            <a:r>
              <a:rPr dirty="0">
                <a:solidFill>
                  <a:srgbClr val="B84E00"/>
                </a:solidFill>
              </a:rPr>
              <a:t>Python3_EXECUTABLE</a:t>
            </a:r>
            <a:r>
              <a:rPr dirty="0"/>
              <a:t>=$(</a:t>
            </a:r>
            <a:r>
              <a:rPr dirty="0" err="1"/>
              <a:t>cygpath</a:t>
            </a:r>
            <a:r>
              <a:rPr dirty="0"/>
              <a:t> -m "$(command -v python)")"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-D</a:t>
            </a:r>
            <a:r>
              <a:rPr dirty="0">
                <a:solidFill>
                  <a:srgbClr val="B84E00"/>
                </a:solidFill>
              </a:rPr>
              <a:t>ZEPHYR_SDK_INSTALL_DIR</a:t>
            </a:r>
            <a:r>
              <a:rPr dirty="0"/>
              <a:t>=</a:t>
            </a:r>
            <a:r>
              <a:rPr dirty="0">
                <a:solidFill>
                  <a:srgbClr val="0070C0"/>
                </a:solidFill>
              </a:rPr>
              <a:t>G:/zephyr_practice/zephyr-sdk-1.0.1</a:t>
            </a:r>
            <a:r>
              <a:rPr dirty="0"/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-D</a:t>
            </a:r>
            <a:r>
              <a:rPr dirty="0">
                <a:solidFill>
                  <a:srgbClr val="B84E00"/>
                </a:solidFill>
              </a:rPr>
              <a:t>CMAKE_EXPORT_COMPILE_COMMANDS</a:t>
            </a:r>
            <a:r>
              <a:rPr dirty="0"/>
              <a:t>=ON</a:t>
            </a:r>
            <a:br>
              <a:rPr lang="en-US" dirty="0"/>
            </a:br>
            <a:r>
              <a:rPr lang="en-US" altLang="zh-CN" dirty="0" err="1">
                <a:solidFill>
                  <a:srgbClr val="A02B93"/>
                </a:solidFill>
              </a:rPr>
              <a:t>cmake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--build </a:t>
            </a:r>
            <a:r>
              <a:rPr lang="en-US" dirty="0">
                <a:solidFill>
                  <a:srgbClr val="0070C0"/>
                </a:solidFill>
              </a:rPr>
              <a:t>build/learning-tools/p003/</a:t>
            </a:r>
            <a:r>
              <a:rPr lang="en-US" dirty="0" err="1">
                <a:solidFill>
                  <a:srgbClr val="0070C0"/>
                </a:solidFill>
              </a:rPr>
              <a:t>sdk</a:t>
            </a:r>
            <a:r>
              <a:rPr lang="en-US" dirty="0">
                <a:solidFill>
                  <a:srgbClr val="0070C0"/>
                </a:solidFill>
              </a:rPr>
              <a:t>-explicit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--parallel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$(</a:t>
            </a:r>
            <a:r>
              <a:rPr lang="en-US" dirty="0" err="1">
                <a:solidFill>
                  <a:schemeClr val="accent6"/>
                </a:solidFill>
              </a:rPr>
              <a:t>nproc</a:t>
            </a:r>
            <a:r>
              <a:rPr lang="en-US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9629EF8A-205D-4D1D-9455-94DC946788CA}"/>
              </a:ext>
            </a:extLst>
          </p:cNvPr>
          <p:cNvSpPr>
            <a:spLocks noGrp="1"/>
          </p:cNvSpPr>
          <p:nvPr/>
        </p:nvSpPr>
        <p:spPr>
          <a:xfrm>
            <a:off x="628650" y="5124918"/>
            <a:ext cx="10972800" cy="7654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官方示例：MPS2 / AN386，Cortex-M4，目标 mps2/an386，应用 </a:t>
            </a:r>
            <a:r>
              <a:rPr dirty="0" err="1"/>
              <a:t>hello_world</a:t>
            </a:r>
            <a:r>
              <a:rPr dirty="0"/>
              <a:t>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/>
              <a:t>本页展示接入口；P004—P005 </a:t>
            </a:r>
            <a:r>
              <a:rPr dirty="0" err="1"/>
              <a:t>依赖未齐时先不执行。配置成功应显示所选</a:t>
            </a:r>
            <a:r>
              <a:rPr dirty="0"/>
              <a:t> SDK </a:t>
            </a:r>
            <a:r>
              <a:rPr dirty="0" err="1"/>
              <a:t>路径</a:t>
            </a:r>
            <a:r>
              <a:rPr dirty="0"/>
              <a:t>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EEFB3A3E-A0D7-4777-82E9-B231F544CF89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依据：官方 hello_world + mps2/an386；编译与运行见 P007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20C8760D-79E6-4EE3-906F-20372BA57E5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8DEB78F-81F5-46F5-BA68-70A85FFCED7D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0D802BD8-390D-4C66-9A2B-8AFC5C33B28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路径由 Zephyr 查找脚本读取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17C5F2E0-E327-47F0-ACEE-1DC6CAFCA481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把 SDK 交给工程 · 读取依据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CA7CF73B-92B6-4193-A0DB-68A9D336BBB4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只读 </a:t>
            </a:r>
            <a:r>
              <a:rPr>
                <a:solidFill>
                  <a:srgbClr val="0070C0"/>
                </a:solidFill>
              </a:rPr>
              <a:t>zephyr-main/cmake/modules/FindZephyr-sdk.cmake</a:t>
            </a:r>
            <a:r>
              <a:t>；不新建或替换。</a:t>
            </a:r>
          </a:p>
        </p:txBody>
      </p:sp>
      <p:sp>
        <p:nvSpPr>
          <p:cNvPr id="4" name="Directory or read-only source">
            <a:extLst>
              <a:ext uri="{FF2B5EF4-FFF2-40B4-BE49-F238E27FC236}">
                <a16:creationId xmlns:a16="http://schemas.microsoft.com/office/drawing/2014/main" id="{838964CA-B3E3-45D9-BA5B-30433A81F89D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213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zephyr_get</a:t>
            </a:r>
            <a:r>
              <a:t>(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在显式 SDK 根分支内，官方调用的关键参数：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find_package</a:t>
            </a:r>
            <a:r>
              <a:t>(Zephyr-sdk ${Zephyr-sdk_FIND_VERSION_COMPLETE}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REQUIRED QUIET CONFIG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HINTS ${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} </a:t>
            </a:r>
            <a:r>
              <a:rPr>
                <a:solidFill>
                  <a:srgbClr val="B84E00"/>
                </a:solidFill>
              </a:rPr>
              <a:t>NO_DEFAULT_PATH</a:t>
            </a:r>
            <a:r>
              <a:t>)</a:t>
            </a:r>
          </a:p>
        </p:txBody>
      </p:sp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5BE7C129-5611-4DA0-9EFB-46E79FDE5730}"/>
              </a:ext>
            </a:extLst>
          </p:cNvPr>
          <p:cNvSpPr>
            <a:spLocks noGrp="1"/>
          </p:cNvSpPr>
          <p:nvPr/>
        </p:nvSpPr>
        <p:spPr>
          <a:xfrm>
            <a:off x="609600" y="472440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没有显式根：按包记录 / 搜索路径选择兼容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已有显式根：只在指定位置找；位置或版本错误就报错，不偷偷换另一套。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39188675-A913-4B23-92FD-90A223AA2E0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依据：文件第 46、76—88 行及后续自动搜索分支（本期修订）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BC735FFC-CB5D-4BEC-9E66-E4EC25E2E289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DF51956-3862-4298-8BE3-ABE5541A6C53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BBF2A9A-80D2-41B9-B693-EE0C3B56A6A5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C4FED6E-C323-4EDB-BC2B-E6CC8E2DFC2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819525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4" name="Title">
            <a:extLst>
              <a:ext uri="{FF2B5EF4-FFF2-40B4-BE49-F238E27FC236}">
                <a16:creationId xmlns:a16="http://schemas.microsoft.com/office/drawing/2014/main" id="{DB578A9D-C817-4DFF-AAA8-E2D42D6AA9B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BOARD 的架构如何对应 SDK 中的工具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290CD865-FFBA-46DD-A808-23DD33D6C1E1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43AE9C73-DBB4-4EDF-9FA1-ABD5C7C6C855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路径回答“用哪一套 SDK”；板与 SoC 配置回答“为哪种 CPU 生成程序”。</a:t>
            </a:r>
          </a:p>
        </p:txBody>
      </p:sp>
      <p:sp>
        <p:nvSpPr>
          <p:cNvPr id="4" name="Diagram BOARD / SoC&#10;AN386 或后续 HC32">
            <a:extLst>
              <a:ext uri="{FF2B5EF4-FFF2-40B4-BE49-F238E27FC236}">
                <a16:creationId xmlns:a16="http://schemas.microsoft.com/office/drawing/2014/main" id="{11ABCDB3-0B42-4231-8D00-0717E69F7F88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BOARD / SoC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AN386 或后续 HC32</a:t>
            </a:r>
          </a:p>
        </p:txBody>
      </p:sp>
      <p:sp>
        <p:nvSpPr>
          <p:cNvPr id="5" name="Diagram [[v:ARCH=arm]]&#10;32 位 Cortex-M4">
            <a:extLst>
              <a:ext uri="{FF2B5EF4-FFF2-40B4-BE49-F238E27FC236}">
                <a16:creationId xmlns:a16="http://schemas.microsoft.com/office/drawing/2014/main" id="{BA9F70CE-4679-4699-8ABA-ACB9DBFDBB05}"/>
              </a:ext>
            </a:extLst>
          </p:cNvPr>
          <p:cNvSpPr>
            <a:spLocks noGrp="1"/>
          </p:cNvSpPr>
          <p:nvPr/>
        </p:nvSpPr>
        <p:spPr>
          <a:xfrm>
            <a:off x="343852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ARCH=arm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32 位 Cortex-M4</a:t>
            </a:r>
          </a:p>
        </p:txBody>
      </p:sp>
      <p:sp>
        <p:nvSpPr>
          <p:cNvPr id="6" name="Diagram SDK 的 GNU 规则&#10;arm-zephyr-eabi">
            <a:extLst>
              <a:ext uri="{FF2B5EF4-FFF2-40B4-BE49-F238E27FC236}">
                <a16:creationId xmlns:a16="http://schemas.microsoft.com/office/drawing/2014/main" id="{15DB5DED-BC08-4F7B-90B3-28A7F4169F73}"/>
              </a:ext>
            </a:extLst>
          </p:cNvPr>
          <p:cNvSpPr>
            <a:spLocks noGrp="1"/>
          </p:cNvSpPr>
          <p:nvPr/>
        </p:nvSpPr>
        <p:spPr>
          <a:xfrm>
            <a:off x="6267450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的 GNU 规则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arm-zephyr-eabi</a:t>
            </a:r>
          </a:p>
        </p:txBody>
      </p:sp>
      <p:sp>
        <p:nvSpPr>
          <p:cNvPr id="7" name="Diagram [[f:gnu/arm-zephyr-eabi]]&#10;[[f:bin/…-gcc.exe]]">
            <a:extLst>
              <a:ext uri="{FF2B5EF4-FFF2-40B4-BE49-F238E27FC236}">
                <a16:creationId xmlns:a16="http://schemas.microsoft.com/office/drawing/2014/main" id="{80D753AC-0D48-4AF6-A2D1-27FBD59F6B23}"/>
              </a:ext>
            </a:extLst>
          </p:cNvPr>
          <p:cNvSpPr>
            <a:spLocks noGrp="1"/>
          </p:cNvSpPr>
          <p:nvPr/>
        </p:nvSpPr>
        <p:spPr>
          <a:xfrm>
            <a:off x="9096375" y="3381375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gnu/arm-zephyr-eabi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bin/…-gcc.exe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7360BFF3-FC19-400D-AB73-9CB8CA2E792E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466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SDK：</a:t>
            </a:r>
            <a:r>
              <a:rPr>
                <a:solidFill>
                  <a:srgbClr val="0070C0"/>
                </a:solidFill>
              </a:rPr>
              <a:t>cmake/zephyr/gnu/target.cmake</a:t>
            </a:r>
            <a:r>
              <a:t> 按 </a:t>
            </a:r>
            <a:r>
              <a:rPr>
                <a:solidFill>
                  <a:srgbClr val="B84E00"/>
                </a:solidFill>
              </a:rPr>
              <a:t>ARCH</a:t>
            </a:r>
            <a:r>
              <a:t> 选择工具前缀。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Zephyr：</a:t>
            </a:r>
            <a:r>
              <a:rPr>
                <a:solidFill>
                  <a:srgbClr val="0070C0"/>
                </a:solidFill>
              </a:rPr>
              <a:t>cmake/compiler/gcc/target_arm.cmake</a:t>
            </a:r>
            <a:r>
              <a:t> 生成 CPU / FPU / ABI 参数。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HC32F4A0 为 Cortex-M4F，复用 ARM 工具链；板 / SoC 支持仍需 P011 新增。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E8A3223D-02EA-4F64-B3E3-6E6FFC2A603E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依据：SDK target.cmake：CROSS_COMPILE_TARGET_arm；Zephyr target_arm.cmake</a:t>
            </a:r>
          </a:p>
        </p:txBody>
      </p:sp>
      <p:sp>
        <p:nvSpPr>
          <p:cNvPr id="13" name="MD link">
            <a:extLst>
              <a:ext uri="{FF2B5EF4-FFF2-40B4-BE49-F238E27FC236}">
                <a16:creationId xmlns:a16="http://schemas.microsoft.com/office/drawing/2014/main" id="{DF437C43-EE19-4055-92AD-82C2BC831287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578D84F-74B4-4FEB-85B3-FD8A2D18388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可选：独立 ARM 工具链直接接入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9D91E501-0058-4992-A84F-0ECB85D740B6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替代路线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1DB0AF9E-591B-4222-B601-A17CE26EB2B4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保留 </a:t>
            </a:r>
            <a:r>
              <a:rPr>
                <a:solidFill>
                  <a:srgbClr val="0070C0"/>
                </a:solidFill>
              </a:rPr>
              <a:t>G:/zephyr_practice/arm-zephyr-eabi</a:t>
            </a:r>
            <a:r>
              <a:t>，不放入 SDK。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此目录缺 SDK 包配置，改用 Zephyr 自带的 </a:t>
            </a:r>
            <a:r>
              <a:rPr>
                <a:solidFill>
                  <a:srgbClr val="B84E00"/>
                </a:solidFill>
              </a:rPr>
              <a:t>cross-compile</a:t>
            </a:r>
            <a:r>
              <a:t> 接入规则。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885D480-E9AD-41C0-BEE6-383EE23511D2}"/>
              </a:ext>
            </a:extLst>
          </p:cNvPr>
          <p:cNvGraphicFramePr/>
          <p:nvPr/>
        </p:nvGraphicFramePr>
        <p:xfrm>
          <a:off x="609600" y="2714625"/>
          <a:ext cx="10972800" cy="220980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填写的值 / 作用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ZEPHYR_TOOLCHAIN_VARIANT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cross-compile：选择另一套工具链规则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CROSS_COMPILE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工具链根/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bin/arm-zephyr-eabi-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：程序共同前缀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CROSS_COMPILE_TOOLCHAIN_PATH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独立工具链根：辅助识别配套 C 库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sult and interpretation">
            <a:extLst>
              <a:ext uri="{FF2B5EF4-FFF2-40B4-BE49-F238E27FC236}">
                <a16:creationId xmlns:a16="http://schemas.microsoft.com/office/drawing/2014/main" id="{10130906-05F6-4AC9-BF77-CD4E162022EB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读取者：zephyr-main/cmake/toolchain/cross-compile/generic.cmake。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前缀末尾保留横线；它不是 bin 目录，也不是完整 gcc.exe 路径。</a:t>
            </a:r>
          </a:p>
        </p:txBody>
      </p:sp>
      <p:sp>
        <p:nvSpPr>
          <p:cNvPr id="6" name="Source">
            <a:extLst>
              <a:ext uri="{FF2B5EF4-FFF2-40B4-BE49-F238E27FC236}">
                <a16:creationId xmlns:a16="http://schemas.microsoft.com/office/drawing/2014/main" id="{BDD37939-D9B3-4A84-AA6D-F78611B6844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依据：zephyr_get(CROSS_COMPILE)；set(COMPILER gcc)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A179566-8B5C-4284-B5C1-39B857F86A0E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5F528224-3FE8-493F-9F26-3671DB3E20D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独立工具链：完整配置示例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77125040-E481-4FA0-8C04-19AF55A335F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替代路线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223C0D10-3B63-433E-9A8E-BE67E1262D11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10972800" cy="396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# Windows UCRT64；完成 P002—P005；已解压同版独立 ARM 包。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dirty="0"/>
              <a:t> </a:t>
            </a:r>
            <a:r>
              <a:rPr dirty="0">
                <a:solidFill>
                  <a:srgbClr val="0070C0"/>
                </a:solidFill>
              </a:rPr>
              <a:t>/g/</a:t>
            </a:r>
            <a:r>
              <a:rPr dirty="0" err="1">
                <a:solidFill>
                  <a:srgbClr val="0070C0"/>
                </a:solidFill>
              </a:rPr>
              <a:t>zephyr_practice</a:t>
            </a:r>
            <a:r>
              <a:rPr dirty="0">
                <a:solidFill>
                  <a:srgbClr val="0070C0"/>
                </a:solidFill>
              </a:rPr>
              <a:t>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dirty="0"/>
              <a:t> </a:t>
            </a:r>
            <a:r>
              <a:rPr dirty="0">
                <a:solidFill>
                  <a:srgbClr val="0070C0"/>
                </a:solidFill>
              </a:rPr>
              <a:t>.</a:t>
            </a:r>
            <a:r>
              <a:rPr dirty="0" err="1">
                <a:solidFill>
                  <a:srgbClr val="0070C0"/>
                </a:solidFill>
              </a:rPr>
              <a:t>venv</a:t>
            </a:r>
            <a:r>
              <a:rPr dirty="0"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unset</a:t>
            </a:r>
            <a:r>
              <a:rPr dirty="0"/>
              <a:t> </a:t>
            </a:r>
            <a:r>
              <a:rPr dirty="0">
                <a:solidFill>
                  <a:srgbClr val="B84E00"/>
                </a:solidFill>
              </a:rPr>
              <a:t>ZEPHYR_SDK_INSTALL_DIR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A02B93"/>
                </a:solidFill>
              </a:rPr>
              <a:t>cmake</a:t>
            </a:r>
            <a:r>
              <a:rPr dirty="0"/>
              <a:t> -S </a:t>
            </a:r>
            <a:r>
              <a:rPr dirty="0">
                <a:solidFill>
                  <a:srgbClr val="0070C0"/>
                </a:solidFill>
              </a:rPr>
              <a:t>samples/</a:t>
            </a:r>
            <a:r>
              <a:rPr dirty="0" err="1">
                <a:solidFill>
                  <a:srgbClr val="0070C0"/>
                </a:solidFill>
              </a:rPr>
              <a:t>hello_world</a:t>
            </a:r>
            <a:r>
              <a:rPr dirty="0"/>
              <a:t> -B </a:t>
            </a:r>
            <a:r>
              <a:rPr dirty="0">
                <a:solidFill>
                  <a:srgbClr val="0070C0"/>
                </a:solidFill>
              </a:rPr>
              <a:t>build/learning-tools/p003/arm-standalone</a:t>
            </a:r>
            <a:r>
              <a:rPr dirty="0"/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-G Ninja -D</a:t>
            </a:r>
            <a:r>
              <a:rPr dirty="0">
                <a:solidFill>
                  <a:srgbClr val="B84E00"/>
                </a:solidFill>
              </a:rPr>
              <a:t>BOARD</a:t>
            </a:r>
            <a:r>
              <a:rPr dirty="0"/>
              <a:t>=</a:t>
            </a:r>
            <a:r>
              <a:rPr dirty="0">
                <a:solidFill>
                  <a:srgbClr val="0070C0"/>
                </a:solidFill>
              </a:rPr>
              <a:t>mps2/an386</a:t>
            </a:r>
            <a:r>
              <a:rPr dirty="0"/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"-</a:t>
            </a:r>
            <a:r>
              <a:rPr dirty="0" err="1"/>
              <a:t>D</a:t>
            </a:r>
            <a:r>
              <a:rPr dirty="0" err="1">
                <a:solidFill>
                  <a:srgbClr val="B84E00"/>
                </a:solidFill>
              </a:rPr>
              <a:t>Zephyr_DIR</a:t>
            </a:r>
            <a:r>
              <a:rPr dirty="0"/>
              <a:t>=$(</a:t>
            </a:r>
            <a:r>
              <a:rPr dirty="0" err="1"/>
              <a:t>cygpath</a:t>
            </a:r>
            <a:r>
              <a:rPr dirty="0"/>
              <a:t> -m "$PWD")</a:t>
            </a:r>
            <a:r>
              <a:rPr dirty="0">
                <a:solidFill>
                  <a:srgbClr val="0070C0"/>
                </a:solidFill>
              </a:rPr>
              <a:t>/share/zephyr-package/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dirty="0"/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"-D</a:t>
            </a:r>
            <a:r>
              <a:rPr dirty="0">
                <a:solidFill>
                  <a:srgbClr val="B84E00"/>
                </a:solidFill>
              </a:rPr>
              <a:t>Python3_EXECUTABLE</a:t>
            </a:r>
            <a:r>
              <a:rPr dirty="0"/>
              <a:t>=$(</a:t>
            </a:r>
            <a:r>
              <a:rPr dirty="0" err="1"/>
              <a:t>cygpath</a:t>
            </a:r>
            <a:r>
              <a:rPr dirty="0"/>
              <a:t> -m "$(command -v python)")"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-D</a:t>
            </a:r>
            <a:r>
              <a:rPr dirty="0">
                <a:solidFill>
                  <a:srgbClr val="B84E00"/>
                </a:solidFill>
              </a:rPr>
              <a:t>ZEPHYR_TOOLCHAIN_VARIANT</a:t>
            </a:r>
            <a:r>
              <a:rPr dirty="0"/>
              <a:t>=cross-compile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-D</a:t>
            </a:r>
            <a:r>
              <a:rPr dirty="0">
                <a:solidFill>
                  <a:srgbClr val="B84E00"/>
                </a:solidFill>
              </a:rPr>
              <a:t>CROSS_COMPILE</a:t>
            </a:r>
            <a:r>
              <a:rPr dirty="0"/>
              <a:t>=</a:t>
            </a:r>
            <a:r>
              <a:rPr dirty="0">
                <a:solidFill>
                  <a:srgbClr val="0070C0"/>
                </a:solidFill>
              </a:rPr>
              <a:t>G:/zephyr_practice/arm-zephyr-eabi/bin/arm-zephyr-eabi-</a:t>
            </a:r>
            <a:r>
              <a:rPr dirty="0"/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-D</a:t>
            </a:r>
            <a:r>
              <a:rPr dirty="0">
                <a:solidFill>
                  <a:srgbClr val="B84E00"/>
                </a:solidFill>
              </a:rPr>
              <a:t>CROSS_COMPILE_TOOLCHAIN_PATH</a:t>
            </a:r>
            <a:r>
              <a:rPr dirty="0"/>
              <a:t>=</a:t>
            </a:r>
            <a:r>
              <a:rPr dirty="0">
                <a:solidFill>
                  <a:srgbClr val="0070C0"/>
                </a:solidFill>
              </a:rPr>
              <a:t>G:/zephyr_practice/arm-zephyr-eabi</a:t>
            </a:r>
            <a:r>
              <a:rPr dirty="0"/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-D</a:t>
            </a:r>
            <a:r>
              <a:rPr dirty="0">
                <a:solidFill>
                  <a:srgbClr val="B84E00"/>
                </a:solidFill>
              </a:rPr>
              <a:t>CMAKE_EXPORT_COMPILE_COMMANDS</a:t>
            </a:r>
            <a:r>
              <a:rPr dirty="0"/>
              <a:t>=ON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6254C33A-F134-4F12-B78B-DF767F813A4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替代 SDK 路线；工具链由你选定。换架构时也要换工具链前缀。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6B57D20C-F3A3-4CB2-A45C-796DE97CA0E4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依据：主机工具仍需 P002；依赖仍需 P004—P005；运行见 P011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BDA40E9E-D126-4E23-ACF5-B9253FF1325D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25178CA3-1F90-4C5C-8960-EA850025ABDC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067891F-AB2F-4CC5-9C20-721AB6A7C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配置后核对工程实际选中的工具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A1DD9BB4-5270-4ADB-92CF-C3D648A51828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按目标找到编译器 · 结果检查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D040D002-4367-448C-948C-22407050109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95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# Windows UCRT64；先完成第 19 页的 CMake 配置，才有这些产物。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</a:rPr>
              <a:t>/g/zephyr_practice/zephyr-main/build/learning-tools/p003/sdk-explicit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t> -E '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|CMAKE_C_COMPILER' </a:t>
            </a:r>
            <a:r>
              <a:rPr>
                <a:solidFill>
                  <a:srgbClr val="0070C0"/>
                </a:solidFill>
              </a:rPr>
              <a:t>CMakeCache.txt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t> -m1 'arm-zephyr-eabi-gcc' compile_commands.json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t> -E '^CONFIG_(</a:t>
            </a:r>
            <a:r>
              <a:rPr>
                <a:solidFill>
                  <a:srgbClr val="B84E00"/>
                </a:solidFill>
              </a:rPr>
              <a:t>ARCH</a:t>
            </a:r>
            <a:r>
              <a:t>|CPU_CORTEX_M4|FPU|ARM)' </a:t>
            </a:r>
            <a:r>
              <a:rPr>
                <a:solidFill>
                  <a:srgbClr val="0070C0"/>
                </a:solidFill>
              </a:rPr>
              <a:t>zephyr/.config</a:t>
            </a:r>
          </a:p>
        </p:txBody>
      </p:sp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FCA622E2-3C0D-40CF-93B6-0D83BD4B9755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缓存：选中的 SDK / GCC。compile_commands：计划使用的编译命令与 CPU 参数。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.config：板与 SoC 的配置。生成这些文件不等于固件已编译或在板上运行。</a:t>
            </a:r>
          </a:p>
        </p:txBody>
      </p:sp>
      <p:sp>
        <p:nvSpPr>
          <p:cNvPr id="5" name="Source">
            <a:extLst>
              <a:ext uri="{FF2B5EF4-FFF2-40B4-BE49-F238E27FC236}">
                <a16:creationId xmlns:a16="http://schemas.microsoft.com/office/drawing/2014/main" id="{BCB0F6C6-4F35-43C1-8513-2ECBDF3E2C27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163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依据：配置输出与 -B 目录产物；编译日志和产物在 P007 继续核验</a:t>
            </a:r>
          </a:p>
        </p:txBody>
      </p:sp>
      <p:sp>
        <p:nvSpPr>
          <p:cNvPr id="6" name="Command link">
            <a:extLst>
              <a:ext uri="{FF2B5EF4-FFF2-40B4-BE49-F238E27FC236}">
                <a16:creationId xmlns:a16="http://schemas.microsoft.com/office/drawing/2014/main" id="{1D84F1B1-8E2E-40DF-9D25-B0C1E4155722}"/>
              </a:ext>
            </a:extLst>
          </p:cNvPr>
          <p:cNvSpPr>
            <a:spLocks noGrp="1"/>
          </p:cNvSpPr>
          <p:nvPr/>
        </p:nvSpPr>
        <p:spPr>
          <a:xfrm>
            <a:off x="609600" y="62103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完整可复制命令</a:t>
            </a:r>
          </a:p>
        </p:txBody>
      </p:sp>
      <p:sp>
        <p:nvSpPr>
          <p:cNvPr id="7" name="MD link">
            <a:extLst>
              <a:ext uri="{FF2B5EF4-FFF2-40B4-BE49-F238E27FC236}">
                <a16:creationId xmlns:a16="http://schemas.microsoft.com/office/drawing/2014/main" id="{DB31173B-E48A-4148-87D1-9E6E42268095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详细步骤与说明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A5F09C3-7271-4495-8F42-473CE2A0B7A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按失败阶段返回检查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711F711D-66B4-4A9B-9D79-3A3E0AF1A169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结果检查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591FF5-DE63-4935-9D0A-A00C2A29747C}"/>
              </a:ext>
            </a:extLst>
          </p:cNvPr>
          <p:cNvGraphicFramePr/>
          <p:nvPr/>
        </p:nvGraphicFramePr>
        <p:xfrm>
          <a:off x="609600" y="1819275"/>
          <a:ext cx="10972800" cy="3807951"/>
        </p:xfrm>
        <a:graphic>
          <a:graphicData uri="http://schemas.openxmlformats.org/drawingml/2006/table">
            <a:tbl>
              <a:tblPr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先查什么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返回</a:t>
                      </a:r>
                    </a:p>
                  </a:txBody>
                  <a:tcPr marL="110000" marR="110000" marT="65000" marB="65000" anchor="ctr">
                    <a:solidFill>
                      <a:srgbClr val="EEE9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7z / setup 执行不了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重开 PowerShell；确认 cmake / 7z；不要在 Bash 写 .\setup.cmd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 / 本册第 11 页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Zephyr-sdk 包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根有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cmake/Zephyr-sdkConfig.cmake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？路径或用户记录有效？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16—20 页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找到 SDK，缺 ARM 编译器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gnu/arm-zephyr-eabi/bin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是否完整？</a:t>
                      </a:r>
                    </a:p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Minimal 是否已补 ARM？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11—13 页</a:t>
                      </a:r>
                    </a:p>
                  </a:txBody>
                  <a:tcPr marL="110000" marR="110000" marT="65000" marB="65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仍选中旧 SDK / 编译器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当前环境与 CMakeCache；切换路线用新 -B 目录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buNone/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P010</a:t>
                      </a:r>
                    </a:p>
                  </a:txBody>
                  <a:tcPr marL="110000" marR="110000" marT="65000" marB="65000" anchor="ctr">
                    <a:solidFill>
                      <a:srgbClr val="F8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sult and interpretation">
            <a:extLst>
              <a:ext uri="{FF2B5EF4-FFF2-40B4-BE49-F238E27FC236}">
                <a16:creationId xmlns:a16="http://schemas.microsoft.com/office/drawing/2014/main" id="{B6A82BF6-CAE8-4C36-BE3F-1051AFF1E8F2}"/>
              </a:ext>
            </a:extLst>
          </p:cNvPr>
          <p:cNvSpPr>
            <a:spLocks noGrp="1"/>
          </p:cNvSpPr>
          <p:nvPr/>
        </p:nvSpPr>
        <p:spPr>
          <a:xfrm>
            <a:off x="609600" y="5676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不为排错删除 .west、替换 west.yml，或把独立 ARM 目录冒充 SDK 根。</a:t>
            </a:r>
          </a:p>
        </p:txBody>
      </p:sp>
      <p:sp>
        <p:nvSpPr>
          <p:cNvPr id="5" name="MD link">
            <a:extLst>
              <a:ext uri="{FF2B5EF4-FFF2-40B4-BE49-F238E27FC236}">
                <a16:creationId xmlns:a16="http://schemas.microsoft.com/office/drawing/2014/main" id="{C1146C6C-F06C-4292-A623-5C548338F9A2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985608A-13FD-4F67-AD3E-C4E8BD2D5455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8743950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56623BB-7A87-4F19-B7DA-4648CFB46021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915025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7D9F196A-ADCC-4183-AAF9-D689B0647B87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086100" y="3981450"/>
            <a:ext cx="352425" cy="0"/>
          </a:xfrm>
          <a:prstGeom prst="straightConnector1">
            <a:avLst/>
          </a:prstGeom>
          <a:ln w="14288">
            <a:solidFill>
              <a:srgbClr val="7756AD"/>
            </a:solidFill>
            <a:tailEnd type="triangle" w="med" len="med"/>
          </a:ln>
        </p:spPr>
      </p:cxnSp>
      <p:sp>
        <p:nvSpPr>
          <p:cNvPr id="13" name="Title">
            <a:extLst>
              <a:ext uri="{FF2B5EF4-FFF2-40B4-BE49-F238E27FC236}">
                <a16:creationId xmlns:a16="http://schemas.microsoft.com/office/drawing/2014/main" id="{E8B75EB4-74E4-4588-AA84-94BA844B91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准备完成后的工程入口</a:t>
            </a:r>
          </a:p>
        </p:txBody>
      </p:sp>
      <p:sp>
        <p:nvSpPr>
          <p:cNvPr id="2" name="Stage">
            <a:extLst>
              <a:ext uri="{FF2B5EF4-FFF2-40B4-BE49-F238E27FC236}">
                <a16:creationId xmlns:a16="http://schemas.microsoft.com/office/drawing/2014/main" id="{F53831D1-E1A9-4D02-AC67-F5980C9E45E5}"/>
              </a:ext>
            </a:extLst>
          </p:cNvPr>
          <p:cNvSpPr>
            <a:spLocks noGrp="1"/>
          </p:cNvSpPr>
          <p:nvPr/>
        </p:nvSpPr>
        <p:spPr>
          <a:xfrm>
            <a:off x="628650" y="120015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本期交接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21D07F27-5F0D-4A4A-8B91-E1A2F33DDAFE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972800" cy="1304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GNU SDK 或 Minimal + ARM：交付含 cmake 与 gnu 的 SDK 根。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可自动发现，也可通过环境变量 / -D 指定；注册并非必需。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独立 ARM：交付程序前缀，由 cross-compile 规则接入。</a:t>
            </a:r>
          </a:p>
        </p:txBody>
      </p:sp>
      <p:sp>
        <p:nvSpPr>
          <p:cNvPr id="4" name="Diagram SDK / ARM 已安装">
            <a:extLst>
              <a:ext uri="{FF2B5EF4-FFF2-40B4-BE49-F238E27FC236}">
                <a16:creationId xmlns:a16="http://schemas.microsoft.com/office/drawing/2014/main" id="{C95DDA2C-7BC8-4A8F-A60C-D7202625DB4C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/ ARM 已安装</a:t>
            </a:r>
          </a:p>
        </p:txBody>
      </p:sp>
      <p:sp>
        <p:nvSpPr>
          <p:cNvPr id="5" name="Diagram P004 下载 CMSIS / HAL">
            <a:extLst>
              <a:ext uri="{FF2B5EF4-FFF2-40B4-BE49-F238E27FC236}">
                <a16:creationId xmlns:a16="http://schemas.microsoft.com/office/drawing/2014/main" id="{9CA20F88-964F-43AF-945D-EE5055E873EF}"/>
              </a:ext>
            </a:extLst>
          </p:cNvPr>
          <p:cNvSpPr>
            <a:spLocks noGrp="1"/>
          </p:cNvSpPr>
          <p:nvPr/>
        </p:nvSpPr>
        <p:spPr>
          <a:xfrm>
            <a:off x="3438525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P004 下载 CMSIS / HAL</a:t>
            </a:r>
          </a:p>
        </p:txBody>
      </p:sp>
      <p:sp>
        <p:nvSpPr>
          <p:cNvPr id="6" name="Diagram P005 源码模块接入">
            <a:extLst>
              <a:ext uri="{FF2B5EF4-FFF2-40B4-BE49-F238E27FC236}">
                <a16:creationId xmlns:a16="http://schemas.microsoft.com/office/drawing/2014/main" id="{67037F03-44E4-441D-91CC-92B754897027}"/>
              </a:ext>
            </a:extLst>
          </p:cNvPr>
          <p:cNvSpPr>
            <a:spLocks noGrp="1"/>
          </p:cNvSpPr>
          <p:nvPr/>
        </p:nvSpPr>
        <p:spPr>
          <a:xfrm>
            <a:off x="6267450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P005 源码模块接入</a:t>
            </a:r>
          </a:p>
        </p:txBody>
      </p:sp>
      <p:sp>
        <p:nvSpPr>
          <p:cNvPr id="7" name="Diagram P007 配置与编译">
            <a:extLst>
              <a:ext uri="{FF2B5EF4-FFF2-40B4-BE49-F238E27FC236}">
                <a16:creationId xmlns:a16="http://schemas.microsoft.com/office/drawing/2014/main" id="{B9F15A8D-B495-47CE-B192-BBB3B071C185}"/>
              </a:ext>
            </a:extLst>
          </p:cNvPr>
          <p:cNvSpPr>
            <a:spLocks noGrp="1"/>
          </p:cNvSpPr>
          <p:nvPr/>
        </p:nvSpPr>
        <p:spPr>
          <a:xfrm>
            <a:off x="9096375" y="3543300"/>
            <a:ext cx="2476500" cy="876300"/>
          </a:xfrm>
          <a:prstGeom prst="rect">
            <a:avLst/>
          </a:prstGeom>
          <a:solidFill>
            <a:srgbClr val="F1EDF7"/>
          </a:solidFill>
          <a:ln w="14288">
            <a:solidFill>
              <a:srgbClr val="7756AD"/>
            </a:solidFill>
          </a:ln>
        </p:spPr>
        <p:txBody>
          <a:bodyPr lIns="0" tIns="0" rIns="0" bIns="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spcAft>
                <a:spcPts val="0"/>
              </a:spcAft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P007 配置与编译</a:t>
            </a:r>
          </a:p>
        </p:txBody>
      </p:sp>
      <p:sp>
        <p:nvSpPr>
          <p:cNvPr id="11" name="Result and interpretation">
            <a:extLst>
              <a:ext uri="{FF2B5EF4-FFF2-40B4-BE49-F238E27FC236}">
                <a16:creationId xmlns:a16="http://schemas.microsoft.com/office/drawing/2014/main" id="{D59B6FE1-81AC-4BDB-A639-5B8E80B72468}"/>
              </a:ext>
            </a:extLst>
          </p:cNvPr>
          <p:cNvSpPr>
            <a:spLocks noGrp="1"/>
          </p:cNvSpPr>
          <p:nvPr/>
        </p:nvSpPr>
        <p:spPr>
          <a:xfrm>
            <a:off x="609600" y="4714875"/>
            <a:ext cx="10972800" cy="1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P006 讲 CMake 基础；P009 / P010 展开接口与缓存。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本期不用学习 SDK 自行发行、west 清单编写或新增芯片适配。</a:t>
            </a:r>
          </a:p>
        </p:txBody>
      </p:sp>
      <p:sp>
        <p:nvSpPr>
          <p:cNvPr id="12" name="MD link">
            <a:extLst>
              <a:ext uri="{FF2B5EF4-FFF2-40B4-BE49-F238E27FC236}">
                <a16:creationId xmlns:a16="http://schemas.microsoft.com/office/drawing/2014/main" id="{E58A32EB-4DC8-46E7-9010-E51305A591B4}"/>
              </a:ext>
            </a:extLst>
          </p:cNvPr>
          <p:cNvSpPr>
            <a:spLocks noGrp="1"/>
          </p:cNvSpPr>
          <p:nvPr/>
        </p:nvSpPr>
        <p:spPr>
          <a:xfrm>
            <a:off x="9258300" y="6210300"/>
            <a:ext cx="23241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400"/>
              </a:spcAft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详细步骤与说明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5639</Words>
  <Application>Microsoft Office PowerPoint</Application>
  <DocSecurity>0</DocSecurity>
  <PresentationFormat>宽屏</PresentationFormat>
  <Paragraphs>701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26</vt:i4>
      </vt:variant>
    </vt:vector>
  </HeadingPairs>
  <TitlesOfParts>
    <vt:vector size="40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129</cp:revision>
  <dcterms:created xsi:type="dcterms:W3CDTF">2026-10-06T03:23:18Z</dcterms:created>
  <dcterms:modified xsi:type="dcterms:W3CDTF">2026-10-07T12:08:04Z</dcterms:modified>
</cp:coreProperties>
</file>