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5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theme" Target="theme/theme1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承接第一期的 UCRT64 与源码下载。本期从原生文件查版本，准备 SDK、主机工具、Windows Python 3.12.10、west 1.5.0 与源码根 .venv。完成标志是工具和包环境可以核验、下次可以恢复。CMake 配置、实际编译与新增板实验已独立放入 P007。</a:t>
            </a:r>
          </a:p>
          <a:p>
            <a:r>
              <a:t>配套正文：learning/P01_zephyr_make_project/P004_SDK准备与编译器选型_Windows.md</a:t>
            </a:r>
          </a:p>
          <a:p>
            <a:r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004_SDK准备与编译器选型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对应正文：前置：P002 已准备主机工具与 .venv。实验源码根 G:/zephyr_practice/zephyr-main。</a:t>
            </a:r>
          </a:p>
          <a:p>
            <a:r>
              <a:t>先依据当前 Zephyr 源码选择 SDK 版本与主机平台。</a:t>
            </a:r>
          </a:p>
          <a:p>
            <a:r>
              <a:t>完整 GNU 与 Minimal 补齐后使用相同的工程接入接口。</a:t>
            </a:r>
          </a:p>
          <a:p>
            <a:r>
              <a:t>本册解释接入；P007 在真实应用中执行完整配置。</a:t>
            </a:r>
          </a:p>
          <a:p>
            <a:r>
              <a:t>
完整正文：learning/P01_zephyr_make_project/P004_SDK准备与编译器选型_Windows.md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本机核对的是 G 盘的 zephyr-main，版本为4.5.0-rc1。公共示例使用读者输入目录，不固定私人盘符。进入直接含VERSION的一层，SDK_VERSION为1.0.1。下一页沿原生消费者解释这不是自建清单的结论。</a:t>
            </a:r>
          </a:p>
          <a:p>
            <a:endParaRPr/>
          </a:p>
          <a:p>
            <a:r>
              <a:t>配套正文：learning/P01_zephyr_make_project/P004_SDK准备与编译器选型_Windows.md</a:t>
            </a:r>
          </a:p>
          <a:p>
            <a:r>
              <a:t>https://github.com/zephyrproject-rtos/zephyr/blob/3777ab91262f93c2c2da7e1ab8cff4e8ea5f4ce4/SDK_VERSION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FindHostTools.cmake 的 find_package(Zephyr-sdk 1.0) 没有 EXACT 1.0.1。FindZephyr-sdk 查找候选，SDK 自带版本配置参与判断。SDK_VERSION 不是自动下载钩子，CMake 配置也不会因为缺 SDK 自动执行 west sdk install。原生 zephyr_sdk.rst 将文档版本解释为推荐版本，并链接官方兼容矩阵。</a:t>
            </a:r>
          </a:p>
          <a:p>
            <a:endParaRPr/>
          </a:p>
          <a:p>
            <a:r>
              <a:t>配套正文：learning/P01_zephyr_make_project/P004_SDK准备与编译器选型_Windows.md</a:t>
            </a:r>
          </a:p>
          <a:p>
            <a:r>
              <a:t>https://github.com/zephyrproject-rtos/zephyr/blob/3777ab91262f93c2c2da7e1ab8cff4e8ea5f4ce4/cmake/modules/FindHostTools.cmake</a:t>
            </a:r>
          </a:p>
          <a:p>
            <a:r>
              <a:t>https://github.com/zephyrproject-rtos/zephyr/blob/3777ab91262f93c2c2da7e1ab8cff4e8ea5f4ce4/doc/develop/toolchains/zephyr_sdk.rst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SDK 与 GCC 各自编号。打开 v1.0.1 Release 下的 Included Components → Toolchains，能查到 GCC 14.3.0 及 Zephyr 补丁、Binutils 2.43.1、GDB 16.2。关系是所选源码推荐 SDK，再由 SDK 发布决定组件组合，而不是芯片型号直接指定 GCC 补丁版本。安装后用该 SDK 内的 gcc --version 核验，不能只检查 PATH 上任意 GCC。</a:t>
            </a:r>
          </a:p>
          <a:p>
            <a:endParaRPr/>
          </a:p>
          <a:p>
            <a:r>
              <a:t>配套正文：learning/P01_zephyr_make_project/P004_SDK准备与编译器选型_Windows.md</a:t>
            </a:r>
          </a:p>
          <a:p>
            <a:r>
              <a:t>https://github.com/zephyrproject-rtos/sdk-ng/releases/tag/v1.0.1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交叉编译器运行在 Windows 电脑上，为开发板生成机器码。Windows x64 主机包与 arm-zephyr-eabi 目标工具链分别回答两个不同的问题。UCRT64 Bash 没有把 Windows 变成 Linux。HC32 Cortex-M4 属于 ARM 微控制器。</a:t>
            </a:r>
          </a:p>
          <a:p>
            <a:endParaRPr/>
          </a:p>
          <a:p>
            <a:r>
              <a:t>配套正文：learning/P01_zephyr_make_project/P004_SDK准备与编译器选型_Windows.md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打开发行页，找到</a:t>
            </a:r>
            <a:r>
              <a:rPr dirty="0"/>
              <a:t> Downloads </a:t>
            </a:r>
            <a:r>
              <a:rPr dirty="0" err="1"/>
              <a:t>下的</a:t>
            </a:r>
            <a:r>
              <a:rPr dirty="0"/>
              <a:t> SDK Bundle </a:t>
            </a:r>
            <a:r>
              <a:rPr dirty="0" err="1"/>
              <a:t>表。定位</a:t>
            </a:r>
            <a:r>
              <a:rPr dirty="0"/>
              <a:t> Windows </a:t>
            </a:r>
            <a:r>
              <a:rPr dirty="0" err="1"/>
              <a:t>行和</a:t>
            </a:r>
            <a:r>
              <a:rPr dirty="0"/>
              <a:t> GNU </a:t>
            </a:r>
            <a:r>
              <a:rPr dirty="0" err="1"/>
              <a:t>列中的</a:t>
            </a:r>
            <a:r>
              <a:rPr dirty="0"/>
              <a:t> x86-64 </a:t>
            </a:r>
            <a:r>
              <a:rPr dirty="0" err="1"/>
              <a:t>链接。页面上的</a:t>
            </a:r>
            <a:r>
              <a:rPr dirty="0"/>
              <a:t> x86-64 </a:t>
            </a:r>
            <a:r>
              <a:rPr dirty="0" err="1"/>
              <a:t>描述电脑，而不是开发板。表格是对该版本下载选项的可编辑整理。请同时下载</a:t>
            </a:r>
            <a:r>
              <a:rPr dirty="0"/>
              <a:t> sha256.sum。</a:t>
            </a:r>
          </a:p>
          <a:p>
            <a:endParaRPr dirty="0"/>
          </a:p>
          <a:p>
            <a:r>
              <a:rPr dirty="0"/>
              <a:t>配套正文：learning/P01_zephyr_make_project/P004_SDK准备与编译器选型_Windows.md</a:t>
            </a:r>
          </a:p>
          <a:p>
            <a:r>
              <a:rPr dirty="0"/>
              <a:t>https://github.com/zephyrproject-rtos/sdk-ng/releases/tag</a:t>
            </a:r>
            <a:r>
              <a:t>/v1.0.1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对应正文：P004_Windows，4.1.1 · 先决定已经下载哪些工具</a:t>
            </a:r>
          </a:p>
          <a:p>
            <a:r>
              <a:t>https://github.com/zephyrproject-rtos/sdk-ng/releases/tag/v1.0.1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对应正文：P004_Windows，4.1.1 · 不是同一 GCC 的多个版本</a:t>
            </a:r>
          </a:p>
          <a:p>
            <a:r>
              <a:t>SDK 1.0.1：整套发行版本；GCC 14.3.0：组件版本。</a:t>
            </a:r>
          </a:p>
          <a:p>
            <a:r>
              <a:t>arm-zephyr-eabi：32 位 Arm 目标工具链。</a:t>
            </a:r>
          </a:p>
          <a:p>
            <a:r>
              <a:t>HC32F4A0 Cortex-M4F 与 AN386 都用它。</a:t>
            </a:r>
          </a:p>
          <a:p>
            <a:r>
              <a:t>电脑仍选 Windows x86-64 主机包，目标 CPU 不改变主机平台。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对应正文：P004_Windows，4.1.2 · 文件名决定它提供哪一层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 4.1.2.1 · 对照 G 盘实际目录。</a:t>
            </a:r>
          </a:p>
          <a:p>
            <a:r>
              <a:t>G:/zephyr_practice/ 下的</a:t>
            </a:r>
          </a:p>
          <a:p>
            <a:r>
              <a:t>toolchain_gnu_windows-x86_64_arm-zephyr-eabi</a:t>
            </a:r>
          </a:p>
          <a:p>
            <a:r>
              <a:t>是独立 ARM 工具链，来自发行页的 GNU Toolchains 表。</a:t>
            </a:r>
          </a:p>
          <a:p>
            <a:endParaRPr/>
          </a:p>
          <a:p>
            <a:r>
              <a:t>内层 arm-zephyr-eabi 有 bin、目标头文件与库。</a:t>
            </a:r>
          </a:p>
          <a:p>
            <a:r>
              <a:t>没有 sdk_version、setup.cmd 或 SDK 的 cmake，是正常结构。</a:t>
            </a:r>
          </a:p>
          <a:p>
            <a:r>
              <a:t>无需自己新建这些文件，也不能将此目录冒充 SDK 根。</a:t>
            </a:r>
          </a:p>
          <a:p>
            <a:endParaRPr/>
          </a:p>
          <a:p>
            <a:r>
              <a:t>依据：</a:t>
            </a:r>
          </a:p>
          <a:p>
            <a:r>
              <a:t>https://github.com/zephyrproject-rtos/sdk-ng/releases/tag/v1.0.1</a:t>
            </a:r>
          </a:p>
          <a:p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 4.1.2.1 · 工具链没有 cmake 目录，谁来接入。</a:t>
            </a:r>
          </a:p>
          <a:p>
            <a:r>
              <a:t>电脑运行的 cmake.exe：P002 安装的主机工具，三条路线都需要。</a:t>
            </a:r>
          </a:p>
          <a:p>
            <a:r>
              <a:t>SDK 的 cmake/*.cmake：SDK 提供的工程接入脚本。</a:t>
            </a:r>
          </a:p>
          <a:p>
            <a:r>
              <a:t>Zephyr 的 cmake/toolchain：源码自带的工具链接入规则。</a:t>
            </a:r>
          </a:p>
          <a:p>
            <a:endParaRPr/>
          </a:p>
          <a:p>
            <a:r>
              <a:t>真正的 Minimal SDK 带 SDK 接入脚本，缺的是目标工具链。</a:t>
            </a:r>
          </a:p>
          <a:p>
            <a:r>
              <a:t>独立 ARM 包没有 SDK 接入脚本，可由 Zephyr 的 cross-compile 接入。</a:t>
            </a:r>
          </a:p>
          <a:p>
            <a:r>
              <a:t>官方打包流程先放入 CMake 包，再打 Minimal，最后补 GNU 工具链。</a:t>
            </a:r>
          </a:p>
          <a:p>
            <a:endParaRPr/>
          </a:p>
          <a:p>
            <a:r>
              <a:t>依据：</a:t>
            </a:r>
          </a:p>
          <a:p>
            <a:r>
              <a:t>https://github.com/zephyrproject-rtos/sdk-ng/blob/v1.0.1/.github/workflows/ci.yml#L1456-L1514</a:t>
            </a:r>
          </a:p>
          <a:p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对应正文：P004_Windows，4.1.2 · 官方文件，读者不需要新建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对应正文：P004_Windows，4.1.2 · Minimal 补齐后的结构相同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主机依赖按Zephyr官方Windows清单用winget安装。MSYS2终端的Bash配套工具仍由pacman管理；pip用于Python包，Git用于源码，SDK按官方发行或west sdk安装，渠道分别核对。</a:t>
            </a:r>
          </a:p>
          <a:p>
            <a:r>
              <a:t>依据：当前源码根 doc/develop/getting_started/index.rst 的 Windows 分支；2026-10-05 核对修订25c8f4a23988dd3b2cfb463613622738298c2d6c。https://docs.zephyrproject.org/latest/develop/getting_started/index.html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对应正文：P004_Windows，4.2.1 · 归档与同版本 sha256.sum 已下载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对应正文：4.2.1 · 归档与同版本 sha256.sum 已下载</a:t>
            </a:r>
          </a:p>
          <a:p>
            <a:r>
              <a:t>完整操作单元：../commands/P007_Windows/7.2.1-02.txt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工具父目录由读者选择，尽量没有中文和空格。SDK 位于源码仓库外，多个项目可以使用同一安装。讲解时先展示结构，再询问 SDK 根到底是哪层。sdk_version、setup.cmd、gnu 同时存在的那层才是根。</a:t>
            </a:r>
          </a:p>
          <a:p>
            <a:endParaRPr/>
          </a:p>
          <a:p>
            <a:r>
              <a:t>配套正文：learning/P01_zephyr_make_project/P004_SDK准备与编译器选型_Windows.md</a:t>
            </a:r>
          </a:p>
          <a:p>
            <a:r>
              <a:t>https://github.com/zephyrproject-rtos/sdk-ng/blob/v1.0.1/scripts/template_setup_win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 · 官方提供工具，读者选择使用范围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对应正文：P004_Windows，4.2.2 · 目标已有安装时先停止核对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对应正文：4.2.2 · 目标已有安装时先停止核对</a:t>
            </a:r>
          </a:p>
          <a:p>
            <a:r>
              <a:t>完整操作单元：../commands/P007_Windows/7.2.2-02.txt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对应正文：P002—P006，4.2.3 · Windows 专用脚本</a:t>
            </a:r>
          </a:p>
          <a:p>
            <a:r>
              <a:t>看到 UCRT64 / $，说明还在 Bash：不要执行 .\setup.cmd。</a:t>
            </a:r>
          </a:p>
          <a:p>
            <a:r>
              <a:t>PowerShell 使用 Windows 路径，先进入含 setup.cmd 的实际 SDK 根。</a:t>
            </a:r>
          </a:p>
          <a:p>
            <a:r>
              <a:t>完整操作单元：../commands/P004_Windows/4.2.3-01.txt</a:t>
            </a:r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对应正文：P002—P006，4.2.3 · Windows PowerShell</a:t>
            </a:r>
          </a:p>
          <a:p>
            <a:r>
              <a:t>完整 GNU 包已带 ARM GCC：直接转到 4.2.4 核验。</a:t>
            </a:r>
          </a:p>
          <a:p>
            <a:r>
              <a:t>/t 的动作是下载并安装工具链，和下一步工程查找 SDK 分开。</a:t>
            </a:r>
          </a:p>
          <a:p>
            <a:r>
              <a:t>完整操作单元：../commands/P004_Windows/4.2.3-02.txt</a:t>
            </a:r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对应正文：P004_Windows，4.2.3.1 · 本节只处理归档，不运行 setup.cmd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对应正文：4.2.3.1 · 本节只处理归档，不运行 setup.cmd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对应正文：P004_Windows，4.2.3.1 · 下载目录与包内结构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对应正文：4.2.3.1 · 下载目录与包内结构</a:t>
            </a:r>
          </a:p>
          <a:p>
            <a:r>
              <a:t>完整操作单元：../commands/P004_Windows/4.2.3.1-01.txt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对应正文：P004_Windows，4.2.3.1 · 完整解压命令见下方文件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对应正文：4.2.3.1 · 完整解压命令见下方文件</a:t>
            </a:r>
          </a:p>
          <a:p>
            <a:r>
              <a:t>完整操作单元：../commands/P004_Windows/4.2.3.1-02.txt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对应正文：P004_Windows，4.2.3 · 普通文件与工程操作继续用 UCRT64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对应正文：4.2.3 · 普通文件与工程操作继续用 UCRT64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对应正文：P004_Windows，4.2.4 · Windows 脚本步骤已经结束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对应正文：4.2.4 · Windows 脚本步骤已经结束</a:t>
            </a:r>
          </a:p>
          <a:p>
            <a:r>
              <a:t>完整操作单元：../commands/P004_Windows/4.2.4-01.txt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 4.2.4.2 · 已有 SDK 接入层和工具程序。</a:t>
            </a:r>
          </a:p>
          <a:p>
            <a:r>
              <a:t>准备：完整 GNU SDK 解压后，cmake 与 gnu/arm-zephyr-eabi 已齐。</a:t>
            </a:r>
          </a:p>
          <a:p>
            <a:endParaRPr/>
          </a:p>
          <a:p>
            <a:r>
              <a:t>本次使用 SDK 默认发现，无需重复指定默认类型。</a:t>
            </a:r>
          </a:p>
          <a:p>
            <a:r>
              <a:t>SDK 已注册且地址有效时，不要求手填 ZEPHYR_SDK_INSTALL_DIR。</a:t>
            </a:r>
          </a:p>
          <a:p>
            <a:endParaRPr/>
          </a:p>
          <a:p>
            <a:r>
              <a:t>Zephyr 查找 SDK 配置文件；SDK 根据 ARM 架构选择工具链。</a:t>
            </a:r>
          </a:p>
          <a:p>
            <a:r>
              <a:t>CMake 发现 SDK 配置包，SDK 规则选择 ARM GCC 的路径。</a:t>
            </a:r>
          </a:p>
          <a:p>
            <a:r>
              <a:t>完整配置、构建与结果检查在 P007 7.2.1—7.3。</a:t>
            </a:r>
          </a:p>
          <a:p>
            <a:endParaRPr/>
          </a:p>
          <a:p>
            <a:r>
              <a:t>依据：</a:t>
            </a:r>
          </a:p>
          <a:p>
            <a:r>
              <a:t>../P007_编译示例与新增开发板_Windows.md#section-7-2</a:t>
            </a:r>
          </a:p>
          <a:p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 4.2.4.2 · 准备过程不同，工程仍接 SDK 根。</a:t>
            </a:r>
          </a:p>
          <a:p>
            <a:r>
              <a:t>Minimal SDK 提供 cmake、sdk_version 与 setup.cmd。</a:t>
            </a:r>
          </a:p>
          <a:p>
            <a:r>
              <a:t>独立 ARM 包提供 GCC、目标库和配套工具。</a:t>
            </a:r>
          </a:p>
          <a:p>
            <a:endParaRPr/>
          </a:p>
          <a:p>
            <a:r>
              <a:t>在线：PowerShell 执行 setup.cmd /t arm-zephyr-eabi。</a:t>
            </a:r>
          </a:p>
          <a:p>
            <a:r>
              <a:t>已有同版归档：按 4.2.3.1 解压到 SDK 根/gnu。</a:t>
            </a:r>
          </a:p>
          <a:p>
            <a:r>
              <a:t>最终结构：SDK根/gnu/arm-zephyr-eabi/bin/…</a:t>
            </a:r>
          </a:p>
          <a:p>
            <a:endParaRPr/>
          </a:p>
          <a:p>
            <a:r>
              <a:t>组装并注册后，与路线①共用 SDK 自动发现；默认类型无需重复指定。</a:t>
            </a:r>
          </a:p>
          <a:p>
            <a:endParaRPr/>
          </a:p>
          <a:p>
            <a:r>
              <a:t>依据：</a:t>
            </a:r>
          </a:p>
          <a:p>
            <a:r>
              <a:t>../P004_SDK准备与编译器选型_Windows.md#section-4-2</a:t>
            </a:r>
          </a:p>
          <a:p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 4.2.4.2 · 参数含义，完整命令在 P007 7.2.3。</a:t>
            </a:r>
          </a:p>
          <a:p>
            <a:r>
              <a:t>ZEPHYR_TOOLCHAIN_VARIANT = cross-compile</a:t>
            </a:r>
          </a:p>
          <a:p>
            <a:r>
              <a:t>选择 Zephyr 源码自带的 GNU 工具链接入规则。</a:t>
            </a:r>
          </a:p>
          <a:p>
            <a:endParaRPr/>
          </a:p>
          <a:p>
            <a:r>
              <a:t>CROSS_COMPILE = 独立根/bin/arm-zephyr-eabi-</a:t>
            </a:r>
          </a:p>
          <a:p>
            <a:r>
              <a:t>这是“目录＋程序共同前缀”，结尾有横线，不带 gcc.exe。</a:t>
            </a:r>
          </a:p>
          <a:p>
            <a:endParaRPr/>
          </a:p>
          <a:p>
            <a:r>
              <a:t>CROSS_COMPILE_TOOLCHAIN_PATH = 独立工具链根</a:t>
            </a:r>
          </a:p>
          <a:p>
            <a:r>
              <a:t>让当前规则检查随包提供的 C 库能力，不代替程序前缀。</a:t>
            </a:r>
          </a:p>
          <a:p>
            <a:endParaRPr/>
          </a:p>
          <a:p>
            <a:r>
              <a:t>依据：</a:t>
            </a:r>
          </a:p>
          <a:p>
            <a:r>
              <a:t>../commands/P007_Windows/7.2.3-01.txt</a:t>
            </a:r>
          </a:p>
          <a:p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 4.2.4.2 · 从工程输入追到实际编译器。</a:t>
            </a:r>
          </a:p>
          <a:p>
            <a:r>
              <a:t>应用 find_package(Zephyr) 加载 Zephyr 构建规则。</a:t>
            </a:r>
          </a:p>
          <a:p>
            <a:r>
              <a:t>FindHostTools 按 variant 加载 cross-compile/generic.cmake。</a:t>
            </a:r>
          </a:p>
          <a:p>
            <a:r>
              <a:t>该文件读取 CROSS_COMPILE，Zephyr 的 GCC 规则找到编译器。</a:t>
            </a:r>
          </a:p>
          <a:p>
            <a:r>
              <a:t>FindTargetTools 再加载 target.cmake，查找配套目标库。</a:t>
            </a:r>
          </a:p>
          <a:p>
            <a:endParaRPr/>
          </a:p>
          <a:p>
            <a:r>
              <a:t>这些脚本都在 zephyr-main/cmake 中，无需 ARM 包另外提供。</a:t>
            </a:r>
          </a:p>
          <a:p>
            <a:r>
              <a:t>BOARD/SoC 决定 CPU/FPU 参数；独立工具链由读者自己选定。</a:t>
            </a:r>
          </a:p>
          <a:p>
            <a:r>
              <a:t>新构建目录的缓存与真实编译命令是接入结果的依据。</a:t>
            </a:r>
          </a:p>
          <a:p>
            <a:endParaRPr/>
          </a:p>
          <a:p>
            <a:r>
              <a:t>依据：</a:t>
            </a:r>
          </a:p>
          <a:p>
            <a:r>
              <a:t>https://github.com/zephyrproject-rtos/zephyr/blob/25c8f4a23988dd3b2cfb463613622738298c2d6c/cmake/modules/FindHostTools.cmake</a:t>
            </a:r>
          </a:p>
          <a:p>
            <a:r>
              <a:t>https://github.com/zephyrproject-rtos/zephyr/blob/25c8f4a23988dd3b2cfb463613622738298c2d6c/cmake/toolchain/cross-compile/generic.cmake</a:t>
            </a:r>
          </a:p>
          <a:p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对应正文：4.2.4.1 · 参数示意，只读；完整命令在 P007 7.7。实验源码根 G:/zephyr_practice/zephyr-main。</a:t>
            </a:r>
          </a:p>
          <a:p>
            <a:r>
              <a:t>这里比较默认发现、固定根与更换类型三种场景，不要求连续传入三个参数。</a:t>
            </a:r>
          </a:p>
          <a:p>
            <a:r>
              <a:t>SDK 根选择工具来源；BOARD 选择已适配的板和芯片。</a:t>
            </a:r>
          </a:p>
          <a:p>
            <a:r>
              <a:t>完整 GNU 与已补齐 ARM 的 Minimal 共用 SDK 发现接口。</a:t>
            </a:r>
          </a:p>
          <a:p>
            <a:r>
              <a:t>
完整正文：learning/P01_zephyr_make_project/P004_SDK准备与编译器选型_Windows.md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对应正文：4.2.4.1 · 已注册 SDK 的默认发现。实验源码根 G:/zephyr_practice/zephyr-main。</a:t>
            </a:r>
          </a:p>
          <a:p>
            <a:r>
              <a:t>应用原有 find_package(Zephyr) 加载 Zephyr 构建规则。</a:t>
            </a:r>
          </a:p>
          <a:p>
            <a:r>
              <a:t>FindZephyr-sdk.cmake 请求查找 SDK 包；未显式覆盖时使用用户包记录等候选。</a:t>
            </a:r>
          </a:p>
          <a:p>
            <a:r>
              <a:t>Zephyr_DIR 找主源码；ZEPHYR_SDK_INSTALL_DIR 找 SDK。</a:t>
            </a:r>
          </a:p>
          <a:p>
            <a:r>
              <a:t>
完整正文：learning/P01_zephyr_make_project/P004_SDK准备与编译器选型_Windows.md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对应正文：4.2.4.1 · SDK 1.0.1 与本次 ARM 目标。实验源码根 G:/zephyr_practice/zephyr-main。</a:t>
            </a:r>
          </a:p>
          <a:p>
            <a:r>
              <a:t>板/SoC 的 Kconfig 给出 ARCH=arm、Cortex-M4 与浮点配置。</a:t>
            </a:r>
          </a:p>
          <a:p>
            <a:r>
              <a:t>SDK 的 GNU target.cmake 将 32 位 arm 映射为 arm-zephyr-eabi。</a:t>
            </a:r>
          </a:p>
          <a:p>
            <a:r>
              <a:t>Zephyr GCC 规则再生成 -mcpu=cortex-m4、Thumb 与浮点选项。</a:t>
            </a:r>
          </a:p>
          <a:p>
            <a:r>
              <a:t>
完整正文：learning/P01_zephyr_make_project/P004_SDK准备与编译器选型_Windows.md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对应正文：4.2.4.1 · P007 配置以后检查真实构建目录。实验源码根 G:/zephyr_practice/zephyr-main。</a:t>
            </a:r>
          </a:p>
          <a:p>
            <a:r>
              <a:t>CMakeCache.txt：核对 SDK 根与 CMAKE_C_COMPILER。</a:t>
            </a:r>
          </a:p>
          <a:p>
            <a:r>
              <a:t>zephyr/.config：核对 ARM、CPU、FPU 及 ABI 选择。</a:t>
            </a:r>
          </a:p>
          <a:p>
            <a:r>
              <a:t>compile_commands.json：核对实际 GCC 路径与编译参数。</a:t>
            </a:r>
          </a:p>
          <a:p>
            <a:endParaRPr/>
          </a:p>
          <a:p>
            <a:r>
              <a:t>GCC --version 只证明可执行程序存在。</a:t>
            </a:r>
          </a:p>
          <a:p>
            <a:r>
              <a:t>新 Cortex-M4 芯片通常复用 ARM 编译器，新增板/SoC/驱动适配。</a:t>
            </a:r>
          </a:p>
          <a:p>
            <a:r>
              <a:t>
完整正文：learning/P01_zephyr_make_project/P004_SDK准备与编译器选型_Windows.md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对应正文：P004_Windows，4.2.5 · 先决定值存在哪里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对应正文：P004_Windows，4.2.5.1 · 从 SDK 检查转到源码根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对应正文：4.2.5.1 · 从 SDK 检查转到源码根</a:t>
            </a:r>
          </a:p>
          <a:p>
            <a:r>
              <a:t>完整操作单元：../commands/P004_Windows/4.2.5.1-01.txt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对应正文：P004_Windows，4.2.5.2 · P007 完整配置命令中的 -D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对应正文：P004_Windows，4.2.5.3 · CMakeUserPresets.json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对应正文：P004_Windows，4.2.6 · 持久的 CMake 包查找候选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对应正文：P004_Windows，4.2.6 · 可选的 Windows 用户持久设置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依据：SDK 1.0.1 setup.cmd，Python 官方 Windows 安装参数。对应正文：4.2.6 · 可选的 Windows 用户持久设置</a:t>
            </a:r>
          </a:p>
          <a:p>
            <a:r>
              <a:t>完整操作单元：../commands/P004_Windows/4.2.6-01.txt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对应正文：P004_Windows，4.2.6 · Windows 当前用户注册表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依据：SDK 1.0.1 setup.cmd，Python 官方 Windows 安装参数。对应正文：4.2.6 · Windows 当前用户注册表</a:t>
            </a:r>
          </a:p>
          <a:p>
            <a:r>
              <a:t>完整操作单元：../commands/P004_Windows/4.2.6-02.txt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对应正文：P004_Windows，4.2.7 · 激活 Python 不等于选择 SDK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对应正文：P004_Windows，4.2.8 · 移植 HC32 前先分清边界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对应正文：P004_Windows，4.2.8 · 可选 RISC-V 分支，本期 HC32 不执行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依据：SDK 1.0.1 setup.cmd，Python 官方 Windows 安装参数。对应正文：4.2.8 · 可选 RISC-V 分支，本期 HC32 不执行</a:t>
            </a:r>
          </a:p>
          <a:p>
            <a:r>
              <a:t>完整操作单元：../commands/P004_Windows/4.2.8-01.txt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对应正文：P004_Windows，4.2.8 · 两种后续开发工作</a:t>
            </a:r>
          </a:p>
          <a:p>
            <a:r>
              <a:t>依据：SDK 1.0.1 cmake/zephyr_sdk_export.cmake；Zephyr FindZephyr-sdk.cmake 与 extensions.cmake zephyr_get。</a:t>
            </a:r>
          </a:p>
          <a:p>
            <a:r>
              <a:t>https://cmake.org/cmake/help/latest/manual/cmake-packages.7.html#user-package-registry</a:t>
            </a:r>
          </a:p>
          <a:p>
            <a:r>
              <a:t>https://cmake.org/cmake/help/latest/manual/cmake-presets.7.html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releases/tag/v1.0.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releases/tag/v1.0.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releases/tag/v1.0.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blob/v1.0.1/.github/workflows/ci.yml#L1456-L151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1-02.tx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2-02.tx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8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3-01.txt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3-02.txt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8.xml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3.1-01.tx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8.xml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3.1-02.tx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8.xm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4-01.tx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8.xm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hyperlink" Target="../P007_&#32534;&#35793;&#31034;&#20363;&#19982;&#26032;&#22686;&#24320;&#21457;&#26495;_Windows.md#section-7-2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4.xm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hyperlink" Target="../P004_SDK&#20934;&#22791;&#19982;&#32534;&#35793;&#22120;&#36873;&#22411;_Windows.md#section-4-2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4.xml"/></Relationships>
</file>

<file path=ppt/slides/_rels/slide29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7_Windows/7.2.3-01.txt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25c8f4a23988dd3b2cfb463613622738298c2d6c/cmake/modules/FindHostTools.cmake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4.xml"/><Relationship Id="rId4" Type="http://schemas.openxmlformats.org/officeDocument/2006/relationships/hyperlink" Target="https://github.com/zephyrproject-rtos/zephyr/blob/25c8f4a23988dd3b2cfb463613622738298c2d6c/cmake/toolchain/cross-compile/generic.cmake" TargetMode="External"/></Relationships>
</file>

<file path=ppt/slides/_rels/slide31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7_Windows/7.7-01.txt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6.xml"/></Relationships>
</file>

<file path=ppt/slides/_rels/slide36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5.1-01.txt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6.xml"/></Relationships>
</file>

<file path=ppt/slides/_rels/slide40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6-01.txt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2.xml"/></Relationships>
</file>

<file path=ppt/slides/_rels/slide41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6-02.txt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6.xml"/></Relationships>
</file>

<file path=ppt/slides/_rels/slide44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8-01.txt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SDK 准备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与编译器选型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0259EF-7302-4C38-ACD9-573F1E9D921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P004 · SDK 准备与编译器选型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10B53EB-87C6-4110-A742-EBA3E6C0831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前置：P002 已准备主机工具与 .venv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D650B24-FECD-4AC0-A1F2-7BBD0C2703BB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先依据当前 Zephyr 源码选择 SDK 版本与主机平台。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 GNU 与 Minimal 补齐后使用相同的工程接入接口。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本册解释接入；P007 在真实应用中执行完整配置。</a:t>
            </a:r>
          </a:p>
        </p:txBody>
      </p:sp>
      <p:sp>
        <p:nvSpPr>
          <p:cNvPr id="5" name="Module stage 1">
            <a:extLst>
              <a:ext uri="{FF2B5EF4-FFF2-40B4-BE49-F238E27FC236}">
                <a16:creationId xmlns:a16="http://schemas.microsoft.com/office/drawing/2014/main" id="{06E7EED4-8119-47CC-8DA8-B28982C1F668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确定发行包</a:t>
            </a:r>
          </a:p>
        </p:txBody>
      </p:sp>
      <p:sp>
        <p:nvSpPr>
          <p:cNvPr id="6" name="flow 0">
            <a:extLst>
              <a:ext uri="{FF2B5EF4-FFF2-40B4-BE49-F238E27FC236}">
                <a16:creationId xmlns:a16="http://schemas.microsoft.com/office/drawing/2014/main" id="{8107603C-78E0-4849-8C69-333686FBA2B8}"/>
              </a:ext>
            </a:extLst>
          </p:cNvPr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>
            <a:extLst>
              <a:ext uri="{FF2B5EF4-FFF2-40B4-BE49-F238E27FC236}">
                <a16:creationId xmlns:a16="http://schemas.microsoft.com/office/drawing/2014/main" id="{5EB0FA00-1B0D-4D1A-B6F4-4CE9EF8BDAF2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安装目标工具链</a:t>
            </a:r>
          </a:p>
        </p:txBody>
      </p:sp>
      <p:sp>
        <p:nvSpPr>
          <p:cNvPr id="8" name="flow 1">
            <a:extLst>
              <a:ext uri="{FF2B5EF4-FFF2-40B4-BE49-F238E27FC236}">
                <a16:creationId xmlns:a16="http://schemas.microsoft.com/office/drawing/2014/main" id="{B82DCAD7-F64D-4D45-87D8-CFCB51D6B3BD}"/>
              </a:ext>
            </a:extLst>
          </p:cNvPr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>
            <a:extLst>
              <a:ext uri="{FF2B5EF4-FFF2-40B4-BE49-F238E27FC236}">
                <a16:creationId xmlns:a16="http://schemas.microsoft.com/office/drawing/2014/main" id="{4381B680-0700-4436-9727-63AB3F465E0A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 SDK 根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交给 CMake</a:t>
            </a:r>
          </a:p>
        </p:txBody>
      </p:sp>
      <p:sp>
        <p:nvSpPr>
          <p:cNvPr id="10" name="flow 2">
            <a:extLst>
              <a:ext uri="{FF2B5EF4-FFF2-40B4-BE49-F238E27FC236}">
                <a16:creationId xmlns:a16="http://schemas.microsoft.com/office/drawing/2014/main" id="{9C4A17C4-796A-4B62-A36E-C7DBA5DDED15}"/>
              </a:ext>
            </a:extLst>
          </p:cNvPr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>
            <a:extLst>
              <a:ext uri="{FF2B5EF4-FFF2-40B4-BE49-F238E27FC236}">
                <a16:creationId xmlns:a16="http://schemas.microsoft.com/office/drawing/2014/main" id="{7ACF7538-D301-4BE2-9C27-69F59845F084}"/>
              </a:ext>
            </a:extLst>
          </p:cNvPr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/ SoC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选择编译参数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88F6777-297C-4B75-A5BB-24DE8504B45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33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确定</a:t>
            </a:r>
            <a:r>
              <a:rPr sz="3300" b="1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原生源码</a:t>
            </a:r>
            <a:r>
              <a:rPr lang="zh-CN" altLang="en-US" sz="33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所需要的</a:t>
            </a:r>
            <a:r>
              <a:rPr lang="en-US" altLang="zh-CN" sz="33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SDK</a:t>
            </a:r>
            <a:r>
              <a:rPr lang="zh-CN" altLang="en-US" sz="33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包版本</a:t>
            </a:r>
            <a:endParaRPr sz="3300" b="1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Code-1">
            <a:extLst>
              <a:ext uri="{FF2B5EF4-FFF2-40B4-BE49-F238E27FC236}">
                <a16:creationId xmlns:a16="http://schemas.microsoft.com/office/drawing/2014/main" id="{F4AD320F-434B-4E7D-A0A7-DF1C7454302C}"/>
              </a:ext>
            </a:extLst>
          </p:cNvPr>
          <p:cNvSpPr>
            <a:spLocks noGrp="1"/>
          </p:cNvSpPr>
          <p:nvPr/>
        </p:nvSpPr>
        <p:spPr>
          <a:xfrm>
            <a:off x="685799" y="1216819"/>
            <a:ext cx="6430617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2175" dirty="0">
                <a:solidFill>
                  <a:srgbClr val="687A6C"/>
                </a:solidFill>
                <a:latin typeface="Noto Sans SC"/>
                <a:ea typeface="Noto Sans SC"/>
                <a:cs typeface="Noto Sans SC"/>
              </a:rPr>
              <a:t>cd /g/zephyr_practice/zephyr-main</a:t>
            </a:r>
          </a:p>
        </p:txBody>
      </p:sp>
      <p:sp>
        <p:nvSpPr>
          <p:cNvPr id="4" name="Code-2">
            <a:extLst>
              <a:ext uri="{FF2B5EF4-FFF2-40B4-BE49-F238E27FC236}">
                <a16:creationId xmlns:a16="http://schemas.microsoft.com/office/drawing/2014/main" id="{B381A3AE-A1FE-4F5D-B8D4-8FB7D43709CF}"/>
              </a:ext>
            </a:extLst>
          </p:cNvPr>
          <p:cNvSpPr>
            <a:spLocks noGrp="1"/>
          </p:cNvSpPr>
          <p:nvPr/>
        </p:nvSpPr>
        <p:spPr>
          <a:xfrm>
            <a:off x="677517" y="1704975"/>
            <a:ext cx="176916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2175" dirty="0" err="1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pwd</a:t>
            </a:r>
            <a:endParaRPr sz="2175" dirty="0">
              <a:solidFill>
                <a:srgbClr val="007F8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" name="Code-3">
            <a:extLst>
              <a:ext uri="{FF2B5EF4-FFF2-40B4-BE49-F238E27FC236}">
                <a16:creationId xmlns:a16="http://schemas.microsoft.com/office/drawing/2014/main" id="{8DE6ED7F-F863-459A-83C0-E8E996EBF3EA}"/>
              </a:ext>
            </a:extLst>
          </p:cNvPr>
          <p:cNvSpPr>
            <a:spLocks noGrp="1"/>
          </p:cNvSpPr>
          <p:nvPr/>
        </p:nvSpPr>
        <p:spPr>
          <a:xfrm>
            <a:off x="666479" y="2195513"/>
            <a:ext cx="10859042" cy="81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2175" dirty="0">
                <a:solidFill>
                  <a:srgbClr val="005AC5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2175" dirty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 VERSION</a:t>
            </a:r>
            <a:r>
              <a:rPr lang="en-US" sz="2175" dirty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altLang="zh-CN" sz="20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Zephyr</a:t>
            </a:r>
            <a:r>
              <a:rPr lang="zh-CN" altLang="en-US" sz="20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lang="en-US" altLang="zh-CN" sz="20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4.5.0-rc1</a:t>
            </a:r>
          </a:p>
          <a:p>
            <a:pPr>
              <a:lnSpc>
                <a:spcPct val="120000"/>
              </a:lnSpc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endParaRPr sz="2175" dirty="0">
              <a:solidFill>
                <a:srgbClr val="007F8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Code-4">
            <a:extLst>
              <a:ext uri="{FF2B5EF4-FFF2-40B4-BE49-F238E27FC236}">
                <a16:creationId xmlns:a16="http://schemas.microsoft.com/office/drawing/2014/main" id="{B840F1E8-8939-4C9A-9F2D-168E0F9CA639}"/>
              </a:ext>
            </a:extLst>
          </p:cNvPr>
          <p:cNvSpPr>
            <a:spLocks noGrp="1"/>
          </p:cNvSpPr>
          <p:nvPr/>
        </p:nvSpPr>
        <p:spPr>
          <a:xfrm>
            <a:off x="677517" y="2683669"/>
            <a:ext cx="10859043" cy="81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2175" dirty="0">
                <a:solidFill>
                  <a:srgbClr val="005AC5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2175" dirty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 SDK_VERSION</a:t>
            </a:r>
            <a:r>
              <a:rPr lang="en-US" sz="2175" dirty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altLang="zh-CN" sz="2000" b="1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SDK_VERSION</a:t>
            </a:r>
            <a:r>
              <a:rPr lang="zh-CN" altLang="en-US" sz="2000" b="1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lang="en-US" altLang="zh-CN" sz="2000" b="1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1.0.1</a:t>
            </a:r>
          </a:p>
          <a:p>
            <a:pPr>
              <a:lnSpc>
                <a:spcPct val="120000"/>
              </a:lnSpc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endParaRPr sz="2175" dirty="0">
              <a:solidFill>
                <a:srgbClr val="007F8A"/>
              </a:solidFill>
              <a:latin typeface="Consolas"/>
              <a:ea typeface="Consolas"/>
              <a:cs typeface="Consola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C748A5E-E70E-33A5-C3F4-30D429106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3200400"/>
            <a:ext cx="6161367" cy="2920436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5C971D2-852F-6960-1FD3-3EA6AF6AD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271898"/>
              </p:ext>
            </p:extLst>
          </p:nvPr>
        </p:nvGraphicFramePr>
        <p:xfrm>
          <a:off x="7116416" y="3200400"/>
          <a:ext cx="4428425" cy="2853709"/>
        </p:xfrm>
        <a:graphic>
          <a:graphicData uri="http://schemas.openxmlformats.org/drawingml/2006/table">
            <a:tbl>
              <a:tblPr/>
              <a:tblGrid>
                <a:gridCol w="1960500">
                  <a:extLst>
                    <a:ext uri="{9D8B030D-6E8A-4147-A177-3AD203B41FA5}">
                      <a16:colId xmlns:a16="http://schemas.microsoft.com/office/drawing/2014/main" val="2107482275"/>
                    </a:ext>
                  </a:extLst>
                </a:gridCol>
                <a:gridCol w="2467925">
                  <a:extLst>
                    <a:ext uri="{9D8B030D-6E8A-4147-A177-3AD203B41FA5}">
                      <a16:colId xmlns:a16="http://schemas.microsoft.com/office/drawing/2014/main" val="2139870538"/>
                    </a:ext>
                  </a:extLst>
                </a:gridCol>
              </a:tblGrid>
              <a:tr h="48106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原生文件</a:t>
                      </a:r>
                      <a:endParaRPr sz="1200" b="1" dirty="0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读取者或用途</a:t>
                      </a:r>
                      <a:endParaRPr sz="1200" b="1" dirty="0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096584"/>
                  </a:ext>
                </a:extLst>
              </a:tr>
              <a:tr h="48106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VERSION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描述 Zephyr：4.5.0-rc1</a:t>
                      </a: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417614"/>
                  </a:ext>
                </a:extLst>
              </a:tr>
              <a:tr h="48106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SDK_VERSION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推荐/默认安装版本：1.0.1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987153"/>
                  </a:ext>
                </a:extLst>
              </a:tr>
              <a:tr h="70525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doc/conf.py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读版本，生成</a:t>
                      </a: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SDK </a:t>
                      </a:r>
                      <a:r>
                        <a:rPr sz="1200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文档下载</a:t>
                      </a: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URL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150643"/>
                  </a:ext>
                </a:extLst>
              </a:tr>
              <a:tr h="70525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scripts/west_commands/sdk.py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west </a:t>
                      </a:r>
                      <a:r>
                        <a:rPr sz="1200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sdk</a:t>
                      </a: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install </a:t>
                      </a:r>
                      <a:r>
                        <a:rPr sz="1200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未传版本时读取</a:t>
                      </a:r>
                      <a:endParaRPr sz="1200" b="0" dirty="0">
                        <a:solidFill>
                          <a:srgbClr val="262236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275658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80EDC0A9-B913-5174-E2BE-CB3F1E29BB61}"/>
              </a:ext>
            </a:extLst>
          </p:cNvPr>
          <p:cNvSpPr>
            <a:spLocks noGrp="1"/>
          </p:cNvSpPr>
          <p:nvPr/>
        </p:nvSpPr>
        <p:spPr>
          <a:xfrm>
            <a:off x="7116416" y="2400300"/>
            <a:ext cx="4368335" cy="73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手工下载沿同一来源链</a:t>
            </a: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：</a:t>
            </a:r>
            <a:endParaRPr lang="en-US" sz="1950" b="0" dirty="0">
              <a:solidFill>
                <a:srgbClr val="6544B0"/>
              </a:solidFill>
              <a:latin typeface="Noto Sans SC"/>
              <a:ea typeface="Noto Sans SC"/>
              <a:cs typeface="Noto Sans SC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95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    </a:t>
            </a: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SDK_VERSION → </a:t>
            </a:r>
            <a:r>
              <a:rPr sz="195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对应</a:t>
            </a: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SDK Release</a:t>
            </a:r>
          </a:p>
        </p:txBody>
      </p:sp>
      <p:sp>
        <p:nvSpPr>
          <p:cNvPr id="1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2FB6E41-9875-48AC-AE64-422E4821BA4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2463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E71E7CDD-726D-40E4-93B8-862C2FCD4B7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推荐版本与兼容检查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8B47D1-1611-49C6-9622-9F47B5FB7BAB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4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下载时：推荐 1.0.1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9D8C89-694F-4C07-AC1D-2FC08EDBD215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955196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726A83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726A83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 dirty="0">
                <a:solidFill>
                  <a:srgbClr val="726A83"/>
                </a:solidFill>
                <a:latin typeface="Noto Sans SC"/>
                <a:ea typeface="Noto Sans SC"/>
                <a:cs typeface="Noto Sans SC"/>
              </a:rPr>
              <a:t>SDK_VERSION → west </a:t>
            </a:r>
            <a:r>
              <a:rPr sz="2025" b="0" dirty="0" err="1">
                <a:solidFill>
                  <a:srgbClr val="726A83"/>
                </a:solidFill>
                <a:latin typeface="Noto Sans SC"/>
                <a:ea typeface="Noto Sans SC"/>
                <a:cs typeface="Noto Sans SC"/>
              </a:rPr>
              <a:t>安装默认值与原生文档链接</a:t>
            </a:r>
            <a:endParaRPr sz="2025" b="0" dirty="0">
              <a:solidFill>
                <a:srgbClr val="726A8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90B9E5-F4D7-4307-BB4C-51758B923F1A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4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配置时：请求兼容 SDK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BEBD4B-74E4-4CA4-AB7F-FC6992FD3499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726A83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726A83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 dirty="0" err="1">
                <a:solidFill>
                  <a:srgbClr val="726A83"/>
                </a:solidFill>
                <a:latin typeface="Noto Sans SC"/>
                <a:ea typeface="Noto Sans SC"/>
                <a:cs typeface="Noto Sans SC"/>
              </a:rPr>
              <a:t>find_package</a:t>
            </a:r>
            <a:r>
              <a:rPr sz="2025" b="0" dirty="0">
                <a:solidFill>
                  <a:srgbClr val="726A83"/>
                </a:solidFill>
                <a:latin typeface="Noto Sans SC"/>
                <a:ea typeface="Noto Sans SC"/>
                <a:cs typeface="Noto Sans SC"/>
              </a:rPr>
              <a:t>(Zephyr-</a:t>
            </a:r>
            <a:r>
              <a:rPr sz="2025" b="0" dirty="0" err="1">
                <a:solidFill>
                  <a:srgbClr val="726A83"/>
                </a:solidFill>
                <a:latin typeface="Noto Sans SC"/>
                <a:ea typeface="Noto Sans SC"/>
                <a:cs typeface="Noto Sans SC"/>
              </a:rPr>
              <a:t>sdk</a:t>
            </a:r>
            <a:r>
              <a:rPr sz="2025" b="0" dirty="0">
                <a:solidFill>
                  <a:srgbClr val="726A83"/>
                </a:solidFill>
                <a:latin typeface="Noto Sans SC"/>
                <a:ea typeface="Noto Sans SC"/>
                <a:cs typeface="Noto Sans SC"/>
              </a:rPr>
              <a:t> 1.0) + SDK </a:t>
            </a:r>
            <a:r>
              <a:rPr sz="2025" b="0" dirty="0" err="1">
                <a:solidFill>
                  <a:srgbClr val="726A83"/>
                </a:solidFill>
                <a:latin typeface="Noto Sans SC"/>
                <a:ea typeface="Noto Sans SC"/>
                <a:cs typeface="Noto Sans SC"/>
              </a:rPr>
              <a:t>包版本检查</a:t>
            </a:r>
            <a:endParaRPr sz="2025" b="0" dirty="0">
              <a:solidFill>
                <a:srgbClr val="726A8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46E82A-BD44-454D-9777-D0C0E15D1D51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推荐版本不等于唯一可用版本；兼容请求也不保证任意未来版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573E1CF-B407-D337-59BC-1A52D174B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89" y="763683"/>
            <a:ext cx="4066761" cy="219859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B3CCD15-99F8-CD9E-2F4C-02C529C00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88" y="3152775"/>
            <a:ext cx="4066761" cy="2198593"/>
          </a:xfrm>
          <a:prstGeom prst="rect">
            <a:avLst/>
          </a:prstGeom>
        </p:spPr>
      </p:pic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964454A-3386-4DC6-BC21-D85671FF4A7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26963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57072D2-B962-4876-872D-E1E71374C1B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SDK 发行与 GCC 版本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2F60B1A-CE55-4BC2-BA5E-5AE3A2AB0893}"/>
              </a:ext>
            </a:extLst>
          </p:cNvPr>
          <p:cNvGraphicFramePr/>
          <p:nvPr/>
        </p:nvGraphicFramePr>
        <p:xfrm>
          <a:off x="609600" y="1600200"/>
          <a:ext cx="10972800" cy="36195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对象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本期结果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查证位置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Zephyr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4.5.0-rc1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原生 VERSION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Zephyr SDK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1.0.1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原生 SDK_VERSION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GCC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14.3.0 + Zephyr 补丁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SDK Release 组件清单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本机编译器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安装后核验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SDK 内 gcc.exe --version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7FB6933-56FF-44A1-8FA0-1210E048B6BC}"/>
              </a:ext>
            </a:extLst>
          </p:cNvPr>
          <p:cNvSpPr>
            <a:spLocks noGrp="1"/>
          </p:cNvSpPr>
          <p:nvPr/>
        </p:nvSpPr>
        <p:spPr>
          <a:xfrm>
            <a:off x="609600" y="56864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  <a:hlinkClick r:id="rId3"/>
              </a:rPr>
              <a:t>打开</a:t>
            </a:r>
            <a:r>
              <a:rPr sz="1875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  <a:hlinkClick r:id="rId3"/>
              </a:rPr>
              <a:t> SDK 1.0.1 </a:t>
            </a:r>
            <a:r>
              <a:rPr sz="1875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  <a:hlinkClick r:id="rId3"/>
              </a:rPr>
              <a:t>官方组件清单</a:t>
            </a:r>
            <a:endParaRPr sz="1875" b="0" dirty="0">
              <a:solidFill>
                <a:srgbClr val="6544B0"/>
              </a:solidFill>
              <a:latin typeface="Noto Sans SC"/>
              <a:ea typeface="Noto Sans SC"/>
              <a:cs typeface="Noto Sans SC"/>
              <a:hlinkClick r:id="rId3"/>
            </a:endParaRP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278E7AD-2F7D-4E3A-9EFB-2C9248D130D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3227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ED9B16F-7AF3-4B89-0520-554072CD7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89915"/>
            <a:ext cx="4606255" cy="15609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itle">
            <a:extLst>
              <a:ext uri="{FF2B5EF4-FFF2-40B4-BE49-F238E27FC236}">
                <a16:creationId xmlns:a16="http://schemas.microsoft.com/office/drawing/2014/main" id="{4E71B982-84EE-4519-9AE8-0AC728C82FA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电脑架构与开发板架构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103565-0A6B-4FB0-8FC3-68FED138B620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0482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550" b="1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工具运行在哪里</a:t>
            </a:r>
            <a:endParaRPr sz="2550" b="1" dirty="0">
              <a:solidFill>
                <a:srgbClr val="6544B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4B017D-6452-4285-83D5-5A3C866E55D8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53340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8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8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Windows x64 </a:t>
            </a:r>
            <a:r>
              <a:rPr sz="2850" b="1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电脑</a:t>
            </a:r>
            <a:endParaRPr sz="2850" b="1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ACBBDB-E46C-44E7-8F0A-E43737658E94}"/>
              </a:ext>
            </a:extLst>
          </p:cNvPr>
          <p:cNvSpPr>
            <a:spLocks noGrp="1"/>
          </p:cNvSpPr>
          <p:nvPr/>
        </p:nvSpPr>
        <p:spPr>
          <a:xfrm>
            <a:off x="609600" y="3082811"/>
            <a:ext cx="5286375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SDK </a:t>
            </a:r>
            <a:r>
              <a:rPr sz="2250" b="0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主机包</a:t>
            </a:r>
            <a:endParaRPr sz="2250" b="0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  <a:p>
            <a:pPr>
              <a:lnSpc>
                <a:spcPct val="120000"/>
              </a:lnSpc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windows-x86_64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1FDEE5-B4D1-4E06-900A-27830BE3B5BA}"/>
              </a:ext>
            </a:extLst>
          </p:cNvPr>
          <p:cNvSpPr>
            <a:spLocks noGrp="1"/>
          </p:cNvSpPr>
          <p:nvPr/>
        </p:nvSpPr>
        <p:spPr>
          <a:xfrm>
            <a:off x="6705600" y="1676400"/>
            <a:ext cx="48768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550" b="1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生成的程序在哪里运行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8D0B86-613A-453A-9542-662742E6F28F}"/>
              </a:ext>
            </a:extLst>
          </p:cNvPr>
          <p:cNvSpPr>
            <a:spLocks noGrp="1"/>
          </p:cNvSpPr>
          <p:nvPr/>
        </p:nvSpPr>
        <p:spPr>
          <a:xfrm>
            <a:off x="6705600" y="2438400"/>
            <a:ext cx="48768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8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8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MPS2 / AN386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12CED5-AA07-4419-B406-04636D2001A0}"/>
              </a:ext>
            </a:extLst>
          </p:cNvPr>
          <p:cNvSpPr>
            <a:spLocks noGrp="1"/>
          </p:cNvSpPr>
          <p:nvPr/>
        </p:nvSpPr>
        <p:spPr>
          <a:xfrm>
            <a:off x="6705600" y="3082811"/>
            <a:ext cx="48768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ARM </a:t>
            </a:r>
            <a:r>
              <a:rPr sz="2250" b="0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目标工具链</a:t>
            </a:r>
            <a:endParaRPr sz="2250" b="0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  <a:p>
            <a:pPr>
              <a:lnSpc>
                <a:spcPct val="120000"/>
              </a:lnSpc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arm-zephyr-</a:t>
            </a:r>
            <a:r>
              <a:rPr sz="2250" b="0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eabi</a:t>
            </a:r>
            <a:endParaRPr sz="2250" b="0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7D4540-8502-4545-80F9-D94C9A78C6B9}"/>
              </a:ext>
            </a:extLst>
          </p:cNvPr>
          <p:cNvSpPr>
            <a:spLocks noGrp="1"/>
          </p:cNvSpPr>
          <p:nvPr/>
        </p:nvSpPr>
        <p:spPr>
          <a:xfrm>
            <a:off x="609600" y="5722868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开发</a:t>
            </a: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ARM 单片机时，x64 </a:t>
            </a:r>
            <a:r>
              <a:rPr sz="195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电脑仍选择</a:t>
            </a: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Windows x86-64 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566837-1BB8-D14A-1A4E-9BF4D84ECE73}"/>
              </a:ext>
            </a:extLst>
          </p:cNvPr>
          <p:cNvSpPr>
            <a:spLocks noGrp="1"/>
          </p:cNvSpPr>
          <p:nvPr/>
        </p:nvSpPr>
        <p:spPr>
          <a:xfrm>
            <a:off x="6705600" y="4236968"/>
            <a:ext cx="48768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windows</a:t>
            </a:r>
            <a:r>
              <a:rPr lang="zh-CN" altLang="en-US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系统</a:t>
            </a: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CPU</a:t>
            </a:r>
            <a:r>
              <a:rPr lang="zh-CN" altLang="en-US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架构查看</a:t>
            </a: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:</a:t>
            </a:r>
            <a:b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</a:b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    </a:t>
            </a:r>
            <a:r>
              <a:rPr lang="zh-CN" altLang="en-US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“设置”</a:t>
            </a: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-&gt;</a:t>
            </a:r>
            <a:r>
              <a:rPr lang="zh-CN" altLang="en-US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“系统”</a:t>
            </a: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-&gt;</a:t>
            </a:r>
            <a:r>
              <a:rPr lang="zh-CN" altLang="en-US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“关于”</a:t>
            </a:r>
            <a:endParaRPr sz="2250" b="0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0C15D67-2315-3342-535D-1199796C15E1}"/>
              </a:ext>
            </a:extLst>
          </p:cNvPr>
          <p:cNvCxnSpPr>
            <a:stCxn id="14" idx="1"/>
            <a:endCxn id="12" idx="3"/>
          </p:cNvCxnSpPr>
          <p:nvPr/>
        </p:nvCxnSpPr>
        <p:spPr>
          <a:xfrm flipH="1">
            <a:off x="5215855" y="4770368"/>
            <a:ext cx="1489745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4A71D6F-17D1-424B-BF67-6917C05691D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5460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4DA3D9C2-F7E6-4312-B0A3-F3F195F7B9D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SDK 1.0.1 官方下载入口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2C44095-FFDF-442D-82CF-D63F4D6E4391}"/>
              </a:ext>
            </a:extLst>
          </p:cNvPr>
          <p:cNvGraphicFramePr/>
          <p:nvPr/>
        </p:nvGraphicFramePr>
        <p:xfrm>
          <a:off x="609600" y="1600200"/>
          <a:ext cx="10972800" cy="1581150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SDK Bundle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Minimal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GNU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LLVM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202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Windows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202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x86-64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202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x86-64（本期选择）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202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x86-64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BEBCF159-4B8B-4B22-A9EB-0FC6FA2F5302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1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下载文件</a:t>
            </a:r>
            <a:endParaRPr sz="2100" b="1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81916C-6628-4359-B176-57F2C20303FE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6544B0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400" b="1">
                <a:solidFill>
                  <a:srgbClr val="6544B0"/>
                </a:solidFill>
                <a:latin typeface="Consolas"/>
                <a:ea typeface="Consolas"/>
                <a:cs typeface="Consolas"/>
              </a:defRPr>
            </a:pPr>
            <a:r>
              <a:rPr lang="en-US" sz="2400" b="1" dirty="0">
                <a:solidFill>
                  <a:srgbClr val="6544B0"/>
                </a:solidFill>
                <a:latin typeface="Consolas"/>
                <a:ea typeface="Consolas"/>
                <a:cs typeface="Consolas"/>
              </a:rPr>
              <a:t>zephyr-sdk-1.0.1_windows-x86_64_gnu.7z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FC1062-B198-44CA-9551-48325D492C81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025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同时下载同一发行版的 </a:t>
            </a:r>
            <a:r>
              <a:rPr lang="en-US" altLang="zh-CN" sz="2025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sha256.sum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C2632B-668B-48F4-A5A5-0E8263D5C3C8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544B0"/>
                </a:solidFill>
                <a:latin typeface="Noto Sans SC"/>
                <a:ea typeface="Noto Sans SC"/>
                <a:cs typeface="Noto Sans SC"/>
                <a:hlinkClick r:id="rId3"/>
              </a:rPr>
              <a:t>打开 SDK 1.0.1 发行页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89B2EF8-2156-4CF7-A66A-98132D141DF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09347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8A61B31-BE6C-4055-86A6-33FE7BFD9C5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GNU 与 Minimal：不同打包方式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FC93D33-FACC-471C-9147-0C55ECC010C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4.1.1 · 先决定已经下载哪些工具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6F79BF1-9329-4590-B326-F22A84EB51DA}"/>
              </a:ext>
            </a:extLst>
          </p:cNvPr>
          <p:cNvGraphicFramePr/>
          <p:nvPr/>
        </p:nvGraphicFramePr>
        <p:xfrm>
          <a:off x="609600" y="1924050"/>
          <a:ext cx="10972800" cy="31908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解压时的状态 / 下一步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已带多种 GNU 目标工具链，直接检查 ARM GCC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没有目标工具链，setup /t 再下载 ARM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LLVM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另一编译器家族；本系列采用 GNU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构建工程源码，不能替代可运行安装包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AC87F2B-920E-449B-8D33-62EE4D3DBAB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35557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2291DEF-291A-4E43-8C19-8ECFC16DBF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33" t="-206" r="25173" b="206"/>
          <a:stretch>
            <a:fillRect/>
          </a:stretch>
        </p:blipFill>
        <p:spPr>
          <a:xfrm>
            <a:off x="1995854" y="3632201"/>
            <a:ext cx="7952642" cy="2155424"/>
          </a:xfrm>
          <a:prstGeom prst="rect">
            <a:avLst/>
          </a:prstGeom>
        </p:spPr>
      </p:pic>
      <p:sp>
        <p:nvSpPr>
          <p:cNvPr id="7" name="title">
            <a:extLst>
              <a:ext uri="{FF2B5EF4-FFF2-40B4-BE49-F238E27FC236}">
                <a16:creationId xmlns:a16="http://schemas.microsoft.com/office/drawing/2014/main" id="{1FE0293A-5240-40F3-BAF3-C9259AE33B4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同一发行，多个目标架构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1B262315-2059-46AA-9A24-AD143F83680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4.1.1 · 不是同一 GCC 的多个版本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B566FA59-0BB2-4666-879B-D51127223AC5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2505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1.0.1：整套发行版本；GCC 14.3.0：组件版本。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arm-zephyr-eabi：32 位 Arm 目标工具链。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HC32F4A0 Cortex-M4F 与 AN386 都用它。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电脑仍选 Windows x86-64 主机包，目标 CPU 不改变主机平台。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049B4F6-4AFC-4F53-880E-104FC3AF755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00428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D15FACC-3376-4CD5-8777-FB53F78DD5A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三种归档，不能混称为 SDK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59933AB4-16BE-4327-9623-41A70A314ED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4.1.2 · 文件名决定它提供哪一层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14FB4DB-3165-44F2-B141-DDA59A48EA9B}"/>
              </a:ext>
            </a:extLst>
          </p:cNvPr>
          <p:cNvGraphicFramePr/>
          <p:nvPr/>
        </p:nvGraphicFramePr>
        <p:xfrm>
          <a:off x="609600" y="1924050"/>
          <a:ext cx="10972800" cy="319278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归档类型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内容与使用方式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zephyr-sdk … gnu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基础框架 + 多种目标工具链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zephyr-sdk … minimal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基础框架；随后按目标补工具链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toolchain_gnu … arm-zephyr-eabi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一套 ARM 工具及库；解压进入 SDK/gnu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共同工程入口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 sdk_version 和 cmake 的 SDK 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11173DE-97FF-4AC8-96C4-3BA9E55DA1D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33856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662F4C5-7E02-4772-99A0-85FC8C7DD49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先认出手上下载的这一包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9718CB4-5453-47F0-9480-DE3FCF999B3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4.1.2.1 · 对照 G 盘实际目录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FF73FC4-5FE6-4316-B236-24A74E451054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0972800" cy="3905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独立工具链根：G:/zephyr_practice/arm-zephyr-eabi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压缩包仍叫 toolchain_gnu_windows-x86_64_arm-zephyr-eabi.7z。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包来自发行页的 GNU Toolchains 表。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根下有 bin、目标头文件与库，已去掉外层解压目录。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没有 sdk_version、setup.cmd 或 SDK 的 cmake，是正常结构。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内层 arm-zephyr-eabi 是目标库目录，应保留。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5458AA74-F250-4CB5-AC01-35151F54FECA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53816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发行页：区分 SDK Bundle 与 GNU Toolchains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DD9DAC5-52E9-4E51-9111-7A1998F7596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程序和接入脚本分属两层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BA9F6CF-0259-4CA3-B7D5-D367850AD55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4.1.2.1 · 工具链没有 cmake 目录，谁来接入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10AEEC0-5256-4265-A49D-F19D372412D9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0972800" cy="3905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电脑运行的 cmake.exe：P002 安装的主机工具，三条路线都需要。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cmake/*.cmake：SDK 提供的工程接入脚本。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的 cmake/toolchain：源码自带的工具链接入规则。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真正的 Minimal SDK 带 SDK 接入脚本，缺的是目标工具链。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ARM 包没有 SDK 接入脚本，可由 Zephyr 的 cross-compile 接入。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官方打包流程先放入 CMake 包，再打 Minimal，最后补 GNU 工具链。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7B0003EC-FC61-4621-8911-474FDF352D59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53816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官方打包流程：Stage CMake package → Create minimal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CEE0EEA-2F0F-4563-8AD5-6251E5CA775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目录各层负责什么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ACA285DA-614F-47C7-8D07-82CB3426977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4.1.2 · 官方文件，读者不需要新建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9219C56-C579-4A0E-BF2C-6B02D4804727}"/>
              </a:ext>
            </a:extLst>
          </p:cNvPr>
          <p:cNvGraphicFramePr/>
          <p:nvPr/>
        </p:nvGraphicFramePr>
        <p:xfrm>
          <a:off x="609600" y="1924050"/>
          <a:ext cx="10972800" cy="375666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根内的对象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sdk_version / sdk_gnu_toolchains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发行版本 / 可安装的 GNU 目标名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setup.cmd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安装缺少的工具；可选保存用户包地址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 / Config 与 target.cmake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 CMake 包接口与目标工具映射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gnu / arm-zephyr-eabi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 工具、目标头文件与库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平台相关的主机配套工具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83E3EDF-5302-48A6-B5DB-CD480C7DF06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05301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FCB1329-7EE9-45D2-B281-90A695D3F36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两条准备路线，汇入同一工程接口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E6EA40B-CB9C-41A6-A53F-1C403C40630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4.1.2 · Minimal 补齐后的结构相同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A91C4E76-B211-4243-9F96-16A1FC5BD9C6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2095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GNU 路线：解压后已有 ARM，先检查编译器。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Minimal 路线：解压基础框架，再安装 ARM，做同样检查。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随后两者都选择 SDK 根，由板与 SoC 配置选择目标工具链。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ARM 包缺少 SDK CMake 接口，不能单独充当 SDK。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0BBCD3-7CAC-45AA-B5DD-E97FF791C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5580" y="4143375"/>
            <a:ext cx="10140841" cy="1809750"/>
          </a:xfrm>
          <a:prstGeom prst="rect">
            <a:avLst/>
          </a:prstGeom>
        </p:spPr>
      </p:pic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809A8C2-DA0F-4580-A698-A4CDB44EDD5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36743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4142BA0-2BFE-43A0-9A5F-83800514F0F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下载通道与网络配置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3331A01-3DF8-436B-8079-786072D9D08B}"/>
              </a:ext>
            </a:extLst>
          </p:cNvPr>
          <p:cNvGraphicFramePr/>
          <p:nvPr/>
        </p:nvGraphicFramePr>
        <p:xfrm>
          <a:off x="609600" y="1600200"/>
          <a:ext cx="10972800" cy="35242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下载内容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使用的通道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配置范围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Windows 主机工具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官方 winget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Windows 工具安装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Python 包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pip 包索引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 pip 安装请求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SDK 附件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浏览器访问 GitHub Releases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浏览器网络和代理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Git 仓库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git clone / fetch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Git 网络配置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468B8FE-C95F-401B-85B5-F154172A6CEA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先用发行页和小附件确认连通，再下载大包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B76D6BF-45FD-4112-871F-C89E62910B5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71431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2DBF022F-66EB-414E-9A26-F042E159E0B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UCRT64 核对 SDK 文件摘要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67C48270-E7D1-4DC0-8A52-D16B7A43184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4.2.1 · 归档与同版本 sha256.sum 已下载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F4C9D415-A9EF-4A3C-9891-A46606BBD127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当前位置：SDK 下载目录；终端：UCRT64。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sha256sum zephyr-sdk-1.0.1_windows-x86_64_gnu.7z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grep -F 'zephyr-sdk-1.0.1_windows-x86_64_gnu.7z' sha256.sum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65D846F-C7EB-46D7-B80A-8B921DAFEE7F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在下载目录比较两行完整的 SHA-256 值，一致才解压。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Minimal 路线换成对应归档名；此处继续使用 UCRT64。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0AE5E71A-D2F7-4BD7-B666-B5971DD2F815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完整命令：P007_Windows/7.2.1-02.txt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05C9079-6C39-492C-BC65-65B9F525087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32792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BA5462EA-0A46-458E-AA08-07E5B4DAF42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SDK 与项目源码的目录关系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D08E7D-0103-406D-B1A9-8A6D647F0236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452437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</a:pPr>
            <a:r>
              <a:rPr sz="180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G:/zephyr_practice 下并列放置：</a:t>
            </a:r>
          </a:p>
          <a:p>
            <a:pPr>
              <a:lnSpc>
                <a:spcPct val="120000"/>
              </a:lnSpc>
            </a:pPr>
            <a:r>
              <a:rPr sz="180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zephyr-main（源码）</a:t>
            </a:r>
          </a:p>
          <a:p>
            <a:pPr>
              <a:lnSpc>
                <a:spcPct val="120000"/>
              </a:lnSpc>
            </a:pPr>
            <a:r>
              <a:rPr sz="180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zephyr-sdk-1.0.1（SDK）</a:t>
            </a:r>
          </a:p>
          <a:p>
            <a:pPr>
              <a:lnSpc>
                <a:spcPct val="120000"/>
              </a:lnSpc>
            </a:pPr>
            <a:r>
              <a:rPr sz="180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arm-zephyr-eabi（独立工具链）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770F760-88A8-35D1-86DA-D6C67750D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277" y="1390740"/>
            <a:ext cx="6495074" cy="3866734"/>
          </a:xfrm>
          <a:prstGeom prst="rect">
            <a:avLst/>
          </a:prstGeom>
        </p:spPr>
      </p:pic>
      <p:sp>
        <p:nvSpPr>
          <p:cNvPr id="16" name="Code-1">
            <a:extLst>
              <a:ext uri="{FF2B5EF4-FFF2-40B4-BE49-F238E27FC236}">
                <a16:creationId xmlns:a16="http://schemas.microsoft.com/office/drawing/2014/main" id="{AA0024F2-92B4-DDD1-A8F9-EBABCC2B7962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右侧保留 setup 操作截图；其中旧路径不作为当前命令。</a:t>
            </a:r>
          </a:p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安装工具后重新打开 PowerShell，让新 PATH 生效。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93B8F4B-06EC-BFC6-BB7F-827EA2750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90740"/>
            <a:ext cx="4645955" cy="2475001"/>
          </a:xfrm>
          <a:prstGeom prst="rect">
            <a:avLst/>
          </a:prstGeom>
        </p:spPr>
      </p:pic>
      <p:sp>
        <p:nvSpPr>
          <p:cNvPr id="2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9060DBA-B928-4CF9-9D80-6C0A543C231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16182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9055F99A-B66E-4C7B-B44A-2DDDE9000AD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文件与工程配置来自哪里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8FEFB759-448A-4DBA-A898-4AE921AA0FE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 · 官方提供工具，读者选择使用范围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53A6ABA-67D4-4D95-A343-9FCF7395E708}"/>
              </a:ext>
            </a:extLst>
          </p:cNvPr>
          <p:cNvGraphicFramePr/>
          <p:nvPr/>
        </p:nvGraphicFramePr>
        <p:xfrm>
          <a:off x="609600" y="1924050"/>
          <a:ext cx="10972800" cy="373570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由谁提供 / 何时出现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sdk_version / setup.cmd /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SDK 归档解压后已有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gnu/arm-zephyr-eabi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GNU 包自带；Minimal 执行 /t 后产生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CMakeCache.txt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配置应用时，在指定 -B 目录生成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CMakeUserPresets.json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读者在应用 CMakeLists.txt 旁新建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用户包注册表项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 setup /c 写入当前用户账户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C5EB35B-E2F8-4D26-ABB2-6CCA76974ED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75155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ACC7B27-F244-48D9-B8D3-182F36D932A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UCRT64 解压 SDK 归档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129504F7-59A0-49FF-A8B1-A4406F13E1C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4.2.2 · 目标已有安装时先停止核对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7E20B735-B1EB-477C-A801-FB0C2C035C3E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当前位置：/g/zephyr_practice，含 SDK 归档；终端：UCRT64。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7z x zephyr-sdk-1.0.1_windows-x86_64_gnu.7z "-o$(cygpath -m "$PWD")"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50E1178-6C87-4803-A105-1E86207AABEB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Minimal 路线替换归档名；SDK 根是含 sdk_version 的内层。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cygpath 将当前 Bash 路径转成 Windows 7-Zip 接收的路径。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69B25288-4B25-4B1F-90CB-918AEB79DD32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完整命令：P007_Windows/7.2.2-02.txt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E3CEC66-6F84-4C62-90F9-E052A0F33A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95618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2F7A9EB-E9E7-477E-9D61-D58960024E0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先另开 PowerShell，再查看 setup 帮助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C44BEE9-0920-44BA-98D5-280EF954A17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4.2.3 · Windows 专用脚本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F748C7B9-AE08-44C9-9FE3-3AA09F71F28B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5791200" cy="24892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</a:pPr>
            <a:r>
              <a:rPr sz="1650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新开的 Windows PowerShell；进入 SDK 根。</a:t>
            </a:r>
          </a:p>
          <a:p>
            <a:pPr>
              <a:lnSpc>
                <a:spcPct val="120000"/>
              </a:lnSpc>
            </a:pPr>
            <a:r>
              <a:rPr sz="1650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Set-Location -LiteralPath `</a:t>
            </a:r>
          </a:p>
          <a:p>
            <a:pPr>
              <a:lnSpc>
                <a:spcPct val="120000"/>
              </a:lnSpc>
            </a:pPr>
            <a:r>
              <a:rPr sz="1650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  'G:\zephyr_practice\zephyr-sdk-1.0.1'</a:t>
            </a:r>
          </a:p>
          <a:p>
            <a:pPr>
              <a:lnSpc>
                <a:spcPct val="120000"/>
              </a:lnSpc>
            </a:pPr>
            <a:r>
              <a:rPr sz="1650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检查本窗口 PATH，缺工具时停止。</a:t>
            </a:r>
          </a:p>
          <a:p>
            <a:pPr>
              <a:lnSpc>
                <a:spcPct val="120000"/>
              </a:lnSpc>
            </a:pPr>
            <a:r>
              <a:rPr sz="1650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Get-Command cmake, 7z -ErrorAction Stop</a:t>
            </a:r>
          </a:p>
          <a:p>
            <a:pPr>
              <a:lnSpc>
                <a:spcPct val="120000"/>
              </a:lnSpc>
            </a:pPr>
            <a:r>
              <a:rPr sz="1650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Get-Item '.\sdk_version', '.\setup.cmd'</a:t>
            </a:r>
          </a:p>
          <a:p>
            <a:pPr>
              <a:lnSpc>
                <a:spcPct val="120000"/>
              </a:lnSpc>
            </a:pPr>
            <a:r>
              <a:rPr sz="1650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只查帮助，不安装；本版帮助退出码为 1。</a:t>
            </a:r>
          </a:p>
          <a:p>
            <a:pPr>
              <a:lnSpc>
                <a:spcPct val="120000"/>
              </a:lnSpc>
            </a:pPr>
            <a:r>
              <a:rPr sz="1650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.\setup.cmd /?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D9BC315A-C5FF-4FBF-B6F0-0CCF0DD2FF01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5791200" cy="12382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安装后重新打开 PowerShell，先确认当前窗口能找到 cmake 和 7z。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setup 先检查依赖，再解析参数；查帮助也会检查。</a:t>
            </a:r>
          </a:p>
        </p:txBody>
      </p:sp>
      <p:sp>
        <p:nvSpPr>
          <p:cNvPr id="6" name="Command file link">
            <a:extLst>
              <a:ext uri="{FF2B5EF4-FFF2-40B4-BE49-F238E27FC236}">
                <a16:creationId xmlns:a16="http://schemas.microsoft.com/office/drawing/2014/main" id="{1E1D4B5F-3A92-4AA8-8414-E6425CD6938E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完整命令：P004_Windows/4.2.3-01.txt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D58F3B6-576C-42CA-9B41-49C8E33E033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ED0FBCD-7074-3032-F198-39421EF73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132" y="1240958"/>
            <a:ext cx="4332895" cy="509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5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E594557-3668-4999-A4DD-0EEF36BBC56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只有缺少 ARM 的 Minimal 才需要补装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D4A6370-5985-44CA-9215-903E027872B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4.2.3 · Windows PowerShell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958A0E6A-2998-4601-A91E-067D0BF3545B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72800" cy="2298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PowerShell；当前位置：含 setup.cmd 的 SDK 根。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仅 Minimal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缺少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ARM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时需要安装；已有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GCC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时不重复安装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if (Test-Path ".\gnu\arm-zephyr-</a:t>
            </a:r>
            <a:r>
              <a:rPr sz="1725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eabi</a:t>
            </a:r>
            <a:r>
              <a:rPr sz="172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\bin\arm-zephyr-eabi-gcc.exe") {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   Write-Host "ARM GCC 已存在，转到 4.2.4 检查版本。"</a:t>
            </a:r>
            <a:r>
              <a:rPr sz="1725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} else {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725" b="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.\setup.cmd /t arm-zephyr-</a:t>
            </a:r>
            <a:r>
              <a:rPr sz="1725" b="0" dirty="0" err="1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eabi</a:t>
            </a:r>
            <a:endParaRPr sz="1725" b="0" dirty="0">
              <a:solidFill>
                <a:schemeClr val="accent6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F73B17C-CA27-42E2-BF83-F28B1EAFA10F}"/>
              </a:ext>
            </a:extLst>
          </p:cNvPr>
          <p:cNvSpPr>
            <a:spLocks noGrp="1"/>
          </p:cNvSpPr>
          <p:nvPr/>
        </p:nvSpPr>
        <p:spPr>
          <a:xfrm>
            <a:off x="628650" y="39878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 GNU 包已带 ARM GCC：直接转到 4.2.4 核验。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/t </a:t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的动作是下载并安装工具链，和下一步工程查找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 </a:t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分开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Command file link">
            <a:extLst>
              <a:ext uri="{FF2B5EF4-FFF2-40B4-BE49-F238E27FC236}">
                <a16:creationId xmlns:a16="http://schemas.microsoft.com/office/drawing/2014/main" id="{E8BD8F1F-58AE-45BB-9C38-8BA6F9612F0E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完整命令：P004_Windows/4.2.3-02.txt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2FE17A5-9CCE-4DAD-BD1D-32C81E3DAA6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5377AD6-1E31-8D16-5250-795B09DC9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4826000"/>
            <a:ext cx="8339236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20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F6422FE-9532-4207-8DB0-34923F1D7D0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手动补入 ARM 包：回到 UCRT64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C7BDAF83-63E4-4286-9051-D479C6BD558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4.2.3.1 · 本节只处理归档，不运行 setup.cmd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805A1345-825D-46B7-B8DF-8E640831AFC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952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先解压 Minimal，让官方 sdk_version、setup.cmd 和 cmake 存在。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从同版本 Release 取得 Windows ARM 包和摘要清单。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UCRT64 校验并解压到 SDK 根/gnu，按注释重新进入目录。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 GNU 包已有 ARM 时直接核验，不覆盖安装。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9C6ED73-1721-454B-84D8-BF7FDAB25E9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96047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4403E01-DEAC-4F05-8329-F4D1E6C4E60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UCRT64 核对独立 ARM 附件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8F15F035-B671-448F-9F44-4A98A9025E9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4.2.3.1 · 下载目录与包内结构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C38DB0CB-7E9E-4E46-A60E-CFD887DA3995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UCRT64；已从 v1.0.1 </a:t>
            </a:r>
            <a:r>
              <a:rPr sz="187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下载</a:t>
            </a: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ARM </a:t>
            </a:r>
            <a:r>
              <a:rPr sz="187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包及该发行的</a:t>
            </a: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sha256.sum。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</a:t>
            </a:r>
            <a:r>
              <a:rPr sz="187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zephyr_practice</a:t>
            </a:r>
            <a:endParaRPr sz="1875" b="0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87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只核对这一份附件；输出应是对应文件名及</a:t>
            </a: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OK。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grep 'toolchain_gnu_windows-x86_64_arm-zephyr-eabi.7z$' sha256.sum |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sha256sum --check -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87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查看归档布局；检查通过后再进入下一操作单元</a:t>
            </a: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7z l toolchain_gnu_windows-x86_64_arm-zephyr-eabi.7z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B86A38FA-9808-45B9-9D2F-2D6219C7B67B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应看到该文件摘要检查为 OK，再查看归档层次。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文件名不含 SDK 版本，必须与发行页面和摘要清单一起核对。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3FC5CD2B-2059-47B7-A099-8F10738DD182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完整命令：P004_Windows/4.2.3.1-01.txt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2A699CC-58EC-42CA-AAAE-45012D13A21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58344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C7A98FB5-F3FC-4B3F-88A3-3B1155A5419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UCRT64 把工具链包放入 gnu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01AD7151-56CE-44A8-892B-6E461B7B379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4.2.3.1 · 完整解压命令见下方文件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FF5139BB-2DD9-4586-A111-E11A50C6B10C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952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进入含 sdk_version 的 SDK 根，核对版本和 CMake 包文件。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遇到已有 ARM 目录先核验，不覆盖。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最终应有 gnu/arm-zephyr-eabi/bin/arm-zephyr-eabi-gcc.exe。</a:t>
            </a:r>
          </a:p>
        </p:txBody>
      </p:sp>
      <p:sp>
        <p:nvSpPr>
          <p:cNvPr id="4" name="Command file link">
            <a:extLst>
              <a:ext uri="{FF2B5EF4-FFF2-40B4-BE49-F238E27FC236}">
                <a16:creationId xmlns:a16="http://schemas.microsoft.com/office/drawing/2014/main" id="{D0523D6F-287F-4E87-8090-3BE0AB19E9D3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完整命令：P004_Windows/4.2.3.1-02.txt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615F1DF-AA95-46D3-A827-532D79E527E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85841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7324228-62DE-46C2-896C-1B522BA5114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setup.cmd 单独使用 PowerShell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71399B50-16F7-424D-9563-5D5BBFE17FB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4.2.3 · 普通文件与工程操作继续用 UCRT64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302A7C7-FB23-4B1D-A068-202C17056BAE}"/>
              </a:ext>
            </a:extLst>
          </p:cNvPr>
          <p:cNvGraphicFramePr/>
          <p:nvPr/>
        </p:nvGraphicFramePr>
        <p:xfrm>
          <a:off x="609600" y="1924050"/>
          <a:ext cx="10972800" cy="319278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 / 步骤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实际动作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.\setup.cmd /?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PowerShell：当前目录的官方脚本显示帮助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.\setup.cmd /t arm-zephyr-eabi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PowerShell：安装缺少的 ARM GNU 工具链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.\setup.cmd /c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PowerShell：保存当前 Windows 用户包地址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脚本结束，切回 UCRT64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按下一步重新进入 SDK 根或源码根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AFF38D9-D129-4110-B873-0ABD9A81FBD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36963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9A3F4FDF-D310-4BD2-B963-B284C81E151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回到 UCRT64，检查 SDK 与 ARM GCC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EB2B1A59-EFC0-4C21-A638-4D96D81DF26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4.2.4 · Windows 脚本步骤已经结束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C50A7CC2-7189-4D99-AAA5-0CCE6E891164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UCRT64；setup.cmd 操作结束后切回本终端，重新进入实际 SDK 根。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双层解压时将下面 cd 改成实际内层的 /g/... 路径。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/g/zephyr_practice/zephyr-sdk-1.0.1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sdk_version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./gnu/arm-zephyr-eabi/bin/arm-zephyr-eabi-gcc.exe --version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./gnu/arm-zephyr-eabi/bin/arm-zephyr-eabi-gcc.exe -dumpmachine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6F915A4-5E93-4C79-9649-529A3622E29E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应看到 SDK 1.0.1、GCC 14.3.0、arm-zephyr-eabi。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PowerShell 的当前目录不会自动传给 UCRT64。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063D4C09-FCC4-462D-BCA5-33D38E049545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完整命令：P004_Windows/4.2.4-01.txt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0B5BAE6-C8A8-4168-A45F-BAD372D3672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67278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D3496A-624E-4781-A67F-385E433E937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路线①：完整 GNU SDK 交给工程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66FEA5D-174B-4998-AD39-184EE9E5D4A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4.2.4.2 · 已有 SDK 接入层和工具程序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9F35A1D-0589-483C-9409-F3AAA2DE65BB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0972800" cy="3905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cmake 与 gnu/arm-zephyr-eabi 已齐全。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setup /c 已注册有效包地址时，主线使用自动发现。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不必重复指定 ZEPHYR_TOOLCHAIN_VARIANT=zephyr，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也不必手填 ZEPHYR_SDK_INSTALL_DIR。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依据 BOARD / SoC 得到的架构选择 ARM 工具链。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用新构建目录核对实际选择；按需覆盖另见 4.2.5。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189CA856-B1AB-444F-B448-66D0A7FD3657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53816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SDK 主线完整实验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8D7018E-69D2-439F-AA55-954E075BC01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路线②：Minimal 和 ARM 组件先组装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03A7AFF-4A4B-48DE-9A86-97372858968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4.2.4.2 · 准备过程不同，工程仍接 SDK 根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E364B62-4800-47F6-A699-8B31C46C1A4A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0972800" cy="3905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Minimal SDK 提供 cmake、sdk_version 与 setup.cmd。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ARM 包提供 GCC、目标库和配套工具。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在线用 setup /t；已有同版归档按 4.2.3.1 补入 gnu。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最终为 SDK根/gnu/arm-zephyr-eabi/bin/…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注册组装后的 SDK 包，随后与完整包共用自动发现流程。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无需因为是 Minimal 就多设一套工具链变量。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72DE5008-A0A2-456B-9B63-142D3DC030F4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53816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手动补包的完整操作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67A1C2B-1557-4B20-8E8E-CAFC9FDBEF8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路线③：独立目录直接交给 Zephyr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BB6B3A7-1FC3-4A78-BBD3-FFDB61BDC67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4.2.4.2 · 参数含义，完整命令在 P007 7.2.3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1913806-D3E4-4A52-8A4D-64359083B6E0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0972800" cy="3905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ZEPHYR_TOOLCHAIN_VARIANT = cross-compile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选择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源码自带的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GNU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工具链接入规则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CROSS_COMPILE =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独立根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/bin/arm-zephyr-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eabi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这是“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目录＋程序共同前缀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结尾有横线，不带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gcc.exe。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CROSS_COMPILE_TOOLCHAIN_PATH =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独立工具链根</a:t>
            </a:r>
            <a:endParaRPr sz="1950" b="0" dirty="0">
              <a:solidFill>
                <a:srgbClr val="0070C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让当前规则检查随包提供的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C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库能力，不代替程序前缀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F5F44BC0-B33A-44BA-AD03-9430A6126D07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53816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完整配置命令：P007 / 7.2.3-01.txt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945E72E-B171-4056-A04D-89911C36224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独立工具链的 CMake 规则来自哪里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0B70E6A-F7A1-4635-9633-7A63D6B5D8C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4.2.4.2 · 回顾 P003 的类型接口，应用到独立 GNU 包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9B8DAF0-E45B-4EE6-B35A-E9E6A657D719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0972800" cy="3905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P003 已说明：类型名称选择一套实际 CMake 适配规则。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此独立包没有 SDK 接入层，因此选 cross-compile。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FindHostTools 加载 cross-compile/generic.cmake，读取前缀。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FindTargetTools 再加载 target.cmake，查找目标库。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脚本来自 Zephyr 源码；BOARD / SoC 仍提供 CPU / FPU 参数。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完整命令与工程核验放在 P007 7.2.3。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1A3505B7-6DE5-4ED7-8E9B-A7CD7635DAB9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53816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Zephyr FindHostTools 源码</a:t>
            </a:r>
          </a:p>
        </p:txBody>
      </p:sp>
      <p:sp>
        <p:nvSpPr>
          <p:cNvPr id="6" name="Source link 1">
            <a:extLst>
              <a:ext uri="{FF2B5EF4-FFF2-40B4-BE49-F238E27FC236}">
                <a16:creationId xmlns:a16="http://schemas.microsoft.com/office/drawing/2014/main" id="{2EE7D52B-46B7-4D06-B1D7-D7F0DC0A9622}"/>
              </a:ext>
            </a:extLst>
          </p:cNvPr>
          <p:cNvSpPr>
            <a:spLocks noGrp="1"/>
          </p:cNvSpPr>
          <p:nvPr/>
        </p:nvSpPr>
        <p:spPr>
          <a:xfrm>
            <a:off x="6134100" y="6048375"/>
            <a:ext cx="53816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cross-compile 接入源码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00E718E-0C6F-44A1-94EA-FB22337E042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接口回顾：默认与按需覆盖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8F98795-2407-4759-BCAD-BBB564ED5D1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4.2.4.1 · 回到 P003 的接口组合模型</a:t>
            </a:r>
          </a:p>
        </p:txBody>
      </p:sp>
      <p:sp>
        <p:nvSpPr>
          <p:cNvPr id="4" name="Read-only module excerpt">
            <a:extLst>
              <a:ext uri="{FF2B5EF4-FFF2-40B4-BE49-F238E27FC236}">
                <a16:creationId xmlns:a16="http://schemas.microsoft.com/office/drawing/2014/main" id="{E096E5BF-5F78-40DF-908C-92DB91AB978D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默认：SDK 已注册 → 省略 SDK 根与默认类型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固定位置：按需传 ZEPHYR_SDK_INSTALL_DIR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更换规则：才主动选择 ZEPHYR_TOOLCHAIN_VARIANT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290DD0DE-A6D2-4D02-9D8B-EBDA8C58B13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这三行是场景说明，不是要连续执行的命令。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选择目标硬件；类型选择工具链接入规则。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 Cortex-M4 芯片通常复用 ARM 工具链，不因厂商变化改类型。</a:t>
            </a:r>
          </a:p>
        </p:txBody>
      </p:sp>
      <p:sp>
        <p:nvSpPr>
          <p:cNvPr id="6" name="Source link 0">
            <a:extLst>
              <a:ext uri="{FF2B5EF4-FFF2-40B4-BE49-F238E27FC236}">
                <a16:creationId xmlns:a16="http://schemas.microsoft.com/office/drawing/2014/main" id="{27765C59-5C93-4D17-BB40-83F59ED616A5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P007 完整配置命令（先完成板/SoC）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3ABF5C-AB6E-4235-BE72-536CBF371DA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应用加载 Zephyr，Zephyr 再查找 SDK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87775D9-6FE2-4A10-A98F-40F3B0422E4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4.2.4.1 · 已注册 SDK 的默认发现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FEB7500-8DB6-4E81-AAA5-C8F11DDEC742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 find_package(Zephyr) 先加载源码构建规则。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未指定其他类型时，Zephyr 请求查找 SDK 包。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从用户包记录等位置发现它，SDK 配置给出安装根。</a:t>
            </a:r>
          </a:p>
        </p:txBody>
      </p:sp>
      <p:sp>
        <p:nvSpPr>
          <p:cNvPr id="5" name="Module stage 1">
            <a:extLst>
              <a:ext uri="{FF2B5EF4-FFF2-40B4-BE49-F238E27FC236}">
                <a16:creationId xmlns:a16="http://schemas.microsoft.com/office/drawing/2014/main" id="{A2D5E207-7D64-4D94-8DD0-AAD06F338611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</a:p>
        </p:txBody>
      </p:sp>
      <p:sp>
        <p:nvSpPr>
          <p:cNvPr id="6" name="flow 0">
            <a:extLst>
              <a:ext uri="{FF2B5EF4-FFF2-40B4-BE49-F238E27FC236}">
                <a16:creationId xmlns:a16="http://schemas.microsoft.com/office/drawing/2014/main" id="{C8B21852-460D-4F11-AFC5-B26D3F929355}"/>
              </a:ext>
            </a:extLst>
          </p:cNvPr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>
            <a:extLst>
              <a:ext uri="{FF2B5EF4-FFF2-40B4-BE49-F238E27FC236}">
                <a16:creationId xmlns:a16="http://schemas.microsoft.com/office/drawing/2014/main" id="{E834C4B4-49F8-47F6-B0D4-BED2DDBBF9A3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默认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请求查 SDK</a:t>
            </a:r>
          </a:p>
        </p:txBody>
      </p:sp>
      <p:sp>
        <p:nvSpPr>
          <p:cNvPr id="8" name="flow 1">
            <a:extLst>
              <a:ext uri="{FF2B5EF4-FFF2-40B4-BE49-F238E27FC236}">
                <a16:creationId xmlns:a16="http://schemas.microsoft.com/office/drawing/2014/main" id="{DD882FD7-363B-4676-A8DA-9A6567B3F66B}"/>
              </a:ext>
            </a:extLst>
          </p:cNvPr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>
            <a:extLst>
              <a:ext uri="{FF2B5EF4-FFF2-40B4-BE49-F238E27FC236}">
                <a16:creationId xmlns:a16="http://schemas.microsoft.com/office/drawing/2014/main" id="{7928B668-287C-453B-986A-271C03C6DFAE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发现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配置包</a:t>
            </a:r>
          </a:p>
        </p:txBody>
      </p:sp>
      <p:sp>
        <p:nvSpPr>
          <p:cNvPr id="10" name="flow 2">
            <a:extLst>
              <a:ext uri="{FF2B5EF4-FFF2-40B4-BE49-F238E27FC236}">
                <a16:creationId xmlns:a16="http://schemas.microsoft.com/office/drawing/2014/main" id="{C7883AC5-E9D8-4AE2-A3A9-1BD0C419A11A}"/>
              </a:ext>
            </a:extLst>
          </p:cNvPr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>
            <a:extLst>
              <a:ext uri="{FF2B5EF4-FFF2-40B4-BE49-F238E27FC236}">
                <a16:creationId xmlns:a16="http://schemas.microsoft.com/office/drawing/2014/main" id="{9EBC2871-693F-45E6-B61D-447FD49B2388}"/>
              </a:ext>
            </a:extLst>
          </p:cNvPr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GNU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工具链接入规则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645577-7C9D-4B58-AC4A-B0A04CBE95A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芯片配置如何对应 ARM 编译器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A234F74-D573-4351-BCE8-C9716B11994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4.2.4.1 · SDK 1.0.1 与本次 ARM 目标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B75F2C8-1743-4943-92F4-89AAB00AFECC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板/SoC 的 Kconfig 给出 ARCH=arm、Cortex-M4 与浮点配置。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GNU target.cmake 将 32 位 arm 映射为 arm-zephyr-eabi。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GCC 规则再生成 -mcpu=cortex-m4、Thumb 与浮点选项。</a:t>
            </a:r>
          </a:p>
        </p:txBody>
      </p:sp>
      <p:sp>
        <p:nvSpPr>
          <p:cNvPr id="5" name="Module stage 1">
            <a:extLst>
              <a:ext uri="{FF2B5EF4-FFF2-40B4-BE49-F238E27FC236}">
                <a16:creationId xmlns:a16="http://schemas.microsoft.com/office/drawing/2014/main" id="{05281749-3B5A-4651-A39C-2383559C8B85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/ SoC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目标配置</a:t>
            </a:r>
          </a:p>
        </p:txBody>
      </p:sp>
      <p:sp>
        <p:nvSpPr>
          <p:cNvPr id="6" name="flow 0">
            <a:extLst>
              <a:ext uri="{FF2B5EF4-FFF2-40B4-BE49-F238E27FC236}">
                <a16:creationId xmlns:a16="http://schemas.microsoft.com/office/drawing/2014/main" id="{4B37A186-C212-48FC-942E-3A06FAF5F84B}"/>
              </a:ext>
            </a:extLst>
          </p:cNvPr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>
            <a:extLst>
              <a:ext uri="{FF2B5EF4-FFF2-40B4-BE49-F238E27FC236}">
                <a16:creationId xmlns:a16="http://schemas.microsoft.com/office/drawing/2014/main" id="{F9CC3923-A984-4007-AA10-F770FF70D7CF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ARCH=arm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32 位 ARM</a:t>
            </a:r>
          </a:p>
        </p:txBody>
      </p:sp>
      <p:sp>
        <p:nvSpPr>
          <p:cNvPr id="8" name="flow 1">
            <a:extLst>
              <a:ext uri="{FF2B5EF4-FFF2-40B4-BE49-F238E27FC236}">
                <a16:creationId xmlns:a16="http://schemas.microsoft.com/office/drawing/2014/main" id="{BE967177-4ACB-4145-A2D1-15DA4BE9B1F6}"/>
              </a:ext>
            </a:extLst>
          </p:cNvPr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>
            <a:extLst>
              <a:ext uri="{FF2B5EF4-FFF2-40B4-BE49-F238E27FC236}">
                <a16:creationId xmlns:a16="http://schemas.microsoft.com/office/drawing/2014/main" id="{961CFE25-103E-4624-A6CE-BBFE471F991B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/ gnu /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arm-zephyr-eabi</a:t>
            </a:r>
          </a:p>
        </p:txBody>
      </p:sp>
      <p:sp>
        <p:nvSpPr>
          <p:cNvPr id="10" name="flow 2">
            <a:extLst>
              <a:ext uri="{FF2B5EF4-FFF2-40B4-BE49-F238E27FC236}">
                <a16:creationId xmlns:a16="http://schemas.microsoft.com/office/drawing/2014/main" id="{03D35A10-6285-4BB1-8DD7-07CEBA6C3872}"/>
              </a:ext>
            </a:extLst>
          </p:cNvPr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>
            <a:extLst>
              <a:ext uri="{FF2B5EF4-FFF2-40B4-BE49-F238E27FC236}">
                <a16:creationId xmlns:a16="http://schemas.microsoft.com/office/drawing/2014/main" id="{EB80644E-D3E9-4854-A0A4-C2DC49C0FFB2}"/>
              </a:ext>
            </a:extLst>
          </p:cNvPr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具体 GCC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与 CPU 参数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0E17C9-3D58-4DBA-A4E3-1B4D4713A6A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工程选中 SDK 的检查依据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3325E38-C896-4279-AFFD-06478919A4C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4.2.4.1 · P007 配置以后检查真实构建目录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7C49E43-3424-4334-A6B2-74571A7626EB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CMakeCache.txt：核对 SDK 根与 CMAKE_C_COMPILER。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zephyr/.config：核对 ARM、CPU、FPU 及 ABI 选择。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compile_commands.json：核对实际 GCC 路径与编译参数。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GCC --version 只证明可执行程序存在。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 Cortex-M4 芯片通常复用 ARM 编译器，新增板/SoC/驱动适配。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ACA9909-602D-4257-87F8-4D9D195F40B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回顾 P003：SDK 选择的保存范围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39A6A471-DD19-4FB9-AD5F-98B0A8B56CE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4.2.5 · 按需覆盖，不是四项都执行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D50B99D-F12B-4094-B696-C9E167535C1D}"/>
              </a:ext>
            </a:extLst>
          </p:cNvPr>
          <p:cNvGraphicFramePr/>
          <p:nvPr/>
        </p:nvGraphicFramePr>
        <p:xfrm>
          <a:off x="609600" y="1924050"/>
          <a:ext cx="10972800" cy="31908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方式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保存对象 / 有效期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当前终端环境；关终端失去本次设置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 -D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-B 目录的缓存；清理该目录后丢失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CMakeUserPresets.json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应用旁的本机配置；选用预设时载入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setup.cmd /c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当前用户包地址簿；多工程可查，跨重启保留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67FE198-C1F3-4314-A37C-27EE9BE30C6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304543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0AF05975-D4DB-482F-AE8D-AAF067D253E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可选：在 UCRT64 固定 SDK 根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9B1F3F10-8562-40FF-BF14-2CD2F530559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4.2.5.1 · 自动发现满足需求时跳过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C87E9FD5-B472-4200-95F5-E24470E7C0B7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UCRT64；源码根；可选：固定 SDK，使用默认 GNU 类型。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export ZEPHYR_SDK_INSTALL_DIR='G:/zephyr_practice/zephyr-sdk-1.0.1'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B7A7B903-077E-4043-8F79-607B5A213F46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仅需要固定某套 SDK 时执行；默认 GNU 不再重复设置类型。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值属于当前终端；已有构建缓存不会随新 export 自动改变。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9A96B3DF-E824-413D-9958-61553797EA9E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完整命令：P004_Windows/4.2.5.1-01.txt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6F40E2F-E89C-4126-A92A-9C902BEBFDF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014465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917F1EF-CDF8-4F82-AD0C-252FD2BA352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可选：为一个构建目录固定 SDK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972518D5-4179-4F70-AAEF-BF329E17442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4.2.5.2 · 主线不传 SDK 的 -D 参数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EFD4652D-5A17-4FE9-A532-ED37C8912EC5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952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需要固定位置时，在完整配置命令中追加 SDK 根的 -D。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选择保存在该 -B 目录的 CMakeCache，后续构建复用。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默认发现也会保存结果，不需要为了保留选择再手动指定。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换工具组合使用新构建目录，优先级回顾 P003。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4FADF54-39E7-4C60-A24F-791A6B0241B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138768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13DB9154-E674-4020-BEB8-D1F3B3C8665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可选：用户预设固定工程组合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D67EE7C0-F959-4669-B863-BC5ADE7A029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4.2.5.3 · 默认 SDK 发现不要求创建预设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9EDF86F3-C039-4C21-B2A7-3B8EABECBFFB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952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需要固定 SDK 与多项参数时，在应用旁创建本机预设。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cacheVariables 保存选择，执行 cmake --preset 时读取。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不只是为了重新打开终端；包注册本身也跨终端保留。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7.9.5 提供完整替代操作，不修改官方 CMakeLists.txt。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4CF0F2E-6DB5-4DCD-82F1-36B86B843A3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12181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6533630-C822-41FD-A854-31902EEEE3E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setup /c </a:t>
            </a:r>
            <a:r>
              <a:rPr sz="315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写入当前</a:t>
            </a:r>
            <a:r>
              <a:rPr sz="315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Windows </a:t>
            </a:r>
            <a:r>
              <a:rPr sz="315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用户账户</a:t>
            </a:r>
            <a:endParaRPr sz="3150" b="1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FA02B326-EFF7-43F8-8C1C-0116D1ABB68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4.2.6 · 持久的 CMake 包查找候选</a:t>
            </a:r>
            <a:r>
              <a:rPr sz="1575" b="0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575" b="0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575" b="0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575" b="0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575" b="0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575" b="0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4CF1AC8E-68E5-422F-8FFC-E77A2A3ED18D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62696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setup /c 将 SDK 包地址保存到当前 Windows 用户的注册表。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正常主线据此自动发现，不再重复填写 SDK 根和默认类型。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同账户的其他终端与工程可使用；记录跨重启保留。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下图为此前操作记录，实际新地址按下一页查询核对。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4AB4642-EB17-E052-4766-A2F65B7D0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723688"/>
            <a:ext cx="10934700" cy="23488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A52512A-DBC2-4066-A8CC-34D163C5ED7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721274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17CFCB99-26D3-4331-9704-B7D3080C257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PowerShell：保存用户级 SDK 包地址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FA7343ED-FC7D-4239-900F-427809E28CB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4.2.6 · 仅尚未注册或移动后需要更新时执行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826529FF-221D-4D9C-87A4-EF46C2437640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PowerShell；仅尚未注册或 SDK 移动后执行，已有效注册则跳过。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在实际 SDK 根执行，双层解压时修改下面的 Windows 路径。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Set-Location -LiteralPath 'G:\zephyr_practice\zephyr-sdk-1.0.1'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.\setup.cmd /c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B902559-D12F-4A7E-8F5D-610634DAC21E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setup 交互中已注册且地址有效，就跳过本页操作。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这是主线自动发现的准备；显式固定根是另一条可选路线。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A6BBB8C9-1A37-4569-8519-AFCAAC67D2AE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完整命令：P004_Windows/4.2.6-01.txt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8DA4E4E-9204-4A3E-A97C-78AB749FA5A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143534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CAA806FE-EE35-47FE-8660-EC3E7B91216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PowerShell：只读查询 SDK 包地址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8A12F9D8-9A99-44A5-AFBE-6D51501D7E5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4.2.6 · Windows 当前用户注册表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15A12CD2-A9DD-44A2-BFA1-5D7101E755FF}"/>
              </a:ext>
            </a:extLst>
          </p:cNvPr>
          <p:cNvSpPr>
            <a:spLocks noGrp="1"/>
          </p:cNvSpPr>
          <p:nvPr/>
        </p:nvSpPr>
        <p:spPr>
          <a:xfrm>
            <a:off x="590550" y="1838326"/>
            <a:ext cx="10972800" cy="749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</a:t>
            </a:r>
            <a:r>
              <a:rPr sz="187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PowerShell；任意目录；只读查询当前</a:t>
            </a: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Windows </a:t>
            </a:r>
            <a:r>
              <a:rPr sz="187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用户的包记录</a:t>
            </a: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reg.exe query 'HKCU\Software\</a:t>
            </a:r>
            <a:r>
              <a:rPr sz="187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Kitware</a:t>
            </a: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\</a:t>
            </a:r>
            <a:r>
              <a:rPr sz="187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\Packages\Zephyr-</a:t>
            </a:r>
            <a:r>
              <a:rPr sz="187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sdk</a:t>
            </a:r>
            <a:r>
              <a:rPr sz="187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'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F31DA98-D79E-4D98-8028-1C04B6CAE2B5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6215898" cy="108359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这里可能有多个候选地址；实际选择仍看工程配置输出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87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只查询，不下载工具链、不创建记录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1F9FE1F9-C11D-4165-A33A-84EE5A798718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完整命令：P004_Windows/4.2.6-02.txt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7310690-38F5-0CD6-B5B0-CDACF5E53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952525"/>
            <a:ext cx="10953750" cy="1311535"/>
          </a:xfrm>
          <a:prstGeom prst="rect">
            <a:avLst/>
          </a:prstGeom>
        </p:spPr>
      </p:pic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6C958A6-ED31-43E0-BD56-68D7B816AB6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19227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EF8E7B0-D89D-4826-9D21-F6E5A30ADBF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.venv 与 SDK 各自负责什么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C183E52-888A-40EF-9FEE-8CDE21F9C59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4.2.7 · 激活 Python 不等于选择 SDK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190AEF2E-6DE1-4D06-A3A7-707E41DB5EA4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952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激活 .venv 负责 Python 入口与项目包。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按用户包记录自动发现，不要求随后再 export SDK。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只有需要固定 SDK 才选择环境覆盖或用户预设。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不把 SDK 设置写入生成的 activate 脚本。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00929A9-5CB9-4813-A8DD-3BE79AE18A9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631292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D87BF07-6AD9-434D-810B-B26F96B7E08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新增对象不同，接入位置也不同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7BA23B6-4201-49D2-83F3-231463EC34B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4.2.8 · 移植 HC32 前先分清边界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B4BA2F3-26B2-477C-99A8-50C1E29F183E}"/>
              </a:ext>
            </a:extLst>
          </p:cNvPr>
          <p:cNvGraphicFramePr/>
          <p:nvPr/>
        </p:nvGraphicFramePr>
        <p:xfrm>
          <a:off x="609600" y="1924050"/>
          <a:ext cx="10972800" cy="31908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想增加什么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在哪里接入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另一块 Cortex-M4 板 / 芯片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SoC、板和驱动，通常复用 ARM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已发布的其他目标工具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setup /t 或同发行附件，进入 SDK/gnu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GNU 编译器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cross-compile 等 variant 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/ HAL 源码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源码模块，下一阶段讲解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892CE78-A389-4CFD-AE0C-63A26D15B3D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453790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F289755D-BE55-4524-8602-E1AA2D73B44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PowerShell：补装另一套官方工具链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0850F048-35D1-4D9E-B273-4D373C0B68C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4.2.8 · 可选 RISC-V 分支，本期 HC32 不执行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677131A5-AFDE-4E8B-A021-5759E414C4E9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952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先核对当前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清单和同发行附件，再安装缺少的目标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217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根不变，新目标仍需选择对应的板与独立构建目录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217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PowerShell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操作单元见下方链接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" name="Command file link">
            <a:extLst>
              <a:ext uri="{FF2B5EF4-FFF2-40B4-BE49-F238E27FC236}">
                <a16:creationId xmlns:a16="http://schemas.microsoft.com/office/drawing/2014/main" id="{325940E5-2332-4148-9CF2-2D16508401F1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完整命令：P004_Windows/4.2.8-01.txt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F1BD25C-9367-4DFD-8CA3-C7C36B3015E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231244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7A8E916-D337-4E3B-B4B4-99466E45E98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外部编译器与自建 SDK 的入口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EB9C8CBB-620C-4868-959C-8512ECBF733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4.2.8 · 回顾 P003 扩展规则，再明确维护范围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D7123C11-0D4D-4DD4-8AB3-0F4D9B1F85CF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952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外部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GNU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工具链：cross-compile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配合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CROSS_COMPILE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前缀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217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它独立安装，不能把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bin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目录当作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SDK 根。</a:t>
            </a:r>
            <a:endParaRPr lang="en-US" sz="217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维护新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SDK：从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-ng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构建源码入手，处理工具、库与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映射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217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新增指令集还需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架构支持；复制一个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gcc.exe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并不能完成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118B927-76A6-463F-A114-6739D7EC794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020473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6502</Words>
  <Application>Microsoft Office PowerPoint</Application>
  <DocSecurity>0</DocSecurity>
  <PresentationFormat>宽屏</PresentationFormat>
  <Paragraphs>793</Paragraphs>
  <Slides>45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127</cp:revision>
  <dcterms:created xsi:type="dcterms:W3CDTF">2026-10-06T03:23:18Z</dcterms:created>
  <dcterms:modified xsi:type="dcterms:W3CDTF">2026-10-06T14:55:41Z</dcterms:modified>
</cp:coreProperties>
</file>