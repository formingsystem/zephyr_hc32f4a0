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lesson_9_1.xml" ContentType="application/vnd.openxmlformats-officedocument.presentationml.slide+xml"/>
  <Override PartName="/ppt/notesSlides/lesson_9_1.xml" ContentType="application/vnd.openxmlformats-officedocument.presentationml.notesSlide+xml"/>
  <Override PartName="/ppt/slides/guide28.xml" ContentType="application/vnd.openxmlformats-officedocument.presentationml.slide+xml"/>
  <Override PartName="/ppt/notesSlides/guide28.xml" ContentType="application/vnd.openxmlformats-officedocument.presentationml.notesSlide+xml"/>
  <Override PartName="/ppt/slides/guide29.xml" ContentType="application/vnd.openxmlformats-officedocument.presentationml.slide+xml"/>
  <Override PartName="/ppt/notesSlides/guide2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68"/>
  </p:notesMasterIdLst>
  <p:sldIdLst>
    <p:sldId id="801" r:id="rIdGuideOrder1"/>
    <p:sldId id="802" r:id="rIdGuideOrder2"/>
    <p:sldId id="803" r:id="rIdGuideOrder3"/>
    <p:sldId id="804" r:id="rIdGuideOrder4"/>
    <p:sldId id="805" r:id="rIdGuideOrder5"/>
    <p:sldId id="806" r:id="rIdGuideOrder6"/>
    <p:sldId id="807" r:id="rIdGuideOrder7"/>
    <p:sldId id="808" r:id="rIdGuideOrder8"/>
    <p:sldId id="809" r:id="rIdGuideOrder9"/>
    <p:sldId id="810" r:id="rIdGuideOrder10"/>
    <p:sldId id="811" r:id="rIdGuideOrder11"/>
    <p:sldId id="812" r:id="rIdGuideOrder12"/>
    <p:sldId id="813" r:id="rIdGuideOrder13"/>
    <p:sldId id="814" r:id="rIdGuideOrder14"/>
    <p:sldId id="815" r:id="rIdGuideOrder15"/>
    <p:sldId id="816" r:id="rIdGuideOrder16"/>
    <p:sldId id="817" r:id="rIdGuideOrder17"/>
    <p:sldId id="818" r:id="rIdGuideOrder18"/>
    <p:sldId id="819" r:id="rIdGuideOrder19"/>
    <p:sldId id="820" r:id="rIdGuideOrder20"/>
    <p:sldId id="821" r:id="rIdGuideOrder21"/>
    <p:sldId id="822" r:id="rIdGuideOrder22"/>
    <p:sldId id="823" r:id="rIdGuideOrder23"/>
    <p:sldId id="824" r:id="rIdGuideOrder24"/>
    <p:sldId id="825" r:id="rIdGuideOrder25"/>
    <p:sldId id="826" r:id="rIdGuideOrder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68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5" Type="http://schemas.openxmlformats.org/officeDocument/2006/relationships/slideMaster" Target="slideMasters/slideMaster5.xml"/><Relationship Id="rId69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GuideOrder1" Type="http://schemas.openxmlformats.org/officeDocument/2006/relationships/slide" Target="slides/slide1.xml"/><Relationship Id="rIdGuideOrder2" Type="http://schemas.openxmlformats.org/officeDocument/2006/relationships/slide" Target="slides/lesson_9_1.xml"/><Relationship Id="rIdGuideOrder3" Type="http://schemas.openxmlformats.org/officeDocument/2006/relationships/slide" Target="slides/slide3.xml"/><Relationship Id="rIdGuideOrder4" Type="http://schemas.openxmlformats.org/officeDocument/2006/relationships/slide" Target="slides/slide18.xml"/><Relationship Id="rIdGuideOrder5" Type="http://schemas.openxmlformats.org/officeDocument/2006/relationships/slide" Target="slides/slide19.xml"/><Relationship Id="rIdGuideOrder6" Type="http://schemas.openxmlformats.org/officeDocument/2006/relationships/slide" Target="slides/slide20.xml"/><Relationship Id="rIdGuideOrder7" Type="http://schemas.openxmlformats.org/officeDocument/2006/relationships/slide" Target="slides/slide21.xml"/><Relationship Id="rIdGuideOrder8" Type="http://schemas.openxmlformats.org/officeDocument/2006/relationships/slide" Target="slides/guide28.xml"/><Relationship Id="rIdGuideOrder9" Type="http://schemas.openxmlformats.org/officeDocument/2006/relationships/slide" Target="slides/slide22.xml"/><Relationship Id="rIdGuideOrder10" Type="http://schemas.openxmlformats.org/officeDocument/2006/relationships/slide" Target="slides/slide23.xml"/><Relationship Id="rIdGuideOrder11" Type="http://schemas.openxmlformats.org/officeDocument/2006/relationships/slide" Target="slides/slide24.xml"/><Relationship Id="rIdGuideOrder12" Type="http://schemas.openxmlformats.org/officeDocument/2006/relationships/slide" Target="slides/slide25.xml"/><Relationship Id="rIdGuideOrder13" Type="http://schemas.openxmlformats.org/officeDocument/2006/relationships/slide" Target="slides/slide26.xml"/><Relationship Id="rIdGuideOrder14" Type="http://schemas.openxmlformats.org/officeDocument/2006/relationships/slide" Target="slides/slide27.xml"/><Relationship Id="rIdGuideOrder15" Type="http://schemas.openxmlformats.org/officeDocument/2006/relationships/slide" Target="slides/slide28.xml"/><Relationship Id="rIdGuideOrder16" Type="http://schemas.openxmlformats.org/officeDocument/2006/relationships/slide" Target="slides/slide29.xml"/><Relationship Id="rIdGuideOrder17" Type="http://schemas.openxmlformats.org/officeDocument/2006/relationships/slide" Target="slides/slide30.xml"/><Relationship Id="rIdGuideOrder18" Type="http://schemas.openxmlformats.org/officeDocument/2006/relationships/slide" Target="slides/slide31.xml"/><Relationship Id="rIdGuideOrder19" Type="http://schemas.openxmlformats.org/officeDocument/2006/relationships/slide" Target="slides/slide32.xml"/><Relationship Id="rIdGuideOrder20" Type="http://schemas.openxmlformats.org/officeDocument/2006/relationships/slide" Target="slides/slide33.xml"/><Relationship Id="rIdGuideOrder21" Type="http://schemas.openxmlformats.org/officeDocument/2006/relationships/slide" Target="slides/slide34.xml"/><Relationship Id="rIdGuideOrder22" Type="http://schemas.openxmlformats.org/officeDocument/2006/relationships/slide" Target="slides/slide35.xml"/><Relationship Id="rIdGuideOrder23" Type="http://schemas.openxmlformats.org/officeDocument/2006/relationships/slide" Target="slides/slide36.xml"/><Relationship Id="rIdGuideOrder24" Type="http://schemas.openxmlformats.org/officeDocument/2006/relationships/slide" Target="slides/slide37.xml"/><Relationship Id="rIdGuideOrder25" Type="http://schemas.openxmlformats.org/officeDocument/2006/relationships/slide" Target="slides/guide29.xml"/><Relationship Id="rIdGuideOrder26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guide28.xml.rels><?xml version='1.0' encoding='UTF-8' standalone='yes'?>
<Relationships xmlns="http://schemas.openxmlformats.org/package/2006/relationships"><Relationship Id="rId2" Type="http://schemas.openxmlformats.org/officeDocument/2006/relationships/slide" Target="../slides/guide28.xml"/><Relationship Id="rId1" Type="http://schemas.openxmlformats.org/officeDocument/2006/relationships/notesMaster" Target="../notesMasters/notesMaster1.xml"/></Relationships>
</file>

<file path=ppt/notesSlides/_rels/guide29.xml.rels><?xml version='1.0' encoding='UTF-8' standalone='yes'?>
<Relationships xmlns="http://schemas.openxmlformats.org/package/2006/relationships"><Relationship Id="rId2" Type="http://schemas.openxmlformats.org/officeDocument/2006/relationships/slide" Target="../slides/guide29.xml"/><Relationship Id="rId1" Type="http://schemas.openxmlformats.org/officeDocument/2006/relationships/notesMaster" Target="../notesMasters/notesMaster1.xml"/></Relationships>
</file>

<file path=ppt/notesSlides/_rels/lesson_9_1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9_1.xml"/><Relationship Id="rId1" Type="http://schemas.openxmlformats.org/officeDocument/2006/relationships/notesMaster" Target="../notesMasters/notesMaster1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gu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10.1.3。</a:t>
            </a:r>
          </a:p>
          <a:p>
            <a:r>
              <a:t>board.yml 登记 mps2/an386；Kconfig.mps2 按 BOARD_MPS2_AN386 选择 SOC_AN386；SoC Kconfig 继续选择 MPS2 系列、ARM 和 Cortex-M4 能力。</a:t>
            </a:r>
          </a:p>
          <a:p>
            <a:r>
              <a:t>soc/arm/CMakeLists.txt 按 CONFIG_SOC_SERIES 进入 mps2 子目录，再以 zephyr_sources(soc.c) 加入实现。应用无需重复列出平台源码。</a:t>
            </a:r>
          </a:p>
          <a:p>
            <a:r>
              <a:t>按顺序核对 .config 的 SOC/CPU、编译清单的 mps2/soc.c 和命令里的 CPU 参数。名字、配置结果、任务生成是三个需要接上的证据。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gu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10.3.4。</a:t>
            </a:r>
          </a:p>
          <a:p>
            <a:r>
              <a:t>先分开硬件支持职责与包名：MPS2 有 Keil BSP；本次复位/NVIC、SysTick、GPIO/pinctrl 与 UART 来自 Zephyr，通用 Core 接口来自 CMSIS_6。</a:t>
            </a:r>
          </a:p>
          <a:p>
            <a:r>
              <a:t>以 UART 为例：DTS compatible → UART_CMSDK_APB 配置 → CMake 选入 uart_cmsdk_apb.c。该驱动直接操作寄存器；若另一个驱动调用厂商 API，再追它引用的外部库。</a:t>
            </a:r>
          </a:p>
          <a:p>
            <a:r>
              <a:t>west list 只回答活动清单能管理哪些项目，不会为 BOARD 解析全部需求。用它找 CMSIS 等下载项目，再用 .config、模块记录、include 路径和编译单元证明本次实际使用。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9_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对应正文：P010_Zephyr的CMake输入与依赖发现_Windows.md</a:t>
            </a:r>
          </a:p>
          <a:p>
            <a:r>
              <a:t>10.1—10.3 · 沿源码选择理解接口</a:t>
            </a:r>
          </a:p>
          <a:p>
            <a:r>
              <a:t>前置：P008 已完成直接 CMake 构建。</a:t>
            </a:r>
          </a:p>
          <a:p>
            <a:r>
              <a:t>BOARD 选 SoC；DTS/Kconfig 选驱动；模块接入外部头与库。</a:t>
            </a:r>
          </a:p>
          <a:p>
            <a:r>
              <a:t>每一步都查读取规则，再用配置和编译清单核对。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依据：https://docs.zephyrproject.org/latest/build/cmake/index.html</a:t>
            </a:r>
          </a:p>
          <a:p>
            <a:r>
              <a:t>本机原件：doc/build/cmake/index.rst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 P002 主机工具与 Python。本章建立 Zephyr CMake 接口的共同模型：输入由谁读取、默认如何工作、保存在哪里，以及何时需要覆盖。后续 P003—P012 回顾各自接口，并讲解本模块的结构与完整实验。</a:t>
            </a:r>
          </a:p>
          <a:p>
            <a:r>
              <a:t>配套正文：learning/P01_zephyr_make_project/P010_Zephyr应用构建_Windows.md。</a:t>
            </a:r>
          </a:p>
          <a:p>
            <a:r>
              <a:t>源码依据：Zephyr cmake/modules/FindZephyr-sdk.cmake、FindHostTools.cmake、FindTargetTools.cmake、zephyr_module.cmake 与 extensions.cmake；SDK 1.0.1 的 cmake 包。</a:t>
            </a:r>
          </a:p>
          <a:p>
            <a:r>
              <a:t>主讲人：lizhaojun。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配套正文：P008_Zephyr应用构建_Windows.md#section-8-1-4</a:t>
            </a:r>
          </a:p>
          <a:p>
            <a:r>
              <a:t>10.1 · 本册总览：各类输入</a:t>
            </a:r>
          </a:p>
          <a:p>
            <a:endParaRPr/>
          </a:p>
          <a:p>
            <a:endParaRPr/>
          </a:p>
          <a:p>
            <a:r>
              <a:t>讲解展开：</a:t>
            </a:r>
          </a:p>
          <a:p>
            <a:r>
              <a:t>### 10.1\_这套设计解决什么问题</a:t>
            </a:r>
          </a:p>
          <a:p>
            <a:endParaRPr/>
          </a:p>
          <a:p>
            <a:r>
              <a:t>从上面的分工可以理解设计意图：应用描述“我要加入什么代码”，板/SoC 描述“代码面对什么硬件”，Kconfig 描述“启用什么能力”，工具链规则描述“怎样调用某类编译器”，模块元数据描述“外部项目怎样参加这些步骤”。CMake 把它们组合成同一个构建模型。</a:t>
            </a:r>
          </a:p>
          <a:p>
            <a:endParaRPr/>
          </a:p>
          <a:p>
            <a:r>
              <a:t>这种解释是对官方配置流程和实现边界的归纳，不是官方逐字宣言。它带来的实际效果是：换板时可以复用应用源码；增加一个 HAL 项目可以通过模块入口接入；采用已有工具链类型时不需要修改每个应用的编译器命令；每个构建目录独立保存本次组合。扩展仍须满足接口约定，不是给文件夹起一个名字就自动生效。</a:t>
            </a:r>
          </a:p>
          <a:p>
            <a:endParaRPr/>
          </a:p>
          <a:p>
            <a:r>
              <a:t>下面用思维导图看职责分区。它表示“有哪些部分”，不表示执行顺序；实际先后关系仍看上一节流程图。</a:t>
            </a:r>
          </a:p>
          <a:p>
            <a:endParaRPr/>
          </a:p>
          <a:p>
            <a:r>
              <a:t>```mermaid</a:t>
            </a:r>
          </a:p>
          <a:p>
            <a:r>
              <a:t>%%{init: {"theme": "base", "themeVariables": {"primaryColor": "#344B70", "primaryTextColor": "#FFFFFF", "primaryBorderColor": "#AAB4C5", "lineColor": "#8591A5", "cScale0": "#344B70", "cScaleLabel0": "#FFFFFF", "cScale1": "#435C3A", "cScaleLabel1": "#FFFFFF", "cScale2": "#654778", "cScaleLabel2": "#FFFFFF", "cScale3": "#6D493D", "cScaleLabel3": "#FFFFFF", "cScale4": "#245D63", "cScaleLabel4": "#FFFFFF", "cScale5": "#574D72", "cScaleLabel5": "#FFFFFF", "cScale6": "#344B70", "cScaleLabel6": "#FFFFFF", "cScale7": "#435C3A", "cScaleLabel7": "#FFFFFF", "cScale8": "#654778", "cScaleLabel8": "#FFFFFF", "cScale9": "#6D493D", "cScaleLabel9": "#FFFFFF", "cScale10": "#245D63", "cScaleLabel10": "#FFFFFF", "cScale11": "#574D72", "cScaleLabel11": "#FFFFFF"}}}%%</a:t>
            </a:r>
          </a:p>
          <a:p>
            <a:r>
              <a:t>mindmap</a:t>
            </a:r>
          </a:p>
          <a:p>
            <a:r>
              <a:t>  root((应用的 Zephyr 构建))</a:t>
            </a:r>
          </a:p>
          <a:p>
            <a:r>
              <a:t>    入口与执行者</a:t>
            </a:r>
          </a:p>
          <a:p>
            <a:r>
              <a:t>      应用 CMakeLists</a:t>
            </a:r>
          </a:p>
          <a:p>
            <a:r>
              <a:t>      CMake 与 Ninja</a:t>
            </a:r>
          </a:p>
          <a:p>
            <a:r>
              <a:t>      编译器和生成脚本</a:t>
            </a:r>
          </a:p>
          <a:p>
            <a:r>
              <a:t>    硬件与功能输入</a:t>
            </a:r>
          </a:p>
          <a:p>
            <a:r>
              <a:t>      BOARD 和 SoC</a:t>
            </a:r>
          </a:p>
          <a:p>
            <a:r>
              <a:t>      Kconfig 配置片段</a:t>
            </a:r>
          </a:p>
          <a:p>
            <a:r>
              <a:t>      DTS 和 overlay</a:t>
            </a:r>
          </a:p>
          <a:p>
            <a:r>
              <a:t>    工具来源</a:t>
            </a:r>
          </a:p>
          <a:p>
            <a:r>
              <a:t>      SDK 包发现</a:t>
            </a:r>
          </a:p>
          <a:p>
            <a:r>
              <a:t>      工具链适配规则</a:t>
            </a:r>
          </a:p>
          <a:p>
            <a:r>
              <a:t>    外部源码</a:t>
            </a:r>
          </a:p>
          <a:p>
            <a:r>
              <a:t>      west 项目候选</a:t>
            </a:r>
          </a:p>
          <a:p>
            <a:r>
              <a:t>      模块元数据与入口</a:t>
            </a:r>
          </a:p>
          <a:p>
            <a:r>
              <a:t>    构建结果</a:t>
            </a:r>
          </a:p>
          <a:p>
            <a:r>
              <a:t>      配置与模块记录</a:t>
            </a:r>
          </a:p>
          <a:p>
            <a:r>
              <a:t>      目标和依赖关系</a:t>
            </a:r>
          </a:p>
          <a:p>
            <a:r>
              <a:t>      最终固件</a:t>
            </a:r>
          </a:p>
          <a:p>
            <a:r>
              <a:t>```</a:t>
            </a:r>
          </a:p>
          <a:p>
            <a:endParaRPr/>
          </a:p>
          <a:p>
            <a:r>
              <a:t>&lt;a id="section-10-1"&gt;&lt;/a&gt;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配套正文：P008_Zephyr应用构建_Windows.md#section-8-1-4</a:t>
            </a:r>
          </a:p>
          <a:p>
            <a:r>
              <a:t>10.1 · 初始化与输入次序</a:t>
            </a:r>
          </a:p>
          <a:p>
            <a:r>
              <a:t>模块可提供额外板、SoC 和设备树目录，所以先发现模块。</a:t>
            </a:r>
          </a:p>
          <a:p>
            <a:r>
              <a:t>知道搜索根后才能选板，再选配置文件。</a:t>
            </a:r>
          </a:p>
          <a:p>
            <a:r>
              <a:t>设备树信息可供 Kconfig 使用，因此先设备树、后 Kconfig。</a:t>
            </a:r>
          </a:p>
          <a:p>
            <a:endParaRPr/>
          </a:p>
          <a:p>
            <a:r>
              <a:t>设备树预处理已需要工具，dts.cmake 会请求 HostTools。</a:t>
            </a:r>
          </a:p>
          <a:p>
            <a:r>
              <a:t>硬件配置形成后，TargetTools 完成目标工具与参数设置。</a:t>
            </a:r>
          </a:p>
          <a:p>
            <a:r>
              <a:t>这个顺序直接列在 zephyr_default.cmake 中。</a:t>
            </a:r>
          </a:p>
          <a:p>
            <a:endParaRPr/>
          </a:p>
          <a:p>
            <a:r>
              <a:t>讲解展开：</a:t>
            </a:r>
          </a:p>
          <a:p>
            <a:r>
              <a:t>### 10.1\_find_package 里面实际走了哪条路</a:t>
            </a:r>
          </a:p>
          <a:p>
            <a:endParaRPr/>
          </a:p>
          <a:p>
            <a:r>
              <a:t>不要把 `find_package(Zephyr)` 理解为只保存一个路径。它会执行包配置里的初始化代码。在本章版本中，普通单应用、未指定特殊 COMPONENTS 时，主线是：</a:t>
            </a:r>
          </a:p>
          <a:p>
            <a:endParaRPr/>
          </a:p>
          <a:p>
            <a:r>
              <a:t>```mermaid</a:t>
            </a:r>
          </a:p>
          <a:p>
            <a:r>
              <a:t>flowchart TD</a:t>
            </a:r>
          </a:p>
          <a:p>
            <a:r>
              <a:t>    A["应用 CMakeLists.txt"] --&gt; B["ZephyrConfig.cmake：确定源码根"]</a:t>
            </a:r>
          </a:p>
          <a:p>
            <a:r>
              <a:t>    B --&gt; C["zephyr_default.cmake：按顺序加载构建模块"]</a:t>
            </a:r>
          </a:p>
          <a:p>
            <a:r>
              <a:t>    C --&gt; D["先识别外部模块与额外搜索根"]</a:t>
            </a:r>
          </a:p>
          <a:p>
            <a:r>
              <a:t>    D --&gt; E["选板、配置文件、设备树和 Kconfig"]</a:t>
            </a:r>
          </a:p>
          <a:p>
            <a:r>
              <a:t>    E --&gt; F["kernel.cmake：目标工具与 app 库"]</a:t>
            </a:r>
          </a:p>
          <a:p>
            <a:r>
              <a:t>    F --&gt; G["Zephyr 根 CMakeLists.txt：内核、驱动和外部模块目标"]</a:t>
            </a:r>
          </a:p>
          <a:p>
            <a:r>
              <a:t>    G --&gt; H["返回应用，target_sources 添加 main.c"]</a:t>
            </a:r>
          </a:p>
          <a:p>
            <a:r>
              <a:t>```</a:t>
            </a:r>
          </a:p>
          <a:p>
            <a:endParaRPr/>
          </a:p>
          <a:p>
            <a:r>
              <a:t>包入口把 Zephyr 的 `cmake/modules` 加入 `CMAKE_MODULE_PATH`，所以随后 `include(zephyr_default)` 能找到 Zephyr 自己的脚本。这里 CMake module 指 `.cmake` 脚本；下一节所说的外部 Zephyr module 则是符合接入约定的源码项目。两者都叫 module，但不是同一种对象。</a:t>
            </a:r>
          </a:p>
          <a:p>
            <a:endParaRPr/>
          </a:p>
          <a:p>
            <a:r>
              <a:t>默认顺序不是随意安排。外部源码模块可能提供新的 `board_root`、`soc_root` 或 `dts_root`，必须先取得这些位置，才能找板；Kconfig 可以使用设备树信息，所以先处理设备树，再计算功能配置；有了硬件与功能配置，才确定目标参数、建立库和链接关系。处理设备树已经需要 C 预处理器，因此工具发现也不是全部等到最后：`dts.cmake` 会先请求 HostTools，`kernel.cmake` 随后请求 TargetTools 完成目标工具设置。</a:t>
            </a:r>
          </a:p>
          <a:p>
            <a:endParaRPr/>
          </a:p>
          <a:p>
            <a:r>
              <a:t>最后 Zephyr 根 `CMakeLists.txt` 收集各部分目标，之后返回应用继续执行 `project` 和 `target_sources`。这也解释了为什么正常应用构建的 `-S` 应指向 `samples/hello_world` 等**应用目录**，不能仅因源码根也有 CMakeLists.txt 就指向根目录。依据：[包入口 include_boilerplate](https://github.com/zephyrproject-rtos/zephyr/blob/25c8f4a23988dd3b2cfb463613622738298c2d6c/share/zephyr-package/cmake/ZephyrConfig.cmake#L28)（原件 `share/zephyr-package/cmake/ZephyrConfig.cmake`，第 28 行附近）；[默认初始化顺序](https://github.com/zephyrproject-rtos/zephyr/blob/25c8f4a23988dd3b2cfb463613622738298c2d6c/cmake/modules/zephyr_default.cmake#L71)（原件 `cmake/modules/zephyr_default.cmake`，第 71 行附近）；[设备树配置入口](https://github.com/zephyrproject-rtos/zephyr/blob/25c8f4a23988dd3b2cfb463613622738298c2d6c/cmake/modules/dts.cmake#L9)（原件 `cmake/modules/dts.cmake`，第 9 行附近）；[app 目标创建处](https://github.com/zephyrproject-rtos/zephyr/blob/25c8f4a23988dd3b2cfb463613622738298c2d6c/cmake/modules/kernel.cmake#L236)（原件 `cmake/modules/kernel.cmake`，第 236 行附近）；[外部模块 CMake 入口加载处](https://github.com/zephyrproject-rtos/zephyr/blob/25c8f4a23988dd3b2cfb463613622738298c2d6c/CMakeLists.txt#L778)（原件 `CMakeLists.txt`，第 778 行附近）。</a:t>
            </a:r>
          </a:p>
          <a:p>
            <a:endParaRPr/>
          </a:p>
          <a:p>
            <a:r>
              <a:t>&lt;a id="section-7-1-5"&gt;&lt;/a&gt;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配套正文：P010_Zephyr的CMake输入与依赖发现_Windows.md#section-10-1-1</a:t>
            </a:r>
          </a:p>
          <a:p>
            <a:r>
              <a:t>10.1.1 · ② 各类输入</a:t>
            </a:r>
          </a:p>
          <a:p>
            <a:r>
              <a:t>find_package、target_sources：CMake 原生命令。</a:t>
            </a:r>
          </a:p>
          <a:p>
            <a:r>
              <a:t>zephyr_library：Zephyr 定义的 CMake 宏。</a:t>
            </a:r>
          </a:p>
          <a:p>
            <a:r>
              <a:t>BOARD、CONF_FILE：Zephyr 脚本读取的输入。</a:t>
            </a:r>
          </a:p>
          <a:p>
            <a:r>
              <a:t>Zephyr_DIR：CMake 的包目录命名约定。</a:t>
            </a:r>
          </a:p>
          <a:p>
            <a:r>
              <a:t>CONFIG_GPIO：Kconfig 计算后的功能值。</a:t>
            </a:r>
          </a:p>
          <a:p>
            <a:r>
              <a:t>ZEPHYR_HAL_XHSC_MODULE_DIR：模块发现后的目录结果。</a:t>
            </a:r>
          </a:p>
          <a:p>
            <a:endParaRPr/>
          </a:p>
          <a:p>
            <a:r>
              <a:t>-D 只是传值语法；没人读取的自造变量不会产生接入效果。</a:t>
            </a:r>
          </a:p>
          <a:p>
            <a:endParaRPr/>
          </a:p>
          <a:p>
            <a:r>
              <a:t>讲解展开：</a:t>
            </a:r>
          </a:p>
          <a:p>
            <a:r>
              <a:t>### 10.1.1\_先区分命令、输入和结果</a:t>
            </a:r>
          </a:p>
          <a:p>
            <a:endParaRPr/>
          </a:p>
          <a:p>
            <a:r>
              <a:t>所谓接口，是调用者与读取者之间的约定：传什么、在哪里传、何时读取、返回什么。Zephyr 的 CMake 接口不只有变量，也包括包入口、函数、目标、属性以及模块元数据。</a:t>
            </a:r>
          </a:p>
          <a:p>
            <a:endParaRPr/>
          </a:p>
          <a:p>
            <a:r>
              <a:t>| 看到的写法 | 属于谁 | 在这里的用途 |</a:t>
            </a:r>
          </a:p>
          <a:p>
            <a:r>
              <a:t>| --- | --- | --- |</a:t>
            </a:r>
          </a:p>
          <a:p>
            <a:r>
              <a:t>| `find_package`、`target_sources`、`add_subdirectory` | CMake 原生命令 | 查包、修改目标、执行子目录构建脚本 |</a:t>
            </a:r>
          </a:p>
          <a:p>
            <a:r>
              <a:t>| `zephyr_library()`、`zephyr_library_sources_ifdef()` | Zephyr 在 extensions.cmake 定义的宏/函数 | 按 Zephyr 的库约定创建目标并按配置加入源码 |</a:t>
            </a:r>
          </a:p>
          <a:p>
            <a:r>
              <a:t>| `BOARD`、`CONF_FILE`、`EXTRA_ZEPHYR_MODULES` | Zephyr 构建脚本接受的输入 | 选硬件、选配置片段、追加模块 |</a:t>
            </a:r>
          </a:p>
          <a:p>
            <a:r>
              <a:t>| `Zephyr_DIR` | CMake 的 `&lt;Package&gt;_DIR` 约定 | 定位名为 Zephyr 的包配置目录 |</a:t>
            </a:r>
          </a:p>
          <a:p>
            <a:r>
              <a:t>| `CONFIG_GPIO` | Kconfig 配置结果 | 供 CMake 和 C 代码决定是否启用相应功能 |</a:t>
            </a:r>
          </a:p>
          <a:p>
            <a:r>
              <a:t>| `ZEPHYR_HAL_XHSC_MODULE_DIR` | Zephyr 模块发现产生的结果 | 让后续 CMake 脚本引用已识别模块根 |</a:t>
            </a:r>
          </a:p>
          <a:p>
            <a:endParaRPr/>
          </a:p>
          <a:p>
            <a:r>
              <a:t>`-D名字=值` 是 CMake 的传入语法；它本身不会赋予某个名字功能。如果 Zephyr 没有读取 `MY_HAL_PATH`，单独添加这个自造变量不会接入 HAL。同样，结果变量通常不该由使用者提前伪造。依据：[CMake 原生命令索引](https://cmake.org/cmake/help/latest/manual/cmake-commands.7.html)（原件 `CMake 原生命令手册`）；[扩展函数参考页](https://docs.zephyrproject.org/latest/build/cmake-ref/module/extensions.html)（原件 `doc/build/cmake-ref/module/extensions.rst`，第 1 行附近）；[派生模块目录变量创建处](https://github.com/zephyrproject-rtos/zephyr/blob/25c8f4a23988dd3b2cfb463613622738298c2d6c/cmake/modules/zephyr_module.cmake#L141)（原件 `cmake/modules/zephyr_module.cmake`，第 141 行附近）。</a:t>
            </a:r>
          </a:p>
          <a:p>
            <a:endParaRPr/>
          </a:p>
          <a:p>
            <a:r>
              <a:t>&lt;a id="section-10-1-2"&gt;&lt;/a&gt;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官方说明：https://docs.zephyrproject.org/latest/build/cmake-ref/index.html</a:t>
            </a:r>
          </a:p>
          <a:p>
            <a:r>
              <a:t>仓库原件：https://github.com/zephyrproject-rtos/zephyr/blob/25c8f4a23988dd3b2cfb463613622738298c2d6c/doc/build/cmake-ref/index.rst#L3</a:t>
            </a:r>
          </a:p>
          <a:p>
            <a:r>
              <a:t>实现定位：https://github.com/zephyrproject-rtos/zephyr/blob/25c8f4a23988dd3b2cfb463613622738298c2d6c/cmake/modules/zephyr_module.cmake#L141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配套正文：P010_Zephyr的CMake输入与依赖发现_Windows.md#section-10-1-2</a:t>
            </a:r>
          </a:p>
          <a:p>
            <a:r>
              <a:t>10.1.2 · ② 各类输入</a:t>
            </a:r>
          </a:p>
          <a:p>
            <a:r>
              <a:t>CMake 的 -S 指应用目录，例如 samples/hello_world。</a:t>
            </a:r>
          </a:p>
          <a:p>
            <a:r>
              <a:t>ZEPHYR_BASE 指 Zephyr 源码根，里面有 boards、cmake、kernel。</a:t>
            </a:r>
          </a:p>
          <a:p>
            <a:r>
              <a:t>Zephyr_DIR 指含 ZephyrConfig.cmake 的包目录。</a:t>
            </a:r>
          </a:p>
          <a:p>
            <a:r>
              <a:t>SDK 则在源码外面，是另一种包。</a:t>
            </a:r>
          </a:p>
          <a:p>
            <a:endParaRPr/>
          </a:p>
          <a:p>
            <a:r>
              <a:t>包搜索能正常定位源码时，不必重复给出所有路径。</a:t>
            </a:r>
          </a:p>
          <a:p>
            <a:r>
              <a:t>显式输入适合固定源码副本；同时提供的路径必须互相一致。</a:t>
            </a:r>
          </a:p>
          <a:p>
            <a:endParaRPr/>
          </a:p>
          <a:p>
            <a:r>
              <a:t>讲解展开：</a:t>
            </a:r>
          </a:p>
          <a:p>
            <a:r>
              <a:t>### 10.1.2\_源码包位置和应用位置是不同输入</a:t>
            </a:r>
          </a:p>
          <a:p>
            <a:endParaRPr/>
          </a:p>
          <a:p>
            <a:r>
              <a:t>应用是 `-S` 所指向的目录；Zephyr 源码根含 `boards`、`cmake`、`kernel` 等目录；SDK 则是另外安装的工具包。三者必须分清。</a:t>
            </a:r>
          </a:p>
          <a:p>
            <a:endParaRPr/>
          </a:p>
          <a:p>
            <a:r>
              <a:t>`ZEPHYR_BASE` 表示 Zephyr 源码根，例如本系列的 `G:/zephyr_practice/zephyr-main`。`Zephyr_DIR` 表示包含 `ZephyrConfig.cmake` 的包目录，在该源码中为 `share/zephyr-package/cmake`。应用可以根据包搜索规则找到 Zephyr；`west zephyr-export` 可把源码包加入当前用户的 CMake 包记录。显式指定入口适合同时存在多份源码、需要固定本次选择的情形。</a:t>
            </a:r>
          </a:p>
          <a:p>
            <a:endParaRPr/>
          </a:p>
          <a:p>
            <a:r>
              <a:t>因此并不是每个工程都必须同时设置两项。若两项同时提供，必须指向同一份源码，防止“找到了 A 的包，却要求它使用 B 的源码”。P012 为明确区分本机源码副本给出具体选择；这不会选择 SDK。依据：[Zephyr 包发现说明](https://docs.zephyrproject.org/latest/build/zephyr_cmake_package.html)（原件 `doc/build/zephyr_cmake_package.rst`，第 3 行附近）；[包入口 include_boilerplate](https://github.com/zephyrproject-rtos/zephyr/blob/25c8f4a23988dd3b2cfb463613622738298c2d6c/share/zephyr-package/cmake/ZephyrConfig.cmake#L28)（原件 `share/zephyr-package/cmake/ZephyrConfig.cmake`，第 28 行附近）。</a:t>
            </a:r>
          </a:p>
          <a:p>
            <a:endParaRPr/>
          </a:p>
          <a:p>
            <a:r>
              <a:t>&lt;a id="section-10-1-3"&gt;&lt;/a&gt;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官方说明：https://docs.zephyrproject.org/latest/build/zephyr_cmake_package.html</a:t>
            </a:r>
          </a:p>
          <a:p>
            <a:r>
              <a:t>仓库原件：https://github.com/zephyrproject-rtos/zephyr/blob/25c8f4a23988dd3b2cfb463613622738298c2d6c/doc/build/zephyr_cmake_package.rst#L3</a:t>
            </a:r>
          </a:p>
          <a:p>
            <a:r>
              <a:t>实现定位：https://github.com/zephyrproject-rtos/zephyr/blob/25c8f4a23988dd3b2cfb463613622738298c2d6c/share/zephyr-package/cmake/ZephyrConfig.cmake#L28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配套正文：P010_Zephyr的CMake输入与依赖发现_Windows.md#section-10-1-3</a:t>
            </a:r>
          </a:p>
          <a:p>
            <a:r>
              <a:t>10.1.3 · ② 各类输入</a:t>
            </a:r>
          </a:p>
          <a:p>
            <a:r>
              <a:t>mps2/an386 是板目标标识，不是磁盘目录。</a:t>
            </a:r>
          </a:p>
          <a:p>
            <a:r>
              <a:t>板 Kconfig 选 SOC_AN386，SoC 再选择 Cortex-M4。</a:t>
            </a:r>
          </a:p>
          <a:p>
            <a:r>
              <a:t>SoC CMake 进入 mps2，加入 soc.c。</a:t>
            </a:r>
          </a:p>
          <a:p>
            <a:endParaRPr/>
          </a:p>
          <a:p>
            <a:r>
              <a:t>树外新增板才需要额外搜索根或模块 settings。</a:t>
            </a:r>
          </a:p>
          <a:p>
            <a:r>
              <a:t>BOARD_ROOT 指下面包含 boards 的根，不是 board.yml 文件。</a:t>
            </a:r>
          </a:p>
          <a:p>
            <a:r>
              <a:t>添加搜索位置只解决发现问题，硬件支持文件仍须实现。</a:t>
            </a:r>
          </a:p>
          <a:p>
            <a:endParaRPr/>
          </a:p>
          <a:p>
            <a:r>
              <a:t>讲解展开：</a:t>
            </a:r>
          </a:p>
          <a:p>
            <a:r>
              <a:t>### 10.1.3\_BOARD 怎样落实到硬件</a:t>
            </a:r>
          </a:p>
          <a:p>
            <a:endParaRPr/>
          </a:p>
          <a:p>
            <a:r>
              <a:t>`BOARD=mps2/an386` 表示选择官方 MPS2 的 AN386 目标，值是板目标标识，不是路径。`boards.cmake` 等脚本解析板名和限定项，硬件模型再把它联系到 SoC、CPU 与架构。板的设备树及默认配置参与后续计算；应用不应自己把板名翻译为一串 GCC 参数。</a:t>
            </a:r>
          </a:p>
          <a:p>
            <a:endParaRPr/>
          </a:p>
          <a:p>
            <a:r>
              <a:t>官方板位于默认源码搜索范围内，通常不需要 `BOARD_ROOT`。当 P012 创建树外练习板时，`BOARD_ROOT` 才用于增加搜索根；它应指向**下面包含 boards 目录的上层目录**，而不是 `board.yml` 文件。模块的 `build.settings.board_root` 也能提供搜索根，这是前面先发现模块再找板的原因。</a:t>
            </a:r>
          </a:p>
          <a:p>
            <a:endParaRPr/>
          </a:p>
          <a:p>
            <a:r>
              <a:t>`SOC_ROOT`、`DTS_ROOT` 分别扩展 SoC 和设备树相关文件的查找范围，各有目录约定。新增驱动、板、SoC 是不同工作，不能只增加 BOARD_ROOT 就声称芯片已完成支持。依据：[BOARD 变量参考](https://docs.zephyrproject.org/latest/build/cmake-ref/variable/BOARD.html)（原件 `doc/build/cmake-ref/variable/BOARD.rst`，第 4 行附近）；[BOARD_ROOT 变量参考](https://docs.zephyrproject.org/latest/build/cmake-ref/variable/BOARD_ROOT.html)（原件 `doc/build/cmake-ref/variable/BOARD_ROOT.rst`，第 4 行附近）；[板选择的说明与实现](https://github.com/zephyrproject-rtos/zephyr/blob/25c8f4a23988dd3b2cfb463613622738298c2d6c/cmake/modules/boards.cmake#L6)（原件 `cmake/modules/boards.cmake`，第 6 行附近）；[外部项目模块说明](https://docs.zephyrproject.org/latest/develop/modules.html)（原件 `doc/develop/modules.rst`，第 3 行附近）。</a:t>
            </a:r>
          </a:p>
          <a:p>
            <a:endParaRPr/>
          </a:p>
          <a:p>
            <a:r>
              <a:t>&lt;a id="section-10-1-4"&gt;&lt;/a&gt;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官方说明：https://docs.zephyrproject.org/latest/build/cmake-ref/variable/BOARD.html</a:t>
            </a:r>
          </a:p>
          <a:p>
            <a:r>
              <a:t>仓库原件：https://github.com/zephyrproject-rtos/zephyr/blob/25c8f4a23988dd3b2cfb463613622738298c2d6c/doc/build/cmake-ref/variable/BOARD.rst#L4</a:t>
            </a:r>
          </a:p>
          <a:p>
            <a:r>
              <a:t>实现定位：https://github.com/zephyrproject-rtos/zephyr/blob/25c8f4a23988dd3b2cfb463613622738298c2d6c/cmake/modules/boards.cmake#L6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配套正文：P010_Zephyr的CMake输入与依赖发现_Windows.md#section-10-1-4</a:t>
            </a:r>
          </a:p>
          <a:p>
            <a:r>
              <a:t>10.1.4 · ② 各类输入</a:t>
            </a:r>
          </a:p>
          <a:p>
            <a:r>
              <a:t>prj.conf 是应用请求；Kconfig 定义选项及其约束。</a:t>
            </a:r>
          </a:p>
          <a:p>
            <a:r>
              <a:t>CONF_FILE 选择应用片段，EXTRA_CONF_FILE 追加片段。</a:t>
            </a:r>
          </a:p>
          <a:p>
            <a:r>
              <a:t>本例 DTS 满足 UART 条件，得到 CONFIG_UART_CMSDK_APB=y。</a:t>
            </a:r>
          </a:p>
          <a:p>
            <a:r>
              <a:t>请求不满足依赖时，应查诊断和最终 .config。</a:t>
            </a:r>
          </a:p>
          <a:p>
            <a:endParaRPr/>
          </a:p>
          <a:p>
            <a:r>
              <a:t>讲解展开：</a:t>
            </a:r>
          </a:p>
          <a:p>
            <a:r>
              <a:t>### 10.1.4\_CONF_FILE 选文件，Kconfig 决定有效值</a:t>
            </a:r>
          </a:p>
          <a:p>
            <a:endParaRPr/>
          </a:p>
          <a:p>
            <a:r>
              <a:t>应用通常用原有 `prj.conf` 提出功能配置请求，例如某功能的 `CONFIG_...=y`。`CONF_FILE` 用于选择应用配置片段，`EXTRA_CONF_FILE` 用于在基础配置之外追加片段。它们的值是文件路径或文件列表；文件名本身不是功能开关。</a:t>
            </a:r>
          </a:p>
          <a:p>
            <a:endParaRPr/>
          </a:p>
          <a:p>
            <a:r>
              <a:t>`configuration_files.cmake` 在未显式指定 CONF_FILE 时按规则查找默认应用和硬件相关片段；接着 `kconfig.cmake` 调用 Python 的 Kconfig 处理脚本，结合配置定义与依赖关系产生 `zephyr/.config`，并生成供 C 编译使用的 `zephyr/include/generated/zephyr/autoconf.h`。CMake 也读取计算后的配置来决定加入哪些源码。</a:t>
            </a:r>
          </a:p>
          <a:p>
            <a:endParaRPr/>
          </a:p>
          <a:p>
            <a:r>
              <a:t>例如请求打开某驱动但它依赖的总线没有启用，Kconfig 会处理约束并给出诊断。读者应查最终 `.config` 与配置日志，不能只凭 prj.conf 里写了 y 就认为驱动必然编译。源码中的 `Kconfig` 是配置项定义，应用 `prj.conf` 是请求，构建目录 `.config` 是计算结果；三种文件来源与作用不同。依据：[CONF_FILE 变量参考](https://docs.zephyrproject.org/latest/build/cmake-ref/variable/CONF_FILE.html)（原件 `doc/build/cmake-ref/variable/CONF_FILE.rst`，第 4 行附近）；[配置片段的选取](https://github.com/zephyrproject-rtos/zephyr/blob/25c8f4a23988dd3b2cfb463613622738298c2d6c/cmake/modules/configuration_files.cmake#L43)（原件 `cmake/modules/configuration_files.cmake`，第 43 行附近）；[Kconfig 脚本调用处](https://github.com/zephyrproject-rtos/zephyr/blob/25c8f4a23988dd3b2cfb463613622738298c2d6c/cmake/modules/kconfig.cmake#L473)（原件 `cmake/modules/kconfig.cmake`，第 473 行附近）。</a:t>
            </a:r>
          </a:p>
          <a:p>
            <a:endParaRPr/>
          </a:p>
          <a:p>
            <a:r>
              <a:t>&lt;a id="section-10-1-5"&gt;&lt;/a&gt;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官方说明：https://docs.zephyrproject.org/latest/build/cmake-ref/variable/CONF_FILE.html</a:t>
            </a:r>
          </a:p>
          <a:p>
            <a:r>
              <a:t>仓库原件：https://github.com/zephyrproject-rtos/zephyr/blob/25c8f4a23988dd3b2cfb463613622738298c2d6c/doc/build/cmake-ref/variable/CONF_FILE.rst#L4</a:t>
            </a:r>
          </a:p>
          <a:p>
            <a:r>
              <a:t>实现定位：https://github.com/zephyrproject-rtos/zephyr/blob/25c8f4a23988dd3b2cfb463613622738298c2d6c/cmake/modules/configuration_files.cmake#L43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配套正文：P010_Zephyr的CMake输入与依赖发现_Windows.md#section-10-1-5</a:t>
            </a:r>
          </a:p>
          <a:p>
            <a:r>
              <a:t>10.1.5 · ② 各类输入</a:t>
            </a:r>
          </a:p>
          <a:p>
            <a:r>
              <a:t>MPS2 的 uart0 使用 compatible="arm,cmsdk-uart"。</a:t>
            </a:r>
          </a:p>
          <a:p>
            <a:r>
              <a:t>DTC_OVERLAY_FILE 选 overlay，EXTRA_DTC_OVERLAY_FILE 追加。</a:t>
            </a:r>
          </a:p>
          <a:p>
            <a:r>
              <a:t>预处理器先展开包含与宏，Zephyr Python 脚本再解析。</a:t>
            </a:r>
          </a:p>
          <a:p>
            <a:endParaRPr/>
          </a:p>
          <a:p>
            <a:r>
              <a:t>结果是 zephyr.dts 和 devicetree_generated.h。</a:t>
            </a:r>
          </a:p>
          <a:p>
            <a:r>
              <a:t>Kconfig 选 CMSDK UART，CMake 才加入 uart_cmsdk_apb.c。</a:t>
            </a:r>
          </a:p>
          <a:p>
            <a:r>
              <a:t>dtc 可提供补充诊断；不要把全部生成工作都归给 dtc。</a:t>
            </a:r>
          </a:p>
          <a:p>
            <a:endParaRPr/>
          </a:p>
          <a:p>
            <a:r>
              <a:t>讲解展开：</a:t>
            </a:r>
          </a:p>
          <a:p>
            <a:r>
              <a:t>### 10.1.5\_设备树输入怎样成为编译信息</a:t>
            </a:r>
          </a:p>
          <a:p>
            <a:endParaRPr/>
          </a:p>
          <a:p>
            <a:r>
              <a:t>板的 `.dts` 和 SoC 的 `.dtsi` 描述硬件。应用的 overlay 可以覆盖相应节点属性。`DTC_OVERLAY_FILE` 指定应用 overlay 列表；`EXTRA_DTC_OVERLAY_FILE` 追加在基础 overlay 后处理的文件。不显式指定时有默认文件查找规则，不能把“追加”和“完全换掉选择”当成同一种动作。</a:t>
            </a:r>
          </a:p>
          <a:p>
            <a:endParaRPr/>
          </a:p>
          <a:p>
            <a:r>
              <a:t>`dts.cmake` 先用预处理器处理包含关系与宏，再调用 Zephyr 的 Python 工具解析设备树和 bindings。输出的 `zephyr/zephyr.dts` 用于查看最终硬件描述；`zephyr/include/generated/zephyr/devicetree_generated.h` 提供编译所需宏。C 源码通常通过 `zephyr/devicetree.h` 使用这些信息。</a:t>
            </a:r>
          </a:p>
          <a:p>
            <a:endParaRPr/>
          </a:p>
          <a:p>
            <a:r>
              <a:t>启用外设一般还涉及 Kconfig 选择驱动，所以“设备树节点 okay”与“驱动功能启用”需要分别成立。这正是 Zephyr 没有把所有配置都混进一个 CMake 变量的原因：硬件数据、功能依赖和目标构建关系由各自工具处理，再共同进入固件。依据：[设备树配置入口](https://github.com/zephyrproject-rtos/zephyr/blob/25c8f4a23988dd3b2cfb463613622738298c2d6c/cmake/modules/dts.cmake#L9)（原件 `cmake/modules/dts.cmake`，第 9 行附近）；[构建阶段说明](https://docs.zephyrproject.org/latest/build/cmake/index.html#build-and-configuration-phases)（原件 `doc/build/cmake/index.rst`，第 52 行附近）。</a:t>
            </a:r>
          </a:p>
          <a:p>
            <a:endParaRPr/>
          </a:p>
          <a:p>
            <a:r>
              <a:t>&lt;a id="toolchain-contract"&gt;&lt;/a&gt;</a:t>
            </a:r>
          </a:p>
          <a:p>
            <a:endParaRPr/>
          </a:p>
          <a:p>
            <a:r>
              <a:t>&lt;a id="section-10-2"&gt;&lt;/a&gt;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实现定位：https://github.com/zephyrproject-rtos/zephyr/blob/25c8f4a23988dd3b2cfb463613622738298c2d6c/cmake/modules/dts.cmake#L9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配套正文：P010_Zephyr的CMake输入与依赖发现_Windows.md#section-10-1-3</a:t>
            </a:r>
          </a:p>
          <a:p>
            <a:r>
              <a:t>10.1.3 · ② 各类输入</a:t>
            </a:r>
          </a:p>
          <a:p>
            <a:r>
              <a:t>board.yml 登记 mps2 与 an386。</a:t>
            </a:r>
          </a:p>
          <a:p>
            <a:r>
              <a:t>Kconfig.mps2 选择 SOC_AN386。</a:t>
            </a:r>
          </a:p>
          <a:p>
            <a:r>
              <a:t>SoC Kconfig 选择 MPS2 系列与 Cortex-M4。</a:t>
            </a:r>
          </a:p>
          <a:p>
            <a:endParaRPr/>
          </a:p>
          <a:p>
            <a:r>
              <a:t>soc/arm/CMakeLists.txt 进入 mps2，再加入 soc.c。</a:t>
            </a:r>
          </a:p>
          <a:p>
            <a:r>
              <a:t>在 .config 查 SOC/CPU，在编译清单查该源文件。</a:t>
            </a:r>
          </a:p>
          <a:p>
            <a:r>
              <a:t>源码选择成立后，仍须 build 成功才能生成固件。</a:t>
            </a:r>
          </a:p>
          <a:p>
            <a:endParaRPr/>
          </a:p>
          <a:p>
            <a:r>
              <a:t>讲解展开：</a:t>
            </a:r>
          </a:p>
          <a:p>
            <a:r>
              <a:t>### 10.1.3\_BOARD 怎样落实到硬件</a:t>
            </a:r>
          </a:p>
          <a:p>
            <a:endParaRPr/>
          </a:p>
          <a:p>
            <a:r>
              <a:t>`BOARD=mps2/an386` 表示选择官方 MPS2 的 AN386 目标，值是板目标标识，不是路径。`boards.cmake` 等脚本解析板名和限定项，硬件模型再把它联系到 SoC、CPU 与架构。板的设备树及默认配置参与后续计算；应用不应自己把板名翻译为一串 GCC 参数。</a:t>
            </a:r>
          </a:p>
          <a:p>
            <a:endParaRPr/>
          </a:p>
          <a:p>
            <a:r>
              <a:t>官方板位于默认源码搜索范围内，通常不需要 `BOARD_ROOT`。当 P012 创建树外练习板时，`BOARD_ROOT` 才用于增加搜索根；它应指向**下面包含 boards 目录的上层目录**，而不是 `board.yml` 文件。模块的 `build.settings.board_root` 也能提供搜索根，这是前面先发现模块再找板的原因。</a:t>
            </a:r>
          </a:p>
          <a:p>
            <a:endParaRPr/>
          </a:p>
          <a:p>
            <a:r>
              <a:t>`SOC_ROOT`、`DTS_ROOT` 分别扩展 SoC 和设备树相关文件的查找范围，各有目录约定。新增驱动、板、SoC 是不同工作，不能只增加 BOARD_ROOT 就声称芯片已完成支持。依据：[BOARD 变量参考](https://docs.zephyrproject.org/latest/build/cmake-ref/variable/BOARD.html)（原件 `doc/build/cmake-ref/variable/BOARD.rst`，第 4 行附近）；[BOARD_ROOT 变量参考](https://docs.zephyrproject.org/latest/build/cmake-ref/variable/BOARD_ROOT.html)（原件 `doc/build/cmake-ref/variable/BOARD_ROOT.rst`，第 4 行附近）；[板选择的说明与实现](https://github.com/zephyrproject-rtos/zephyr/blob/25c8f4a23988dd3b2cfb463613622738298c2d6c/cmake/modules/boards.cmake#L6)（原件 `cmake/modules/boards.cmake`，第 6 行附近）；[外部项目模块说明](https://docs.zephyrproject.org/latest/develop/modules.html)（原件 `doc/develop/modules.rst`，第 3 行附近）。</a:t>
            </a:r>
          </a:p>
          <a:p>
            <a:endParaRPr/>
          </a:p>
          <a:p>
            <a:r>
              <a:t>&lt;a id="section-10-1-4"&gt;&lt;/a&gt;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官方说明：https://docs.zephyrproject.org/latest/build/cmake-ref/variable/BOARD.html</a:t>
            </a:r>
          </a:p>
          <a:p>
            <a:r>
              <a:t>仓库原件：https://github.com/zephyrproject-rtos/zephyr/blob/25c8f4a23988dd3b2cfb463613622738298c2d6c/doc/build/cmake-ref/variable/BOARD.rst#L4</a:t>
            </a:r>
          </a:p>
          <a:p>
            <a:r>
              <a:t>实现定位：https://github.com/zephyrproject-rtos/zephyr/blob/25c8f4a23988dd3b2cfb463613622738298c2d6c/cmake/modules/boards.cmake#L6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配套正文：P010_Zephyr的CMake输入与依赖发现_Windows.md#section-10-2-1</a:t>
            </a:r>
          </a:p>
          <a:p>
            <a:r>
              <a:t>10.2.1 · ③ 工具链接入</a:t>
            </a:r>
          </a:p>
          <a:p>
            <a:r>
              <a:t>find_package(Zephyr) 进入源码构建规则。</a:t>
            </a:r>
          </a:p>
          <a:p>
            <a:r>
              <a:t>规则需要工具时，FindHostTools 请求查找 Zephyr-sdk。</a:t>
            </a:r>
          </a:p>
          <a:p>
            <a:r>
              <a:t>SDK 的 Zephyr-sdkConfig.cmake 提供工具包位置和默认选择。</a:t>
            </a:r>
          </a:p>
          <a:p>
            <a:endParaRPr/>
          </a:p>
          <a:p>
            <a:r>
              <a:t>west zephyr-export 处理源码包的位置记录。</a:t>
            </a:r>
          </a:p>
          <a:p>
            <a:r>
              <a:t>SDK 的 setup.cmd /c 处理 SDK 包的位置记录。</a:t>
            </a:r>
          </a:p>
          <a:p>
            <a:r>
              <a:t>两者面向不同的包，不把 SDK 复制进应用。</a:t>
            </a:r>
          </a:p>
          <a:p>
            <a:endParaRPr/>
          </a:p>
          <a:p>
            <a:r>
              <a:t>讲解展开：</a:t>
            </a:r>
          </a:p>
          <a:p>
            <a:r>
              <a:t>### 10.2.1\_先区分两个 CMake 包</a:t>
            </a:r>
          </a:p>
          <a:p>
            <a:endParaRPr/>
          </a:p>
          <a:p>
            <a:r>
              <a:t>`find_package(Zephyr)` 找的是**源码构建规则**；这些规则需要工具时，通过 `FindHostTools.cmake` 请求 `find_package(Zephyr-sdk ...)`。后者才寻找 **SDK 工具包**。两个包各有入口，也各有当前用户的包记录。</a:t>
            </a:r>
          </a:p>
          <a:p>
            <a:endParaRPr/>
          </a:p>
          <a:p>
            <a:r>
              <a:t>SDK 安装根的 `cmake/Zephyr-sdkConfig.cmake` 说明 SDK 在哪里，并在没有其他选择时提供默认工具链类型。Windows 的 `setup.cmd /c` 把 SDK 包位置写入当前用户的 CMake 包注册表，供之后不同工程的包搜索使用；它不把 SDK 复制到应用中，也不改应用 CMakeLists。该记录跨终端保留，Python venv 的启停不会删除它。</a:t>
            </a:r>
          </a:p>
          <a:p>
            <a:endParaRPr/>
          </a:p>
          <a:p>
            <a:r>
              <a:t>没有显式选择其他工具链，且有效包记录可访问时，普通主线让 Zephyr 查找兼容 SDK 即可。**不要求再重复填写默认类型 `zephyr` 和 SDK 根。** 如果已有环境或缓存设置，默认分支可能被覆盖，10.1 再解释怎样定位。依据：[SDK 输入与默认查找分支](https://github.com/zephyrproject-rtos/zephyr/blob/25c8f4a23988dd3b2cfb463613622738298c2d6c/cmake/modules/FindZephyr-sdk.cmake#L44)（原件 `cmake/modules/FindZephyr-sdk.cmake`，第 44 行附近）；[SDK 文档](https://docs.zephyrproject.org/latest/develop/toolchains/zephyr_sdk.html)（原件 `doc/develop/toolchains/zephyr_sdk.rst`，第 3 行附近）；[SDK 1.0.1 的默认类型实现（安装包内）](https://github.com/zephyrproject-rtos/sdk-ng/releases/tag/v1.0.1)（原件 `cmake/Zephyr-sdkConfig.cmake`，第 15 行附近）。</a:t>
            </a:r>
          </a:p>
          <a:p>
            <a:endParaRPr/>
          </a:p>
          <a:p>
            <a:r>
              <a:t>&lt;a id="section-10-2-2"&gt;&lt;/a&gt;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官方说明：https://docs.zephyrproject.org/latest/develop/toolchains/zephyr_sdk.html</a:t>
            </a:r>
          </a:p>
          <a:p>
            <a:r>
              <a:t>仓库原件：https://github.com/zephyrproject-rtos/zephyr/blob/25c8f4a23988dd3b2cfb463613622738298c2d6c/doc/develop/toolchains/zephyr_sdk.rst#L3</a:t>
            </a:r>
          </a:p>
          <a:p>
            <a:r>
              <a:t>实现定位：https://github.com/zephyrproject-rtos/zephyr/blob/25c8f4a23988dd3b2cfb463613622738298c2d6c/cmake/modules/FindHostTools.cmake#L51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配套正文：P010_Zephyr的CMake输入与依赖发现_Windows.md#section-10-2-1</a:t>
            </a:r>
          </a:p>
          <a:p>
            <a:r>
              <a:t>10.2.1 · ③ 工具链接入</a:t>
            </a:r>
          </a:p>
          <a:p>
            <a:r>
              <a:t>当前用户的 SDK 包记录为 CMake 提供搜索候选。</a:t>
            </a:r>
          </a:p>
          <a:p>
            <a:r>
              <a:t>没有其他类型或旧位置覆盖时，Zephyr 尝试找兼容 SDK。</a:t>
            </a:r>
          </a:p>
          <a:p>
            <a:r>
              <a:t>有效注册后，主线省略默认类型和 SDK 根即可。</a:t>
            </a:r>
          </a:p>
          <a:p>
            <a:r>
              <a:t>注册跨终端保留，.venv 的启停不会删除它。</a:t>
            </a:r>
          </a:p>
          <a:p>
            <a:endParaRPr/>
          </a:p>
          <a:p>
            <a:r>
              <a:t>讲解展开：</a:t>
            </a:r>
          </a:p>
          <a:p>
            <a:r>
              <a:t>### 10.2.1\_先区分两个 CMake 包</a:t>
            </a:r>
          </a:p>
          <a:p>
            <a:endParaRPr/>
          </a:p>
          <a:p>
            <a:r>
              <a:t>`find_package(Zephyr)` 找的是**源码构建规则**；这些规则需要工具时，通过 `FindHostTools.cmake` 请求 `find_package(Zephyr-sdk ...)`。后者才寻找 **SDK 工具包**。两个包各有入口，也各有当前用户的包记录。</a:t>
            </a:r>
          </a:p>
          <a:p>
            <a:endParaRPr/>
          </a:p>
          <a:p>
            <a:r>
              <a:t>SDK 安装根的 `cmake/Zephyr-sdkConfig.cmake` 说明 SDK 在哪里，并在没有其他选择时提供默认工具链类型。Windows 的 `setup.cmd /c` 把 SDK 包位置写入当前用户的 CMake 包注册表，供之后不同工程的包搜索使用；它不把 SDK 复制到应用中，也不改应用 CMakeLists。该记录跨终端保留，Python venv 的启停不会删除它。</a:t>
            </a:r>
          </a:p>
          <a:p>
            <a:endParaRPr/>
          </a:p>
          <a:p>
            <a:r>
              <a:t>没有显式选择其他工具链，且有效包记录可访问时，普通主线让 Zephyr 查找兼容 SDK 即可。**不要求再重复填写默认类型 `zephyr` 和 SDK 根。** 如果已有环境或缓存设置，默认分支可能被覆盖，10.1 再解释怎样定位。依据：[SDK 输入与默认查找分支](https://github.com/zephyrproject-rtos/zephyr/blob/25c8f4a23988dd3b2cfb463613622738298c2d6c/cmake/modules/FindZephyr-sdk.cmake#L44)（原件 `cmake/modules/FindZephyr-sdk.cmake`，第 44 行附近）；[SDK 文档](https://docs.zephyrproject.org/latest/develop/toolchains/zephyr_sdk.html)（原件 `doc/develop/toolchains/zephyr_sdk.rst`，第 3 行附近）；[SDK 1.0.1 的默认类型实现（安装包内）](https://github.com/zephyrproject-rtos/sdk-ng/releases/tag/v1.0.1)（原件 `cmake/Zephyr-sdkConfig.cmake`，第 15 行附近）。</a:t>
            </a:r>
          </a:p>
          <a:p>
            <a:endParaRPr/>
          </a:p>
          <a:p>
            <a:r>
              <a:t>&lt;a id="section-10-2-2"&gt;&lt;/a&gt;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官方说明：https://docs.zephyrproject.org/latest/develop/toolchains/zephyr_sdk.html</a:t>
            </a:r>
          </a:p>
          <a:p>
            <a:r>
              <a:t>仓库原件：https://github.com/zephyrproject-rtos/zephyr/blob/25c8f4a23988dd3b2cfb463613622738298c2d6c/doc/develop/toolchains/zephyr_sdk.rst#L3</a:t>
            </a:r>
          </a:p>
          <a:p>
            <a:r>
              <a:t>实现定位：https://github.com/zephyrproject-rtos/zephyr/blob/25c8f4a23988dd3b2cfb463613622738298c2d6c/cmake/modules/FindZephyr-sdk.cmake#L44</a:t>
            </a:r>
          </a:p>
          <a:p>
            <a:r>
              <a:t>本章依据源码提交 25c8f4a23988dd3b2cfb463613622738298c2d6c 与 SDK 1.0.1；网页 latest 可能随上游变化。</a:t>
            </a:r>
          </a:p>
          <a:p>
            <a:r>
              <a:t>沿用原第 8 页补充说明：setup.cmd 的操作为 SDK 接入作准备。具体区分 /t 安装工具与 /c 保存当前用户的包位置，安装步骤详见 P003。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配套正文：P010_Zephyr的CMake输入与依赖发现_Windows.md#section-10-2-2</a:t>
            </a:r>
          </a:p>
          <a:p>
            <a:r>
              <a:t>10.2.2 · ③ 工具链接入</a:t>
            </a:r>
          </a:p>
          <a:p>
            <a:r>
              <a:t>编译器路径之外，还需预处理、汇编、链接、库和工具规则。</a:t>
            </a:r>
          </a:p>
          <a:p>
            <a:r>
              <a:t>ZEPHYR_TOOLCHAIN_VARIANT 选择这组接入规则。</a:t>
            </a:r>
          </a:p>
          <a:p>
            <a:r>
              <a:t>zephyr 使用 SDK 接入；cross-compile 使用独立 GNU 前缀。</a:t>
            </a:r>
          </a:p>
          <a:p>
            <a:endParaRPr/>
          </a:p>
          <a:p>
            <a:r>
              <a:t>generic.cmake 先准备通用处理，例如设备树预处理。</a:t>
            </a:r>
          </a:p>
          <a:p>
            <a:r>
              <a:t>target.cmake 再完成目标编译与目标库设置。</a:t>
            </a:r>
          </a:p>
          <a:p>
            <a:r>
              <a:t>仅换一个类型名，不会自动实现新的编译器支持。</a:t>
            </a:r>
          </a:p>
          <a:p>
            <a:endParaRPr/>
          </a:p>
          <a:p>
            <a:r>
              <a:t>讲解展开：</a:t>
            </a:r>
          </a:p>
          <a:p>
            <a:r>
              <a:t>### 10.2.2\_为什么有工具链类型，而不只填 gcc.exe</a:t>
            </a:r>
          </a:p>
          <a:p>
            <a:endParaRPr/>
          </a:p>
          <a:p>
            <a:r>
              <a:t>编译器可执行文件只是工具链的一部分。构建还需要预处理方式、汇编器、链接器、目标库、参数检测、链接脚本处理以及二进制工具。Zephyr 用一个类型名选择一组知道这些规则的 CMake 脚本。</a:t>
            </a:r>
          </a:p>
          <a:p>
            <a:endParaRPr/>
          </a:p>
          <a:p>
            <a:r>
              <a:t>`ZEPHYR_TOOLCHAIN_VARIANT` 就是该类型输入。`zephyr` 路线使用 SDK 的接入规则；`cross-compile` 路线接受独立 GNU 工具的共同前缀。其他类型须遵循各自文档，不能只替换名字继续套用 SDK 参数。</a:t>
            </a:r>
          </a:p>
          <a:p>
            <a:endParaRPr/>
          </a:p>
          <a:p>
            <a:r>
              <a:t>`FindHostTools.cmake` 加载 `cmake/toolchain/&lt;类型&gt;/generic.cmake`，先准备通用处理所需工具，例如设备树预处理器。`FindTargetTools.cmake` 再加载 `target.cmake`，建立目标编译、链接和库相关设置。目标 CPU 配置并不会由“工具链名字包含 arm”完整推出。</a:t>
            </a:r>
          </a:p>
          <a:p>
            <a:endParaRPr/>
          </a:p>
          <a:p>
            <a:r>
              <a:t>```mermaid</a:t>
            </a:r>
          </a:p>
          <a:p>
            <a:r>
              <a:t>flowchart LR</a:t>
            </a:r>
          </a:p>
          <a:p>
            <a:r>
              <a:t>    A["选择工具链类型"] --&gt; B["generic.cmake：通用工具"]</a:t>
            </a:r>
          </a:p>
          <a:p>
            <a:r>
              <a:t>    B --&gt; C["处理硬件与功能配置"]</a:t>
            </a:r>
          </a:p>
          <a:p>
            <a:r>
              <a:t>    C --&gt; D["target.cmake：目标工具与库"]</a:t>
            </a:r>
          </a:p>
          <a:p>
            <a:r>
              <a:t>    D --&gt; E["目标参数与编译任务"]</a:t>
            </a:r>
          </a:p>
          <a:p>
            <a:r>
              <a:t>```</a:t>
            </a:r>
          </a:p>
          <a:p>
            <a:endParaRPr/>
          </a:p>
          <a:p>
            <a:r>
              <a:t>注意 HostTools 中的 generic 不是要求先用 Windows 的本机 GCC 编一份固件。此阶段需要的是运行在主机上的工具及通用能力，可以使用交叉编译器做预处理。依据：[树外工具链设计说明](https://docs.zephyrproject.org/latest/develop/toolchains/custom_cmake.html)（原件 `doc/develop/toolchains/custom_cmake.rst`，第 3 行附近）；[SDK 请求与通用工具规则](https://github.com/zephyrproject-rtos/zephyr/blob/25c8f4a23988dd3b2cfb463613622738298c2d6c/cmake/modules/FindHostTools.cmake#L51)（原件 `cmake/modules/FindHostTools.cmake`，第 51 行附近）；[目标工具链规则](https://github.com/zephyrproject-rtos/zephyr/blob/25c8f4a23988dd3b2cfb463613622738298c2d6c/cmake/modules/FindTargetTools.cmake#L30)（原件 `cmake/modules/FindTargetTools.cmake`，第 30 行附近）。</a:t>
            </a:r>
          </a:p>
          <a:p>
            <a:endParaRPr/>
          </a:p>
          <a:p>
            <a:r>
              <a:t>&lt;a id="section-10-2-3"&gt;&lt;/a&gt;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官方说明：https://docs.zephyrproject.org/latest/develop/toolchains/custom_cmake.html</a:t>
            </a:r>
          </a:p>
          <a:p>
            <a:r>
              <a:t>仓库原件：https://github.com/zephyrproject-rtos/zephyr/blob/25c8f4a23988dd3b2cfb463613622738298c2d6c/doc/develop/toolchains/custom_cmake.rst#L3</a:t>
            </a:r>
          </a:p>
          <a:p>
            <a:r>
              <a:t>实现定位：https://github.com/zephyrproject-rtos/zephyr/blob/25c8f4a23988dd3b2cfb463613622738298c2d6c/cmake/modules/FindHostTools.cmake#L51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配套正文：P010_Zephyr的CMake输入与依赖发现_Windows.md#section-10-2-3</a:t>
            </a:r>
          </a:p>
          <a:p>
            <a:r>
              <a:t>10.2.3 · ③ 工具链接入</a:t>
            </a:r>
          </a:p>
          <a:p>
            <a:r>
              <a:t>板与 SoC 给出架构、CPU 和 FPU 等配置。</a:t>
            </a:r>
          </a:p>
          <a:p>
            <a:r>
              <a:t>SDK 的 GNU target.cmake 把 ARM 32 位映射到 arm-zephyr-eabi。</a:t>
            </a:r>
          </a:p>
          <a:p>
            <a:r>
              <a:t>Zephyr 的 target_arm.cmake 再给出适用的 CPU 与浮点参数。</a:t>
            </a:r>
          </a:p>
          <a:p>
            <a:r>
              <a:t>HC32 和其他 Cortex-M 板可复用 ARM 工具链，硬件支持仍各自实现。</a:t>
            </a:r>
          </a:p>
          <a:p>
            <a:endParaRPr/>
          </a:p>
          <a:p>
            <a:r>
              <a:t>讲解展开：</a:t>
            </a:r>
          </a:p>
          <a:p>
            <a:r>
              <a:t>### 10.2.3\_BOARD 与 SDK 怎样共同决定 ARM 编译</a:t>
            </a:r>
          </a:p>
          <a:p>
            <a:endParaRPr/>
          </a:p>
          <a:p>
            <a:r>
              <a:t>以 Cortex-M 目标为例，板与 SoC 的配置确定 ARM 架构和具体 CPU/FPU 需求。SDK 1.0.1 的 GNU `target.cmake` 把 ARM 32 位架构映射到 `arm-zephyr-eabi`，据 SDK 根拼出 `gnu/arm-zephyr-eabi/bin/arm-zephyr-eabi-` 前缀；Zephyr 的 `cmake/compiler/gcc/target_arm.cmake` 再根据配置确定 `-mcpu`、指令集和适用的浮点选项。</a:t>
            </a:r>
          </a:p>
          <a:p>
            <a:endParaRPr/>
          </a:p>
          <a:p>
            <a:r>
              <a:t>所以同一 ARM 工具链可以服务多个 Cortex-M 芯片。给 HC32F4A0 增加板与 SoC 支持时，主要补硬件和驱动适配；不能因为换了厂商就凭空新增 `hc32` 工具链类型。反过来，选择 arm 工具链也不会替读者创建 HC32 的寄存器描述、启动、时钟和驱动。</a:t>
            </a:r>
          </a:p>
          <a:p>
            <a:endParaRPr/>
          </a:p>
          <a:p>
            <a:r>
              <a:t>这条链中，BOARD 是读者输入；ARCH 与 CPU/FPU 配置是硬件选择产生的信息；编译器完整路径和参数是工具规则的结果。P012 最后通过 `compile_commands.json` 核对它们，而不是只看终端的 `gcc --version`。依据：[SDK 1.0.1 的 ARM 映射（安装包内）](https://github.com/zephyrproject-rtos/sdk-ng/releases/tag/v1.0.1)（原件 `cmake/zephyr/gnu/target.cmake`，第 5 行附近）；[ARM CPU 参数实现](https://github.com/zephyrproject-rtos/zephyr/blob/25c8f4a23988dd3b2cfb463613622738298c2d6c/cmake/compiler/gcc/target_arm.cmake#L5)（原件 `cmake/compiler/gcc/target_arm.cmake`，第 5 行附近）。</a:t>
            </a:r>
          </a:p>
          <a:p>
            <a:endParaRPr/>
          </a:p>
          <a:p>
            <a:r>
              <a:t>&lt;a id="section-10-2-4"&gt;&lt;/a&gt;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官方说明：https://docs.zephyrproject.org/latest/develop/toolchains/zephyr_sdk.html</a:t>
            </a:r>
          </a:p>
          <a:p>
            <a:r>
              <a:t>仓库原件：https://github.com/zephyrproject-rtos/zephyr/blob/25c8f4a23988dd3b2cfb463613622738298c2d6c/doc/develop/toolchains/zephyr_sdk.rst#L3</a:t>
            </a:r>
          </a:p>
          <a:p>
            <a:r>
              <a:t>实现定位：https://github.com/zephyrproject-rtos/zephyr/blob/25c8f4a23988dd3b2cfb463613622738298c2d6c/cmake/compiler/gcc/target_arm.cmake#L5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配套正文：P010_Zephyr的CMake输入与依赖发现_Windows.md#section-10-2-4</a:t>
            </a:r>
          </a:p>
          <a:p>
            <a:r>
              <a:t>10.2.4 · ③ 工具链接入</a:t>
            </a:r>
          </a:p>
          <a:p>
            <a:r>
              <a:t>完整 GNU SDK：接入层和多个目标工具链已经一起提供。</a:t>
            </a:r>
          </a:p>
          <a:p>
            <a:r>
              <a:t>Minimal SDK：保留 SDK 接入层，另外补目标工具组件。</a:t>
            </a:r>
          </a:p>
          <a:p>
            <a:r>
              <a:t>两者准备齐全后，都作为 SDK 被工程发现。</a:t>
            </a:r>
          </a:p>
          <a:p>
            <a:endParaRPr/>
          </a:p>
          <a:p>
            <a:r>
              <a:t>独立 ARM 组件：可以没有 SDK 包配置。</a:t>
            </a:r>
          </a:p>
          <a:p>
            <a:r>
              <a:t>直接使用时走 Zephyr 的 cross-compile 接口并核对目标库。</a:t>
            </a:r>
          </a:p>
          <a:p>
            <a:r>
              <a:t>它不是 Minimal SDK，也不要求读者手建 SDK CMake 包。</a:t>
            </a:r>
          </a:p>
          <a:p>
            <a:endParaRPr/>
          </a:p>
          <a:p>
            <a:r>
              <a:t>讲解展开：</a:t>
            </a:r>
          </a:p>
          <a:p>
            <a:r>
              <a:t>### 10.2.4\_完整 SDK、Minimal 与独立工具链共用哪些接口</a:t>
            </a:r>
          </a:p>
          <a:p>
            <a:endParaRPr/>
          </a:p>
          <a:p>
            <a:r>
              <a:t>完整 GNU SDK 带 SDK 的 CMake 接入层和多个目标工具链；Minimal SDK 仍带 SDK 接入层，但需要另装目标组件。Minimal 补齐 ARM 组件后，两者都作为 SDK 被发现，**工程接口没有另起一套 Minimal 体系**。</a:t>
            </a:r>
          </a:p>
          <a:p>
            <a:endParaRPr/>
          </a:p>
          <a:p>
            <a:r>
              <a:t>`G:/zephyr_practice/arm-zephyr-eabi` 是本机独立 ARM 工具组件目录。单组件可以只有 bin、库和目标头文件，没有 SDK 的包配置。选择直接使用它时，走 Zephyr 源码已提供的 `cross-compile` 接口，给 `CROSS_COMPILE` 提供共同前缀；不是在该目录手建一个 SDK CMake 包。</a:t>
            </a:r>
          </a:p>
          <a:p>
            <a:endParaRPr/>
          </a:p>
          <a:p>
            <a:r>
              <a:t>| 场景 | 读者需要表达什么 | 为什么 |</a:t>
            </a:r>
          </a:p>
          <a:p>
            <a:r>
              <a:t>| --- | --- | --- |</a:t>
            </a:r>
          </a:p>
          <a:p>
            <a:r>
              <a:t>| 已注册的完整 SDK 或补齐后的 Minimal | 默认可省略类型与 SDK 根 | 包发现给出工具位置及默认规则 |</a:t>
            </a:r>
          </a:p>
          <a:p>
            <a:r>
              <a:t>| 多套 SDK 中固定一套 | 按需给 `ZEPHYR_SDK_INSTALL_DIR` 指定 SDK 根 | 约束本次工具来源，路径下应有 SDK 包配置 |</a:t>
            </a:r>
          </a:p>
          <a:p>
            <a:r>
              <a:t>| 独立 GNU 工具组件 | `cross-compile` 配合 `CROSS_COMPILE` | 告诉已有 GNU 规则如何定位程序 |</a:t>
            </a:r>
          </a:p>
          <a:p>
            <a:r>
              <a:t>| 维护尚无接入规则的新工具链 | 自定义类型与 `TOOLCHAIN_ROOT`，并实现所需规则 | 这是扩展构建系统，不是普通 SDK 安装 |</a:t>
            </a:r>
          </a:p>
          <a:p>
            <a:endParaRPr/>
          </a:p>
          <a:p>
            <a:r>
              <a:t>`CROSS_COMPILE` 的值由程序目录加共同文件名前缀组成，包含末尾横线，例如 `G:/zephyr_practice/arm-zephyr-eabi/bin/arm-zephyr-eabi-`。它不是仅到 bin 的目录，也不是 gcc.exe 的完整文件名。目标库还须匹配，必要时根据该路线文档设置 `SYSROOT_DIR`；程序可运行并不等于目标库齐全。具体包准备见 P003，完整构建见 P012。依据：[独立 GNU 接入说明](https://docs.zephyrproject.org/latest/develop/toolchains/other_x_compilers.html)（原件 `doc/develop/toolchains/other_x_compilers.rst`，第 3 行附近）；[树外工具链设计说明](https://docs.zephyrproject.org/latest/develop/toolchains/custom_cmake.html)（原件 `doc/develop/toolchains/custom_cmake.rst`，第 3 行附近）；[SDK 文档](https://docs.zephyrproject.org/latest/develop/toolchains/zephyr_sdk.html)（原件 `doc/develop/toolchains/zephyr_sdk.rst`，第 3 行附近）。</a:t>
            </a:r>
          </a:p>
          <a:p>
            <a:endParaRPr/>
          </a:p>
          <a:p>
            <a:r>
              <a:t>`TOOLCHAIN_ROOT` 指 Zephyr 工具链接入规则所在根，默认使用 Zephyr 源码；它不等于 SDK 安装根。树外规则按官方约定提供 `cmake/toolchain/&lt;类型&gt;/generic.cmake` 和 `target.cmake`，并满足其依赖的 compiler/linker/bintools 规则。SDK 工具、树外规则与源码模块三类目录不能互换。</a:t>
            </a:r>
          </a:p>
          <a:p>
            <a:endParaRPr/>
          </a:p>
          <a:p>
            <a:r>
              <a:t>&lt;a id="module-contract"&gt;&lt;/a&gt;</a:t>
            </a:r>
          </a:p>
          <a:p>
            <a:endParaRPr/>
          </a:p>
          <a:p>
            <a:r>
              <a:t>&lt;a id="section-10-3"&gt;&lt;/a&gt;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官方说明：https://docs.zephyrproject.org/latest/develop/toolchains/other_x_compilers.html</a:t>
            </a:r>
          </a:p>
          <a:p>
            <a:r>
              <a:t>仓库原件：https://github.com/zephyrproject-rtos/zephyr/blob/25c8f4a23988dd3b2cfb463613622738298c2d6c/doc/develop/toolchains/other_x_compilers.rst#L3</a:t>
            </a:r>
          </a:p>
          <a:p>
            <a:r>
              <a:t>实现定位：https://github.com/zephyrproject-rtos/zephyr/blob/25c8f4a23988dd3b2cfb463613622738298c2d6c/cmake/modules/FindZephyr-sdk.cmake#L44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配套正文：P010_Zephyr的CMake输入与依赖发现_Windows.md#section-10-2-4</a:t>
            </a:r>
          </a:p>
          <a:p>
            <a:r>
              <a:t>10.2.4 · ③ 工具链接入</a:t>
            </a:r>
          </a:p>
          <a:p>
            <a:r>
              <a:t>ZEPHYR_SDK_INSTALL_DIR：SDK 根，包含 SDK 的 cmake 接入层。</a:t>
            </a:r>
          </a:p>
          <a:p>
            <a:r>
              <a:t>CROSS_COMPILE：工具目录加共同前缀，末尾保留横线。</a:t>
            </a:r>
          </a:p>
          <a:p>
            <a:r>
              <a:t>TOOLCHAIN_ROOT：Zephyr 工具链接入脚本的根。</a:t>
            </a:r>
          </a:p>
          <a:p>
            <a:endParaRPr/>
          </a:p>
          <a:p>
            <a:r>
              <a:t>TOOLCHAIN_ROOT 默认使用 Zephyr 源码，不是编译器 bin。</a:t>
            </a:r>
          </a:p>
          <a:p>
            <a:r>
              <a:t>只有维护树外新规则时才更改它，并提供 generic / target 等规则。</a:t>
            </a:r>
          </a:p>
          <a:p>
            <a:r>
              <a:t>普通使用 SDK 无须实现这些规则。</a:t>
            </a:r>
          </a:p>
          <a:p>
            <a:endParaRPr/>
          </a:p>
          <a:p>
            <a:r>
              <a:t>讲解展开：</a:t>
            </a:r>
          </a:p>
          <a:p>
            <a:r>
              <a:t>### 10.2.4\_完整 SDK、Minimal 与独立工具链共用哪些接口</a:t>
            </a:r>
          </a:p>
          <a:p>
            <a:endParaRPr/>
          </a:p>
          <a:p>
            <a:r>
              <a:t>完整 GNU SDK 带 SDK 的 CMake 接入层和多个目标工具链；Minimal SDK 仍带 SDK 接入层，但需要另装目标组件。Minimal 补齐 ARM 组件后，两者都作为 SDK 被发现，**工程接口没有另起一套 Minimal 体系**。</a:t>
            </a:r>
          </a:p>
          <a:p>
            <a:endParaRPr/>
          </a:p>
          <a:p>
            <a:r>
              <a:t>`G:/zephyr_practice/arm-zephyr-eabi` 是本机独立 ARM 工具组件目录。单组件可以只有 bin、库和目标头文件，没有 SDK 的包配置。选择直接使用它时，走 Zephyr 源码已提供的 `cross-compile` 接口，给 `CROSS_COMPILE` 提供共同前缀；不是在该目录手建一个 SDK CMake 包。</a:t>
            </a:r>
          </a:p>
          <a:p>
            <a:endParaRPr/>
          </a:p>
          <a:p>
            <a:r>
              <a:t>| 场景 | 读者需要表达什么 | 为什么 |</a:t>
            </a:r>
          </a:p>
          <a:p>
            <a:r>
              <a:t>| --- | --- | --- |</a:t>
            </a:r>
          </a:p>
          <a:p>
            <a:r>
              <a:t>| 已注册的完整 SDK 或补齐后的 Minimal | 默认可省略类型与 SDK 根 | 包发现给出工具位置及默认规则 |</a:t>
            </a:r>
          </a:p>
          <a:p>
            <a:r>
              <a:t>| 多套 SDK 中固定一套 | 按需给 `ZEPHYR_SDK_INSTALL_DIR` 指定 SDK 根 | 约束本次工具来源，路径下应有 SDK 包配置 |</a:t>
            </a:r>
          </a:p>
          <a:p>
            <a:r>
              <a:t>| 独立 GNU 工具组件 | `cross-compile` 配合 `CROSS_COMPILE` | 告诉已有 GNU 规则如何定位程序 |</a:t>
            </a:r>
          </a:p>
          <a:p>
            <a:r>
              <a:t>| 维护尚无接入规则的新工具链 | 自定义类型与 `TOOLCHAIN_ROOT`，并实现所需规则 | 这是扩展构建系统，不是普通 SDK 安装 |</a:t>
            </a:r>
          </a:p>
          <a:p>
            <a:endParaRPr/>
          </a:p>
          <a:p>
            <a:r>
              <a:t>`CROSS_COMPILE` 的值由程序目录加共同文件名前缀组成，包含末尾横线，例如 `G:/zephyr_practice/arm-zephyr-eabi/bin/arm-zephyr-eabi-`。它不是仅到 bin 的目录，也不是 gcc.exe 的完整文件名。目标库还须匹配，必要时根据该路线文档设置 `SYSROOT_DIR`；程序可运行并不等于目标库齐全。具体包准备见 P003，完整构建见 P012。依据：[独立 GNU 接入说明](https://docs.zephyrproject.org/latest/develop/toolchains/other_x_compilers.html)（原件 `doc/develop/toolchains/other_x_compilers.rst`，第 3 行附近）；[树外工具链设计说明](https://docs.zephyrproject.org/latest/develop/toolchains/custom_cmake.html)（原件 `doc/develop/toolchains/custom_cmake.rst`，第 3 行附近）；[SDK 文档](https://docs.zephyrproject.org/latest/develop/toolchains/zephyr_sdk.html)（原件 `doc/develop/toolchains/zephyr_sdk.rst`，第 3 行附近）。</a:t>
            </a:r>
          </a:p>
          <a:p>
            <a:endParaRPr/>
          </a:p>
          <a:p>
            <a:r>
              <a:t>`TOOLCHAIN_ROOT` 指 Zephyr 工具链接入规则所在根，默认使用 Zephyr 源码；它不等于 SDK 安装根。树外规则按官方约定提供 `cmake/toolchain/&lt;类型&gt;/generic.cmake` 和 `target.cmake`，并满足其依赖的 compiler/linker/bintools 规则。SDK 工具、树外规则与源码模块三类目录不能互换。</a:t>
            </a:r>
          </a:p>
          <a:p>
            <a:endParaRPr/>
          </a:p>
          <a:p>
            <a:r>
              <a:t>&lt;a id="module-contract"&gt;&lt;/a&gt;</a:t>
            </a:r>
          </a:p>
          <a:p>
            <a:endParaRPr/>
          </a:p>
          <a:p>
            <a:r>
              <a:t>&lt;a id="section-10-3"&gt;&lt;/a&gt;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官方说明：https://docs.zephyrproject.org/latest/develop/toolchains/custom_cmake.html</a:t>
            </a:r>
          </a:p>
          <a:p>
            <a:r>
              <a:t>仓库原件：https://github.com/zephyrproject-rtos/zephyr/blob/25c8f4a23988dd3b2cfb463613622738298c2d6c/doc/develop/toolchains/custom_cmake.rst#L3</a:t>
            </a:r>
          </a:p>
          <a:p>
            <a:r>
              <a:t>实现定位：https://github.com/zephyrproject-rtos/zephyr/blob/25c8f4a23988dd3b2cfb463613622738298c2d6c/cmake/modules/FindTargetTools.cmake#L30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配套正文：P010_Zephyr的CMake输入与依赖发现_Windows.md#section-10-3-1</a:t>
            </a:r>
          </a:p>
          <a:p>
            <a:r>
              <a:t>10.3.1 · ③ 源码模块接入</a:t>
            </a:r>
          </a:p>
          <a:p>
            <a:r>
              <a:t>west list 列清单项目，不按 BOARD 计算完整需求。</a:t>
            </a:r>
          </a:p>
          <a:p>
            <a:r>
              <a:t>CMake 配置时还要取得候选项目，识别其 Zephyr 接口。</a:t>
            </a:r>
          </a:p>
          <a:p>
            <a:r>
              <a:t>zephyr_module.cmake 调用 Python 的模块发现脚本。</a:t>
            </a:r>
          </a:p>
          <a:p>
            <a:endParaRPr/>
          </a:p>
          <a:p>
            <a:r>
              <a:t>默认候选来自 west 工作区，显式追加来自配置输入。</a:t>
            </a:r>
          </a:p>
          <a:p>
            <a:r>
              <a:t>它不会扫描整块磁盘寻找 module.yml。</a:t>
            </a:r>
          </a:p>
          <a:p>
            <a:r>
              <a:t>MPS2 板/SoC/驱动已在主仓库；CMSIS_6 是外部候选。</a:t>
            </a:r>
          </a:p>
          <a:p>
            <a:endParaRPr/>
          </a:p>
          <a:p>
            <a:r>
              <a:t>讲解展开：</a:t>
            </a:r>
          </a:p>
          <a:p>
            <a:r>
              <a:t>### 10.3.1\_下载完成之后，还缺一个接入动作</a:t>
            </a:r>
          </a:p>
          <a:p>
            <a:endParaRPr/>
          </a:p>
          <a:p>
            <a:r>
              <a:t>west 清单告诉 west 去哪里、按哪个修订取得项目。下载到磁盘只完成了“文件存在”。CMake 还需要知道候选项目有哪些、哪些具有 Zephyr 接口，以及每个项目的 CMake/Kconfig 入口在哪里。这才是模块发现阶段的工作。</a:t>
            </a:r>
          </a:p>
          <a:p>
            <a:endParaRPr/>
          </a:p>
          <a:p>
            <a:r>
              <a:t>默认情况下，`zephyr_module.cmake` 调用 `scripts/zephyr_module.py`，由脚本通过 west API 得到工作区候选项目。脚本识别项目的 `zephyr/module.yml`，或兼容的约定入口；不是递归扫描整块磁盘。目录不在候选列表里，单凭其内部有 module.yml，不会使它自动参与当前工程。</a:t>
            </a:r>
          </a:p>
          <a:p>
            <a:endParaRPr/>
          </a:p>
          <a:p>
            <a:r>
              <a:t>已在官方清单中的 CMSIS 先按 P004 交给 west 下载。清单之外的新增 HAL，可通过 `EXTRA_ZEPHYR_MODULES` 给**这次 CMake 配置**追加模块根。该变量接受以分号分隔的路径列表，指模块根，不是 module.yml 文件。`ZEPHYR_MODULES` 则可以显式取代默认基础候选列表，容易漏掉 CMSIS 等原依赖；单加一个 HAL 时通常使用追加接口。依据：[外部项目模块说明](https://docs.zephyrproject.org/latest/develop/modules.html)（原件 `doc/develop/modules.rst`，第 3 行附近）；[模块输入与发现脚本调用](https://github.com/zephyrproject-rtos/zephyr/blob/25c8f4a23988dd3b2cfb463613622738298c2d6c/cmake/modules/zephyr_module.cmake#L34)（原件 `cmake/modules/zephyr_module.cmake`，第 34 行附近）；[候选项目解析实现](https://github.com/zephyrproject-rtos/zephyr/blob/25c8f4a23988dd3b2cfb463613622738298c2d6c/scripts/zephyr_module.py#L627)（原件 `scripts/zephyr_module.py`，第 627 行附近）。</a:t>
            </a:r>
          </a:p>
          <a:p>
            <a:endParaRPr/>
          </a:p>
          <a:p>
            <a:r>
              <a:t>&lt;a id="section-10-3-2"&gt;&lt;/a&gt;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配套正文：P010_Zephyr的CMake输入与依赖发现_Windows.md#section-10-3-1</a:t>
            </a:r>
          </a:p>
          <a:p>
            <a:r>
              <a:t>10.3.1 · ③ 源码模块接入</a:t>
            </a:r>
          </a:p>
          <a:p>
            <a:r>
              <a:t>默认：从 west 工作区项目取得候选，再识别模块。</a:t>
            </a:r>
          </a:p>
          <a:p>
            <a:r>
              <a:t>EXTRA_ZEPHYR_MODULES：为本次 CMake 配置追加模块根。</a:t>
            </a:r>
          </a:p>
          <a:p>
            <a:r>
              <a:t>ZEPHYR_MODULES：显式提供基础候选，可能替换掉默认依赖。</a:t>
            </a:r>
          </a:p>
          <a:p>
            <a:endParaRPr/>
          </a:p>
          <a:p>
            <a:r>
              <a:t>CMSIS 已由清单管理时沿用默认来源。</a:t>
            </a:r>
          </a:p>
          <a:p>
            <a:r>
              <a:t>清单外新增 HAL 通常使用追加，不丢掉已有 CMSIS。</a:t>
            </a:r>
          </a:p>
          <a:p>
            <a:r>
              <a:t>值为根目录列表，用分号分隔，并为整项加引号。</a:t>
            </a:r>
          </a:p>
          <a:p>
            <a:endParaRPr/>
          </a:p>
          <a:p>
            <a:r>
              <a:t>讲解展开：</a:t>
            </a:r>
          </a:p>
          <a:p>
            <a:r>
              <a:t>### 10.3.1\_下载完成之后，还缺一个接入动作</a:t>
            </a:r>
          </a:p>
          <a:p>
            <a:endParaRPr/>
          </a:p>
          <a:p>
            <a:r>
              <a:t>west 清单告诉 west 去哪里、按哪个修订取得项目。下载到磁盘只完成了“文件存在”。CMake 还需要知道候选项目有哪些、哪些具有 Zephyr 接口，以及每个项目的 CMake/Kconfig 入口在哪里。这才是模块发现阶段的工作。</a:t>
            </a:r>
          </a:p>
          <a:p>
            <a:endParaRPr/>
          </a:p>
          <a:p>
            <a:r>
              <a:t>默认情况下，`zephyr_module.cmake` 调用 `scripts/zephyr_module.py`，由脚本通过 west API 得到工作区候选项目。脚本识别项目的 `zephyr/module.yml`，或兼容的约定入口；不是递归扫描整块磁盘。目录不在候选列表里，单凭其内部有 module.yml，不会使它自动参与当前工程。</a:t>
            </a:r>
          </a:p>
          <a:p>
            <a:endParaRPr/>
          </a:p>
          <a:p>
            <a:r>
              <a:t>已在官方清单中的 CMSIS 先按 P004 交给 west 下载。清单之外的新增 HAL，可通过 `EXTRA_ZEPHYR_MODULES` 给**这次 CMake 配置**追加模块根。该变量接受以分号分隔的路径列表，指模块根，不是 module.yml 文件。`ZEPHYR_MODULES` 则可以显式取代默认基础候选列表，容易漏掉 CMSIS 等原依赖；单加一个 HAL 时通常使用追加接口。依据：[外部项目模块说明](https://docs.zephyrproject.org/latest/develop/modules.html)（原件 `doc/develop/modules.rst`，第 3 行附近）；[模块输入与发现脚本调用](https://github.com/zephyrproject-rtos/zephyr/blob/25c8f4a23988dd3b2cfb463613622738298c2d6c/cmake/modules/zephyr_module.cmake#L34)（原件 `cmake/modules/zephyr_module.cmake`，第 34 行附近）；[候选项目解析实现](https://github.com/zephyrproject-rtos/zephyr/blob/25c8f4a23988dd3b2cfb463613622738298c2d6c/scripts/zephyr_module.py#L627)（原件 `scripts/zephyr_module.py`，第 627 行附近）。</a:t>
            </a:r>
          </a:p>
          <a:p>
            <a:endParaRPr/>
          </a:p>
          <a:p>
            <a:r>
              <a:t>&lt;a id="section-10-3-2"&gt;&lt;/a&gt;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配套正文：P010_Zephyr的CMake输入与依赖发现_Windows.md#section-10-3-2</a:t>
            </a:r>
          </a:p>
          <a:p>
            <a:r>
              <a:t>10.3.2 · ③ 源码模块接入</a:t>
            </a:r>
          </a:p>
          <a:p>
            <a:r>
              <a:t>这是 west 下载的官方文件，不由读者新建。</a:t>
            </a:r>
          </a:p>
          <a:p>
            <a:r>
              <a:t>cmake-ext / kconfig-ext 表示接入脚本在模块外部。</a:t>
            </a:r>
          </a:p>
          <a:p>
            <a:r>
              <a:t>库文件留在下载目录，Zephyr 自己提供相应的构建适配。</a:t>
            </a:r>
          </a:p>
          <a:p>
            <a:endParaRPr/>
          </a:p>
          <a:p>
            <a:r>
              <a:t>讲解展开：</a:t>
            </a:r>
          </a:p>
          <a:p>
            <a:r>
              <a:t>### 10.3.2\_用已下载的 CMSIS 看真实的两端</a:t>
            </a:r>
          </a:p>
          <a:p>
            <a:endParaRPr/>
          </a:p>
          <a:p>
            <a:r>
              <a:t>本系列 west 下载的 `../modules/hal/cmsis_6/zephyr/module.yml` 是**官方外部下载文件**，当前内容如下，仅供阅读：</a:t>
            </a:r>
          </a:p>
          <a:p>
            <a:endParaRPr/>
          </a:p>
          <a:p>
            <a:r>
              <a:t>```yaml</a:t>
            </a:r>
          </a:p>
          <a:p>
            <a:r>
              <a:t># 只读：工作区 modules/hal/cmsis_6/zephyr/module.yml。</a:t>
            </a:r>
          </a:p>
          <a:p>
            <a:r>
              <a:t>name: cmsis_6</a:t>
            </a:r>
          </a:p>
          <a:p>
            <a:r>
              <a:t>build:</a:t>
            </a:r>
          </a:p>
          <a:p>
            <a:r>
              <a:t>  cmake-ext: true</a:t>
            </a:r>
          </a:p>
          <a:p>
            <a:r>
              <a:t>  kconfig-ext: true</a:t>
            </a:r>
          </a:p>
          <a:p>
            <a:r>
              <a:t>```</a:t>
            </a:r>
          </a:p>
          <a:p>
            <a:endParaRPr/>
          </a:p>
          <a:p>
            <a:r>
              <a:t>名字说明该模块以 `cmsis_6` 被识别；`cmake-ext` 和 `kconfig-ext` 表示接入文件放在模块外部。对于本源码，接入脚本位于**官方原有** `zephyr-main/modules/cmsis_6/CMakeLists.txt` 和同目录 Kconfig。CMSIS 的头文件留在工作区下载目录，接入代码留在 Zephyr 源码里，两边由规则关联起来。这种布局让上游库文件和 Zephyr 的构建适配可以分别维护。</a:t>
            </a:r>
          </a:p>
          <a:p>
            <a:endParaRPr/>
          </a:p>
          <a:p>
            <a:r>
              <a:t>`modules/modules.cmake` 为这些外置接入目录设置相应 CMake/Kconfig 位置。模块发现记录和后续调用最终把 CMSIS 库根交给接入脚本；其中按 `CONFIG_CPU_CORTEX_M` 条件加入 `${ZEPHYR_CURRENT_MODULE_DIR}/CMSIS/Core/Include`。因此没有必要把下载的 CMSIS 整包复制进应用，或把两处同名 modules 目录混为一谈。</a:t>
            </a:r>
          </a:p>
          <a:p>
            <a:endParaRPr/>
          </a:p>
          <a:p>
            <a:r>
              <a:t>另外一种模块会在 module.yml 写 `build.cmake: zephyr` 和 `build.kconfig: zephyr/Kconfig`，含义是入口位于模块自身；这些路径相对模块根。P006 已用厂商 HAL 讲完整目录，不能把一个项目的内部布局猜成所有模块的固定布局。依据：[外部项目模块说明](https://docs.zephyrproject.org/latest/develop/modules.html)（原件 `doc/develop/modules.rst`，第 3 行附近）；[外置模块接入文件选择](https://github.com/zephyrproject-rtos/zephyr/blob/25c8f4a23988dd3b2cfb463613622738298c2d6c/modules/modules.cmake#L5)（原件 `modules/modules.cmake`，第 5 行附近）；[CMSIS 头文件接入实现](https://github.com/zephyrproject-rtos/zephyr/blob/25c8f4a23988dd3b2cfb463613622738298c2d6c/modules/cmsis_6/CMakeLists.txt#L4)（原件 `modules/cmsis_6/CMakeLists.txt`，第 4 行附近）。</a:t>
            </a:r>
          </a:p>
          <a:p>
            <a:endParaRPr/>
          </a:p>
          <a:p>
            <a:r>
              <a:t>&lt;a id="section-10-3-3"&gt;&lt;/a&gt;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实现定位：https://github.com/zephyrproject-rtos/zephyr/blob/25c8f4a23988dd3b2cfb463613622738298c2d6c/modules/modules.cmake#L5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配套正文：P010_Zephyr的CMake输入与依赖发现_Windows.md#section-10-3-2</a:t>
            </a:r>
          </a:p>
          <a:p>
            <a:r>
              <a:t>10.3.2 · ③ 源码模块接入</a:t>
            </a:r>
          </a:p>
          <a:p>
            <a:r>
              <a:t>外部 modules/hal/cmsis_6 提供 Core/Include/core_cm4.h。</a:t>
            </a:r>
          </a:p>
          <a:p>
            <a:r>
              <a:t>接入目录：zephyr-main/modules/cmsis_6，存放官方接入脚本。</a:t>
            </a:r>
          </a:p>
          <a:p>
            <a:r>
              <a:t>modules/modules.cmake 提供外置 CMake / Kconfig 入口位置。</a:t>
            </a:r>
          </a:p>
          <a:p>
            <a:endParaRPr/>
          </a:p>
          <a:p>
            <a:r>
              <a:t>入口脚本在 Cortex-M 配置下加入库内 CMSIS/Core/Include。</a:t>
            </a:r>
          </a:p>
          <a:p>
            <a:r>
              <a:t>MPS2 的 soc.h 经适配头引用 Core；它不必有独立 .c。</a:t>
            </a:r>
          </a:p>
          <a:p>
            <a:r>
              <a:t>两处 modules 不是同一目录，也不需要把库整包复制到应用。</a:t>
            </a:r>
          </a:p>
          <a:p>
            <a:endParaRPr/>
          </a:p>
          <a:p>
            <a:r>
              <a:t>讲解展开：</a:t>
            </a:r>
          </a:p>
          <a:p>
            <a:r>
              <a:t>### 10.3.2\_用已下载的 CMSIS 看真实的两端</a:t>
            </a:r>
          </a:p>
          <a:p>
            <a:endParaRPr/>
          </a:p>
          <a:p>
            <a:r>
              <a:t>本系列 west 下载的 `../modules/hal/cmsis_6/zephyr/module.yml` 是**官方外部下载文件**，当前内容如下，仅供阅读：</a:t>
            </a:r>
          </a:p>
          <a:p>
            <a:endParaRPr/>
          </a:p>
          <a:p>
            <a:r>
              <a:t>```yaml</a:t>
            </a:r>
          </a:p>
          <a:p>
            <a:r>
              <a:t># 只读：工作区 modules/hal/cmsis_6/zephyr/module.yml。</a:t>
            </a:r>
          </a:p>
          <a:p>
            <a:r>
              <a:t>name: cmsis_6</a:t>
            </a:r>
          </a:p>
          <a:p>
            <a:r>
              <a:t>build:</a:t>
            </a:r>
          </a:p>
          <a:p>
            <a:r>
              <a:t>  cmake-ext: true</a:t>
            </a:r>
          </a:p>
          <a:p>
            <a:r>
              <a:t>  kconfig-ext: true</a:t>
            </a:r>
          </a:p>
          <a:p>
            <a:r>
              <a:t>```</a:t>
            </a:r>
          </a:p>
          <a:p>
            <a:endParaRPr/>
          </a:p>
          <a:p>
            <a:r>
              <a:t>名字说明该模块以 `cmsis_6` 被识别；`cmake-ext` 和 `kconfig-ext` 表示接入文件放在模块外部。对于本源码，接入脚本位于**官方原有** `zephyr-main/modules/cmsis_6/CMakeLists.txt` 和同目录 Kconfig。CMSIS 的头文件留在工作区下载目录，接入代码留在 Zephyr 源码里，两边由规则关联起来。这种布局让上游库文件和 Zephyr 的构建适配可以分别维护。</a:t>
            </a:r>
          </a:p>
          <a:p>
            <a:endParaRPr/>
          </a:p>
          <a:p>
            <a:r>
              <a:t>`modules/modules.cmake` 为这些外置接入目录设置相应 CMake/Kconfig 位置。模块发现记录和后续调用最终把 CMSIS 库根交给接入脚本；其中按 `CONFIG_CPU_CORTEX_M` 条件加入 `${ZEPHYR_CURRENT_MODULE_DIR}/CMSIS/Core/Include`。因此没有必要把下载的 CMSIS 整包复制进应用，或把两处同名 modules 目录混为一谈。</a:t>
            </a:r>
          </a:p>
          <a:p>
            <a:endParaRPr/>
          </a:p>
          <a:p>
            <a:r>
              <a:t>另外一种模块会在 module.yml 写 `build.cmake: zephyr` 和 `build.kconfig: zephyr/Kconfig`，含义是入口位于模块自身；这些路径相对模块根。P006 已用厂商 HAL 讲完整目录，不能把一个项目的内部布局猜成所有模块的固定布局。依据：[外部项目模块说明](https://docs.zephyrproject.org/latest/develop/modules.html)（原件 `doc/develop/modules.rst`，第 3 行附近）；[外置模块接入文件选择](https://github.com/zephyrproject-rtos/zephyr/blob/25c8f4a23988dd3b2cfb463613622738298c2d6c/modules/modules.cmake#L5)（原件 `modules/modules.cmake`，第 5 行附近）；[CMSIS 头文件接入实现](https://github.com/zephyrproject-rtos/zephyr/blob/25c8f4a23988dd3b2cfb463613622738298c2d6c/modules/cmsis_6/CMakeLists.txt#L4)（原件 `modules/cmsis_6/CMakeLists.txt`，第 4 行附近）。</a:t>
            </a:r>
          </a:p>
          <a:p>
            <a:endParaRPr/>
          </a:p>
          <a:p>
            <a:r>
              <a:t>&lt;a id="section-10-3-3"&gt;&lt;/a&gt;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实现定位：https://github.com/zephyrproject-rtos/zephyr/blob/25c8f4a23988dd3b2cfb463613622738298c2d6c/modules/cmsis_6/CMakeLists.txt#L4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配套正文：P010_Zephyr的CMake输入与依赖发现_Windows.md#section-10-3-3</a:t>
            </a:r>
          </a:p>
          <a:p>
            <a:r>
              <a:rPr/>
              <a:t>10.3.3 · ③ 源码模块接入</a:t>
            </a:r>
          </a:p>
          <a:p>
            <a:r>
              <a:rPr/>
              <a:t>Python 识别元数据后生成 zephyr_modules.txt。</a:t>
            </a:r>
          </a:p>
          <a:p>
            <a:r>
              <a:rPr/>
              <a:t>zephyr_module.cmake 读取记录，规范化名字并设置目录变量。</a:t>
            </a:r>
          </a:p>
          <a:p>
            <a:r>
              <a:rPr>
                <a:solidFill>
                  <a:srgbClr val="29263B"/>
                </a:solidFill>
              </a:rPr>
              <a:t xml:space="preserve">根 </a:t>
            </a:r>
            <a:r>
              <a:rPr>
                <a:solidFill>
                  <a:srgbClr val="0070C0"/>
                </a:solidFill>
              </a:rPr>
              <a:t>CMakeLists.txt</a:t>
            </a:r>
            <a:r>
              <a:rPr>
                <a:solidFill>
                  <a:srgbClr val="29263B"/>
                </a:solidFill>
              </a:rPr>
              <a:t xml:space="preserve"> 再加载提供了非空 CMake 入口的模块。</a:t>
            </a:r>
          </a:p>
          <a:p>
            <a:r>
              <a:rPr/>
              <a:t>MODULE_DIR 是结果；提前伪造它不会代替这些步骤。</a:t>
            </a:r>
          </a:p>
          <a:p/>
          <a:p>
            <a:r>
              <a:rPr/>
              <a:t>讲解展开：</a:t>
            </a:r>
          </a:p>
          <a:p>
            <a:r>
              <a:rPr/>
              <a:t>### 10.3.3\_派生变量究竟是谁建立的</a:t>
            </a:r>
          </a:p>
          <a:p/>
          <a:p>
            <a:r>
              <a:rPr/>
              <a:t>```mermaid</a:t>
            </a:r>
          </a:p>
          <a:p>
            <a:r>
              <a:rPr/>
              <a:t>flowchart TD</a:t>
            </a:r>
          </a:p>
          <a:p>
            <a:r>
              <a:rPr/>
              <a:t xml:space="preserve">    A["CMake：west 候选与显式追加路径"] --&gt; B["zephyr_module.py：读取模块元数据"]</a:t>
            </a:r>
          </a:p>
          <a:p>
            <a:r>
              <a:rPr/>
              <a:t xml:space="preserve">    B --&gt; C["生成 zephyr_modules.txt 与 Kconfig 接入记录"]</a:t>
            </a:r>
          </a:p>
          <a:p>
            <a:r>
              <a:rPr/>
              <a:t xml:space="preserve">    C --&gt; D["zephyr_module.cmake：设置模块目录变量"]</a:t>
            </a:r>
          </a:p>
          <a:p>
            <a:r>
              <a:rPr/>
              <a:t xml:space="preserve">    D --&gt; E["根 CMakeLists：add_subdirectory 加载入口"]</a:t>
            </a:r>
          </a:p>
          <a:p>
            <a:r>
              <a:rPr/>
              <a:t xml:space="preserve">    E --&gt; F["模块脚本：加入头文件、源码和库"]</a:t>
            </a:r>
          </a:p>
          <a:p>
            <a:r>
              <a:rPr/>
              <a:t>```</a:t>
            </a:r>
          </a:p>
          <a:p/>
          <a:p>
            <a:r>
              <a:rPr/>
              <a:t>`zephyr_modules.txt` 是**工具生成文件**，位于所选构建目录。它不是读者必须提前创建的清单，也不是 west.yml。`zephyr_module.cmake` 读取其中名字、模块根和 CMake 入口，把名字规范化为大写后设置变量；例如模块名 `hal_xhsc` 对应 `ZEPHYR_HAL_XHSC_MODULE_DIR`。</a:t>
            </a:r>
          </a:p>
          <a:p/>
          <a:p>
            <a:r>
              <a:rPr/>
              <a:t>接着 Zephyr 根 CMakeLists 遍历已识别模块，设置本轮 `ZEPHYR_CURRENT_MODULE_DIR` 等上下文，再调用 `add_subdirectory` 执行该模块的 CMake 入口。只有走过候选识别、元数据解析和记录读取，才有这个派生变量。**预先手填同名 MODULE_DIR 不会代替模块注册与入口执行。**</a:t>
            </a:r>
          </a:p>
          <a:p/>
          <a:p>
            <a:r>
              <a:rPr/>
              <a:t>再换成时序图看“谁先调用谁”。图中的 Zephyr CMake 和模块入口实际都由同一个 CMake 进程执行，分列只是区分脚本的职责；Python 发现脚本由 CMake 启动。</a:t>
            </a:r>
          </a:p>
          <a:p/>
          <a:p>
            <a:r>
              <a:rPr/>
              <a:t>```mermaid</a:t>
            </a:r>
          </a:p>
          <a:p>
            <a:r>
              <a:rPr/>
              <a:t>sequenceDiagram</a:t>
            </a:r>
          </a:p>
          <a:p>
            <a:r>
              <a:rPr/>
              <a:t xml:space="preserve">    participant A as 应用配置调用者</a:t>
            </a:r>
          </a:p>
          <a:p>
            <a:r>
              <a:rPr/>
              <a:t xml:space="preserve">    participant C as Zephyr CMake 脚本</a:t>
            </a:r>
          </a:p>
          <a:p>
            <a:r>
              <a:rPr/>
              <a:t xml:space="preserve">    participant P as Python 模块发现脚本</a:t>
            </a:r>
          </a:p>
          <a:p>
            <a:r>
              <a:rPr/>
              <a:t xml:space="preserve">    participant M as 模块 CMake 入口</a:t>
            </a:r>
          </a:p>
          <a:p>
            <a:r>
              <a:rPr/>
              <a:t xml:space="preserve">    A-&gt;&gt;C: 发起配置，提供追加模块根</a:t>
            </a:r>
          </a:p>
          <a:p>
            <a:r>
              <a:rPr/>
              <a:t xml:space="preserve">    C-&gt;&gt;P: 传入候选列表与追加路径</a:t>
            </a:r>
          </a:p>
          <a:p>
            <a:r>
              <a:rPr/>
              <a:t xml:space="preserve">    Note over P: 读取 module.yml 并写出模块记录</a:t>
            </a:r>
          </a:p>
          <a:p>
            <a:r>
              <a:rPr/>
              <a:t xml:space="preserve">    P--&gt;&gt;C: 完成识别，返回状态</a:t>
            </a:r>
          </a:p>
          <a:p>
            <a:r>
              <a:rPr/>
              <a:t xml:space="preserve">    C-&gt;&gt;C: 读取记录并设置模块目录变量</a:t>
            </a:r>
          </a:p>
          <a:p>
            <a:r>
              <a:rPr/>
              <a:t xml:space="preserve">    C-&gt;&gt;M: add_subdirectory 加载接入入口</a:t>
            </a:r>
          </a:p>
          <a:p>
            <a:r>
              <a:rPr/>
              <a:t xml:space="preserve">    M-&gt;&gt;C: 添加库、源码与头文件目录</a:t>
            </a:r>
          </a:p>
          <a:p>
            <a:r>
              <a:rPr/>
              <a:t>```</a:t>
            </a:r>
          </a:p>
          <a:p/>
          <a:p>
            <a:r>
              <a:rPr/>
              <a:t>发现成功也不保证模块里所有源文件都编译。模块 CMake 还会受 CONFIG 条件限制；芯片、板和驱动是否已经适配是更后面的事实。P006 解释并验证模块发现，P012 展开目标板的实际构建。依据：[模块输入与发现脚本调用](https://github.com/zephyrproject-rtos/zephyr/blob/25c8f4a23988dd3b2cfb463613622738298c2d6c/cmake/modules/zephyr_module.cmake#L34)（原件 `cmake/modules/zephyr_module.cmake`，第 34 行附近）；[派生模块目录变量创建处](https://github.com/zephyrproject-rtos/zephyr/blob/25c8f4a23988dd3b2cfb463613622738298c2d6c/cmake/modules/zephyr_module.cmake#L141)（原件 `cmake/modules/zephyr_module.cmake`，第 141 行附近）；[外部模块 CMake 入口加载处](https://github.com/zephyrproject-rtos/zephyr/blob/25c8f4a23988dd3b2cfb463613622738298c2d6c/CMakeLists.txt#L778)（原件 `CMakeLists.txt`，第 778 行附近）。</a:t>
            </a:r>
          </a:p>
          <a:p/>
          <a:p>
            <a:r>
              <a:rPr/>
              <a:t>&lt;a id="section-10-3-4"&gt;&lt;/a&gt;</a:t>
            </a:r>
          </a:p>
          <a:p>
            <a:endParaRPr/>
          </a:p>
          <a:p/>
          <a:p>
            <a:r>
              <a:rPr/>
              <a:t>官方说明：https://docs.zephyrproject.org/latest/develop/modules.html</a:t>
            </a:r>
          </a:p>
          <a:p>
            <a:r>
              <a:rPr/>
              <a:t>仓库原件：https://github.com/zephyrproject-rtos/zephyr/blob/25c8f4a23988dd3b2cfb463613622738298c2d6c/doc/develop/modules.rst#L3</a:t>
            </a:r>
          </a:p>
          <a:p>
            <a:r>
              <a:rPr/>
              <a:t>实现定位：https://github.com/zephyrproject-rtos/zephyr/blob/25c8f4a23988dd3b2cfb463613622738298c2d6c/cmake/modules/zephyr_module.cmake#L141</a:t>
            </a:r>
          </a:p>
          <a:p>
            <a:r>
              <a:rPr/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配套正文：P010_Zephyr的CMake输入与依赖发现_Windows.md#section-10-3-3</a:t>
            </a:r>
          </a:p>
          <a:p>
            <a:r>
              <a:t>10.3.3 · ③ 调用者与读取者</a:t>
            </a:r>
          </a:p>
          <a:p>
            <a:r>
              <a:t>Zephyr CMake 与模块入口同属 CMake 进程；Python 发现脚本由它启动。</a:t>
            </a:r>
          </a:p>
          <a:p>
            <a:endParaRPr/>
          </a:p>
          <a:p>
            <a:r>
              <a:t>讲解展开：</a:t>
            </a:r>
          </a:p>
          <a:p>
            <a:r>
              <a:t>### 10.3.3\_派生变量究竟是谁建立的</a:t>
            </a:r>
          </a:p>
          <a:p>
            <a:endParaRPr/>
          </a:p>
          <a:p>
            <a:r>
              <a:t>```mermaid</a:t>
            </a:r>
          </a:p>
          <a:p>
            <a:r>
              <a:t>flowchart TD</a:t>
            </a:r>
          </a:p>
          <a:p>
            <a:r>
              <a:t>    A["CMake：west 候选与显式追加路径"] --&gt; B["zephyr_module.py：读取模块元数据"]</a:t>
            </a:r>
          </a:p>
          <a:p>
            <a:r>
              <a:t>    B --&gt; C["生成 zephyr_modules.txt 与 Kconfig 接入记录"]</a:t>
            </a:r>
          </a:p>
          <a:p>
            <a:r>
              <a:t>    C --&gt; D["zephyr_module.cmake：设置模块目录变量"]</a:t>
            </a:r>
          </a:p>
          <a:p>
            <a:r>
              <a:t>    D --&gt; E["根 CMakeLists：add_subdirectory 加载入口"]</a:t>
            </a:r>
          </a:p>
          <a:p>
            <a:r>
              <a:t>    E --&gt; F["模块脚本：加入头文件、源码和库"]</a:t>
            </a:r>
          </a:p>
          <a:p>
            <a:r>
              <a:t>```</a:t>
            </a:r>
          </a:p>
          <a:p>
            <a:endParaRPr/>
          </a:p>
          <a:p>
            <a:r>
              <a:t>`zephyr_modules.txt` 是**工具生成文件**，位于所选构建目录。它不是读者必须提前创建的清单，也不是 west.yml。`zephyr_module.cmake` 读取其中名字、模块根和 CMake 入口，把名字规范化为大写后设置变量；例如模块名 `hal_xhsc` 对应 `ZEPHYR_HAL_XHSC_MODULE_DIR`。</a:t>
            </a:r>
          </a:p>
          <a:p>
            <a:endParaRPr/>
          </a:p>
          <a:p>
            <a:r>
              <a:t>接着 Zephyr 根 CMakeLists 遍历已识别模块，设置本轮 `ZEPHYR_CURRENT_MODULE_DIR` 等上下文，再调用 `add_subdirectory` 执行该模块的 CMake 入口。只有走过候选识别、元数据解析和记录读取，才有这个派生变量。**预先手填同名 MODULE_DIR 不会代替模块注册与入口执行。**</a:t>
            </a:r>
          </a:p>
          <a:p>
            <a:endParaRPr/>
          </a:p>
          <a:p>
            <a:r>
              <a:t>再换成时序图看“谁先调用谁”。图中的 Zephyr CMake 和模块入口实际都由同一个 CMake 进程执行，分列只是区分脚本的职责；Python 发现脚本由 CMake 启动。</a:t>
            </a:r>
          </a:p>
          <a:p>
            <a:endParaRPr/>
          </a:p>
          <a:p>
            <a:r>
              <a:t>```mermaid</a:t>
            </a:r>
          </a:p>
          <a:p>
            <a:r>
              <a:t>sequenceDiagram</a:t>
            </a:r>
          </a:p>
          <a:p>
            <a:r>
              <a:t>    participant A as 应用配置调用者</a:t>
            </a:r>
          </a:p>
          <a:p>
            <a:r>
              <a:t>    participant C as Zephyr CMake 脚本</a:t>
            </a:r>
          </a:p>
          <a:p>
            <a:r>
              <a:t>    participant P as Python 模块发现脚本</a:t>
            </a:r>
          </a:p>
          <a:p>
            <a:r>
              <a:t>    participant M as 模块 CMake 入口</a:t>
            </a:r>
          </a:p>
          <a:p>
            <a:r>
              <a:t>    A-&gt;&gt;C: 发起配置，提供追加模块根</a:t>
            </a:r>
          </a:p>
          <a:p>
            <a:r>
              <a:t>    C-&gt;&gt;P: 传入候选列表与追加路径</a:t>
            </a:r>
          </a:p>
          <a:p>
            <a:r>
              <a:t>    Note over P: 读取 module.yml 并写出模块记录</a:t>
            </a:r>
          </a:p>
          <a:p>
            <a:r>
              <a:t>    P--&gt;&gt;C: 完成识别，返回状态</a:t>
            </a:r>
          </a:p>
          <a:p>
            <a:r>
              <a:t>    C-&gt;&gt;C: 读取记录并设置模块目录变量</a:t>
            </a:r>
          </a:p>
          <a:p>
            <a:r>
              <a:t>    C-&gt;&gt;M: add_subdirectory 加载接入入口</a:t>
            </a:r>
          </a:p>
          <a:p>
            <a:r>
              <a:t>    M-&gt;&gt;C: 添加库、源码与头文件目录</a:t>
            </a:r>
          </a:p>
          <a:p>
            <a:r>
              <a:t>```</a:t>
            </a:r>
          </a:p>
          <a:p>
            <a:endParaRPr/>
          </a:p>
          <a:p>
            <a:r>
              <a:t>发现成功也不保证模块里所有源文件都编译。模块 CMake 还会受 CONFIG 条件限制；芯片、板和驱动是否已经适配是更后面的事实。P006 解释并验证模块发现，P012 展开目标板的实际构建。依据：[模块输入与发现脚本调用](https://github.com/zephyrproject-rtos/zephyr/blob/25c8f4a23988dd3b2cfb463613622738298c2d6c/cmake/modules/zephyr_module.cmake#L34)（原件 `cmake/modules/zephyr_module.cmake`，第 34 行附近）；[派生模块目录变量创建处](https://github.com/zephyrproject-rtos/zephyr/blob/25c8f4a23988dd3b2cfb463613622738298c2d6c/cmake/modules/zephyr_module.cmake#L141)（原件 `cmake/modules/zephyr_module.cmake`，第 141 行附近）；[外部模块 CMake 入口加载处](https://github.com/zephyrproject-rtos/zephyr/blob/25c8f4a23988dd3b2cfb463613622738298c2d6c/CMakeLists.txt#L778)（原件 `CMakeLists.txt`，第 778 行附近）。</a:t>
            </a:r>
          </a:p>
          <a:p>
            <a:endParaRPr/>
          </a:p>
          <a:p>
            <a:r>
              <a:t>&lt;a id="section-10-3-4"&gt;&lt;/a&gt;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配套正文：P010_Zephyr的CMake输入与依赖发现_Windows.md#section-10-3-4</a:t>
            </a:r>
          </a:p>
          <a:p>
            <a:r>
              <a:t>10.3.4 · ③ 源码模块接入</a:t>
            </a:r>
          </a:p>
          <a:p>
            <a:r>
              <a:t>应用已有 app，可用 CMake 的 target_sources 加入实现。</a:t>
            </a:r>
          </a:p>
          <a:p>
            <a:r>
              <a:t>子系统或驱动可用 zephyr_library 创建自己的库。</a:t>
            </a:r>
          </a:p>
          <a:p>
            <a:r>
              <a:t>zephyr_library_sources 把源码加入当前库。</a:t>
            </a:r>
          </a:p>
          <a:p>
            <a:endParaRPr/>
          </a:p>
          <a:p>
            <a:r>
              <a:t>serial/CMakeLists 按 UART_CMSDK_APB 加入 CMSDK 驱动。</a:t>
            </a:r>
          </a:p>
          <a:p>
            <a:r>
              <a:t>该驱动直接访问寄存器；若调用厂商 API，</a:t>
            </a:r>
          </a:p>
          <a:p>
            <a:r>
              <a:t>再沿 include 与 CMake 查所需外部 HAL。</a:t>
            </a:r>
          </a:p>
          <a:p>
            <a:endParaRPr/>
          </a:p>
          <a:p>
            <a:r>
              <a:t>讲解展开：</a:t>
            </a:r>
          </a:p>
          <a:p>
            <a:r>
              <a:t>### 10.3.4\_进入模块后，CMake 函数怎样组织源码</a:t>
            </a:r>
          </a:p>
          <a:p>
            <a:endParaRPr/>
          </a:p>
          <a:p>
            <a:r>
              <a:t>应用使用 `target_sources(app PRIVATE ...)`，是因为 app 已由 Zephyr 建好。独立子系统或驱动常用 `zephyr_library()` 创建属于自己目录的库，再用 `zephyr_library_sources()` 加入实现。它们由 `extensions.cmake` 定义，底层仍调用 CMake 的库与目标接口，并把库纳入 Zephyr 的全局构建关系。</a:t>
            </a:r>
          </a:p>
          <a:p>
            <a:endParaRPr/>
          </a:p>
          <a:p>
            <a:r>
              <a:t>`zephyr_library_sources_ifdef(CONFIG_某功能 文件.c)` 先检查功能条件，再给当前库加源码。这里的条件来自前面 Kconfig 的结果；名字不是预处理器的 `#ifdef` 指令，而是一个 Zephyr CMake 函数的参数。</a:t>
            </a:r>
          </a:p>
          <a:p>
            <a:endParaRPr/>
          </a:p>
          <a:p>
            <a:r>
              <a:t>头文件目录也有范围。`target_include_directories(app PRIVATE ...)` 只修改 app；`zephyr_library_include_directories(...)` 作用于当前 Zephyr 库；`zephyr_include_directories(...)` 则作用于 Zephyr 的公共接口目标，使参加构建的相应目标继承。应按真正需要的可见范围选择，不能为解决一个库的 include 问题把所有路径无条件变成公共输入。</a:t>
            </a:r>
          </a:p>
          <a:p>
            <a:endParaRPr/>
          </a:p>
          <a:p>
            <a:r>
              <a:t>因此“外部模块接入接口”和“模块内部构建接口”是连续的两层：前者使入口被执行，后者使源码真正进入目标。把一个路径传给 CMake，只完成前者所需的信息，并不会自动扫描所有 `.c` 文件。依据：[Zephyr 库创建接口](https://github.com/zephyrproject-rtos/zephyr/blob/25c8f4a23988dd3b2cfb463613622738298c2d6c/cmake/modules/extensions.cmake#L682)（原件 `cmake/modules/extensions.cmake`，第 682 行附近）；[Zephyr 库源码接口](https://github.com/zephyrproject-rtos/zephyr/blob/25c8f4a23988dd3b2cfb463613622738298c2d6c/cmake/modules/extensions.cmake#L769)（原件 `cmake/modules/extensions.cmake`，第 769 行附近）；[按配置加入源码](https://github.com/zephyrproject-rtos/zephyr/blob/25c8f4a23988dd3b2cfb463613622738298c2d6c/cmake/modules/extensions.cmake#L2831)（原件 `cmake/modules/extensions.cmake`，第 2831 行附近）；[扩展函数参考页](https://docs.zephyrproject.org/latest/build/cmake-ref/module/extensions.html)（原件 `doc/build/cmake-ref/module/extensions.rst`，第 1 行附近）。</a:t>
            </a:r>
          </a:p>
          <a:p>
            <a:endParaRPr/>
          </a:p>
          <a:p>
            <a:r>
              <a:t>&lt;a id="input-lifetime"&gt;&lt;/a&gt;</a:t>
            </a:r>
          </a:p>
          <a:p>
            <a:endParaRPr/>
          </a:p>
          <a:p>
            <a:r>
              <a:t>&lt;a id="section-10-1"&gt;&lt;/a&gt;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官方说明：https://docs.zephyrproject.org/latest/build/cmake-ref/module/extensions.html</a:t>
            </a:r>
          </a:p>
          <a:p>
            <a:r>
              <a:t>仓库原件：https://github.com/zephyrproject-rtos/zephyr/blob/25c8f4a23988dd3b2cfb463613622738298c2d6c/doc/build/cmake-ref/module/extensions.rst#L1</a:t>
            </a:r>
          </a:p>
          <a:p>
            <a:r>
              <a:t>实现定位：https://github.com/zephyrproject-rtos/zephyr/blob/25c8f4a23988dd3b2cfb463613622738298c2d6c/cmake/modules/extensions.cmake#L682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配套正文：P010_Zephyr的CMake输入与依赖发现_Windows.md#section-10-3-4</a:t>
            </a:r>
          </a:p>
          <a:p>
            <a:r>
              <a:t>10.3.4 · ③ 源码模块接入</a:t>
            </a:r>
          </a:p>
          <a:p>
            <a:r>
              <a:t>target_include_directories(app PRIVATE ...) 作用于 app 自身。</a:t>
            </a:r>
          </a:p>
          <a:p>
            <a:r>
              <a:t>zephyr_library_include_directories(...) 作用于当前 Zephyr 库。</a:t>
            </a:r>
          </a:p>
          <a:p>
            <a:r>
              <a:t>zephyr_include_directories(...) 修改共享接口，供相应目标继承。</a:t>
            </a:r>
          </a:p>
          <a:p>
            <a:endParaRPr/>
          </a:p>
          <a:p>
            <a:r>
              <a:t>本页括号中的省略号是接口形态示意，不是可执行代码。</a:t>
            </a:r>
          </a:p>
          <a:p>
            <a:r>
              <a:t>先确保模块入口被执行，再选择真正需要的可见范围。</a:t>
            </a:r>
          </a:p>
          <a:p>
            <a:r>
              <a:t>不要为一个库缺头文件，把所有路径都变成公共输入。</a:t>
            </a:r>
          </a:p>
          <a:p>
            <a:endParaRPr/>
          </a:p>
          <a:p>
            <a:r>
              <a:t>讲解展开：</a:t>
            </a:r>
          </a:p>
          <a:p>
            <a:r>
              <a:t>### 10.3.4\_进入模块后，CMake 函数怎样组织源码</a:t>
            </a:r>
          </a:p>
          <a:p>
            <a:endParaRPr/>
          </a:p>
          <a:p>
            <a:r>
              <a:t>应用使用 `target_sources(app PRIVATE ...)`，是因为 app 已由 Zephyr 建好。独立子系统或驱动常用 `zephyr_library()` 创建属于自己目录的库，再用 `zephyr_library_sources()` 加入实现。它们由 `extensions.cmake` 定义，底层仍调用 CMake 的库与目标接口，并把库纳入 Zephyr 的全局构建关系。</a:t>
            </a:r>
          </a:p>
          <a:p>
            <a:endParaRPr/>
          </a:p>
          <a:p>
            <a:r>
              <a:t>`zephyr_library_sources_ifdef(CONFIG_某功能 文件.c)` 先检查功能条件，再给当前库加源码。这里的条件来自前面 Kconfig 的结果；名字不是预处理器的 `#ifdef` 指令，而是一个 Zephyr CMake 函数的参数。</a:t>
            </a:r>
          </a:p>
          <a:p>
            <a:endParaRPr/>
          </a:p>
          <a:p>
            <a:r>
              <a:t>头文件目录也有范围。`target_include_directories(app PRIVATE ...)` 只修改 app；`zephyr_library_include_directories(...)` 作用于当前 Zephyr 库；`zephyr_include_directories(...)` 则作用于 Zephyr 的公共接口目标，使参加构建的相应目标继承。应按真正需要的可见范围选择，不能为解决一个库的 include 问题把所有路径无条件变成公共输入。</a:t>
            </a:r>
          </a:p>
          <a:p>
            <a:endParaRPr/>
          </a:p>
          <a:p>
            <a:r>
              <a:t>因此“外部模块接入接口”和“模块内部构建接口”是连续的两层：前者使入口被执行，后者使源码真正进入目标。把一个路径传给 CMake，只完成前者所需的信息，并不会自动扫描所有 `.c` 文件。依据：[Zephyr 库创建接口](https://github.com/zephyrproject-rtos/zephyr/blob/25c8f4a23988dd3b2cfb463613622738298c2d6c/cmake/modules/extensions.cmake#L682)（原件 `cmake/modules/extensions.cmake`，第 682 行附近）；[Zephyr 库源码接口](https://github.com/zephyrproject-rtos/zephyr/blob/25c8f4a23988dd3b2cfb463613622738298c2d6c/cmake/modules/extensions.cmake#L769)（原件 `cmake/modules/extensions.cmake`，第 769 行附近）；[按配置加入源码](https://github.com/zephyrproject-rtos/zephyr/blob/25c8f4a23988dd3b2cfb463613622738298c2d6c/cmake/modules/extensions.cmake#L2831)（原件 `cmake/modules/extensions.cmake`，第 2831 行附近）；[扩展函数参考页](https://docs.zephyrproject.org/latest/build/cmake-ref/module/extensions.html)（原件 `doc/build/cmake-ref/module/extensions.rst`，第 1 行附近）。</a:t>
            </a:r>
          </a:p>
          <a:p>
            <a:endParaRPr/>
          </a:p>
          <a:p>
            <a:r>
              <a:t>&lt;a id="input-lifetime"&gt;&lt;/a&gt;</a:t>
            </a:r>
          </a:p>
          <a:p>
            <a:endParaRPr/>
          </a:p>
          <a:p>
            <a:r>
              <a:t>&lt;a id="section-10-1"&gt;&lt;/a&gt;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官方说明：https://docs.zephyrproject.org/latest/build/cmake-ref/module/extensions.html</a:t>
            </a:r>
          </a:p>
          <a:p>
            <a:r>
              <a:t>仓库原件：https://github.com/zephyrproject-rtos/zephyr/blob/25c8f4a23988dd3b2cfb463613622738298c2d6c/doc/build/cmake-ref/module/extensions.rst#L1</a:t>
            </a:r>
          </a:p>
          <a:p>
            <a:r>
              <a:t>实现定位：https://github.com/zephyrproject-rtos/zephyr/blob/25c8f4a23988dd3b2cfb463613622738298c2d6c/cmake/modules/extensions.cmake#L769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guide28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28.xml"/><Relationship Id="rIdReading" Type="http://schemas.openxmlformats.org/officeDocument/2006/relationships/hyperlink" Target="../P010_Zephyr&#30340;CMake&#36755;&#20837;&#19982;&#20381;&#36182;&#21457;&#29616;_Windows.md" TargetMode="External"/></Relationships>
</file>

<file path=ppt/slides/_rels/guide29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29.xml"/><Relationship Id="rIdReading" Type="http://schemas.openxmlformats.org/officeDocument/2006/relationships/hyperlink" Target="../P010_Zephyr&#30340;CMake&#36755;&#20837;&#19982;&#20381;&#36182;&#21457;&#29616;_Windows.md" TargetMode="External"/></Relationships>
</file>

<file path=ppt/slides/_rels/lesson_9_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73266b0233b145de"/><Relationship Type="http://schemas.openxmlformats.org/officeDocument/2006/relationships/hyperlink" Target="https://docs.zephyrproject.org/latest/build/cmake/index.html" TargetMode="External" Id="R2bc768f0bd174fd3"/><Relationship Type="http://schemas.openxmlformats.org/officeDocument/2006/relationships/hyperlink" Target="../P010_Zephyr&#30340;CMake&#36755;&#20837;&#19982;&#20381;&#36182;&#21457;&#29616;_Windows.md" TargetMode="External" Id="Rae8bec068bfe414c"/><Relationship Type="http://schemas.openxmlformats.org/officeDocument/2006/relationships/notesSlide" Target="../notesSlides/lesson_9_1.xml" Id="Rbc7ccb65ef6f44d0"/></Relationships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8_Zephyr&#24212;&#29992;&#26500;&#24314;_Windows.md#section-8-1-4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8_Zephyr&#24212;&#29992;&#26500;&#24314;_Windows.md#section-8-1-4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index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1-1" TargetMode="External"/><Relationship Id="rId4" Type="http://schemas.openxmlformats.org/officeDocument/2006/relationships/hyperlink" Target="https://github.com/zephyrproject-rtos/zephyr/blob/25c8f4a23988dd3b2cfb463613622738298c2d6c/cmake/modules/zephyr_module.cmake#L141" TargetMode="Externa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zephyr_cmake_package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1-2" TargetMode="External"/><Relationship Id="rId4" Type="http://schemas.openxmlformats.org/officeDocument/2006/relationships/hyperlink" Target="https://github.com/zephyrproject-rtos/zephyr/blob/25c8f4a23988dd3b2cfb463613622738298c2d6c/share/zephyr-package/cmake/ZephyrConfig.cmake#L28" TargetMode="Externa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variable/BOARD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1-3" TargetMode="External"/><Relationship Id="rId4" Type="http://schemas.openxmlformats.org/officeDocument/2006/relationships/hyperlink" Target="https://github.com/zephyrproject-rtos/zephyr/blob/25c8f4a23988dd3b2cfb463613622738298c2d6c/cmake/modules/boards.cmake#L6" TargetMode="Externa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variable/CONF_FILE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1-4" TargetMode="External"/><Relationship Id="rId4" Type="http://schemas.openxmlformats.org/officeDocument/2006/relationships/hyperlink" Target="https://github.com/zephyrproject-rtos/zephyr/blob/25c8f4a23988dd3b2cfb463613622738298c2d6c/cmake/modules/configuration_files.cmake#L43" TargetMode="External"/></Relationships>
</file>

<file path=ppt/slides/_rels/slide23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1-5" TargetMode="External"/><Relationship Id="rId4" Type="http://schemas.openxmlformats.org/officeDocument/2006/relationships/hyperlink" Target="https://github.com/zephyrproject-rtos/zephyr/blob/25c8f4a23988dd3b2cfb463613622738298c2d6c/cmake/modules/dts.cmake#L9" TargetMode="External"/></Relationships>
</file>

<file path=ppt/slides/_rels/slide24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variable/BOARD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1-3" TargetMode="External"/><Relationship Id="rId4" Type="http://schemas.openxmlformats.org/officeDocument/2006/relationships/hyperlink" Target="https://github.com/zephyrproject-rtos/zephyr/blob/25c8f4a23988dd3b2cfb463613622738298c2d6c/cmake/modules/boards.cmake#L6" TargetMode="External"/></Relationships>
</file>

<file path=ppt/slides/_rels/slide25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toolchains/zephyr_sdk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2-1" TargetMode="External"/><Relationship Id="rId4" Type="http://schemas.openxmlformats.org/officeDocument/2006/relationships/hyperlink" Target="https://github.com/zephyrproject-rtos/zephyr/blob/25c8f4a23988dd3b2cfb463613622738298c2d6c/cmake/modules/FindHostTools.cmake#L51" TargetMode="External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toolchains/zephyr_sdk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2-1" TargetMode="External"/><Relationship Id="rId4" Type="http://schemas.openxmlformats.org/officeDocument/2006/relationships/hyperlink" Target="https://github.com/zephyrproject-rtos/zephyr/blob/25c8f4a23988dd3b2cfb463613622738298c2d6c/cmake/modules/FindZephyr-sdk.cmake#L44" TargetMode="External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toolchains/custom_cmake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2-2" TargetMode="External"/><Relationship Id="rId4" Type="http://schemas.openxmlformats.org/officeDocument/2006/relationships/hyperlink" Target="https://github.com/zephyrproject-rtos/zephyr/blob/25c8f4a23988dd3b2cfb463613622738298c2d6c/cmake/modules/FindHostTools.cmake#L51" TargetMode="External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toolchains/zephyr_sdk.htm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2-3" TargetMode="External"/><Relationship Id="rId4" Type="http://schemas.openxmlformats.org/officeDocument/2006/relationships/hyperlink" Target="https://github.com/zephyrproject-rtos/zephyr/blob/25c8f4a23988dd3b2cfb463613622738298c2d6c/cmake/compiler/gcc/target_arm.cmake#L5" TargetMode="External"/></Relationships>
</file>

<file path=ppt/slides/_rels/slide29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toolchains/other_x_compilers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2-4" TargetMode="External"/><Relationship Id="rId4" Type="http://schemas.openxmlformats.org/officeDocument/2006/relationships/hyperlink" Target="https://github.com/zephyrproject-rtos/zephyr/blob/25c8f4a23988dd3b2cfb463613622738298c2d6c/cmake/modules/FindZephyr-sdk.cmake#L44" TargetMode="External"/></Relationships>
</file>

<file path=ppt/slides/_rels/slide30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toolchains/custom_cmake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2-4" TargetMode="External"/><Relationship Id="rId4" Type="http://schemas.openxmlformats.org/officeDocument/2006/relationships/hyperlink" Target="https://github.com/zephyrproject-rtos/zephyr/blob/25c8f4a23988dd3b2cfb463613622738298c2d6c/cmake/modules/FindTargetTools.cmake#L30" TargetMode="External"/></Relationships>
</file>

<file path=ppt/slides/_rels/slide31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3-1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32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3-1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33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3-2" TargetMode="External"/><Relationship Id="rId4" Type="http://schemas.openxmlformats.org/officeDocument/2006/relationships/hyperlink" Target="https://github.com/zephyrproject-rtos/zephyr/blob/25c8f4a23988dd3b2cfb463613622738298c2d6c/modules/modules.cmake#L5" TargetMode="External"/></Relationships>
</file>

<file path=ppt/slides/_rels/slide34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3-2" TargetMode="External"/><Relationship Id="rId4" Type="http://schemas.openxmlformats.org/officeDocument/2006/relationships/hyperlink" Target="https://github.com/zephyrproject-rtos/zephyr/blob/25c8f4a23988dd3b2cfb463613622738298c2d6c/modules/cmsis_6/CMakeLists.txt#L4" TargetMode="External"/></Relationships>
</file>

<file path=ppt/slides/_rels/slide35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3-3" TargetMode="External"/><Relationship Id="rId4" Type="http://schemas.openxmlformats.org/officeDocument/2006/relationships/hyperlink" Target="https://github.com/zephyrproject-rtos/zephyr/blob/25c8f4a23988dd3b2cfb463613622738298c2d6c/cmake/modules/zephyr_module.cmake#L141" TargetMode="External"/></Relationships>
</file>

<file path=ppt/slides/_rels/slide36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3-3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37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module/extensions.html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3-4" TargetMode="External"/><Relationship Id="rId4" Type="http://schemas.openxmlformats.org/officeDocument/2006/relationships/hyperlink" Target="https://github.com/zephyrproject-rtos/zephyr/blob/25c8f4a23988dd3b2cfb463613622738298c2d6c/cmake/modules/extensions.cmake#L682" TargetMode="External"/></Relationships>
</file>

<file path=ppt/slides/_rels/slide38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module/extensions.html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Zephyr&#30340;CMake&#36755;&#20837;&#19982;&#20381;&#36182;&#21457;&#29616;_Windows.md#section-10-3-4" TargetMode="External"/><Relationship Id="rId4" Type="http://schemas.openxmlformats.org/officeDocument/2006/relationships/hyperlink" Target="https://github.com/zephyrproject-rtos/zephyr/blob/25c8f4a23988dd3b2cfb463613622738298c2d6c/cmake/modules/extensions.cmake#L769" TargetMode="External"/></Relationships>
</file>

<file path=ppt/slides/gu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值怎样选到 </a:t>
            </a:r>
            <a:r>
              <a:rPr>
                <a:solidFill>
                  <a:srgbClr val="0070C0"/>
                </a:solidFill>
                <a:ea typeface="Microsoft YaHei"/>
              </a:rPr>
              <a:t>soc.c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10.1.3 · 从当前任务理解工程组织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board.yml</a:t>
            </a:r>
            <a:r>
              <a:t> 登记 mps2/an386；Kconfig.mps2 按 </a:t>
            </a:r>
            <a:r>
              <a:rPr>
                <a:solidFill>
                  <a:srgbClr val="B84E00"/>
                </a:solidFill>
                <a:ea typeface="Microsoft YaHei"/>
              </a:rPr>
              <a:t>BOARD_MPS2_AN386</a:t>
            </a:r>
            <a:r>
              <a:t> 选择 </a:t>
            </a:r>
            <a:r>
              <a:rPr>
                <a:solidFill>
                  <a:srgbClr val="0070C0"/>
                </a:solidFill>
                <a:ea typeface="Microsoft YaHei"/>
              </a:rPr>
              <a:t>SOC_AN386</a:t>
            </a:r>
            <a:r>
              <a:t>；SoC Kconfig 继续选择 MPS2 系列、ARM 和 Cortex-M4 能力。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soc/arm/CMakeLists.txt</a:t>
            </a:r>
            <a:r>
              <a:t> 按 </a:t>
            </a:r>
            <a:r>
              <a:rPr>
                <a:solidFill>
                  <a:srgbClr val="B84E00"/>
                </a:solidFill>
                <a:ea typeface="Microsoft YaHei"/>
              </a:rPr>
              <a:t>CONFIG_SOC_SERIES</a:t>
            </a:r>
            <a:r>
              <a:t> 进入 mps2 子目录，再以 zephyr_sources(</a:t>
            </a:r>
            <a:r>
              <a:rPr>
                <a:solidFill>
                  <a:srgbClr val="0070C0"/>
                </a:solidFill>
                <a:ea typeface="Microsoft YaHei"/>
              </a:rPr>
              <a:t>soc.c</a:t>
            </a:r>
            <a:r>
              <a:t>) 加入实现。应用无需重复列出平台源码。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按顺序核对 .config 的 SOC/CPU、编译清单的 </a:t>
            </a:r>
            <a:r>
              <a:rPr>
                <a:solidFill>
                  <a:srgbClr val="0070C0"/>
                </a:solidFill>
                <a:ea typeface="Microsoft YaHei"/>
              </a:rPr>
              <a:t>mps2/soc.c</a:t>
            </a:r>
            <a:r>
              <a:t> 和命令里的 CPU 参数。名字、配置结果、任务生成是三个需要接上的证据。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10.1.3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854E522-580B-448C-A7E0-C7331DC5876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gu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怎样查出硬件支持在内置驱动还是厂商库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10.3.4 · 从当前任务理解工程组织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先分开硬件支持职责与包名：MPS2 有 Keil BSP；本次复位/NVIC、SysTick、GPIO/pinctrl 与 UART 来自 Zephyr，通用 Core 接口来自 CMSIS_6。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11696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以 UART 为例：DTS compatible → UART_CMSDK_APB 配置 → CMake 选入 </a:t>
            </a:r>
            <a:r>
              <a:rPr>
                <a:solidFill>
                  <a:srgbClr val="0070C0"/>
                </a:solidFill>
                <a:ea typeface="Microsoft YaHei"/>
              </a:rPr>
              <a:t>uart_cmsdk_apb.c</a:t>
            </a:r>
            <a:r>
              <a:t>。该驱动直接操作寄存器；若另一个驱动调用厂商 API，再追它引用的外部库。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4076700"/>
            <a:ext cx="10972800" cy="11696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list 只回答活动清单能管理哪些项目，不会为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解析全部需求。用它找 CMSIS 等下载项目，再用 .config、模块记录、include 路径和编译单元证明本次实际使用。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10.3.4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5A8283C-C1C4-4050-8A09-7B79B5160C7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lesson_9_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0AD1DAF-0EA6-4598-8825-4D8DF3E0D78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应用没写的 </a:t>
            </a:r>
            <a:r>
              <a:rPr sz="30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soc.c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和驱动，是谁选入的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19AC98F-E747-4786-A92D-4ABB0EEFD4D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10.1—10.3 · 沿源码选择理解接口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977C1D1-11A9-4BCA-917E-D09A02EBAF61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前置：P008 已完成直接 CMake 构建。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 SoC；DTS/Kconfig 选驱动；模块接入外部头与库。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每一步都查读取规则，再用配置和编译清单核对。</a:t>
            </a:r>
          </a:p>
        </p:txBody>
      </p:sp>
      <p:sp>
        <p:nvSpPr>
          <p:cNvPr id="5" name="Model 输入形态">
            <a:extLst>
              <a:ext uri="{FF2B5EF4-FFF2-40B4-BE49-F238E27FC236}">
                <a16:creationId xmlns:a16="http://schemas.microsoft.com/office/drawing/2014/main" id="{B72D9CF6-E3ED-451F-A246-AE58C09DCBCB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输入形态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F3BDB4FA-8DCB-40D8-8FD0-E6D4E312B082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读取脚本">
            <a:extLst>
              <a:ext uri="{FF2B5EF4-FFF2-40B4-BE49-F238E27FC236}">
                <a16:creationId xmlns:a16="http://schemas.microsoft.com/office/drawing/2014/main" id="{DD24F27E-B8FC-41AB-8407-41EA4C439F67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读取脚本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50C23F3B-CFE2-46C4-95FE-0858D93275CD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目标与规则">
            <a:extLst>
              <a:ext uri="{FF2B5EF4-FFF2-40B4-BE49-F238E27FC236}">
                <a16:creationId xmlns:a16="http://schemas.microsoft.com/office/drawing/2014/main" id="{D68F356F-117B-4BB5-AA40-42BCCD92C3A3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目标与规则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58BAD3CD-AB8C-4AC8-BABF-31D005452419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生成结果">
            <a:extLst>
              <a:ext uri="{FF2B5EF4-FFF2-40B4-BE49-F238E27FC236}">
                <a16:creationId xmlns:a16="http://schemas.microsoft.com/office/drawing/2014/main" id="{84A47CA6-0618-44DC-BDC1-C0B367EF9672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生成结果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9A6FDD69-4216-469D-BC39-05B9E25EECD2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2bc768f0bd174fd3"/>
              </a:rPr>
              <a:t>依据：</a:t>
            </a:r>
            <a:r>
              <a:rPr u="sng">
                <a:solidFill>
                  <a:srgbClr val="0070C0"/>
                </a:solidFill>
                <a:hlinkClick r:id="R2bc768f0bd174fd3"/>
              </a:rPr>
              <a:t>doc/build/cmake/index.rst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91CC276D-D467-4C2B-9B86-097EB228F244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e8bec068bfe414c"/>
              </a:rPr>
              <a:t>配套正文 · 10.1—10.3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30C7679-89B9-458A-98D0-2D1BE53A3F7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Semantic color legend">
            <a:extLst>
              <a:ext uri="{FF2B5EF4-FFF2-40B4-BE49-F238E27FC236}">
                <a16:creationId xmlns:a16="http://schemas.microsoft.com/office/drawing/2014/main" id="{39154CEE-9E0E-4815-8A42-342F49989EDD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t>阅读标色： </a:t>
            </a:r>
            <a:r>
              <a:rPr>
                <a:solidFill>
                  <a:srgbClr val="B84E00"/>
                </a:solidFill>
              </a:rPr>
              <a:t>变量 / 参数</a:t>
            </a:r>
            <a:r>
              <a:t>     </a:t>
            </a:r>
            <a:r>
              <a:rPr>
                <a:solidFill>
                  <a:srgbClr val="0070C0"/>
                </a:solidFill>
              </a:rPr>
              <a:t>文件 / 路径</a:t>
            </a:r>
            <a:r>
              <a:t>     </a:t>
            </a:r>
            <a:r>
              <a:rPr>
                <a:solidFill>
                  <a:srgbClr val="087B3D"/>
                </a:solidFill>
              </a:rPr>
              <a:t>接口函数</a:t>
            </a:r>
            <a:r>
              <a:t>     </a:t>
            </a:r>
            <a:r>
              <a:rPr>
                <a:solidFill>
                  <a:srgbClr val="A02B93"/>
                </a:solidFill>
              </a:rPr>
              <a:t>终端命令</a:t>
            </a: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Zephyr的CMake输入与依赖发现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4373AD7-DFCE-427E-8AD2-63867D2000E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应用构建体系的思维导图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135DCFF-E32F-4E42-8857-72940419C41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 · 本册总览：各类输入</a:t>
            </a:r>
          </a:p>
        </p:txBody>
      </p:sp>
      <p:sp>
        <p:nvSpPr>
          <p:cNvPr id="4" name="Mindmap root">
            <a:extLst>
              <a:ext uri="{FF2B5EF4-FFF2-40B4-BE49-F238E27FC236}">
                <a16:creationId xmlns:a16="http://schemas.microsoft.com/office/drawing/2014/main" id="{DE398D43-E47D-4135-AB44-DE7A756E6028}"/>
              </a:ext>
            </a:extLst>
          </p:cNvPr>
          <p:cNvSpPr>
            <a:spLocks noGrp="1"/>
          </p:cNvSpPr>
          <p:nvPr/>
        </p:nvSpPr>
        <p:spPr>
          <a:xfrm>
            <a:off x="890881" y="3207544"/>
            <a:ext cx="3084430" cy="3952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250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应用的Zephyr</a:t>
            </a:r>
            <a:r>
              <a:rPr sz="2250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250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构建</a:t>
            </a:r>
            <a:endParaRPr sz="2250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Diagram connector">
            <a:extLst>
              <a:ext uri="{FF2B5EF4-FFF2-40B4-BE49-F238E27FC236}">
                <a16:creationId xmlns:a16="http://schemas.microsoft.com/office/drawing/2014/main" id="{6979BDA5-4726-4A31-83FF-1ECF574523A0}"/>
              </a:ext>
            </a:extLst>
          </p:cNvPr>
          <p:cNvSpPr>
            <a:spLocks noGrp="1"/>
          </p:cNvSpPr>
          <p:nvPr/>
        </p:nvSpPr>
        <p:spPr>
          <a:xfrm>
            <a:off x="3651461" y="3390900"/>
            <a:ext cx="40005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6" name="Diagram connector">
            <a:extLst>
              <a:ext uri="{FF2B5EF4-FFF2-40B4-BE49-F238E27FC236}">
                <a16:creationId xmlns:a16="http://schemas.microsoft.com/office/drawing/2014/main" id="{AD281B5C-FA6D-4CFC-A26C-FEF2BEC872B6}"/>
              </a:ext>
            </a:extLst>
          </p:cNvPr>
          <p:cNvSpPr>
            <a:spLocks noGrp="1"/>
          </p:cNvSpPr>
          <p:nvPr/>
        </p:nvSpPr>
        <p:spPr>
          <a:xfrm>
            <a:off x="4032461" y="2047875"/>
            <a:ext cx="19050" cy="3048000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Diagram connector">
            <a:extLst>
              <a:ext uri="{FF2B5EF4-FFF2-40B4-BE49-F238E27FC236}">
                <a16:creationId xmlns:a16="http://schemas.microsoft.com/office/drawing/2014/main" id="{954D7964-C23D-4485-BB19-C65F554DCDF4}"/>
              </a:ext>
            </a:extLst>
          </p:cNvPr>
          <p:cNvSpPr>
            <a:spLocks noGrp="1"/>
          </p:cNvSpPr>
          <p:nvPr/>
        </p:nvSpPr>
        <p:spPr>
          <a:xfrm>
            <a:off x="4032461" y="2047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8" name="Mindmap branch 0">
            <a:extLst>
              <a:ext uri="{FF2B5EF4-FFF2-40B4-BE49-F238E27FC236}">
                <a16:creationId xmlns:a16="http://schemas.microsoft.com/office/drawing/2014/main" id="{24B71A19-75FC-457C-9B33-40A1AB7FDB7E}"/>
              </a:ext>
            </a:extLst>
          </p:cNvPr>
          <p:cNvSpPr>
            <a:spLocks noGrp="1"/>
          </p:cNvSpPr>
          <p:nvPr/>
        </p:nvSpPr>
        <p:spPr>
          <a:xfrm>
            <a:off x="4603961" y="1676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入口与执行者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Mindmap details 0">
            <a:extLst>
              <a:ext uri="{FF2B5EF4-FFF2-40B4-BE49-F238E27FC236}">
                <a16:creationId xmlns:a16="http://schemas.microsoft.com/office/drawing/2014/main" id="{95C0837C-2D5F-4F42-9B2C-C570DD89CDF3}"/>
              </a:ext>
            </a:extLst>
          </p:cNvPr>
          <p:cNvSpPr>
            <a:spLocks noGrp="1"/>
          </p:cNvSpPr>
          <p:nvPr/>
        </p:nvSpPr>
        <p:spPr>
          <a:xfrm>
            <a:off x="4603961" y="1990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Ninja →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编译器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Diagram connector">
            <a:extLst>
              <a:ext uri="{FF2B5EF4-FFF2-40B4-BE49-F238E27FC236}">
                <a16:creationId xmlns:a16="http://schemas.microsoft.com/office/drawing/2014/main" id="{5EA8DC38-9D8C-44D6-9ACA-0F257C6D880A}"/>
              </a:ext>
            </a:extLst>
          </p:cNvPr>
          <p:cNvSpPr>
            <a:spLocks noGrp="1"/>
          </p:cNvSpPr>
          <p:nvPr/>
        </p:nvSpPr>
        <p:spPr>
          <a:xfrm>
            <a:off x="4032461" y="2809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1" name="Mindmap branch 1">
            <a:extLst>
              <a:ext uri="{FF2B5EF4-FFF2-40B4-BE49-F238E27FC236}">
                <a16:creationId xmlns:a16="http://schemas.microsoft.com/office/drawing/2014/main" id="{29B21E4F-903A-4F06-9A4D-EED2CE09A285}"/>
              </a:ext>
            </a:extLst>
          </p:cNvPr>
          <p:cNvSpPr>
            <a:spLocks noGrp="1"/>
          </p:cNvSpPr>
          <p:nvPr/>
        </p:nvSpPr>
        <p:spPr>
          <a:xfrm>
            <a:off x="4603962" y="2438400"/>
            <a:ext cx="624839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硬件与功能输入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Mindmap details 1">
            <a:extLst>
              <a:ext uri="{FF2B5EF4-FFF2-40B4-BE49-F238E27FC236}">
                <a16:creationId xmlns:a16="http://schemas.microsoft.com/office/drawing/2014/main" id="{41B75448-447F-46DE-94FF-FDC1BEBFFFBC}"/>
              </a:ext>
            </a:extLst>
          </p:cNvPr>
          <p:cNvSpPr>
            <a:spLocks noGrp="1"/>
          </p:cNvSpPr>
          <p:nvPr/>
        </p:nvSpPr>
        <p:spPr>
          <a:xfrm>
            <a:off x="4603961" y="2752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SoC、Kconfig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片段、DTS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overlay</a:t>
            </a:r>
          </a:p>
        </p:txBody>
      </p:sp>
      <p:sp>
        <p:nvSpPr>
          <p:cNvPr id="13" name="Diagram connector">
            <a:extLst>
              <a:ext uri="{FF2B5EF4-FFF2-40B4-BE49-F238E27FC236}">
                <a16:creationId xmlns:a16="http://schemas.microsoft.com/office/drawing/2014/main" id="{71C33E1E-11F9-4102-A5A1-60581BF91C67}"/>
              </a:ext>
            </a:extLst>
          </p:cNvPr>
          <p:cNvSpPr>
            <a:spLocks noGrp="1"/>
          </p:cNvSpPr>
          <p:nvPr/>
        </p:nvSpPr>
        <p:spPr>
          <a:xfrm>
            <a:off x="4032461" y="3571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4" name="Mindmap branch 2">
            <a:extLst>
              <a:ext uri="{FF2B5EF4-FFF2-40B4-BE49-F238E27FC236}">
                <a16:creationId xmlns:a16="http://schemas.microsoft.com/office/drawing/2014/main" id="{968542F9-F4A2-4239-A17B-60023A4F8419}"/>
              </a:ext>
            </a:extLst>
          </p:cNvPr>
          <p:cNvSpPr>
            <a:spLocks noGrp="1"/>
          </p:cNvSpPr>
          <p:nvPr/>
        </p:nvSpPr>
        <p:spPr>
          <a:xfrm>
            <a:off x="4603961" y="3200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工具来源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Mindmap details 2">
            <a:extLst>
              <a:ext uri="{FF2B5EF4-FFF2-40B4-BE49-F238E27FC236}">
                <a16:creationId xmlns:a16="http://schemas.microsoft.com/office/drawing/2014/main" id="{041D7D88-9FC7-4CDE-9D77-131F6B25CDBB}"/>
              </a:ext>
            </a:extLst>
          </p:cNvPr>
          <p:cNvSpPr>
            <a:spLocks noGrp="1"/>
          </p:cNvSpPr>
          <p:nvPr/>
        </p:nvSpPr>
        <p:spPr>
          <a:xfrm>
            <a:off x="4603961" y="3514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包发现、工具链接入规则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Diagram connector">
            <a:extLst>
              <a:ext uri="{FF2B5EF4-FFF2-40B4-BE49-F238E27FC236}">
                <a16:creationId xmlns:a16="http://schemas.microsoft.com/office/drawing/2014/main" id="{A0C7FDAD-56A0-480F-B329-BB7D4053C06F}"/>
              </a:ext>
            </a:extLst>
          </p:cNvPr>
          <p:cNvSpPr>
            <a:spLocks noGrp="1"/>
          </p:cNvSpPr>
          <p:nvPr/>
        </p:nvSpPr>
        <p:spPr>
          <a:xfrm>
            <a:off x="4032461" y="4333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7" name="Mindmap branch 3">
            <a:extLst>
              <a:ext uri="{FF2B5EF4-FFF2-40B4-BE49-F238E27FC236}">
                <a16:creationId xmlns:a16="http://schemas.microsoft.com/office/drawing/2014/main" id="{673A3666-97C9-4493-A27A-BB8CA03C912A}"/>
              </a:ext>
            </a:extLst>
          </p:cNvPr>
          <p:cNvSpPr>
            <a:spLocks noGrp="1"/>
          </p:cNvSpPr>
          <p:nvPr/>
        </p:nvSpPr>
        <p:spPr>
          <a:xfrm>
            <a:off x="4603961" y="3962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外部源码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Mindmap details 3">
            <a:extLst>
              <a:ext uri="{FF2B5EF4-FFF2-40B4-BE49-F238E27FC236}">
                <a16:creationId xmlns:a16="http://schemas.microsoft.com/office/drawing/2014/main" id="{224A9AFF-6BAB-44BB-9169-099CD42AE1FB}"/>
              </a:ext>
            </a:extLst>
          </p:cNvPr>
          <p:cNvSpPr>
            <a:spLocks noGrp="1"/>
          </p:cNvSpPr>
          <p:nvPr/>
        </p:nvSpPr>
        <p:spPr>
          <a:xfrm>
            <a:off x="4603961" y="4276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候选、模块元数据、模块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入口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Diagram connector">
            <a:extLst>
              <a:ext uri="{FF2B5EF4-FFF2-40B4-BE49-F238E27FC236}">
                <a16:creationId xmlns:a16="http://schemas.microsoft.com/office/drawing/2014/main" id="{9123B2D2-5E1C-4B58-A03A-6B95193CC5BA}"/>
              </a:ext>
            </a:extLst>
          </p:cNvPr>
          <p:cNvSpPr>
            <a:spLocks noGrp="1"/>
          </p:cNvSpPr>
          <p:nvPr/>
        </p:nvSpPr>
        <p:spPr>
          <a:xfrm>
            <a:off x="4032461" y="5095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20" name="Mindmap branch 4">
            <a:extLst>
              <a:ext uri="{FF2B5EF4-FFF2-40B4-BE49-F238E27FC236}">
                <a16:creationId xmlns:a16="http://schemas.microsoft.com/office/drawing/2014/main" id="{61C77432-FB8A-4B2B-A9E7-EFC995356F49}"/>
              </a:ext>
            </a:extLst>
          </p:cNvPr>
          <p:cNvSpPr>
            <a:spLocks noGrp="1"/>
          </p:cNvSpPr>
          <p:nvPr/>
        </p:nvSpPr>
        <p:spPr>
          <a:xfrm>
            <a:off x="4603961" y="4724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构建结果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Mindmap details 4">
            <a:extLst>
              <a:ext uri="{FF2B5EF4-FFF2-40B4-BE49-F238E27FC236}">
                <a16:creationId xmlns:a16="http://schemas.microsoft.com/office/drawing/2014/main" id="{5E779FD1-1ED2-4A18-85B3-432C03F5C0AF}"/>
              </a:ext>
            </a:extLst>
          </p:cNvPr>
          <p:cNvSpPr>
            <a:spLocks noGrp="1"/>
          </p:cNvSpPr>
          <p:nvPr/>
        </p:nvSpPr>
        <p:spPr>
          <a:xfrm>
            <a:off x="4603961" y="5038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配置记录、目标与依赖、最终固件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Official doc link">
            <a:extLst>
              <a:ext uri="{FF2B5EF4-FFF2-40B4-BE49-F238E27FC236}">
                <a16:creationId xmlns:a16="http://schemas.microsoft.com/office/drawing/2014/main" id="{65FA4F7F-A608-43C7-8233-FAEF36BDD0CA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doc/build/cmake/index.rst</a:t>
            </a:r>
          </a:p>
        </p:txBody>
      </p:sp>
      <p:sp>
        <p:nvSpPr>
          <p:cNvPr id="23" name="Implementation link">
            <a:extLst>
              <a:ext uri="{FF2B5EF4-FFF2-40B4-BE49-F238E27FC236}">
                <a16:creationId xmlns:a16="http://schemas.microsoft.com/office/drawing/2014/main" id="{2C92CC91-0404-46A3-9229-1855C11B7E3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cmake/modules/zephyr_default.cmake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71 行附近</a:t>
            </a:r>
          </a:p>
        </p:txBody>
      </p:sp>
      <p:sp>
        <p:nvSpPr>
          <p:cNvPr id="24" name="Chapter link">
            <a:extLst>
              <a:ext uri="{FF2B5EF4-FFF2-40B4-BE49-F238E27FC236}">
                <a16:creationId xmlns:a16="http://schemas.microsoft.com/office/drawing/2014/main" id="{801C391A-EFB9-493C-915D-4C95D310D92D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2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AD436E4-0B44-48CE-A4FE-ABB599258BE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07515FF-122F-4A78-B474-4B7C2D3A449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初始化顺序来自数据依赖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D22A6DA-C085-434F-9FDF-DAEF6E07238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 · 初始化与输入次序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9481179-F555-4EF0-9E2C-9A5C1D691D7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模块可提供额外板、SoC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和设备树目录，所以先发现模块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知道搜索根后才能选板，再选配置文件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设备树信息可供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使用，因此先设备树、后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设备树预处理已需要工具，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dts.cmake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会请求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HostTools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硬件配置形成后，TargetTools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完成目标工具与参数设置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这个顺序直接列在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zephyr_default.cmake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中。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E7FAB19E-AFA0-4A5C-BB2E-F9290EAA8174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0D1D47E7-85C3-4798-8A3C-5F605C3AA17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cmake/modules/zephyr_default.cmake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A783CA89-AF28-4C6D-993F-78D7CE3EC50F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9E142E2-3428-4526-94EE-AA7477D1754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26900A9-4832-4E90-A8D9-0C16341BC94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哪些是 CMake，哪些是 Zephyr 接口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F0159D4-FB09-4FF3-BAFD-51E273AD7B9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10.1.1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D197B4B-81B9-4DAD-8026-AEED4F7D7E1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17575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原生命令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：Zephyr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定义的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宏。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endParaRPr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：Zephyr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脚本读取的输入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Zephyr_DIR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的包目录命名约定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CONFIG_GPIO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：Kconfig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计算后的功能值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ZEPHYR_HAL_XHSC_MODULE_DIR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：模块发现后的目录结果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endParaRPr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只是传值语法；没人读取的自造变量不会产生接入效果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29468ADE-621F-4C9B-98FD-B71FD29B4DB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doc/build/cmake-ref/index.rst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F9E9A8B5-9AE9-4607-840A-326C78BFAC6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cmake/modules/zephyr_module.cmake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141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93041EB-8565-4DB8-8146-77F69B5714F6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10D0E36-E0E0-40C2-B03A-AD7972F8912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Semantic color legend">
            <a:extLst>
              <a:ext uri="{FF2B5EF4-FFF2-40B4-BE49-F238E27FC236}">
                <a16:creationId xmlns:a16="http://schemas.microsoft.com/office/drawing/2014/main" id="{6659ECDD-B91A-40B5-9C1F-B009686A670B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425"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>
                <a:latin typeface="Microsoft YaHei"/>
                <a:ea typeface="Microsoft YaHei"/>
                <a:cs typeface="Microsoft YaHei"/>
              </a:defRPr>
            </a:pPr>
            <a:r>
              <a:rPr sz="1425" dirty="0" err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颜色提示：</a:t>
            </a:r>
            <a:r>
              <a:rPr sz="1425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变量</a:t>
            </a:r>
            <a:r>
              <a:rPr sz="1425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425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参数</a:t>
            </a:r>
            <a:r>
              <a:rPr sz="1425" dirty="0">
                <a:latin typeface="Microsoft YaHei"/>
                <a:ea typeface="Microsoft YaHei"/>
                <a:cs typeface="Microsoft YaHei"/>
              </a:rPr>
              <a:t>    </a:t>
            </a:r>
            <a:r>
              <a:rPr sz="1425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文件</a:t>
            </a:r>
            <a:r>
              <a:rPr sz="1425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425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路径</a:t>
            </a:r>
            <a:r>
              <a:rPr sz="1425" dirty="0">
                <a:latin typeface="Microsoft YaHei"/>
                <a:ea typeface="Microsoft YaHei"/>
                <a:cs typeface="Microsoft YaHei"/>
              </a:rPr>
              <a:t>    </a:t>
            </a:r>
            <a:r>
              <a:rPr sz="1425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接口函数</a:t>
            </a:r>
            <a:r>
              <a:rPr sz="1425" dirty="0">
                <a:latin typeface="Microsoft YaHei"/>
                <a:ea typeface="Microsoft YaHei"/>
                <a:cs typeface="Microsoft YaHei"/>
              </a:rPr>
              <a:t>    </a:t>
            </a:r>
            <a:r>
              <a:rPr sz="1425" dirty="0" err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终端命令</a:t>
            </a:r>
            <a:endParaRPr sz="1425" dirty="0">
              <a:solidFill>
                <a:srgbClr val="A02B9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B6D8374-7832-409E-92EA-E808399794E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应用目录、源码包和 SDK 各在哪里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0CBB2EA-8785-4F8E-9D8F-4493CB334E5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10.1.2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C661463-3984-4EA4-9863-73ABD5634E9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指应用目录，例如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samples/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hello_world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ZEPHYR_BASE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指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源码根，里面有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boards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kernel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Zephyr_DIR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指含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ZephyrConfig.cmake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的包目录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则在源码外面，是另一种包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包搜索能正常定位源码时，不必重复给出所有路径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显式输入适合固定源码副本；同时提供的路径必须互相一致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559F0308-D7A7-480E-8DB9-3566B86FF6F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doc/build/zephyr_cmake_package.rst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821D7CDF-FDB0-4EDB-B137-A966BF9D1B0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share/zephyr-package/cmake/ZephyrConfig.cmake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28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FBEBA11E-E3DD-4A85-830C-608F49566C7E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67910DF-B142-4A48-B346-8F66ACF54DA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22EBCBD-EEEE-45B4-8E80-5AB90B71CB8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把应用对应到硬件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2A28DAF-30D5-4509-AE9B-5D4BA44D51B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10.1.3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14AEFB3-2641-44D2-AFB1-6674F612791D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mps2/an386 是板目标标识，不是磁盘目录。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 Kconfig 选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SOC_AN386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，SoC 再选择 Cortex-M4。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 CMake 进入 mps2，加入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soc.c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树外新增板才需要额外搜索根或模块 settings。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指下面包含 boards 的根，不是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文件。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添加搜索位置只解决发现问题，硬件支持文件仍须实现。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F69CBADA-84CF-42C9-B7BA-79B549EE0E9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doc/build/cmake-ref/variable/BOARD.rst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67496710-A409-495F-9ED2-6B112D0F01E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cmake/modules/boards.cmake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6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E1529B68-89A7-4727-B6B3-3DC0EE4FDE1E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97E382B-91F8-4378-BE55-A25CCCB65B6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822ADF7-DCAC-4C27-9968-0C9E33F6152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选文件，Kconfig 计算功能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150EBA70-43EF-46A3-B9E0-8C06706E27A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10.1.4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FDE5CED-1A14-4570-BFD4-4986520E281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prj.conf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是应用请求；Kconfig 定义选项及其约束。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选择应用片段，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EXTRA_CONF_FILE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追加片段。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 DTS 满足 UART 条件，得到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CONFIG_UART_CMSDK_APB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=y。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请求不满足依赖时，应查诊断和最终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654CBFB8-78BD-4C93-84F8-9BFB6C1FC032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配置定义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9F5EAB43-8C73-4BED-9FDD-98B6599F5DCD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F76A33F2-6CF5-46EB-94CD-D3064C5E05EC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板与应用请求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CDD99A2D-003E-437C-9B3B-F1DBB1798E03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07522628-AD6B-4F07-89EA-CE3F4F37BD3C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计算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DE5A835C-1D3C-45FA-AD68-9373C71FFCD5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D85D3FBE-14E7-406E-B8B0-08E5C4164410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.config</a:t>
            </a: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头文件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6CC78E28-D947-40CF-986A-09E43ECC079B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doc/build/cmake-ref/variable/CONF_FILE.rst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F7FD6756-BABA-49D2-8D12-BD77B18C03E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cmake/modules/configuration_files.cmake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43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3CE29905-6B3D-42F9-8A8C-CEF500A3C2CB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45ABF82-7DC0-49EC-9D70-70E487CF235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E68BE74-7611-49D5-AB57-87674CCAE77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硬件描述怎样变成编译信息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FA6F546-BE84-4E4C-AD6E-130B12DDE98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10.1.5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563122C-7661-491D-8F9E-9ECCC6DE340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 的 uart0 使用 compatible="arm,cmsdk-uart"。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DTC_OVERLAY_FILE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 overlay，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EXTRA_DTC_OVERLAY_FILE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追加。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预处理器先展开包含与宏，Zephyr Python 脚本再解析。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结果是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zephyr.dts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devicetree_generated.h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选 CMSDK UART，CMake 才加入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uart_cmsdk_apb.c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dtc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可提供补充诊断；不要把全部生成工作都归给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dtc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AD08A3C7-6BB6-4B81-8737-E0BF598F19B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BA06C8F2-A06D-42B1-94C8-1CF5F406687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cmake/modules/dts.cmake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9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8D6688EE-BFD5-46FF-9B9B-F92B5233C937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B10A58B-EA49-40BE-8C86-360FD361050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FFC5D11-A681-4EB8-933C-F2DDE46C4F3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沿 </a:t>
            </a:r>
            <a:r>
              <a:rPr sz="3000" b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找到一份实际被选入的源码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E0DC89A-308B-426C-BA2F-8526ED4238B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10.1.3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2400846-B257-4D81-97A3-0BB1C9B6DB99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board.yml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登记 mps2 与 an386。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Kconfig.mps2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 </a:t>
            </a: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SOC_AN386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 Kconfig 选择 MPS2 系列与 Cortex-M4。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soc/arm/CMakeLists.txt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进入 mps2，再加入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soc.c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.config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查 SOC/CPU，在编译清单查该源文件。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源码选择成立后，仍须 build 成功才能生成固件。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8A2C9E97-5970-4434-93FF-65C743692A7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doc/build/cmake-ref/variable/BOARD.rst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1AE67C80-C754-4674-9F07-C965C8FE0A0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cmake/modules/boards.cmake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6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0B33F96-73CD-4DA3-BE82-502F0B3F7987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6E9D37F-67B6-4C64-8D9B-D34CBE9B89D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5D8E2F8-C53E-4A80-BDDE-4BD73A65E65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源码包与 SDK 工具包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3F4DEED9-9BE1-4FC3-87A5-E49AC6C33F2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10.2.1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1ADEFB9-0ACA-47E5-A342-0FDDCA0BE5C7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(Zephyr)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进入源码构建规则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规则需要工具时，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FindHostTools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请求查找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Zephyr-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的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Zephyr-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sdkConfig.cmake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提供工具包位置和默认选择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zephyr-export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处理源码包的位置记录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的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setup.cmd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/c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SDK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包的位置记录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两者面向不同的包，不把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SDK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复制进应用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B9465D3B-406C-426B-BAE2-C2ECDD2EDB81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doc/develop/toolchains/zephyr_sdk.rst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BC780059-5EC9-48E3-91D9-42F0CD56307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cmake/modules/FindHostTools.cmake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51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A909366-0D61-4E32-BD08-97D8DB56CE80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02A1E51-BE1D-437A-8C3D-B3CA194B7FA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129C392-AD89-4D5F-B82C-B4CFF94BE8A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已注册时的默认发现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5524B26-478E-401E-A0BE-EC4CAC6C548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10.2.1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EB22B46-3D62-45AD-8514-57CFB3A45BB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当前用户的 SDK 包记录为 CMake 提供搜索候选。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没有其他类型或旧位置覆盖时，Zephyr 尝试找兼容 SDK。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有效注册后，主线省略默认类型和 SDK 根即可。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注册跨终端保留，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的启停不会删除它。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DC27F2C8-8654-4030-84D8-9FBA7519914A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应用加载规则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4E30E4B2-64D4-4BD2-8D28-1D0CAFBE4B84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C818589C-FB0D-48C9-AAA0-5D5A20726369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请求 SDK 包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B703CCB0-E75D-4AA6-80F6-419C45B8BDED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3ADC3165-06BD-440A-B452-55131A2FDE7E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找到包配置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E23216A0-9174-4798-BBE6-D0A52857D0BA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030334EF-8AE3-4AE7-A972-D1C07D693B2F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取得默认工具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A43E3D50-F8C0-45F7-B144-34A43941F3DD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doc/develop/toolchains/zephyr_sdk.rst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5520E88C-C92C-49BB-BB61-2CC242C1F7A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cmake/modules/FindZephyr-sdk.cmake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44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CD77CD68-3846-499A-8D65-A524C565E26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67F9B77-B6A7-4F83-B673-94B90C90108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F55E516-5C29-4AE6-ABC1-DCC52F1E4CD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工具链类型选择一组适配规则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71C912D-A756-4233-973F-1A974E1500B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10.2.2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3658606-F564-4FF8-8F87-516B5BE3D0B2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编译器路径之外，还需预处理、汇编、链接、库和工具规则。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ZEPHYR_TOOLCHAIN_VARIANT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选择这组接入规则。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使用 SDK 接入；cross-compile 使用独立 GNU 前缀。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generic.cmake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先准备通用处理，例如设备树预处理。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target.cmake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再完成目标编译与目标库设置。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仅换一个类型名，不会自动实现新的编译器支持。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7B6AA25B-85D8-4040-B137-4B2D75971639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doc/develop/toolchains/custom_cmake.rst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297E4C3E-DA87-44E0-91FD-AFE76314629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cmake/modules/FindHostTools.cmake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51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4D7B4FE9-D1A7-4E70-978B-CF5554BBBABA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9F8757D-1288-4C1C-877B-CB8C7F57F3E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587C5-C391-4547-ABB4-8112D735233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板和 SDK 共同确定 ARM 编译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EA71B37-55A7-4806-8EDD-8C469DA1510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10.2.3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14D0BBA-07BE-4F23-BFA5-B3BB1FF7C2C2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板与 SoC 给出架构、CPU 和 FPU 等配置。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的 GNU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target.cmake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 ARM 32 位映射到 arm-zephyr-eabi。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target_arm.cmake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再给出适用的 CPU 与浮点参数。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和其他 Cortex-M 板可复用 ARM 工具链，硬件支持仍各自实现。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FA0E438B-E136-43BF-98E1-D25430EC365D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SoC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DF828C6E-4ED6-4676-B767-93D9D176BD96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D1A172F4-65C0-4A91-822E-257A46CDC403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ARM 架构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A77388A4-A668-42C7-AF1F-51F45207FB76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214958D6-42AD-4212-A666-1EF8FED7431B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ARM 工具前缀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078FC1DF-CEA6-4A71-AB9C-D5119B83AF67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B430BCCD-C35D-48C8-8E11-6CA1AD6FFF9C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CPU / FPU 参数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B2FCACB5-2B5B-4CD3-8F8E-4B6D6CB74692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doc/develop/toolchains/zephyr_sdk.rst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BAD73E33-8EF0-4D8C-9CF9-A739FC73C06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cmake/compiler/gcc/target_arm.cmake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5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5A8850FE-6350-4B53-8B38-ADAAB9057E3A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75096D5-3180-485A-BD36-C137BD7BDD9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68642B3-9415-4779-870F-5D71B42B278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三种包形态对应两类接入路线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513772A-F93B-47AB-AC16-314E6176E34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10.2.4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13D85D5-51D0-4E88-8C50-056ED729FD5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 GNU SDK：接入层和多个目标工具链已经一起提供。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Minimal SDK：保留 SDK 接入层，另外补目标工具组件。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两者准备齐全后，都作为 SDK 被工程发现。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 ARM 组件：可以没有 SDK 包配置。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直接使用时走 Zephyr 的 cross-compile 接口并核对目标库。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它不是 Minimal SDK，也不要求读者手建 SDK CMake 包。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66F2495D-20C9-4A92-9BA3-182814454203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doc/develop/toolchains/other_x_compilers.rst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A47858CD-658B-4E0D-8DC5-A12DF27347A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cmake/modules/FindZephyr-sdk.cmake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44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7C13A165-2F65-46AA-9E32-1EE9ED4BFA98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9884318-42A5-47C0-99A5-04059C0A0F7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8DD1CE2-9AB6-4112-870F-C4FCBD28571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三个路径接口寻找不同的对象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8BDA72F-F7B0-488B-B33C-15D7FC5B9E1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10.2.4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3FDF62E-C43E-4919-B5BA-7B11B2CAB3B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ZEPHYR_SDK_INSTALL_DIR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：SDK 搜索位置，通常填目标 SDK 根。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CROSS_COMPILE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：工具目录加共同前缀，末尾保留横线。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TOOLCHAIN_ROOT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：Zephyr 工具链接入脚本的根。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TOOLCHAIN_ROOT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 默认使用 Zephyr 源码，不是编译器 bin。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只有维护树外新规则时才更改它，并提供 generic / target 等规则。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普通使用 SDK 无须实现这些规则。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34B707CB-5B84-4D3C-ACB0-7FB0A0D9C801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doc/develop/toolchains/custom_cmake.rst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00B869AE-A53A-4566-951E-313C8C39C50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cmake/modules/FindTargetTools.cmake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30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E588AC7-DAA1-4ED9-BFB2-AF4C68BD914E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977946A-9B24-4C08-A2CF-DF45EBC6EDF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F44AC4D-8F87-4978-9F75-0E255E8BF90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下载项目和接入工程是两个阶段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E38C83B-E10F-4422-AF85-A16707C169F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10.3.1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32F165C-0154-4FA6-BF33-12698779D7B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list 列清单项目，不按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计算完整需求。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配置时还要取得候选项目，识别其 Zephyr 接口。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调用 Python 的模块发现脚本。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默认候选来自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工作区，显式追加来自配置输入。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它不会扫描整块磁盘寻找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 板/SoC/驱动已在主仓库；CMSIS_6 是外部候选。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18AA8A14-A176-48A0-9213-D3B1CA2F99FC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doc/develop/modules.rst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B305772C-4B42-4061-A6CE-51E2DFDB073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cmake/modules/zephyr_module.cmake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223BF2AA-3758-430F-8C53-7B4E7C1358D2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F518ED5-9847-4044-8A68-94F3264134F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49E8120-F63B-408A-8AE0-777F479BA9A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默认列表、追加列表与替换列表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7067E98-9BD9-4376-B8E0-17F4FEFF5F1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10.3.1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A501B48-57E6-4A17-80F8-061A7BF934EF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默认：从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 工作区项目取得候选，再识别模块。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EXTRA_ZEPHYR_MODULES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：为本次 CMake 配置追加模块根。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ZEPHYR_MODULES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：显式提供基础候选，可能替换掉默认依赖。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已由清单管理时沿用默认来源。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追加可保留其他依赖；与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 模块同名时，追加模块优先。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值为根目录列表，用分号分隔，并为整项加引号。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82E0B83F-FB33-4E08-B50E-F94EA6D9D414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doc/develop/modules.rst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1D3AC3A5-1721-4CB2-B852-B4CC774949A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cmake/modules/zephyr_module.cmake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2E0EE160-1717-4C9C-9CE9-693BF8832804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0BA2F24-37E0-404E-97E2-D91EC184BBA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9BABCC-7721-46F0-97F0-E1BE1C060C3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元数据说明接入文件在外部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E2A15A2-0647-4FE8-A1AD-DA72D4F3561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10.3.2 · ③ 源码模块接入</a:t>
            </a:r>
          </a:p>
        </p:txBody>
      </p:sp>
      <p:sp>
        <p:nvSpPr>
          <p:cNvPr id="4" name="Read-only source code">
            <a:extLst>
              <a:ext uri="{FF2B5EF4-FFF2-40B4-BE49-F238E27FC236}">
                <a16:creationId xmlns:a16="http://schemas.microsoft.com/office/drawing/2014/main" id="{C8E89038-E9B0-42BA-BF80-61F70E93C5C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47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只读：工作区 </a:t>
            </a: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modules/hal/cmsis_6</a:t>
            </a: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/zephyr/module.yml。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cmsis_6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cmake-ext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true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kconfig-ext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true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6C8D3089-3BC0-4DE7-B7E3-FB2197DDEE7D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下载的官方文件，不由读者新建。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cmake-ext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kconfig-ext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表示接入脚本在模块外部。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库文件留在下载目录，Zephyr 自己提供相应的构建适配。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D4AA994B-781B-437B-93A8-F185CFF57688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doc/develop/modules.rst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1C7BD52A-55BD-439A-B009-D6D1D339F7F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modules/modules.cmake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5 行附近</a:t>
            </a:r>
          </a:p>
        </p:txBody>
      </p:sp>
      <p:sp>
        <p:nvSpPr>
          <p:cNvPr id="8" name="Chapter link">
            <a:extLst>
              <a:ext uri="{FF2B5EF4-FFF2-40B4-BE49-F238E27FC236}">
                <a16:creationId xmlns:a16="http://schemas.microsoft.com/office/drawing/2014/main" id="{C39DFBF9-224C-44CD-BE1F-6E9BAE985E5D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07DEA22-16BB-46FE-917C-932447D95F5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B4A013-260F-45CD-B6AC-3BE2E13695B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库和接入脚本怎样连起来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B7AD16E6-4874-4AF2-9E28-908CDD43D62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10.3.2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8975FFB-8729-4D3A-8C1D-FA2FE801CE45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外部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modules/hal/cmsis_6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 提供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CMSIS/Core/Include/core_cm4.h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接入目录：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zephyr-main/modules/cmsis_6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，存放官方接入脚本。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modules/modules.cmake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 提供外置 CMake / Kconfig 入口位置。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入口脚本在 Cortex-M 配置下加入库内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CMSIS/Core/Include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MPS2 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soc.h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 经适配头引用 Core；它不必有独立 .c。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两处 modules 不是同一目录，也不需要把库整包复制到应用。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C04F8E65-F77C-4345-839F-2013A2491434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doc/develop/modules.rst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E6B49F96-8C25-4E11-AF0D-5E11F8E1E70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modules/cmsis_6/CMakeLists.txt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00D5EFC3-27C9-4B70-B7EE-0CB90AF0614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2FC74BD-6A4B-4BCE-8075-5B638E29092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29499BF-DFDF-498A-B9E0-1DC0F2DE76E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模块目录变量在发现链中产生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59E1FF9-D59E-4D38-99EC-2B7EA9D4C54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10.3.3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97C710F-5556-48A8-A5DE-44ADD994A72B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Python 识别元数据后生成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zephyr_modules.txt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 读取记录，规范化名字并设置目录变量。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根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 再加载提供了非空 CMake 入口的模块。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MODULE_DIR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 是结果；提前伪造它不会代替这些步骤。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C44939DA-36A0-4D24-9B32-BC6CE9BB495B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候选模块根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1EE482B1-8D73-4257-BE21-56728D0A522D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3039E60C-3A61-44F7-A420-4D13AF43010E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读取元数据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B8AD175B-14E7-4DB3-8C85-89D6E352DFCE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860DA084-A89E-4D6F-80A7-D609F6509844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生成记录与变量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BFB83D8B-DBD3-4194-B797-6A22DC6325A6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C7CD86AD-5553-42D5-A4F2-9AF102A2A86A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加载接入脚本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2AD31402-EEB8-4906-9CAA-6FD16EF062F3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doc/develop/modules.rst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7A8456E0-68A1-4B4D-AE55-52691D2C3DF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cmake/modules/zephyr_module.cmake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141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60CA3A1F-F813-4299-8728-473D5CB60001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824D9E6-9811-4478-B39C-9990AC9F0B5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D5719F1-B8D8-44DD-A1AF-C8473A48ED5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模块发现与接入的调用时序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B6A28FB-2EC3-4CCD-BFA7-EA9A5C265C2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10.3.3 · ③ 调用者与读取者</a:t>
            </a:r>
          </a:p>
        </p:txBody>
      </p:sp>
      <p:sp>
        <p:nvSpPr>
          <p:cNvPr id="4" name="Actor 0">
            <a:extLst>
              <a:ext uri="{FF2B5EF4-FFF2-40B4-BE49-F238E27FC236}">
                <a16:creationId xmlns:a16="http://schemas.microsoft.com/office/drawing/2014/main" id="{9C95E970-4F15-4519-A4BE-7A4D5F0CE4CD}"/>
              </a:ext>
            </a:extLst>
          </p:cNvPr>
          <p:cNvSpPr>
            <a:spLocks noGrp="1"/>
          </p:cNvSpPr>
          <p:nvPr/>
        </p:nvSpPr>
        <p:spPr>
          <a:xfrm>
            <a:off x="381000" y="171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应用配置调用者</a:t>
            </a:r>
          </a:p>
        </p:txBody>
      </p:sp>
      <p:sp>
        <p:nvSpPr>
          <p:cNvPr id="5" name="Diagram connector">
            <a:extLst>
              <a:ext uri="{FF2B5EF4-FFF2-40B4-BE49-F238E27FC236}">
                <a16:creationId xmlns:a16="http://schemas.microsoft.com/office/drawing/2014/main" id="{32483744-F31B-44F3-9996-6B4827CCFFE0}"/>
              </a:ext>
            </a:extLst>
          </p:cNvPr>
          <p:cNvSpPr>
            <a:spLocks noGrp="1"/>
          </p:cNvSpPr>
          <p:nvPr/>
        </p:nvSpPr>
        <p:spPr>
          <a:xfrm>
            <a:off x="1666875" y="2133600"/>
            <a:ext cx="14288" cy="3333750"/>
          </a:xfrm>
          <a:prstGeom prst="rect">
            <a:avLst/>
          </a:prstGeom>
          <a:solidFill>
            <a:srgbClr val="B9B0C7"/>
          </a:solidFill>
          <a:ln w="0">
            <a:noFill/>
          </a:ln>
        </p:spPr>
      </p:sp>
      <p:sp>
        <p:nvSpPr>
          <p:cNvPr id="6" name="Actor 1">
            <a:extLst>
              <a:ext uri="{FF2B5EF4-FFF2-40B4-BE49-F238E27FC236}">
                <a16:creationId xmlns:a16="http://schemas.microsoft.com/office/drawing/2014/main" id="{2418D43E-095C-4BC1-857B-FB11AE7EE4CE}"/>
              </a:ext>
            </a:extLst>
          </p:cNvPr>
          <p:cNvSpPr>
            <a:spLocks noGrp="1"/>
          </p:cNvSpPr>
          <p:nvPr/>
        </p:nvSpPr>
        <p:spPr>
          <a:xfrm>
            <a:off x="3333750" y="171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Zephyr CMake</a:t>
            </a:r>
          </a:p>
        </p:txBody>
      </p:sp>
      <p:sp>
        <p:nvSpPr>
          <p:cNvPr id="7" name="Diagram connector">
            <a:extLst>
              <a:ext uri="{FF2B5EF4-FFF2-40B4-BE49-F238E27FC236}">
                <a16:creationId xmlns:a16="http://schemas.microsoft.com/office/drawing/2014/main" id="{995B8E04-02C4-443A-95FF-3B4E5187A970}"/>
              </a:ext>
            </a:extLst>
          </p:cNvPr>
          <p:cNvSpPr>
            <a:spLocks noGrp="1"/>
          </p:cNvSpPr>
          <p:nvPr/>
        </p:nvSpPr>
        <p:spPr>
          <a:xfrm>
            <a:off x="4619625" y="2133600"/>
            <a:ext cx="14288" cy="3333750"/>
          </a:xfrm>
          <a:prstGeom prst="rect">
            <a:avLst/>
          </a:prstGeom>
          <a:solidFill>
            <a:srgbClr val="B9B0C7"/>
          </a:solidFill>
          <a:ln w="0">
            <a:noFill/>
          </a:ln>
        </p:spPr>
      </p:sp>
      <p:sp>
        <p:nvSpPr>
          <p:cNvPr id="8" name="Actor 2">
            <a:extLst>
              <a:ext uri="{FF2B5EF4-FFF2-40B4-BE49-F238E27FC236}">
                <a16:creationId xmlns:a16="http://schemas.microsoft.com/office/drawing/2014/main" id="{6546CA38-77BE-4136-B106-D8A2CB8EED62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Python 发现脚本</a:t>
            </a:r>
          </a:p>
        </p:txBody>
      </p:sp>
      <p:sp>
        <p:nvSpPr>
          <p:cNvPr id="9" name="Diagram connector">
            <a:extLst>
              <a:ext uri="{FF2B5EF4-FFF2-40B4-BE49-F238E27FC236}">
                <a16:creationId xmlns:a16="http://schemas.microsoft.com/office/drawing/2014/main" id="{F1265977-670B-4A5D-9913-3AB57912A919}"/>
              </a:ext>
            </a:extLst>
          </p:cNvPr>
          <p:cNvSpPr>
            <a:spLocks noGrp="1"/>
          </p:cNvSpPr>
          <p:nvPr/>
        </p:nvSpPr>
        <p:spPr>
          <a:xfrm>
            <a:off x="7524750" y="2133600"/>
            <a:ext cx="14288" cy="3333750"/>
          </a:xfrm>
          <a:prstGeom prst="rect">
            <a:avLst/>
          </a:prstGeom>
          <a:solidFill>
            <a:srgbClr val="B9B0C7"/>
          </a:solidFill>
          <a:ln w="0">
            <a:noFill/>
          </a:ln>
        </p:spPr>
      </p:sp>
      <p:sp>
        <p:nvSpPr>
          <p:cNvPr id="10" name="Actor 3">
            <a:extLst>
              <a:ext uri="{FF2B5EF4-FFF2-40B4-BE49-F238E27FC236}">
                <a16:creationId xmlns:a16="http://schemas.microsoft.com/office/drawing/2014/main" id="{E7629CD7-368A-45BC-80D6-7D14B8C84441}"/>
              </a:ext>
            </a:extLst>
          </p:cNvPr>
          <p:cNvSpPr>
            <a:spLocks noGrp="1"/>
          </p:cNvSpPr>
          <p:nvPr/>
        </p:nvSpPr>
        <p:spPr>
          <a:xfrm>
            <a:off x="9096375" y="171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模块 CMake 入口</a:t>
            </a:r>
          </a:p>
        </p:txBody>
      </p:sp>
      <p:sp>
        <p:nvSpPr>
          <p:cNvPr id="11" name="Diagram connector">
            <a:extLst>
              <a:ext uri="{FF2B5EF4-FFF2-40B4-BE49-F238E27FC236}">
                <a16:creationId xmlns:a16="http://schemas.microsoft.com/office/drawing/2014/main" id="{3E96D421-C09E-450A-9848-586E0E736CDE}"/>
              </a:ext>
            </a:extLst>
          </p:cNvPr>
          <p:cNvSpPr>
            <a:spLocks noGrp="1"/>
          </p:cNvSpPr>
          <p:nvPr/>
        </p:nvSpPr>
        <p:spPr>
          <a:xfrm>
            <a:off x="10382250" y="2133600"/>
            <a:ext cx="14288" cy="3333750"/>
          </a:xfrm>
          <a:prstGeom prst="rect">
            <a:avLst/>
          </a:prstGeom>
          <a:solidFill>
            <a:srgbClr val="B9B0C7"/>
          </a:solidFill>
          <a:ln w="0">
            <a:noFill/>
          </a:ln>
        </p:spPr>
      </p:sp>
      <p:sp>
        <p:nvSpPr>
          <p:cNvPr id="12" name="Diagram connector">
            <a:extLst>
              <a:ext uri="{FF2B5EF4-FFF2-40B4-BE49-F238E27FC236}">
                <a16:creationId xmlns:a16="http://schemas.microsoft.com/office/drawing/2014/main" id="{50EA6F85-08F2-4FFC-9B00-81C7B0356E9B}"/>
              </a:ext>
            </a:extLst>
          </p:cNvPr>
          <p:cNvSpPr>
            <a:spLocks noGrp="1"/>
          </p:cNvSpPr>
          <p:nvPr/>
        </p:nvSpPr>
        <p:spPr>
          <a:xfrm>
            <a:off x="1666875" y="2571750"/>
            <a:ext cx="295275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3" name="Message 270">
            <a:extLst>
              <a:ext uri="{FF2B5EF4-FFF2-40B4-BE49-F238E27FC236}">
                <a16:creationId xmlns:a16="http://schemas.microsoft.com/office/drawing/2014/main" id="{B722831F-9D67-46A8-98E3-E32DA1C60E36}"/>
              </a:ext>
            </a:extLst>
          </p:cNvPr>
          <p:cNvSpPr>
            <a:spLocks noGrp="1"/>
          </p:cNvSpPr>
          <p:nvPr/>
        </p:nvSpPr>
        <p:spPr>
          <a:xfrm>
            <a:off x="1714500" y="22860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发起配置，提供模块根</a:t>
            </a:r>
          </a:p>
        </p:txBody>
      </p:sp>
      <p:sp>
        <p:nvSpPr>
          <p:cNvPr id="14" name="Arrow 270">
            <a:extLst>
              <a:ext uri="{FF2B5EF4-FFF2-40B4-BE49-F238E27FC236}">
                <a16:creationId xmlns:a16="http://schemas.microsoft.com/office/drawing/2014/main" id="{7FA31708-2315-4115-BA57-BE7F66A248AC}"/>
              </a:ext>
            </a:extLst>
          </p:cNvPr>
          <p:cNvSpPr>
            <a:spLocks noGrp="1"/>
          </p:cNvSpPr>
          <p:nvPr/>
        </p:nvSpPr>
        <p:spPr>
          <a:xfrm>
            <a:off x="4476750" y="239077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Diagram connector">
            <a:extLst>
              <a:ext uri="{FF2B5EF4-FFF2-40B4-BE49-F238E27FC236}">
                <a16:creationId xmlns:a16="http://schemas.microsoft.com/office/drawing/2014/main" id="{5CDE374E-6D66-4C61-84C7-E050D16C21DD}"/>
              </a:ext>
            </a:extLst>
          </p:cNvPr>
          <p:cNvSpPr>
            <a:spLocks noGrp="1"/>
          </p:cNvSpPr>
          <p:nvPr/>
        </p:nvSpPr>
        <p:spPr>
          <a:xfrm>
            <a:off x="4619625" y="3124200"/>
            <a:ext cx="2905125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6" name="Message 328">
            <a:extLst>
              <a:ext uri="{FF2B5EF4-FFF2-40B4-BE49-F238E27FC236}">
                <a16:creationId xmlns:a16="http://schemas.microsoft.com/office/drawing/2014/main" id="{8580F4BF-4955-4F18-8B84-773232EAD7A7}"/>
              </a:ext>
            </a:extLst>
          </p:cNvPr>
          <p:cNvSpPr>
            <a:spLocks noGrp="1"/>
          </p:cNvSpPr>
          <p:nvPr/>
        </p:nvSpPr>
        <p:spPr>
          <a:xfrm>
            <a:off x="4667250" y="2838450"/>
            <a:ext cx="28098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传入候选与追加路径</a:t>
            </a:r>
          </a:p>
        </p:txBody>
      </p:sp>
      <p:sp>
        <p:nvSpPr>
          <p:cNvPr id="17" name="Arrow 328">
            <a:extLst>
              <a:ext uri="{FF2B5EF4-FFF2-40B4-BE49-F238E27FC236}">
                <a16:creationId xmlns:a16="http://schemas.microsoft.com/office/drawing/2014/main" id="{736CBA24-013C-4702-A611-2662936897D9}"/>
              </a:ext>
            </a:extLst>
          </p:cNvPr>
          <p:cNvSpPr>
            <a:spLocks noGrp="1"/>
          </p:cNvSpPr>
          <p:nvPr/>
        </p:nvSpPr>
        <p:spPr>
          <a:xfrm>
            <a:off x="7381875" y="294322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Diagram connector">
            <a:extLst>
              <a:ext uri="{FF2B5EF4-FFF2-40B4-BE49-F238E27FC236}">
                <a16:creationId xmlns:a16="http://schemas.microsoft.com/office/drawing/2014/main" id="{ADD3E3F7-6FA2-45F6-86B7-70DCD0A1D3E7}"/>
              </a:ext>
            </a:extLst>
          </p:cNvPr>
          <p:cNvSpPr>
            <a:spLocks noGrp="1"/>
          </p:cNvSpPr>
          <p:nvPr/>
        </p:nvSpPr>
        <p:spPr>
          <a:xfrm>
            <a:off x="4619625" y="3810000"/>
            <a:ext cx="2905125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9" name="Message 400">
            <a:extLst>
              <a:ext uri="{FF2B5EF4-FFF2-40B4-BE49-F238E27FC236}">
                <a16:creationId xmlns:a16="http://schemas.microsoft.com/office/drawing/2014/main" id="{BE0F20E6-4360-4131-9803-E88A939CFB09}"/>
              </a:ext>
            </a:extLst>
          </p:cNvPr>
          <p:cNvSpPr>
            <a:spLocks noGrp="1"/>
          </p:cNvSpPr>
          <p:nvPr/>
        </p:nvSpPr>
        <p:spPr>
          <a:xfrm>
            <a:off x="4667250" y="3524250"/>
            <a:ext cx="28098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解析元数据并写出记录</a:t>
            </a:r>
          </a:p>
        </p:txBody>
      </p:sp>
      <p:sp>
        <p:nvSpPr>
          <p:cNvPr id="20" name="Arrow 400">
            <a:extLst>
              <a:ext uri="{FF2B5EF4-FFF2-40B4-BE49-F238E27FC236}">
                <a16:creationId xmlns:a16="http://schemas.microsoft.com/office/drawing/2014/main" id="{D8482164-3E94-4D99-BA70-0BEF2C0FDC5D}"/>
              </a:ext>
            </a:extLst>
          </p:cNvPr>
          <p:cNvSpPr>
            <a:spLocks noGrp="1"/>
          </p:cNvSpPr>
          <p:nvPr/>
        </p:nvSpPr>
        <p:spPr>
          <a:xfrm>
            <a:off x="4552950" y="362902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21" name="Diagram connector">
            <a:extLst>
              <a:ext uri="{FF2B5EF4-FFF2-40B4-BE49-F238E27FC236}">
                <a16:creationId xmlns:a16="http://schemas.microsoft.com/office/drawing/2014/main" id="{BB74F092-1F2F-433C-9D75-1393BD144F24}"/>
              </a:ext>
            </a:extLst>
          </p:cNvPr>
          <p:cNvSpPr>
            <a:spLocks noGrp="1"/>
          </p:cNvSpPr>
          <p:nvPr/>
        </p:nvSpPr>
        <p:spPr>
          <a:xfrm>
            <a:off x="4619625" y="4543425"/>
            <a:ext cx="5762625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22" name="Message 477">
            <a:extLst>
              <a:ext uri="{FF2B5EF4-FFF2-40B4-BE49-F238E27FC236}">
                <a16:creationId xmlns:a16="http://schemas.microsoft.com/office/drawing/2014/main" id="{DB703E61-9DF7-40D6-8A84-5021A20A252D}"/>
              </a:ext>
            </a:extLst>
          </p:cNvPr>
          <p:cNvSpPr>
            <a:spLocks noGrp="1"/>
          </p:cNvSpPr>
          <p:nvPr/>
        </p:nvSpPr>
        <p:spPr>
          <a:xfrm>
            <a:off x="4667250" y="4257675"/>
            <a:ext cx="5667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建立目录变量后，</a:t>
            </a:r>
            <a:r>
              <a:rPr sz="1425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add_subdirectory</a:t>
            </a: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加载入口</a:t>
            </a:r>
          </a:p>
        </p:txBody>
      </p:sp>
      <p:sp>
        <p:nvSpPr>
          <p:cNvPr id="23" name="Arrow 477">
            <a:extLst>
              <a:ext uri="{FF2B5EF4-FFF2-40B4-BE49-F238E27FC236}">
                <a16:creationId xmlns:a16="http://schemas.microsoft.com/office/drawing/2014/main" id="{594CD76F-F204-4AB2-9B4B-5D38C0207594}"/>
              </a:ext>
            </a:extLst>
          </p:cNvPr>
          <p:cNvSpPr>
            <a:spLocks noGrp="1"/>
          </p:cNvSpPr>
          <p:nvPr/>
        </p:nvSpPr>
        <p:spPr>
          <a:xfrm>
            <a:off x="10239375" y="4362450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Diagram connector">
            <a:extLst>
              <a:ext uri="{FF2B5EF4-FFF2-40B4-BE49-F238E27FC236}">
                <a16:creationId xmlns:a16="http://schemas.microsoft.com/office/drawing/2014/main" id="{18E13E50-65EB-4B49-8DDE-2DF4804D9D45}"/>
              </a:ext>
            </a:extLst>
          </p:cNvPr>
          <p:cNvSpPr>
            <a:spLocks noGrp="1"/>
          </p:cNvSpPr>
          <p:nvPr/>
        </p:nvSpPr>
        <p:spPr>
          <a:xfrm>
            <a:off x="4619625" y="5210175"/>
            <a:ext cx="5762625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25" name="Message 547">
            <a:extLst>
              <a:ext uri="{FF2B5EF4-FFF2-40B4-BE49-F238E27FC236}">
                <a16:creationId xmlns:a16="http://schemas.microsoft.com/office/drawing/2014/main" id="{51AD6D69-E826-47BC-8D04-4B31180558A6}"/>
              </a:ext>
            </a:extLst>
          </p:cNvPr>
          <p:cNvSpPr>
            <a:spLocks noGrp="1"/>
          </p:cNvSpPr>
          <p:nvPr/>
        </p:nvSpPr>
        <p:spPr>
          <a:xfrm>
            <a:off x="4667250" y="4924425"/>
            <a:ext cx="5667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添加库、源码与头文件目录</a:t>
            </a:r>
          </a:p>
        </p:txBody>
      </p:sp>
      <p:sp>
        <p:nvSpPr>
          <p:cNvPr id="26" name="Arrow 547">
            <a:extLst>
              <a:ext uri="{FF2B5EF4-FFF2-40B4-BE49-F238E27FC236}">
                <a16:creationId xmlns:a16="http://schemas.microsoft.com/office/drawing/2014/main" id="{D9940264-DAB0-4197-B0D1-A68C6E381432}"/>
              </a:ext>
            </a:extLst>
          </p:cNvPr>
          <p:cNvSpPr>
            <a:spLocks noGrp="1"/>
          </p:cNvSpPr>
          <p:nvPr/>
        </p:nvSpPr>
        <p:spPr>
          <a:xfrm>
            <a:off x="4552950" y="5029200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27" name="Sequence boundary">
            <a:extLst>
              <a:ext uri="{FF2B5EF4-FFF2-40B4-BE49-F238E27FC236}">
                <a16:creationId xmlns:a16="http://schemas.microsoft.com/office/drawing/2014/main" id="{BC13479B-20EA-4E15-ADF8-F777648FB036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27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Zephyr CMake 与模块入口同属 CMake 进程；Python 发现脚本由它启动。</a:t>
            </a:r>
          </a:p>
        </p:txBody>
      </p:sp>
      <p:sp>
        <p:nvSpPr>
          <p:cNvPr id="28" name="Official doc link">
            <a:extLst>
              <a:ext uri="{FF2B5EF4-FFF2-40B4-BE49-F238E27FC236}">
                <a16:creationId xmlns:a16="http://schemas.microsoft.com/office/drawing/2014/main" id="{4E2F13CF-0332-4845-AD00-550187482815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doc/develop/modules.rst</a:t>
            </a:r>
          </a:p>
        </p:txBody>
      </p:sp>
      <p:sp>
        <p:nvSpPr>
          <p:cNvPr id="29" name="Implementation link">
            <a:extLst>
              <a:ext uri="{FF2B5EF4-FFF2-40B4-BE49-F238E27FC236}">
                <a16:creationId xmlns:a16="http://schemas.microsoft.com/office/drawing/2014/main" id="{188AA885-4AEA-49D6-A3AE-B7D2C7C0D5A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cmake/modules/zephyr_module.cmake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34 行附近</a:t>
            </a:r>
          </a:p>
        </p:txBody>
      </p:sp>
      <p:sp>
        <p:nvSpPr>
          <p:cNvPr id="30" name="Chapter link">
            <a:extLst>
              <a:ext uri="{FF2B5EF4-FFF2-40B4-BE49-F238E27FC236}">
                <a16:creationId xmlns:a16="http://schemas.microsoft.com/office/drawing/2014/main" id="{702A5225-B9AF-4504-AAFA-AB3029AB4BD4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31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22AD7A6-F1BB-45CD-8C73-051DA08B5F9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CB4CDAB-83D8-48FD-85A1-39F485406DB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模块入口执行后，源码怎样加入目标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7AD3691-E173-471F-BD22-46FCD8597F4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10.3.4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97959D0-C1A3-4D35-A87D-D3E47EDD9EF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应用已有 app，可用 CMake 的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加入实现。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子系统或驱动可用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创建自己的库。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zephyr_library_sources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把源码加入当前库。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serial/CMakeLists 按 UART_CMSDK_APB 加入 CMSDK 驱动。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该驱动直接访问寄存器；若调用厂商 API，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再沿 include 与 CMake 查所需外部 HAL。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C1911F35-76D2-4BFF-B608-5E6AA2964B84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doc/build/cmake-ref/module/extensions.rst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2E242A6D-432E-410F-AD28-77E6E944ADB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cmake/modules/extensions.cmake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682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53DBD0C0-D84E-4248-8B32-CA6148871284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ACC38FF-F561-4125-B9A6-70FE49BA8A8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7FE165-B7AB-43A2-B8BA-F281AB9A2DC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头文件目录也有作用范围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0BA8655-5B9C-456C-B7B3-C25376209D1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10.3.4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28C2B9E-70D7-4CC8-AB57-9D94A6374367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target_include_directories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(app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PRIVATE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...) 作用于 app 自身。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zephyr_library_include_directories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(...) 作用于当前 Zephyr 库。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zephyr_include_directories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(...) 修改共享接口，供相应目标继承。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本页括号中的省略号是接口形态示意，不是可执行代码。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先确保模块入口被执行，再选择真正需要的可见范围。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不要为一个库缺头文件，把所有路径都变成公共输入。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2886CE6F-6F3D-4043-A3C2-BF448E442BCE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doc/build/cmake-ref/module/extensions.rst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368F3EDD-A235-45C6-B21C-A8E86C7BFF0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cmake/modules/extensions.cmake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769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E9B86AC5-4AE7-4FD2-8370-DE145BBFBB59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39ACFAE-21BB-49CA-8ADA-5E0B6B922E7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26890</Words>
  <Application>Microsoft Office PowerPoint</Application>
  <DocSecurity>0</DocSecurity>
  <PresentationFormat>宽屏</PresentationFormat>
  <Paragraphs>2401</Paragraphs>
  <Slides>26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182</cp:revision>
  <dcterms:created xsi:type="dcterms:W3CDTF">2026-10-06T03:23:18Z</dcterms:created>
  <dcterms:modified xsi:type="dcterms:W3CDTF">2026-10-07T07:14:56Z</dcterms:modified>
</cp:coreProperties>
</file>