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westGit27.xml" ContentType="application/vnd.openxmlformats-officedocument.presentationml.slide+xml"/>
  <Override PartName="/ppt/notesSlides/westGit27.xml" ContentType="application/vnd.openxmlformats-officedocument.presentationml.notesSlide+xml"/>
  <Override PartName="/ppt/slides/guide7.xml" ContentType="application/vnd.openxmlformats-officedocument.presentationml.slide+xml"/>
  <Override PartName="/ppt/notesSlides/guide7.xml" ContentType="application/vnd.openxmlformats-officedocument.presentationml.notesSlide+xml"/>
  <Override PartName="/ppt/slides/guide8.xml" ContentType="application/vnd.openxmlformats-officedocument.presentationml.slide+xml"/>
  <Override PartName="/ppt/notesSlides/guide8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37"/>
  </p:notesMasterIdLst>
  <p:sldIdLst>
    <p:sldId id="801" r:id="rIdGuideOrder1"/>
    <p:sldId id="802" r:id="rIdGuideOrder2"/>
    <p:sldId id="803" r:id="rIdGuideOrder3"/>
    <p:sldId id="804" r:id="rIdGuideOrder4"/>
    <p:sldId id="805" r:id="rIdGuideOrder5"/>
    <p:sldId id="806" r:id="rIdGuideOrder6"/>
    <p:sldId id="807" r:id="rIdGuideOrder7"/>
    <p:sldId id="808" r:id="rIdGuideOrder8"/>
    <p:sldId id="809" r:id="rIdGuideOrder9"/>
    <p:sldId id="810" r:id="rIdGuideOrder10"/>
    <p:sldId id="811" r:id="rIdGuideOrder11"/>
    <p:sldId id="812" r:id="rIdGuideOrder12"/>
    <p:sldId id="813" r:id="rIdGuideOrder13"/>
    <p:sldId id="814" r:id="rIdGuideOrder14"/>
    <p:sldId id="815" r:id="rIdGuideOrder15"/>
    <p:sldId id="816" r:id="rIdGuideOrder16"/>
    <p:sldId id="817" r:id="rIdGuideOrder17"/>
    <p:sldId id="818" r:id="rIdGuideOrder18"/>
    <p:sldId id="819" r:id="rIdGuideOrder19"/>
    <p:sldId id="820" r:id="rIdGuideOrder20"/>
    <p:sldId id="821" r:id="rIdGuideOrder21"/>
    <p:sldId id="822" r:id="rIdGuideOrder22"/>
    <p:sldId id="823" r:id="rIdGuideOrder23"/>
    <p:sldId id="824" r:id="rIdGuideOrder24"/>
    <p:sldId id="825" r:id="rIdGuideOrder25"/>
    <p:sldId id="826" r:id="rIdGuideOrder26"/>
    <p:sldId id="827" r:id="rIdGuideOrder27"/>
    <p:sldId id="828" r:id="rIdGuideOrder28"/>
    <p:sldId id="829" r:id="rIdGuideOrder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81490" autoAdjust="0"/>
  </p:normalViewPr>
  <p:slideViewPr>
    <p:cSldViewPr snapToGrid="0">
      <p:cViewPr varScale="1">
        <p:scale>
          <a:sx n="109" d="100"/>
          <a:sy n="109" d="100"/>
        </p:scale>
        <p:origin x="1128" y="48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39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38" Type="http://schemas.openxmlformats.org/officeDocument/2006/relationships/presProps" Target="presProps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slide2.xml"/><Relationship Id="rIdGuideOrder3" Type="http://schemas.openxmlformats.org/officeDocument/2006/relationships/slide" Target="slides/guide7.xml"/><Relationship Id="rIdGuideOrder4" Type="http://schemas.openxmlformats.org/officeDocument/2006/relationships/slide" Target="slides/slide3.xml"/><Relationship Id="rIdGuideOrder5" Type="http://schemas.openxmlformats.org/officeDocument/2006/relationships/slide" Target="slides/slide4.xml"/><Relationship Id="rIdGuideOrder6" Type="http://schemas.openxmlformats.org/officeDocument/2006/relationships/slide" Target="slides/slide5.xml"/><Relationship Id="rIdGuideOrder7" Type="http://schemas.openxmlformats.org/officeDocument/2006/relationships/slide" Target="slides/slide6.xml"/><Relationship Id="rIdGuideOrder8" Type="http://schemas.openxmlformats.org/officeDocument/2006/relationships/slide" Target="slides/slide7.xml"/><Relationship Id="rIdGuideOrder9" Type="http://schemas.openxmlformats.org/officeDocument/2006/relationships/slide" Target="slides/slide8.xml"/><Relationship Id="rIdGuideOrder10" Type="http://schemas.openxmlformats.org/officeDocument/2006/relationships/slide" Target="slides/slide9.xml"/><Relationship Id="rIdGuideOrder11" Type="http://schemas.openxmlformats.org/officeDocument/2006/relationships/slide" Target="slides/slide10.xml"/><Relationship Id="rIdGuideOrder12" Type="http://schemas.openxmlformats.org/officeDocument/2006/relationships/slide" Target="slides/slide11.xml"/><Relationship Id="rIdGuideOrder13" Type="http://schemas.openxmlformats.org/officeDocument/2006/relationships/slide" Target="slides/slide12.xml"/><Relationship Id="rIdGuideOrder14" Type="http://schemas.openxmlformats.org/officeDocument/2006/relationships/slide" Target="slides/slide13.xml"/><Relationship Id="rIdGuideOrder15" Type="http://schemas.openxmlformats.org/officeDocument/2006/relationships/slide" Target="slides/slide14.xml"/><Relationship Id="rIdGuideOrder16" Type="http://schemas.openxmlformats.org/officeDocument/2006/relationships/slide" Target="slides/slide15.xml"/><Relationship Id="rIdGuideOrder17" Type="http://schemas.openxmlformats.org/officeDocument/2006/relationships/slide" Target="slides/slide16.xml"/><Relationship Id="rIdGuideOrder18" Type="http://schemas.openxmlformats.org/officeDocument/2006/relationships/slide" Target="slides/slide17.xml"/><Relationship Id="rIdGuideOrder19" Type="http://schemas.openxmlformats.org/officeDocument/2006/relationships/slide" Target="slides/slide18.xml"/><Relationship Id="rIdGuideOrder20" Type="http://schemas.openxmlformats.org/officeDocument/2006/relationships/slide" Target="slides/slide19.xml"/><Relationship Id="rIdGuideOrder21" Type="http://schemas.openxmlformats.org/officeDocument/2006/relationships/slide" Target="slides/slide20.xml"/><Relationship Id="rIdGuideOrder22" Type="http://schemas.openxmlformats.org/officeDocument/2006/relationships/slide" Target="slides/slide21.xml"/><Relationship Id="rIdGuideOrder23" Type="http://schemas.openxmlformats.org/officeDocument/2006/relationships/slide" Target="slides/slide22.xml"/><Relationship Id="rIdGuideOrder24" Type="http://schemas.openxmlformats.org/officeDocument/2006/relationships/slide" Target="slides/slide23.xml"/><Relationship Id="rIdGuideOrder25" Type="http://schemas.openxmlformats.org/officeDocument/2006/relationships/slide" Target="slides/slide24.xml"/><Relationship Id="rIdGuideOrder26" Type="http://schemas.openxmlformats.org/officeDocument/2006/relationships/slide" Target="slides/slide25.xml"/><Relationship Id="rIdGuideOrder27" Type="http://schemas.openxmlformats.org/officeDocument/2006/relationships/slide" Target="slides/slide26.xml"/><Relationship Id="rIdGuideOrder28" Type="http://schemas.openxmlformats.org/officeDocument/2006/relationships/slide" Target="slides/guide8.xml"/><Relationship Id="rIdGuideOrder29" Type="http://schemas.openxmlformats.org/officeDocument/2006/relationships/slide" Target="slides/westGit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guide7.xml.rels><?xml version='1.0' encoding='UTF-8' standalone='yes'?>
<Relationships xmlns="http://schemas.openxmlformats.org/package/2006/relationships"><Relationship Id="rId2" Type="http://schemas.openxmlformats.org/officeDocument/2006/relationships/slide" Target="../slides/guide7.xml"/><Relationship Id="rId1" Type="http://schemas.openxmlformats.org/officeDocument/2006/relationships/notesMaster" Target="../notesMasters/notesMaster1.xml"/></Relationships>
</file>

<file path=ppt/notesSlides/_rels/guide8.xml.rels><?xml version='1.0' encoding='UTF-8' standalone='yes'?>
<Relationships xmlns="http://schemas.openxmlformats.org/package/2006/relationships"><Relationship Id="rId2" Type="http://schemas.openxmlformats.org/officeDocument/2006/relationships/slide" Target="../slides/guide8.xml"/><Relationship Id="rId1" Type="http://schemas.openxmlformats.org/officeDocument/2006/relationships/notesMaster" Target="../notesMasters/notesMaster1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westGit27.xml.rels><?xml version='1.0' encoding='UTF-8' standalone='yes'?>
<Relationships xmlns="http://schemas.openxmlformats.org/package/2006/relationships"><Relationship Id="rId2" Type="http://schemas.openxmlformats.org/officeDocument/2006/relationships/slide" Target="../slides/westGit27.xml"/><Relationship Id="rId1" Type="http://schemas.openxmlformats.org/officeDocument/2006/relationships/notesMaster" Target="../notesMasters/notesMaster1.xml"/></Relationships>
</file>

<file path=ppt/notesSlides/gu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P003 开篇与 3.1。</a:t>
            </a:r>
          </a:p>
          <a:p>
            <a:r>
              <a:t>主机程序已经可用，现在要为 hello_world + mps2/an386 生成 ARM 指令。电脑是 Windows x64，目标是 Cortex-M4，两种架构分别决定主机包与目标工具链。</a:t>
            </a:r>
          </a:p>
          <a:p>
            <a:r>
              <a:t>MPS2 的板/SoC/架构/驱动已经在 Zephyr 主仓；CMSIS Core 在清单的外部项目中。它们是被编译的源码，不由安装 SDK 产生。</a:t>
            </a:r>
          </a:p>
          <a:p>
            <a:r>
              <a:t>后续 HC32F4A0 可复用 ARM 工具链，但需要自己的硬件支持。先选一条 SDK 安装路线，等源码依赖齐全再用完整应用核验实际选择。</a:t>
            </a:r>
          </a:p>
          <a:p>
            <a:r>
              <a:t>P003 开篇与 3.1；27+2=29 页，仍不超过30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gu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对应配套正文 P003 3.5。</a:t>
            </a:r>
          </a:p>
          <a:p>
            <a:r>
              <a:t>本册应留下含 sdk_version 的 SDK 根、可运行的 ARM GCC，以及自己选定的发现入口；GNU 与补齐 ARM 的 Minimal 共享这个接口。</a:t>
            </a:r>
          </a:p>
          <a:p>
            <a:r>
              <a:t>配置成功才会产生 CMakeCache 和编译数据库。首次顺序阅读时它们尚不存在，不要为了看到文件而跳过 P004 的 CMSIS。</a:t>
            </a:r>
          </a:p>
          <a:p>
            <a:r>
              <a:t>P004 从芯片和 CPU 配置确定 CMSIS；P005 讲官方工程与驱动模型；P006 再取得 HC32 DDL 并接入模块。</a:t>
            </a:r>
          </a:p>
          <a:p>
            <a:r>
              <a:t>P003 3.5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P012。</a:t>
            </a:r>
          </a:p>
          <a:p>
            <a:r>
              <a:t>配套正文：learning/P01_zephyr_make_project/P003_SDK准备与编译器选型_Windows.md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003_SDK准备与编译器选型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对应正文：P003_SDK准备与编译器选型_Windows.md#section-3-1</a:t>
            </a:r>
          </a:p>
          <a:p>
            <a:r>
              <a:t>本期路线</a:t>
            </a:r>
          </a:p>
          <a:p>
            <a:r>
              <a:t>SDK 下载、安装与工程发现</a:t>
            </a:r>
          </a:p>
          <a:p>
            <a:r>
              <a:t>主机工具已可用；接着为 hello_world + MPS2 准备 ARM 编译器。</a:t>
            </a:r>
          </a:p>
          <a:p>
            <a:r>
              <a:t>本期交付：磁盘上的 SDK / ARM 工具链，以及工程查找它们的入口。</a:t>
            </a:r>
          </a:p>
          <a:p>
            <a:endParaRPr/>
          </a:p>
          <a:p>
            <a:r>
              <a:t>本册使用 Windows x64 与 SDK 1.0.1。编译、运行在 P008；独立工具链是可选分支。</a:t>
            </a:r>
          </a:p>
          <a:p>
            <a:r>
              <a:t>依据：本系列准备流程</a:t>
            </a:r>
          </a:p>
          <a:p>
            <a:r>
              <a:t>原文件定位：正文同名小节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对应正文：P003_SDK准备与编译器选型_Windows.md#section-3-1</a:t>
            </a:r>
          </a:p>
          <a:p>
            <a:r>
              <a:rPr dirty="0"/>
              <a:t>① </a:t>
            </a:r>
            <a:r>
              <a:rPr dirty="0" err="1"/>
              <a:t>认识三种包</a:t>
            </a:r>
            <a:endParaRPr dirty="0"/>
          </a:p>
          <a:p>
            <a:r>
              <a:rPr dirty="0"/>
              <a:t>GNU </a:t>
            </a:r>
            <a:r>
              <a:rPr dirty="0" err="1"/>
              <a:t>SDK、Minimal</a:t>
            </a:r>
            <a:r>
              <a:rPr dirty="0"/>
              <a:t> </a:t>
            </a:r>
            <a:r>
              <a:rPr dirty="0" err="1"/>
              <a:t>与独立工具链</a:t>
            </a:r>
            <a:endParaRPr dirty="0"/>
          </a:p>
          <a:p>
            <a:r>
              <a:rPr dirty="0"/>
              <a:t>Minimal 是 SDK </a:t>
            </a:r>
            <a:r>
              <a:rPr dirty="0" err="1"/>
              <a:t>的精简打包方式，仍带工程接入文件；单独的</a:t>
            </a:r>
            <a:r>
              <a:rPr dirty="0"/>
              <a:t> ARM </a:t>
            </a:r>
            <a:r>
              <a:rPr dirty="0" err="1"/>
              <a:t>包才是组件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多种目标</a:t>
            </a:r>
            <a:r>
              <a:rPr dirty="0"/>
              <a:t> ≠ </a:t>
            </a:r>
            <a:r>
              <a:rPr dirty="0" err="1"/>
              <a:t>同一</a:t>
            </a:r>
            <a:r>
              <a:rPr dirty="0"/>
              <a:t> GCC </a:t>
            </a:r>
            <a:r>
              <a:rPr dirty="0" err="1"/>
              <a:t>的多个版本。GNU</a:t>
            </a:r>
            <a:r>
              <a:rPr dirty="0"/>
              <a:t> / Minimal </a:t>
            </a:r>
            <a:r>
              <a:rPr dirty="0" err="1"/>
              <a:t>补齐后使用同一</a:t>
            </a:r>
            <a:r>
              <a:rPr dirty="0"/>
              <a:t> SDK </a:t>
            </a:r>
            <a:r>
              <a:rPr dirty="0" err="1"/>
              <a:t>入口</a:t>
            </a:r>
            <a:r>
              <a:rPr dirty="0"/>
              <a:t>。</a:t>
            </a:r>
          </a:p>
          <a:p>
            <a:r>
              <a:rPr dirty="0" err="1"/>
              <a:t>依据：https</a:t>
            </a:r>
            <a:r>
              <a:rPr dirty="0"/>
              <a:t>://github.com/</a:t>
            </a:r>
            <a:r>
              <a:rPr dirty="0" err="1"/>
              <a:t>zephyrproject-rtos</a:t>
            </a:r>
            <a:r>
              <a:rPr dirty="0"/>
              <a:t>/</a:t>
            </a:r>
            <a:r>
              <a:rPr dirty="0" err="1"/>
              <a:t>sdk</a:t>
            </a:r>
            <a:r>
              <a:rPr dirty="0"/>
              <a:t>-ng/releases/tag/v1.0.1</a:t>
            </a:r>
          </a:p>
          <a:p>
            <a:r>
              <a:rPr dirty="0" err="1"/>
              <a:t>原文件定位：SDK</a:t>
            </a:r>
            <a:r>
              <a:rPr dirty="0"/>
              <a:t> 1.0.1 Release → SDK Bundle / GNU Toolchains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对应正文：P003_SDK准备与编译器选型_Windows.md#section-3-1</a:t>
            </a:r>
          </a:p>
          <a:p>
            <a:r>
              <a:t>① 认识三种包 · 官方归档提供以下文件</a:t>
            </a:r>
          </a:p>
          <a:p>
            <a:r>
              <a:t>补齐 Minimal 后，SDK 的结构相同</a:t>
            </a:r>
          </a:p>
          <a:p>
            <a:endParaRPr/>
          </a:p>
          <a:p>
            <a:r>
              <a:t>zephyr-sdk-1.0.1/</a:t>
            </a:r>
          </a:p>
          <a:p>
            <a:r>
              <a:t>├─ sdk_version                     SDK 发行版本</a:t>
            </a:r>
          </a:p>
          <a:p>
            <a:r>
              <a:t>├─ setup.cmd                       安装 / 可选注册</a:t>
            </a:r>
          </a:p>
          <a:p>
            <a:r>
              <a:t>├─ cmake/Zephyr-sdkConfig.cmake     工程查找入口</a:t>
            </a:r>
          </a:p>
          <a:p>
            <a:r>
              <a:t>├─ cmake/zephyr/gnu/target.cmake    架构 → 工具链规则</a:t>
            </a:r>
          </a:p>
          <a:p>
            <a:r>
              <a:t>├─ hosttools/                      平台配套工具</a:t>
            </a:r>
          </a:p>
          <a:p>
            <a:r>
              <a:t>└─ gnu/arm-zephyr-eabi/             GNU 已带；Minimal 补入</a:t>
            </a:r>
          </a:p>
          <a:p>
            <a:r>
              <a:t>   ├─ bin/arm-zephyr-eabi-gcc.exe   目标编译器</a:t>
            </a:r>
          </a:p>
          <a:p>
            <a:r>
              <a:t>   └─ arm-zephyr-eabi/             目标头文件与库</a:t>
            </a:r>
          </a:p>
          <a:p>
            <a:r>
              <a:t>这些 CMake 文件不需要自己创建。</a:t>
            </a:r>
          </a:p>
          <a:p>
            <a:r>
              <a:t>找到 SDK 包 ≠ ARM 编译器已安装；Minimal 必须补齐目标工具链。</a:t>
            </a:r>
          </a:p>
          <a:p>
            <a:r>
              <a:t>依据：https://docs.zephyrproject.org/latest/develop/toolchains/zephyr_sdk.html</a:t>
            </a:r>
          </a:p>
          <a:p>
            <a:r>
              <a:t>原文件定位：SDK 根：cmake/Zephyr-sdkConfig.cmake；gnu/arm-zephyr-eabi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本机核对的是</a:t>
            </a:r>
            <a:r>
              <a:rPr dirty="0"/>
              <a:t> G </a:t>
            </a:r>
            <a:r>
              <a:rPr dirty="0" err="1"/>
              <a:t>盘的</a:t>
            </a:r>
            <a:r>
              <a:rPr dirty="0"/>
              <a:t> zephyr-main，版本为4.5.0-rc1。公共示例使用读者输入目录，不固定私人盘符。进入直接含VERSION的一层，SDK_VERSION为1.0.1。下一页沿原生消费者解释这不是自建清单的结论。</a:t>
            </a:r>
          </a:p>
          <a:p>
            <a:endParaRPr dirty="0"/>
          </a:p>
          <a:p>
            <a:r>
              <a:rPr dirty="0"/>
              <a:t>配套正文：learning/P01_zephyr_make_project/P003_SDK准备与编译器选型_Windows.md</a:t>
            </a:r>
          </a:p>
          <a:p>
            <a:r>
              <a:rPr dirty="0"/>
              <a:t>https://github.com/zephyrproject-rtos/zephyr/blob/3777ab91262f93c2c2da7e1ab8cff4e8ea5f4ce4/SDK_VERSION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交叉编译器运行在 Windows 电脑上，为开发板生成机器码。Windows x64 主机包与 arm-zephyr-eabi 目标工具链分别回答两个不同的问题。UCRT64 Bash 没有把 Windows 变成 Linux。HC32 Cortex-M4 属于 ARM 微控制器。</a:t>
            </a:r>
          </a:p>
          <a:p>
            <a:endParaRPr/>
          </a:p>
          <a:p>
            <a:r>
              <a:t>配套正文：learning/P01_zephyr_make_project/P003_SDK准备与编译器选型_Windows.md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对应正文：P003_SDK准备与编译器选型_Windows.md#download</a:t>
            </a:r>
          </a:p>
          <a:p>
            <a:r>
              <a:rPr dirty="0"/>
              <a:t>② </a:t>
            </a:r>
            <a:r>
              <a:rPr dirty="0" err="1"/>
              <a:t>下载并安装</a:t>
            </a:r>
            <a:endParaRPr dirty="0"/>
          </a:p>
          <a:p>
            <a:r>
              <a:rPr dirty="0" err="1"/>
              <a:t>在官方发行页选择下载项</a:t>
            </a:r>
            <a:endParaRPr dirty="0"/>
          </a:p>
          <a:p>
            <a:r>
              <a:rPr dirty="0"/>
              <a:t>GitHub → </a:t>
            </a:r>
            <a:r>
              <a:rPr dirty="0" err="1"/>
              <a:t>zephyrproject-rtos</a:t>
            </a:r>
            <a:r>
              <a:rPr dirty="0"/>
              <a:t> / </a:t>
            </a:r>
            <a:r>
              <a:rPr dirty="0" err="1"/>
              <a:t>sdk</a:t>
            </a:r>
            <a:r>
              <a:rPr dirty="0"/>
              <a:t>-ng → Releases → v1.0.1。</a:t>
            </a:r>
          </a:p>
          <a:p>
            <a:r>
              <a:rPr dirty="0"/>
              <a:t>SDK Bundle </a:t>
            </a:r>
            <a:r>
              <a:rPr dirty="0" err="1"/>
              <a:t>表：Windows</a:t>
            </a:r>
            <a:r>
              <a:rPr dirty="0"/>
              <a:t> 行 → GNU 或 Minimal 列 → x86-64。</a:t>
            </a:r>
          </a:p>
          <a:p>
            <a:endParaRPr dirty="0"/>
          </a:p>
          <a:p>
            <a:r>
              <a:rPr dirty="0"/>
              <a:t>ARM </a:t>
            </a:r>
            <a:r>
              <a:rPr dirty="0" err="1"/>
              <a:t>附件：同页</a:t>
            </a:r>
            <a:r>
              <a:rPr dirty="0"/>
              <a:t> GNU Toolchains → arm-zephyr-</a:t>
            </a:r>
            <a:r>
              <a:rPr dirty="0" err="1"/>
              <a:t>eabi</a:t>
            </a:r>
            <a:r>
              <a:rPr dirty="0"/>
              <a:t> 行 → Windows / x86-64。</a:t>
            </a:r>
          </a:p>
          <a:p>
            <a:r>
              <a:rPr dirty="0" err="1"/>
              <a:t>同时下载同发行的</a:t>
            </a:r>
            <a:r>
              <a:rPr dirty="0"/>
              <a:t> sha256.sum；Source code </a:t>
            </a:r>
            <a:r>
              <a:rPr dirty="0" err="1"/>
              <a:t>不是可安装</a:t>
            </a:r>
            <a:r>
              <a:rPr dirty="0"/>
              <a:t> SDK。</a:t>
            </a:r>
          </a:p>
          <a:p>
            <a:r>
              <a:rPr dirty="0" err="1"/>
              <a:t>依据：https</a:t>
            </a:r>
            <a:r>
              <a:rPr dirty="0"/>
              <a:t>://github.com/</a:t>
            </a:r>
            <a:r>
              <a:rPr dirty="0" err="1"/>
              <a:t>zephyrproject-rtos</a:t>
            </a:r>
            <a:r>
              <a:rPr dirty="0"/>
              <a:t>/</a:t>
            </a:r>
            <a:r>
              <a:rPr dirty="0" err="1"/>
              <a:t>sdk</a:t>
            </a:r>
            <a:r>
              <a:rPr dirty="0"/>
              <a:t>-ng/releases/tag/v1.0.1</a:t>
            </a:r>
          </a:p>
          <a:p>
            <a:r>
              <a:rPr dirty="0" err="1"/>
              <a:t>原文件定位：Release</a:t>
            </a:r>
            <a:r>
              <a:rPr dirty="0"/>
              <a:t> </a:t>
            </a:r>
            <a:r>
              <a:rPr dirty="0" err="1"/>
              <a:t>下载表与</a:t>
            </a:r>
            <a:r>
              <a:rPr dirty="0"/>
              <a:t> Assets → sha256.sum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对应正文：P003_SDK准备与编译器选型_Windows.md#section-3-2</a:t>
            </a:r>
          </a:p>
          <a:p>
            <a:r>
              <a:t>② 下载并安装</a:t>
            </a:r>
          </a:p>
          <a:p>
            <a:r>
              <a:t>下载目录、SDK 根与源码根</a:t>
            </a:r>
          </a:p>
          <a:p>
            <a:endParaRPr/>
          </a:p>
          <a:p>
            <a:r>
              <a:t>G:/zephyr_practice/</a:t>
            </a:r>
          </a:p>
          <a:p>
            <a:r>
              <a:t>├─ zephyr-main/                     P001 下载的 Zephyr 源码</a:t>
            </a:r>
          </a:p>
          <a:p>
            <a:r>
              <a:t>├─ zephyr-sdk-1.0.1/                SDK 归档解压后产生</a:t>
            </a:r>
          </a:p>
          <a:p>
            <a:r>
              <a:t>│  ├─ sdk_version</a:t>
            </a:r>
          </a:p>
          <a:p>
            <a:r>
              <a:t>│  ├─ cmake/</a:t>
            </a:r>
          </a:p>
          <a:p>
            <a:r>
              <a:t>│  └─ gnu/arm-zephyr-eabi/          ARM 工具链</a:t>
            </a:r>
          </a:p>
          <a:p>
            <a:r>
              <a:t>├─ arm-zephyr-eabi/                 仅独立工具链路线需要</a:t>
            </a:r>
          </a:p>
          <a:p>
            <a:r>
              <a:t>├─ zephyr-sdk-1.0.1_windows-x86_64_gnu.7z</a:t>
            </a:r>
          </a:p>
          <a:p>
            <a:r>
              <a:t>└─ sha256.sum                      同版官方摘要清单</a:t>
            </a:r>
          </a:p>
          <a:p>
            <a:r>
              <a:t>UCRT64 用 /g/zephyr_practice；PowerShell / 资源管理器用 G:\zephyr_practice。</a:t>
            </a:r>
          </a:p>
          <a:p>
            <a:r>
              <a:t>传给 Windows CMake 的路径用 G:/…；SDK 根是直接含 sdk_version 的那层。</a:t>
            </a:r>
          </a:p>
          <a:p>
            <a:r>
              <a:t>依据：本系列准备流程</a:t>
            </a:r>
          </a:p>
          <a:p>
            <a:r>
              <a:t>原文件定位：正文同名小节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对应正文：P003_SDK准备与编译器选型_Windows.md#section-3-2-1</a:t>
            </a:r>
          </a:p>
          <a:p>
            <a:r>
              <a:t>② 下载并安装</a:t>
            </a:r>
          </a:p>
          <a:p>
            <a:r>
              <a:t>GNU 路线：核验摘要并解压</a:t>
            </a:r>
          </a:p>
          <a:p>
            <a:endParaRPr/>
          </a:p>
          <a:p>
            <a:r>
              <a:t># Windows UCRT64；下载目录；已取得 GNU 包与同版 sha256.sum。</a:t>
            </a:r>
          </a:p>
          <a:p>
            <a:r>
              <a:t>cd /g/zephyr_practice</a:t>
            </a:r>
          </a:p>
          <a:p>
            <a:r>
              <a:t># 必须输出 OK；失败就停止，不解压。</a:t>
            </a:r>
          </a:p>
          <a:p>
            <a:r>
              <a:t>grep -F ' zephyr-sdk-1.0.1_windows-x86_64_gnu.7z' sha256.sum |</a:t>
            </a:r>
          </a:p>
          <a:p>
            <a:r>
              <a:t>  sha256sum --check &amp;&amp;</a:t>
            </a:r>
          </a:p>
          <a:p>
            <a:r>
              <a:t>  7z x zephyr-sdk-1.0.1_windows-x86_64_gnu.7z "-o$(cygpath -m "$PWD")"</a:t>
            </a:r>
          </a:p>
          <a:p>
            <a:r>
              <a:t>目标目录已存在时先核对已有安装，不合并覆盖。输出摘要 OK 后才会解压。</a:t>
            </a:r>
          </a:p>
          <a:p>
            <a:r>
              <a:t>GNU 包已带 ARM，解压后直接到第 13 页核验；无需再执行 /t。</a:t>
            </a:r>
          </a:p>
          <a:p>
            <a:r>
              <a:t>依据：https://github.com/zephyrproject-rtos/sdk-ng/releases/tag/v1.0.1</a:t>
            </a:r>
          </a:p>
          <a:p>
            <a:r>
              <a:t>原文件定位：同版 sha256.sum 与 GNU SDK 归档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对应正文：P003_SDK准备与编译器选型_Windows.md#section-3-2-1</a:t>
            </a:r>
          </a:p>
          <a:p>
            <a:r>
              <a:t>② 下载并安装</a:t>
            </a:r>
          </a:p>
          <a:p>
            <a:r>
              <a:t>Minimal 路线：先解压 SDK 框架</a:t>
            </a:r>
          </a:p>
          <a:p>
            <a:endParaRPr/>
          </a:p>
          <a:p>
            <a:r>
              <a:t># Windows UCRT64；下载目录；选择 Minimal 才执行。</a:t>
            </a:r>
          </a:p>
          <a:p>
            <a:r>
              <a:t>cd /g/zephyr_practice</a:t>
            </a:r>
          </a:p>
          <a:p>
            <a:r>
              <a:t># 必须输出 OK；失败就停止，不解压。</a:t>
            </a:r>
          </a:p>
          <a:p>
            <a:r>
              <a:t>grep -F ' zephyr-sdk-1.0.1_windows-x86_64_minimal.7z' sha256.sum |</a:t>
            </a:r>
          </a:p>
          <a:p>
            <a:r>
              <a:t>  sha256sum --check &amp;&amp;</a:t>
            </a:r>
          </a:p>
          <a:p>
            <a:r>
              <a:t>  7z x zephyr-sdk-1.0.1_windows-x86_64_minimal.7z "-o$(cygpath -m "$PWD")"</a:t>
            </a:r>
          </a:p>
          <a:p>
            <a:r>
              <a:t>与上一页二选一；不要把 GNU 与 Minimal 同时解压到同一目录。</a:t>
            </a:r>
          </a:p>
          <a:p>
            <a:r>
              <a:t>此时已有 cmake 与 setup.cmd，下一步只补所需的 ARM 工具链。</a:t>
            </a:r>
          </a:p>
          <a:p>
            <a:r>
              <a:t>依据：https://github.com/zephyrproject-rtos/sdk-ng/releases/tag/v1.0.1</a:t>
            </a:r>
          </a:p>
          <a:p>
            <a:r>
              <a:t>原文件定位：Minimal SDK 归档；安装目录结构见第 4 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对应正文：P003_SDK准备与编译器选型_Windows.md#install-arm</a:t>
            </a:r>
          </a:p>
          <a:p>
            <a:r>
              <a:t>② 下载并安装 · 切换 PowerShell</a:t>
            </a:r>
          </a:p>
          <a:p>
            <a:r>
              <a:t>Minimal 在线补装 ARM</a:t>
            </a:r>
          </a:p>
          <a:p>
            <a:endParaRPr/>
          </a:p>
          <a:p>
            <a:r>
              <a:t># Windows PowerShell；Minimal 已解压，且尚未安装 ARM 工具链。</a:t>
            </a:r>
          </a:p>
          <a:p>
            <a:r>
              <a:t>Set-Location -LiteralPath 'G:\zephyr_practice\zephyr-sdk-1.0.1'</a:t>
            </a:r>
          </a:p>
          <a:p>
            <a:r>
              <a:t>Get-Command cmake, 7z -ErrorAction Stop</a:t>
            </a:r>
          </a:p>
          <a:p>
            <a:r>
              <a:t>if (Test-Path '.\gnu\arm-zephyr-eabi') {</a:t>
            </a:r>
          </a:p>
          <a:p>
            <a:r>
              <a:t>    throw '已有 ARM 目录，请先核验，不重复安装'</a:t>
            </a:r>
          </a:p>
          <a:p>
            <a:r>
              <a:t>}</a:t>
            </a:r>
          </a:p>
          <a:p>
            <a:r>
              <a:t>.\setup.cmd /t arm-zephyr-eabi</a:t>
            </a:r>
          </a:p>
          <a:p>
            <a:r>
              <a:t>if ($LASTEXITCODE -ne 0) { throw '安装失败，检查下载输出' }</a:t>
            </a:r>
          </a:p>
          <a:p>
            <a:r>
              <a:t>/t 根据 sdk_version 下载对应附件，再解压进 SDK/gnu。它不等于 /c 注册。</a:t>
            </a:r>
          </a:p>
          <a:p>
            <a:r>
              <a:t>若提示找不到 7z，先重开 PowerShell 刷新 PATH；仍缺少才返回 P002。</a:t>
            </a:r>
          </a:p>
          <a:p>
            <a:r>
              <a:t>依据：https://github.com/zephyrproject-rtos/sdk-ng/blob/v1.0.1/scripts/template_setup_win</a:t>
            </a:r>
          </a:p>
          <a:p>
            <a:r>
              <a:t>原文件定位：SDK/setup.cmd：/t 参数与 process 安装分支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对应正文：P003_SDK准备与编译器选型_Windows.md#install-arm</a:t>
            </a:r>
          </a:p>
          <a:p>
            <a:r>
              <a:t>② 下载并安装 · 离线替代</a:t>
            </a:r>
          </a:p>
          <a:p>
            <a:r>
              <a:t>已有 ARM 包：直接补到 SDK/gnu</a:t>
            </a:r>
          </a:p>
          <a:p>
            <a:endParaRPr/>
          </a:p>
          <a:p>
            <a:r>
              <a:t># Windows UCRT64；Minimal 已解压；ARM 包来自同版 Release。</a:t>
            </a:r>
          </a:p>
          <a:p>
            <a:r>
              <a:t>cd /g/zephyr_practice</a:t>
            </a:r>
          </a:p>
          <a:p>
            <a:r>
              <a:t># 摘要须输出 OK；归档从 arm-zephyr-eabi/ 开始。</a:t>
            </a:r>
          </a:p>
          <a:p>
            <a:r>
              <a:t>grep -F ' toolchain_gnu_windows-x86_64_arm-zephyr-eabi.7z' sha256.sum |</a:t>
            </a:r>
          </a:p>
          <a:p>
            <a:r>
              <a:t>  sha256sum --check &amp;&amp;</a:t>
            </a:r>
          </a:p>
          <a:p>
            <a:r>
              <a:t>  test -f zephyr-sdk-1.0.1/cmake/Zephyr-sdkConfig.cmake &amp;&amp;</a:t>
            </a:r>
          </a:p>
          <a:p>
            <a:r>
              <a:t>  test ! -e zephyr-sdk-1.0.1/gnu/arm-zephyr-eabi &amp;&amp;</a:t>
            </a:r>
          </a:p>
          <a:p>
            <a:r>
              <a:t>  7z x toolchain_gnu_windows-x86_64_arm-zephyr-eabi.7z \</a:t>
            </a:r>
          </a:p>
          <a:p>
            <a:r>
              <a:t>    "-o$(cygpath -m "$PWD/zephyr-sdk-1.0.1/gnu")"</a:t>
            </a:r>
          </a:p>
          <a:p>
            <a:r>
              <a:t>完成后：SDK/gnu/arm-zephyr-eabi/bin/arm-zephyr-eabi-gcc.exe。</a:t>
            </a:r>
          </a:p>
          <a:p>
            <a:r>
              <a:t>任一检查失败就停止；已有 ARM 目录先核验。无需改 CMake，也无需为组装执行 /c。</a:t>
            </a:r>
          </a:p>
          <a:p>
            <a:r>
              <a:t>依据：https://github.com/zephyrproject-rtos/sdk-ng/blob/v1.0.1/scripts/template_setup_win</a:t>
            </a:r>
          </a:p>
          <a:p>
            <a:r>
              <a:t>原文件定位：SDK/setup.cmd：pushd gnu 后解压 toolchain_gnu 附件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对应正文：P003_SDK准备与编译器选型_Windows.md#section-3-2-4</a:t>
            </a:r>
          </a:p>
          <a:p>
            <a:r>
              <a:t>② 下载并安装 · 结果检查</a:t>
            </a:r>
          </a:p>
          <a:p>
            <a:r>
              <a:t>安装完成：核验 SDK 与 ARM GCC</a:t>
            </a:r>
          </a:p>
          <a:p>
            <a:endParaRPr/>
          </a:p>
          <a:p>
            <a:r>
              <a:t># Windows UCRT64；GNU 或 Minimal + ARM 均用相同目录核验。</a:t>
            </a:r>
          </a:p>
          <a:p>
            <a:r>
              <a:t>cd /g/zephyr_practice/zephyr-sdk-1.0.1</a:t>
            </a:r>
          </a:p>
          <a:p>
            <a:r>
              <a:t>cat sdk_version</a:t>
            </a:r>
          </a:p>
          <a:p>
            <a:r>
              <a:t>ls cmake/Zephyr-sdkConfig.cmake</a:t>
            </a:r>
          </a:p>
          <a:p>
            <a:r>
              <a:t>./gnu/arm-zephyr-eabi/bin/arm-zephyr-eabi-gcc.exe --version</a:t>
            </a:r>
          </a:p>
          <a:p>
            <a:r>
              <a:t>./gnu/arm-zephyr-eabi/bin/arm-zephyr-eabi-gcc.exe -dumpmachine</a:t>
            </a:r>
          </a:p>
          <a:p>
            <a:r>
              <a:t>预期：SDK 1.0.1；CMake 包文件存在；GCC 14.3.0；目标 arm-zephyr-eabi。</a:t>
            </a:r>
          </a:p>
          <a:p>
            <a:r>
              <a:t>这证明文件与程序可用，尚不证明某个 Zephyr 构建已选中它。</a:t>
            </a:r>
          </a:p>
          <a:p>
            <a:r>
              <a:t>依据：https://github.com/zephyrproject-rtos/sdk-ng/releases/tag/v1.0.1</a:t>
            </a:r>
          </a:p>
          <a:p>
            <a:r>
              <a:t>原文件定位：Release → Included Components；SDK 安装文件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对应正文：P003_SDK准备与编译器选型_Windows.md#sdk-discovery</a:t>
            </a:r>
          </a:p>
          <a:p>
            <a:r>
              <a:t>③ 把 SDK 交给工程</a:t>
            </a:r>
          </a:p>
          <a:p>
            <a:r>
              <a:t>工程先找 SDK，再找目标编译器</a:t>
            </a:r>
          </a:p>
          <a:p>
            <a:r>
              <a:t>应用的 find_package(Zephyr) 加载 Zephyr 构建逻辑。</a:t>
            </a:r>
          </a:p>
          <a:p>
            <a:r>
              <a:t>Zephyr 请求 find_package(Zephyr-sdk 1.0)，定位 SDK 包，再加载工具链规则。</a:t>
            </a:r>
          </a:p>
          <a:p>
            <a:endParaRPr/>
          </a:p>
          <a:p>
            <a:r>
              <a:t>两种 SDK 包共用此链路。SDK 不复制进 zephyr-main，也无需把所有编译器加入 PATH。</a:t>
            </a:r>
          </a:p>
          <a:p>
            <a:r>
              <a:t>依据：https://github.com/zephyrproject-rtos/zephyr/blob/3777ab91262f93c2c2da7e1ab8cff4e8ea5f4ce4/cmake/modules/FindHostTools.cmake</a:t>
            </a:r>
          </a:p>
          <a:p>
            <a:r>
              <a:t>原文件定位：FindHostTools.cmake → FindZephyr-sdk.cmake → SDK cmake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对应正文：P003_SDK准备与编译器选型_Windows.md#sdk-discovery</a:t>
            </a:r>
          </a:p>
          <a:p>
            <a:r>
              <a:t>③ 把 SDK 交给工程</a:t>
            </a:r>
          </a:p>
          <a:p>
            <a:r>
              <a:t>Zephyr 源码包与 SDK 包分别定位</a:t>
            </a:r>
          </a:p>
          <a:p>
            <a:endParaRPr/>
          </a:p>
          <a:p>
            <a:endParaRPr/>
          </a:p>
          <a:p>
            <a:r>
              <a:t>能加载 Zephyr，不代表已找到 SDK。</a:t>
            </a:r>
          </a:p>
          <a:p>
            <a:r>
              <a:t>主机 cmake.exe 执行这些 .cmake 脚本；Minimal 自带接入脚本，不必自带 cmake.exe。</a:t>
            </a:r>
          </a:p>
          <a:p>
            <a:r>
              <a:t>依据：https://github.com/zephyrproject-rtos/zephyr/blob/3777ab91262f93c2c2da7e1ab8cff4e8ea5f4ce4/share/zephyr-package/cmake/ZephyrConfig.cmake</a:t>
            </a:r>
          </a:p>
          <a:p>
            <a:r>
              <a:t>原文件定位：ZephyrConfig.cmake；FindZephyr-sdk.cmake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对应正文：P003_SDK准备与编译器选型_Windows.md#sdk-discovery</a:t>
            </a:r>
          </a:p>
          <a:p>
            <a:r>
              <a:rPr/>
              <a:t>③ 把 SDK 交给工程</a:t>
            </a:r>
          </a:p>
          <a:p>
            <a:r>
              <a:rPr/>
              <a:t>SDK 发现方式：选一种入口即可</a:t>
            </a:r>
          </a:p>
          <a:p>
            <a:endParaRPr/>
          </a:p>
          <a:p/>
          <a:p>
            <a:r>
              <a:rPr>
                <a:solidFill>
                  <a:srgbClr val="29263B"/>
                </a:solidFill>
              </a:rPr>
              <a:t>本例指定单套 SDK 根；也可传多版本父目录，选择兼容 SDK。默认发现成功时，无需另设。</a:t>
            </a:r>
          </a:p>
          <a:p>
            <a:r>
              <a:rPr/>
              <a:t>依据：https://github.com/zephyrproject-rtos/zephyr/blob/3777ab91262f93c2c2da7e1ab8cff4e8ea5f4ce4/cmake/modules/FindZephyr-sdk.cmake</a:t>
            </a:r>
          </a:p>
          <a:p>
            <a:r>
              <a:rPr/>
              <a:t>原文件定位：zephyr_get；带 NO_DEFAULT_PATH 的 find_package 分支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对应正文：P003_SDK准备与编译器选型_Windows.md#sdk-registry</a:t>
            </a:r>
          </a:p>
          <a:p>
            <a:r>
              <a:t>③ 把 SDK 交给工程 · PowerShell</a:t>
            </a:r>
          </a:p>
          <a:p>
            <a:r>
              <a:t>可选：让当前用户的工程自动发现 SDK</a:t>
            </a:r>
          </a:p>
          <a:p>
            <a:endParaRPr/>
          </a:p>
          <a:p>
            <a:r>
              <a:t># Windows PowerShell；可选：准备当前用户的自动发现入口。</a:t>
            </a:r>
          </a:p>
          <a:p>
            <a:r>
              <a:t>Set-Location -LiteralPath 'G:\zephyr_practice\zephyr-sdk-1.0.1'</a:t>
            </a:r>
          </a:p>
          <a:p>
            <a:r>
              <a:t>Get-Command cmake, 7z -ErrorAction Stop</a:t>
            </a:r>
          </a:p>
          <a:p>
            <a:r>
              <a:t>.\setup.cmd /c</a:t>
            </a:r>
          </a:p>
          <a:p>
            <a:r>
              <a:t>if ($LASTEXITCODE -ne 0) { throw '注册失败，查看前面的错误' }</a:t>
            </a:r>
          </a:p>
          <a:p>
            <a:r>
              <a:t>reg.exe query 'HKCU\Software\Kitware\CMake\Packages\Zephyr-sdk'</a:t>
            </a:r>
          </a:p>
          <a:p>
            <a:r>
              <a:t>/c 保存 SDK/cmake 到当前 Windows 用户的 CMake 包记录，跨终端和重启保留。</a:t>
            </a:r>
          </a:p>
          <a:p>
            <a:r>
              <a:t>它不下载编译器、不绑定某个工程；选择显式路径时可以完全不运行。</a:t>
            </a:r>
          </a:p>
          <a:p>
            <a:r>
              <a:t>依据：https://github.com/zephyrproject-rtos/sdk-ng/blob/v1.0.1/scripts/template_setup_win</a:t>
            </a:r>
          </a:p>
          <a:p>
            <a:r>
              <a:t>原文件定位：SDK/cmake/zephyr_sdk_export.cmake → HKCU 的 CMake Packages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对应正文：P003_SDK准备与编译器选型_Windows.md#sdk-environment</a:t>
            </a:r>
          </a:p>
          <a:p>
            <a:r>
              <a:t>③ 把 SDK 交给工程 · UCRT64</a:t>
            </a:r>
          </a:p>
          <a:p>
            <a:r>
              <a:t>不注册：从当前终端传入 SDK 根</a:t>
            </a:r>
          </a:p>
          <a:p>
            <a:endParaRPr/>
          </a:p>
          <a:p>
            <a:r>
              <a:t># Windows UCRT64；源码根；可选：把 SDK 根交给本窗口启动的 CMake。</a:t>
            </a:r>
          </a:p>
          <a:p>
            <a:r>
              <a:t>cd /g/zephyr_practice/zephyr-main</a:t>
            </a:r>
          </a:p>
          <a:p>
            <a:r>
              <a:t>export ZEPHYR_SDK_INSTALL_DIR='G:/zephyr_practice/zephyr-sdk-1.0.1'</a:t>
            </a:r>
          </a:p>
          <a:p>
            <a:r>
              <a:t>printf '%s\n' "$ZEPHYR_SDK_INSTALL_DIR"</a:t>
            </a:r>
          </a:p>
          <a:p>
            <a:r>
              <a:t>之后从本窗口启动的 CMake 继承此输入；不是修改 .venv。</a:t>
            </a:r>
          </a:p>
          <a:p>
            <a:r>
              <a:t>取消环境输入用 [[cmd:unset]] [[v:ZEPHYR_SDK_INSTALL_DIR]]。</a:t>
            </a:r>
          </a:p>
          <a:p>
            <a:r>
              <a:t>已有构建缓存会保留上次选择，换 SDK 时使用新构建目录或按 P011 更新缓存。</a:t>
            </a:r>
          </a:p>
          <a:p>
            <a:r>
              <a:t>依据：https://github.com/zephyrproject-rtos/zephyr/blob/3777ab91262f93c2c2da7e1ab8cff4e8ea5f4ce4/cmake/modules/FindZephyr-sdk.cmake</a:t>
            </a:r>
          </a:p>
          <a:p>
            <a:r>
              <a:t>原文件定位：zephyr_get(ZEPHYR_SDK_INSTALL_DIR)；CMake CACHE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对应正文：P003_SDK准备与编译器选型_Windows.md#sdk-configure</a:t>
            </a:r>
          </a:p>
          <a:p>
            <a:r>
              <a:t>③ 把 SDK 交给工程 · 完整示例</a:t>
            </a:r>
          </a:p>
          <a:p>
            <a:r>
              <a:t>不注册：给应用配置命令传入 SDK 根</a:t>
            </a:r>
          </a:p>
          <a:p>
            <a:endParaRPr/>
          </a:p>
          <a:p>
            <a:r>
              <a:t># Windows UCRT64；完成 P002—P005 后执行；新构建目录。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cmake -S samples/hello_world -B build/learning-tools/p003/sdk-explicit \</a:t>
            </a:r>
          </a:p>
          <a:p>
            <a:r>
              <a:t>  -G Ninja -DBOARD=mps2/an386 \</a:t>
            </a:r>
          </a:p>
          <a:p>
            <a:r>
              <a:t>  "-DZephyr_DIR=$(cygpath -m "$PWD")/share/zephyr-package/cmake" \</a:t>
            </a:r>
          </a:p>
          <a:p>
            <a:r>
              <a:t>  "-DPython3_EXECUTABLE=$(cygpath -m "$(command -v python)")" \</a:t>
            </a:r>
          </a:p>
          <a:p>
            <a:r>
              <a:t>  -DZEPHYR_SDK_INSTALL_DIR=G:/zephyr_practice/zephyr-sdk-1.0.1 \</a:t>
            </a:r>
          </a:p>
          <a:p>
            <a:r>
              <a:t>  -DCMAKE_EXPORT_COMPILE_COMMANDS=ON</a:t>
            </a:r>
          </a:p>
          <a:p>
            <a:r>
              <a:t>官方示例：MPS2 / AN386，Cortex-M4，目标 mps2/an386，应用 hello_world。</a:t>
            </a:r>
          </a:p>
          <a:p>
            <a:r>
              <a:t>本页先认识 SDK 接入口；P004 取得 CMSIS，P005 核对 MPS2 工程输入后再配置。</a:t>
            </a:r>
          </a:p>
          <a:p>
            <a:r>
              <a:t>依据：https://github.com/zephyrproject-rtos/zephyr/blob/3777ab91262f93c2c2da7e1ab8cff4e8ea5f4ce4/samples/hello_world/CMakeLists.txt</a:t>
            </a:r>
          </a:p>
          <a:p>
            <a:r>
              <a:t>原文件定位：官方 hello_world + mps2/an386；编译与运行见 P008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对应正文：P003_SDK准备与编译器选型_Windows.md#sdk-discovery</a:t>
            </a:r>
          </a:p>
          <a:p>
            <a:r>
              <a:rPr/>
              <a:t>③ 把 SDK 交给工程 · 读取依据</a:t>
            </a:r>
          </a:p>
          <a:p>
            <a:r>
              <a:rPr/>
              <a:t>路径由 Zephyr 查找脚本读取</a:t>
            </a:r>
          </a:p>
          <a:p>
            <a:r>
              <a:rPr/>
              <a:t>只读 zephyr-main/cmake/modules/FindZephyr-sdk.cmake；不新建或替换。</a:t>
            </a:r>
          </a:p>
          <a:p>
            <a:r>
              <a:rPr/>
              <a:t>zephyr_get(ZEPHYR_SDK_INSTALL_DIR)</a:t>
            </a:r>
          </a:p>
          <a:p/>
          <a:p>
            <a:r>
              <a:rPr>
                <a:solidFill>
                  <a:srgbClr val="646173"/>
                </a:solidFill>
              </a:rPr>
              <a:t># 在显式 SDK 路径分支内，官方调用的关键参数：</a:t>
            </a:r>
          </a:p>
          <a:p>
            <a:r>
              <a:rPr/>
              <a:t>find_package(Zephyr-sdk ${Zephyr-sdk_FIND_VERSION_COMPLETE}</a:t>
            </a:r>
          </a:p>
          <a:p>
            <a:r>
              <a:rPr/>
              <a:t xml:space="preserve">  REQUIRED QUIET CONFIG</a:t>
            </a:r>
          </a:p>
          <a:p>
            <a:r>
              <a:rPr/>
              <a:t xml:space="preserve">  HINTS ${ZEPHYR_SDK_INSTALL_DIR} NO_DEFAULT_PATH)</a:t>
            </a:r>
          </a:p>
          <a:p>
            <a:r>
              <a:rPr>
                <a:solidFill>
                  <a:srgbClr val="29263B"/>
                </a:solidFill>
              </a:rPr>
              <a:t>无显式路径：按包记录 / 搜索路径选择兼容 SDK。</a:t>
            </a:r>
          </a:p>
          <a:p>
            <a:r>
              <a:rPr>
                <a:solidFill>
                  <a:srgbClr val="29263B"/>
                </a:solidFill>
              </a:rPr>
              <a:t>新目录无旧包缓存时，显式路径限定搜索前缀。</a:t>
            </a:r>
          </a:p>
          <a:p>
            <a:r>
              <a:rPr>
                <a:solidFill>
                  <a:srgbClr val="29263B"/>
                </a:solidFill>
              </a:rPr>
              <a:t xml:space="preserve">已有 </a:t>
            </a:r>
            <a:r>
              <a:rPr>
                <a:solidFill>
                  <a:srgbClr val="B84E00"/>
                </a:solidFill>
              </a:rPr>
              <a:t>Zephyr-sdk_DIR</a:t>
            </a:r>
            <a:r>
              <a:rPr>
                <a:solidFill>
                  <a:srgbClr val="29263B"/>
                </a:solidFill>
              </a:rPr>
              <a:t xml:space="preserve"> 仍可影响选择；换 SDK 用新构建目录。</a:t>
            </a:r>
          </a:p>
          <a:p>
            <a:r>
              <a:rPr/>
              <a:t>依据：https://github.com/zephyrproject-rtos/zephyr/blob/3777ab91262f93c2c2da7e1ab8cff4e8ea5f4ce4/cmake/modules/FindZephyr-sdk.cmake</a:t>
            </a:r>
          </a:p>
          <a:p>
            <a:r>
              <a:rPr/>
              <a:t>原文件定位：文件第 46、76—88 行及后续自动搜索分支（本期修订）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对应正文：P003_SDK准备与编译器选型_Windows.md#compiler-selection</a:t>
            </a:r>
          </a:p>
          <a:p>
            <a:r>
              <a:t>④ 按目标找到编译器</a:t>
            </a:r>
          </a:p>
          <a:p>
            <a:r>
              <a:t>BOARD 的架构如何对应 SDK 中的工具</a:t>
            </a:r>
          </a:p>
          <a:p>
            <a:r>
              <a:t>SDK 路径回答“用哪一套 SDK”；板与 SoC 配置回答“为哪种 CPU 生成程序”。</a:t>
            </a:r>
          </a:p>
          <a:p>
            <a:endParaRPr/>
          </a:p>
          <a:p>
            <a:r>
              <a:t>SDK：[[f:cmake/zephyr/gnu/target.cmake]] 按 [[v:ARCH]] 选择工具前缀。</a:t>
            </a:r>
          </a:p>
          <a:p>
            <a:r>
              <a:t>Zephyr：[[f:cmake/compiler/gcc/target_arm.cmake]] 生成 CPU / FPU / ABI 参数。</a:t>
            </a:r>
          </a:p>
          <a:p>
            <a:r>
              <a:t>HC32F4A0 为 Cortex-M4F，复用 ARM 工具链；板 / SoC 支持仍需 P012 新增。</a:t>
            </a:r>
          </a:p>
          <a:p>
            <a:r>
              <a:t>依据：https://github.com/zephyrproject-rtos/zephyr/blob/3777ab91262f93c2c2da7e1ab8cff4e8ea5f4ce4/cmake/compiler/gcc/target_arm.cmake</a:t>
            </a:r>
          </a:p>
          <a:p>
            <a:r>
              <a:t>原文件定位：SDK target.cmake：CROSS_COMPILE_TARGET_arm；Zephyr target_arm.cmake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对应正文：P003_SDK准备与编译器选型_Windows.md#standalone-toolchain</a:t>
            </a:r>
          </a:p>
          <a:p>
            <a:r>
              <a:t>④ 按目标找到编译器 · 替代路线</a:t>
            </a:r>
          </a:p>
          <a:p>
            <a:r>
              <a:t>可选：独立 ARM 工具链直接接入</a:t>
            </a:r>
          </a:p>
          <a:p>
            <a:r>
              <a:t>保留 G:/zephyr_practice/arm-zephyr-eabi，不放入 SDK。</a:t>
            </a:r>
          </a:p>
          <a:p>
            <a:r>
              <a:t>此目录缺 SDK 包配置，改用 Zephyr 自带的 cross-compile 接入规则。</a:t>
            </a:r>
          </a:p>
          <a:p>
            <a:endParaRPr/>
          </a:p>
          <a:p>
            <a:r>
              <a:t>读取者：zephyr-main/cmake/toolchain/cross-compile/generic.cmake。</a:t>
            </a:r>
          </a:p>
          <a:p>
            <a:r>
              <a:t>前缀末尾保留横线；它不是 bin 目录，也不是完整 gcc.exe 路径。</a:t>
            </a:r>
          </a:p>
          <a:p>
            <a:r>
              <a:t>依据：https://github.com/zephyrproject-rtos/zephyr/blob/3777ab91262f93c2c2da7e1ab8cff4e8ea5f4ce4/cmake/toolchain/cross-compile/generic.cmake</a:t>
            </a:r>
          </a:p>
          <a:p>
            <a:r>
              <a:t>原文件定位：zephyr_get(CROSS_COMPILE)；set(COMPILER gcc)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对应正文：P003_SDK准备与编译器选型_Windows.md#standalone-toolchain</a:t>
            </a:r>
          </a:p>
          <a:p>
            <a:r>
              <a:t>④ 按目标找到编译器 · 替代路线</a:t>
            </a:r>
          </a:p>
          <a:p>
            <a:r>
              <a:t>独立工具链：完整配置示例</a:t>
            </a:r>
          </a:p>
          <a:p>
            <a:endParaRPr/>
          </a:p>
          <a:p>
            <a:r>
              <a:t># Windows UCRT64；完成 P002—P005；已解压同版独立 ARM 包。</a:t>
            </a:r>
          </a:p>
          <a:p>
            <a:r>
              <a:t>cd /g/zephyr_practice/zephyr-main</a:t>
            </a:r>
          </a:p>
          <a:p>
            <a:r>
              <a:t>source .venv/Scripts/activate</a:t>
            </a:r>
          </a:p>
          <a:p>
            <a:r>
              <a:t>unset ZEPHYR_SDK_INSTALL_DIR</a:t>
            </a:r>
          </a:p>
          <a:p>
            <a:r>
              <a:t>cmake -S samples/hello_world -B build/learning-tools/p003/arm-standalone \</a:t>
            </a:r>
          </a:p>
          <a:p>
            <a:r>
              <a:t>  -G Ninja -DBOARD=mps2/an386 \</a:t>
            </a:r>
          </a:p>
          <a:p>
            <a:r>
              <a:t>  "-DZephyr_DIR=$(cygpath -m "$PWD")/share/zephyr-package/cmake" \</a:t>
            </a:r>
          </a:p>
          <a:p>
            <a:r>
              <a:t>  "-DPython3_EXECUTABLE=$(cygpath -m "$(command -v python)")" \</a:t>
            </a:r>
          </a:p>
          <a:p>
            <a:r>
              <a:t>  -DZEPHYR_TOOLCHAIN_VARIANT=cross-compile \</a:t>
            </a:r>
          </a:p>
          <a:p>
            <a:r>
              <a:t>  -DCROSS_COMPILE=G:/zephyr_practice/arm-zephyr-eabi/bin/arm-zephyr-eabi- \</a:t>
            </a:r>
          </a:p>
          <a:p>
            <a:r>
              <a:t>  -DCROSS_COMPILE_TOOLCHAIN_PATH=G:/zephyr_practice/arm-zephyr-eabi \</a:t>
            </a:r>
          </a:p>
          <a:p>
            <a:r>
              <a:t>  -DCMAKE_EXPORT_COMPILE_COMMANDS=ON</a:t>
            </a:r>
          </a:p>
          <a:p>
            <a:r>
              <a:t>替代 SDK 路线；工具链由你选定。换架构时也要换工具链前缀。</a:t>
            </a:r>
          </a:p>
          <a:p>
            <a:r>
              <a:t>依据：https://github.com/zephyrproject-rtos/zephyr/blob/3777ab91262f93c2c2da7e1ab8cff4e8ea5f4ce4/cmake/toolchain/cross-compile/generic.cmake</a:t>
            </a:r>
          </a:p>
          <a:p>
            <a:r>
              <a:t>原文件定位：主机工具见 P002；CMSIS 见 P004；MPS2 工程见 P005；运行见 P012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对应正文：P003_SDK准备与编译器选型_Windows.md#sdk-evidence</a:t>
            </a:r>
          </a:p>
          <a:p>
            <a:r>
              <a:t>④ 按目标找到编译器 · 结果检查</a:t>
            </a:r>
          </a:p>
          <a:p>
            <a:r>
              <a:t>配置后核对工程实际选中的工具</a:t>
            </a:r>
          </a:p>
          <a:p>
            <a:endParaRPr/>
          </a:p>
          <a:p>
            <a:r>
              <a:t># Windows UCRT64；依赖齐全且 3.3.4 配置成功后，才有这些产物。</a:t>
            </a:r>
          </a:p>
          <a:p>
            <a:r>
              <a:t>cd /g/zephyr_practice/zephyr-main/build/learning-tools/p003/sdk-explicit</a:t>
            </a:r>
          </a:p>
          <a:p>
            <a:r>
              <a:t>grep -E 'ZEPHYR_SDK_INSTALL_DIR|CMAKE_C_COMPILER' CMakeCache.txt</a:t>
            </a:r>
          </a:p>
          <a:p>
            <a:r>
              <a:t>grep -m1 'arm-zephyr-eabi-gcc' compile_commands.json</a:t>
            </a:r>
          </a:p>
          <a:p>
            <a:r>
              <a:t>grep -E '^CONFIG_(ARCH|CPU_CORTEX_M4|FPU|ARM)' zephyr/.config</a:t>
            </a:r>
          </a:p>
          <a:p>
            <a:r>
              <a:t>缓存：选中的 SDK / GCC。compile_commands：计划使用的编译命令与 CPU 参数。</a:t>
            </a:r>
          </a:p>
          <a:p>
            <a:r>
              <a:t>.config：板与 SoC 的配置。生成这些文件不等于固件已编译或在板上运行。</a:t>
            </a:r>
          </a:p>
          <a:p>
            <a:r>
              <a:t>依据：https://github.com/zephyrproject-rtos/zephyr/blob/3777ab91262f93c2c2da7e1ab8cff4e8ea5f4ce4/cmake/modules/FindZephyr-sdk.cmake</a:t>
            </a:r>
          </a:p>
          <a:p>
            <a:r>
              <a:t>原文件定位：配置输出与 -B 目录产物；编译日志和产物在 P008 继续核验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对应正文：P003_SDK准备与编译器选型_Windows.md#sdk-evidence</a:t>
            </a:r>
          </a:p>
          <a:p>
            <a:r>
              <a:t>结果检查</a:t>
            </a:r>
          </a:p>
          <a:p>
            <a:r>
              <a:t>按失败阶段返回检查</a:t>
            </a:r>
          </a:p>
          <a:p>
            <a:endParaRPr/>
          </a:p>
          <a:p>
            <a:endParaRPr/>
          </a:p>
          <a:p>
            <a:r>
              <a:t>不为排错删除 .west、替换 west.yml，或把独立 ARM 目录冒充 SDK 根。</a:t>
            </a:r>
          </a:p>
          <a:p>
            <a:r>
              <a:t>依据：本系列准备流程</a:t>
            </a:r>
          </a:p>
          <a:p>
            <a:r>
              <a:t>原文件定位：正文同名小节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对应正文：P003_SDK准备与编译器选型_Windows.md#sdk-evidence</a:t>
            </a:r>
          </a:p>
          <a:p>
            <a:r>
              <a:t>本期交接</a:t>
            </a:r>
          </a:p>
          <a:p>
            <a:r>
              <a:t>准备完成后的工程入口</a:t>
            </a:r>
          </a:p>
          <a:p>
            <a:r>
              <a:t>GNU SDK 或 Minimal + ARM：交付含 cmake 与 gnu 的 SDK 根。</a:t>
            </a:r>
          </a:p>
          <a:p>
            <a:r>
              <a:t>可自动发现，也可通过环境变量 / -D 指定；注册并非必需。</a:t>
            </a:r>
          </a:p>
          <a:p>
            <a:r>
              <a:t>独立 ARM：交付程序前缀，由 cross-compile 规则接入。</a:t>
            </a:r>
          </a:p>
          <a:p>
            <a:endParaRPr/>
          </a:p>
          <a:p>
            <a:r>
              <a:t>MPS2 的板/SoC/驱动随主仓取得；HC32 迁移时再追加厂商库与适配。</a:t>
            </a:r>
          </a:p>
          <a:p>
            <a:r>
              <a:t>本期不用学习 SDK 自行发行、west 清单编写或新增芯片适配。</a:t>
            </a:r>
          </a:p>
          <a:p>
            <a:r>
              <a:t>依据：本系列准备流程</a:t>
            </a:r>
          </a:p>
          <a:p>
            <a:r>
              <a:t>原文件定位：正文同名小节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westGit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转入 CMSIS 获取前先区分 SDK 安装成功和 Git 子进程调用成功。命令输出用来检查当前 Python 和 Git，完整恢复见配套 MD 3.5.2 与 P004 4.2/4.4。用户本次提供的记录显示更换 /ucrt64/bin/git 后成功，未进行本机进程跟踪。来源：https://www.msys2.org/docs/git/；https://github.com/zephyrproject-rtos/zephyr/discussions/48837。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guide7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7.xml"/><Relationship Id="rIdReading" Type="http://schemas.openxmlformats.org/officeDocument/2006/relationships/hyperlink" Target="../P003_SDK&#20934;&#22791;&#19982;&#32534;&#35793;&#22120;&#36873;&#22411;_Windows.md" TargetMode="External"/></Relationships>
</file>

<file path=ppt/slides/_rels/guide8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54.xml"/><Relationship Id="rIdNotes" Type="http://schemas.openxmlformats.org/officeDocument/2006/relationships/notesSlide" Target="../notesSlides/guide8.xml"/><Relationship Id="rIdReading" Type="http://schemas.openxmlformats.org/officeDocument/2006/relationships/hyperlink" Target="../P003_SDK&#20934;&#22791;&#19982;&#32534;&#35793;&#22120;&#36873;&#22411;_Windows.md" TargetMode="External"/></Relationships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ection-3-1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ection-3-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zephyrproject.org/latest/develop/toolchains/zephyr_sdk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ection-3-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downloa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P003_SDK&#20934;&#22791;&#19982;&#32534;&#35793;&#22120;&#36873;&#22411;_Windows.md#section-3-2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ection-3-2-1" TargetMode="External"/><Relationship Id="rId4" Type="http://schemas.openxmlformats.org/officeDocument/2006/relationships/hyperlink" Target="../commands/P003_Windows/sdk-gnu.tx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ection-3-2-1" TargetMode="External"/><Relationship Id="rId4" Type="http://schemas.openxmlformats.org/officeDocument/2006/relationships/hyperlink" Target="../commands/P003_Windows/sdk-minimal.tx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blob/v1.0.1/scripts/template_setup_w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install-arm" TargetMode="External"/><Relationship Id="rId4" Type="http://schemas.openxmlformats.org/officeDocument/2006/relationships/hyperlink" Target="../commands/P003_Windows/sdk-arm-online.txt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blob/v1.0.1/scripts/template_setup_win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install-arm" TargetMode="External"/><Relationship Id="rId4" Type="http://schemas.openxmlformats.org/officeDocument/2006/relationships/hyperlink" Target="../commands/P003_Windows/sdk-arm-offline.tx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releases/tag/v1.0.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ection-3-2-4" TargetMode="External"/><Relationship Id="rId4" Type="http://schemas.openxmlformats.org/officeDocument/2006/relationships/hyperlink" Target="../commands/P003_Windows/sdk-verify.txt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modules/FindHostTools.cmak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dk-discovery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share/zephyr-package/cmake/ZephyrConfig.cmak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dk-discovery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modules/FindZephyr-sdk.cmak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dk-discovery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sdk-ng/blob/v1.0.1/scripts/template_setup_win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dk-registry" TargetMode="External"/><Relationship Id="rId4" Type="http://schemas.openxmlformats.org/officeDocument/2006/relationships/hyperlink" Target="../commands/P003_Windows/sdk-register.tx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modules/FindZephyr-sdk.cmake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dk-environment" TargetMode="External"/><Relationship Id="rId4" Type="http://schemas.openxmlformats.org/officeDocument/2006/relationships/hyperlink" Target="../commands/P003_Windows/sdk-environment.tx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samples/hello_world/CMakeLists.txt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dk-configure" TargetMode="External"/><Relationship Id="rId4" Type="http://schemas.openxmlformats.org/officeDocument/2006/relationships/hyperlink" Target="../commands/P003_Windows/sdk-configure.txt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modules/FindZephyr-sdk.cmak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dk-discovery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compiler/gcc/target_arm.cmake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compiler-selection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toolchain/cross-compile/generic.cmake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3_SDK&#20934;&#22791;&#19982;&#32534;&#35793;&#22120;&#36873;&#22411;_Windows.md#standalone-toolchain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toolchain/cross-compile/generic.cmake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tandalone-toolchain" TargetMode="External"/><Relationship Id="rId4" Type="http://schemas.openxmlformats.org/officeDocument/2006/relationships/hyperlink" Target="../commands/P003_Windows/sdk-standalone.txt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ephyrproject-rtos/zephyr/blob/3777ab91262f93c2c2da7e1ab8cff4e8ea5f4ce4/cmake/modules/FindZephyr-sdk.cmake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3_SDK&#20934;&#22791;&#19982;&#32534;&#35793;&#22120;&#36873;&#22411;_Windows.md#sdk-evidence" TargetMode="External"/><Relationship Id="rId4" Type="http://schemas.openxmlformats.org/officeDocument/2006/relationships/hyperlink" Target="../commands/P003_Windows/sdk-evidence.txt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../P003_SDK&#20934;&#22791;&#19982;&#32534;&#35793;&#22120;&#36873;&#22411;_Windows.md#sdk-evidenc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../P003_SDK&#20934;&#22791;&#19982;&#32534;&#35793;&#22120;&#36873;&#22411;_Windows.md#sdk-evidence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4.xml"/></Relationships>
</file>

<file path=ppt/slides/_rels/westGit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westGit27.xml"/><Relationship Id="rId3" Type="http://schemas.openxmlformats.org/officeDocument/2006/relationships/hyperlink" Target="../commands/P003_Windows/west-git-check.txt" TargetMode="External"/></Relationships>
</file>

<file path=ppt/slides/gu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同一任务中，SDK 负责哪一部分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P003 开篇与 3.1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主机程序已经可用，现在要为 hello_world + mps2/an386 生成 ARM 指令。电脑是 Windows x64，目标是 Cortex-M4，两种架构分别决定主机包与目标工具链。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的板/SoC/架构/驱动已经在 Zephyr 主仓；CMSIS Core 在清单的外部项目中。它们是被编译的源码，不由安装 SDK 产生。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后续 HC32F4A0 可复用 ARM 工具链，但需要自己的硬件支持。先选一条 SDK 安装路线，等源码依赖齐全再用完整应用核验实际选择。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P003 开篇与 3.1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AC596C6-C4AC-4625-82BF-865AD22BAFC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gu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0005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工具可运行之后，下一步找源码的缺口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209675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P003 3.5 · 从当前任务理解工程组织</a:t>
            </a:r>
          </a:p>
        </p:txBody>
      </p:sp>
      <p:sp>
        <p:nvSpPr>
          <p:cNvPr id="4" name="Body 0"/>
          <p:cNvSpPr>
            <a:spLocks noGrp="1"/>
          </p:cNvSpPr>
          <p:nvPr/>
        </p:nvSpPr>
        <p:spPr>
          <a:xfrm>
            <a:off x="609600" y="177165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本册应留下含 sdk_version 的 SDK 根、可运行的 ARM GCC，以及自己选定的发现入口；GNU 与补齐 ARM 的 Minimal 共享这个接口。</a:t>
            </a:r>
          </a:p>
        </p:txBody>
      </p:sp>
      <p:sp>
        <p:nvSpPr>
          <p:cNvPr id="5" name="Body 1"/>
          <p:cNvSpPr>
            <a:spLocks noGrp="1"/>
          </p:cNvSpPr>
          <p:nvPr/>
        </p:nvSpPr>
        <p:spPr>
          <a:xfrm>
            <a:off x="609600" y="273558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配置成功才会产生 CMakeCache 和编译数据库。首次顺序阅读时它们尚不存在，不要为了看到文件而跳过 P004 的 CMSIS。</a:t>
            </a:r>
          </a:p>
        </p:txBody>
      </p:sp>
      <p:sp>
        <p:nvSpPr>
          <p:cNvPr id="6" name="Body 2"/>
          <p:cNvSpPr>
            <a:spLocks noGrp="1"/>
          </p:cNvSpPr>
          <p:nvPr/>
        </p:nvSpPr>
        <p:spPr>
          <a:xfrm>
            <a:off x="609600" y="3699510"/>
            <a:ext cx="10972800" cy="79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P004 从芯片和 CPU 配置确定 CMSIS；P005 讲官方工程与驱动模型；P006 再取得 HC32 DDL 并接入模块。</a:t>
            </a:r>
          </a:p>
        </p:txBody>
      </p:sp>
      <p:sp>
        <p:nvSpPr>
          <p:cNvPr id="7" name="Reading link"/>
          <p:cNvSpPr>
            <a:spLocks noGrp="1"/>
          </p:cNvSpPr>
          <p:nvPr/>
        </p:nvSpPr>
        <p:spPr>
          <a:xfrm>
            <a:off x="609600" y="6105525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r:id="rIdReading"/>
              </a:rPr>
              <a:t>完整解释与操作：配套 Markdown P003 3.5</a:t>
            </a:r>
          </a:p>
        </p:txBody>
      </p:sp>
      <p:sp>
        <p:nvSpPr>
          <p:cNvPr id="8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6D60AA6-094F-45B6-9EA1-0DDA696087E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SDK 准备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与编译器选型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2F65F6E-DF22-4E60-83E9-5EA6F1065B5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43950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5CD6297-0E05-4673-891B-7DB00078CC40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915025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8794300-DA16-4047-B6AE-EEDF70D8C65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86100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sp>
        <p:nvSpPr>
          <p:cNvPr id="14" name="Title">
            <a:extLst>
              <a:ext uri="{FF2B5EF4-FFF2-40B4-BE49-F238E27FC236}">
                <a16:creationId xmlns:a16="http://schemas.microsoft.com/office/drawing/2014/main" id="{4238E96A-C9D9-46F5-A669-434B7404978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SDK 下载、安装与工程发现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63B3946B-BF2D-4596-9C0D-4986B6FBA219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本期路线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892C4F05-9058-419A-B33E-DF86D5352A8F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主机工具已可用；接着为 hello_world + MPS2 准备 ARM 编译器。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本期交付：磁盘上的 SDK / ARM 工具链，以及工程查找它们的入口。</a:t>
            </a:r>
          </a:p>
        </p:txBody>
      </p:sp>
      <p:sp>
        <p:nvSpPr>
          <p:cNvPr id="4" name="Diagram ① 认识三种包">
            <a:extLst>
              <a:ext uri="{FF2B5EF4-FFF2-40B4-BE49-F238E27FC236}">
                <a16:creationId xmlns:a16="http://schemas.microsoft.com/office/drawing/2014/main" id="{881E6929-2DF4-4869-AAD6-EF2D475B0C5D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① 认识三种包</a:t>
            </a:r>
          </a:p>
        </p:txBody>
      </p:sp>
      <p:sp>
        <p:nvSpPr>
          <p:cNvPr id="5" name="Diagram ② 下载并安装">
            <a:extLst>
              <a:ext uri="{FF2B5EF4-FFF2-40B4-BE49-F238E27FC236}">
                <a16:creationId xmlns:a16="http://schemas.microsoft.com/office/drawing/2014/main" id="{1DD2EC79-CF46-4522-8DA7-9F0E019BF11C}"/>
              </a:ext>
            </a:extLst>
          </p:cNvPr>
          <p:cNvSpPr>
            <a:spLocks noGrp="1"/>
          </p:cNvSpPr>
          <p:nvPr/>
        </p:nvSpPr>
        <p:spPr>
          <a:xfrm>
            <a:off x="3438525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② 下载并安装</a:t>
            </a:r>
          </a:p>
        </p:txBody>
      </p:sp>
      <p:sp>
        <p:nvSpPr>
          <p:cNvPr id="6" name="Diagram ③ 把 SDK 交给工程">
            <a:extLst>
              <a:ext uri="{FF2B5EF4-FFF2-40B4-BE49-F238E27FC236}">
                <a16:creationId xmlns:a16="http://schemas.microsoft.com/office/drawing/2014/main" id="{D097300E-B4BC-4D4C-B115-F8B5678E345D}"/>
              </a:ext>
            </a:extLst>
          </p:cNvPr>
          <p:cNvSpPr>
            <a:spLocks noGrp="1"/>
          </p:cNvSpPr>
          <p:nvPr/>
        </p:nvSpPr>
        <p:spPr>
          <a:xfrm>
            <a:off x="6267450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③ 把 SDK 交给工程</a:t>
            </a:r>
          </a:p>
        </p:txBody>
      </p:sp>
      <p:sp>
        <p:nvSpPr>
          <p:cNvPr id="7" name="Diagram ④ 按目标找到编译器">
            <a:extLst>
              <a:ext uri="{FF2B5EF4-FFF2-40B4-BE49-F238E27FC236}">
                <a16:creationId xmlns:a16="http://schemas.microsoft.com/office/drawing/2014/main" id="{D8362EE5-A058-46DC-8823-9521FECE9531}"/>
              </a:ext>
            </a:extLst>
          </p:cNvPr>
          <p:cNvSpPr>
            <a:spLocks noGrp="1"/>
          </p:cNvSpPr>
          <p:nvPr/>
        </p:nvSpPr>
        <p:spPr>
          <a:xfrm>
            <a:off x="9096375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④ 按目标找到编译器</a:t>
            </a:r>
          </a:p>
        </p:txBody>
      </p:sp>
      <p:sp>
        <p:nvSpPr>
          <p:cNvPr id="11" name="Result and interpretation">
            <a:extLst>
              <a:ext uri="{FF2B5EF4-FFF2-40B4-BE49-F238E27FC236}">
                <a16:creationId xmlns:a16="http://schemas.microsoft.com/office/drawing/2014/main" id="{213E195B-1012-46B6-9BD9-9246B89428C8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本册使用</a:t>
            </a:r>
            <a:r>
              <a:rPr dirty="0"/>
              <a:t> Windows x64 与 </a:t>
            </a:r>
            <a:r>
              <a:rPr dirty="0">
                <a:hlinkClick r:id="rId3"/>
              </a:rPr>
              <a:t>SDK 1.0.1</a:t>
            </a:r>
            <a:r>
              <a:rPr dirty="0"/>
              <a:t>。编译、运行在 P008；独立工具链是可选分支。</a:t>
            </a:r>
          </a:p>
        </p:txBody>
      </p:sp>
      <p:sp>
        <p:nvSpPr>
          <p:cNvPr id="12" name="Semantic legend">
            <a:extLst>
              <a:ext uri="{FF2B5EF4-FFF2-40B4-BE49-F238E27FC236}">
                <a16:creationId xmlns:a16="http://schemas.microsoft.com/office/drawing/2014/main" id="{2AAB248F-35DD-456E-8DC2-855BD13E9AAD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变量 / 参数</a:t>
            </a:r>
            <a:r>
              <a:rPr/>
              <a:t>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rPr/>
              <a:t>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rPr/>
              <a:t>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  <p:sp>
        <p:nvSpPr>
          <p:cNvPr id="13" name="MD link">
            <a:extLst>
              <a:ext uri="{FF2B5EF4-FFF2-40B4-BE49-F238E27FC236}">
                <a16:creationId xmlns:a16="http://schemas.microsoft.com/office/drawing/2014/main" id="{56BB85A6-F121-4063-9394-B75C3EB9B0D1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1C5696D-DFDD-4398-A4A4-47A18C241FA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417DB4E6-5F28-4CD9-9100-87175D9D9BF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GNU SDK、Minimal 与独立工具链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069B9868-1A88-430F-97D3-112B4D597F58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① 认识三种包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921C793C-D189-4294-980B-DEC131AA0C67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Minimal 是 SDK 的精简打包方式，仍带工程接入文件；单独的 ARM 包才是组件。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0C6E692-F6E7-4DA5-986B-604CB948471E}"/>
              </a:ext>
            </a:extLst>
          </p:cNvPr>
          <p:cNvGraphicFramePr/>
          <p:nvPr/>
        </p:nvGraphicFramePr>
        <p:xfrm>
          <a:off x="609600" y="2457450"/>
          <a:ext cx="10972800" cy="259080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9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的 CMake 接入文件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目标工具链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GNU SDK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预装多种目标的 GNU 工具链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Minimal SDK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未预装；按需补装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 ARM 包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无完整 SDK 接入框架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ARM GCC、GDB、二进制工具与库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sult and interpretation">
            <a:extLst>
              <a:ext uri="{FF2B5EF4-FFF2-40B4-BE49-F238E27FC236}">
                <a16:creationId xmlns:a16="http://schemas.microsoft.com/office/drawing/2014/main" id="{4B9A8932-2126-4A45-9A2B-C6667A037DE3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多种目标 ≠ 同一 GCC 的多个版本。GNU / Minimal 补齐后使用同一 SDK 入口。</a:t>
            </a:r>
          </a:p>
        </p:txBody>
      </p:sp>
      <p:sp>
        <p:nvSpPr>
          <p:cNvPr id="6" name="Source">
            <a:extLst>
              <a:ext uri="{FF2B5EF4-FFF2-40B4-BE49-F238E27FC236}">
                <a16:creationId xmlns:a16="http://schemas.microsoft.com/office/drawing/2014/main" id="{D7FA8DE9-AFE6-43FD-A55E-92BC680CF341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依据：SDK 1.0.1 Release → SDK Bundle / GNU Toolchains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A0C3E657-C98C-4898-8CCB-3552BD989E43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FDC2788-8339-4EA7-92A4-C663A3D3129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534C2945-0A1C-43D8-B945-923E1C5F763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补齐 Minimal 后，SDK 的结构相同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2C29B81B-8822-4A99-9751-F8AB84F1215C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① 认识三种包 · 官方归档提供以下文件</a:t>
            </a:r>
          </a:p>
        </p:txBody>
      </p:sp>
      <p:sp>
        <p:nvSpPr>
          <p:cNvPr id="3" name="Directory or read-only source">
            <a:extLst>
              <a:ext uri="{FF2B5EF4-FFF2-40B4-BE49-F238E27FC236}">
                <a16:creationId xmlns:a16="http://schemas.microsoft.com/office/drawing/2014/main" id="{6A20C007-C29B-4A25-9BC4-A0B8D52D2D8C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3162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70C0"/>
                </a:solidFill>
              </a:rPr>
              <a:t>zephyr-sdk-1.0.1/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sdk_version</a:t>
            </a:r>
            <a:r>
              <a:rPr/>
              <a:t>                     SDK 发行版本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setup.cmd</a:t>
            </a:r>
            <a:r>
              <a:rPr/>
              <a:t>                       安装 / 可选注册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cmake/Zephyr-sdkConfig.cmake</a:t>
            </a:r>
            <a:r>
              <a:rPr/>
              <a:t>     工程查找入口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cmake/zephyr/gnu/target.cmake</a:t>
            </a:r>
            <a:r>
              <a:rPr/>
              <a:t>    架构 → 工具链规则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hosttools/</a:t>
            </a:r>
            <a:r>
              <a:rPr/>
              <a:t>                      平台配套工具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└─ </a:t>
            </a:r>
            <a:r>
              <a:rPr>
                <a:solidFill>
                  <a:srgbClr val="0070C0"/>
                </a:solidFill>
              </a:rPr>
              <a:t>gnu/arm-zephyr-eabi/</a:t>
            </a:r>
            <a:r>
              <a:rPr/>
              <a:t>             GNU 已带；Minimal 补入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   ├─ </a:t>
            </a:r>
            <a:r>
              <a:rPr>
                <a:solidFill>
                  <a:srgbClr val="0070C0"/>
                </a:solidFill>
              </a:rPr>
              <a:t>bin/arm-zephyr-eabi-gcc.exe</a:t>
            </a:r>
            <a:r>
              <a:rPr/>
              <a:t>   目标编译器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   └─ </a:t>
            </a:r>
            <a:r>
              <a:rPr>
                <a:solidFill>
                  <a:srgbClr val="0070C0"/>
                </a:solidFill>
              </a:rPr>
              <a:t>arm-zephyr-eabi/</a:t>
            </a:r>
            <a:r>
              <a:rPr/>
              <a:t>             目标头文件与库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DA2310EA-F9C6-458A-AA27-AD3F750757F1}"/>
              </a:ext>
            </a:extLst>
          </p:cNvPr>
          <p:cNvSpPr>
            <a:spLocks noGrp="1"/>
          </p:cNvSpPr>
          <p:nvPr/>
        </p:nvSpPr>
        <p:spPr>
          <a:xfrm>
            <a:off x="609600" y="51149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这些 CMake 文件不需要自己创建。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找到 SDK 包 ≠ ARM 编译器已安装；Minimal 必须补齐目标工具链。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10DAC9E1-A8B4-43FF-8A65-E3322D15E8F5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依据：SDK 根：</a:t>
            </a:r>
            <a:r>
              <a:rPr u="sng">
                <a:solidFill>
                  <a:srgbClr val="0070C0"/>
                </a:solidFill>
                <a:hlinkClick r:id="rId3"/>
              </a:rPr>
              <a:t>cmake/Zephyr-sdkConfig.cmake</a:t>
            </a:r>
            <a:r>
              <a:rPr u="sng">
                <a:hlinkClick r:id="rId3"/>
              </a:rPr>
              <a:t>；</a:t>
            </a:r>
            <a:r>
              <a:rPr u="sng">
                <a:solidFill>
                  <a:srgbClr val="0070C0"/>
                </a:solidFill>
                <a:hlinkClick r:id="rId3"/>
              </a:rPr>
              <a:t>gnu/arm-zephyr-eabi</a:t>
            </a:r>
          </a:p>
        </p:txBody>
      </p:sp>
      <p:sp>
        <p:nvSpPr>
          <p:cNvPr id="6" name="MD link">
            <a:extLst>
              <a:ext uri="{FF2B5EF4-FFF2-40B4-BE49-F238E27FC236}">
                <a16:creationId xmlns:a16="http://schemas.microsoft.com/office/drawing/2014/main" id="{747AC068-1E4E-4258-AFD6-F0684215E3B3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3812B1F-73B8-44C1-8B46-48D7368E812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B88F6777-297C-4B75-A5BB-24DE8504B45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确定</a:t>
            </a:r>
            <a:r>
              <a:rPr sz="3300" b="1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原生源码</a:t>
            </a:r>
            <a:r>
              <a:rPr lang="zh-CN" altLang="en-US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所需要的</a:t>
            </a:r>
            <a:r>
              <a:rPr lang="en-US" altLang="zh-CN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</a:t>
            </a:r>
            <a:r>
              <a:rPr lang="zh-CN" altLang="en-US" sz="330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包版本</a:t>
            </a:r>
            <a:endParaRPr sz="3300" b="1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5C748A5E-E70E-33A5-C3F4-30D429106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3200400"/>
            <a:ext cx="6161367" cy="2920436"/>
          </a:xfrm>
          <a:prstGeom prst="rect">
            <a:avLst/>
          </a:prstGeom>
        </p:spPr>
      </p:pic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25C971D2-852F-6960-1FD3-3EA6AF6AD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271898"/>
              </p:ext>
            </p:extLst>
          </p:nvPr>
        </p:nvGraphicFramePr>
        <p:xfrm>
          <a:off x="7116416" y="3200400"/>
          <a:ext cx="4428425" cy="2853709"/>
        </p:xfrm>
        <a:graphic>
          <a:graphicData uri="http://schemas.openxmlformats.org/drawingml/2006/table">
            <a:tbl>
              <a:tblPr/>
              <a:tblGrid>
                <a:gridCol w="1960500">
                  <a:extLst>
                    <a:ext uri="{9D8B030D-6E8A-4147-A177-3AD203B41FA5}">
                      <a16:colId xmlns:a16="http://schemas.microsoft.com/office/drawing/2014/main" val="2107482275"/>
                    </a:ext>
                  </a:extLst>
                </a:gridCol>
                <a:gridCol w="2467925">
                  <a:extLst>
                    <a:ext uri="{9D8B030D-6E8A-4147-A177-3AD203B41FA5}">
                      <a16:colId xmlns:a16="http://schemas.microsoft.com/office/drawing/2014/main" val="2139870538"/>
                    </a:ext>
                  </a:extLst>
                </a:gridCol>
              </a:tblGrid>
              <a:tr h="48106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原生文件</a:t>
                      </a:r>
                      <a:endParaRPr sz="1200" b="1" dirty="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1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读取者或用途</a:t>
                      </a:r>
                      <a:endParaRPr sz="1200" b="1" dirty="0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52400" marR="133350" marT="114300" marB="95250" anchor="ctr">
                    <a:solidFill>
                      <a:srgbClr val="6544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096584"/>
                  </a:ext>
                </a:extLst>
              </a:tr>
              <a:tr h="48106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0070C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VERSION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描述 Zephyr：4.5.0-rc1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417614"/>
                  </a:ext>
                </a:extLst>
              </a:tr>
              <a:tr h="48106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0070C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SDK_VERSION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推荐/默认安装版本：1.0.1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987153"/>
                  </a:ext>
                </a:extLst>
              </a:tr>
              <a:tr h="7052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0070C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doc/conf.py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读版本，生成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SDK </a:t>
                      </a: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文档下载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URL</a:t>
                      </a:r>
                    </a:p>
                  </a:txBody>
                  <a:tcPr marL="152400" marR="133350" marT="11430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150643"/>
                  </a:ext>
                </a:extLst>
              </a:tr>
              <a:tr h="705254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>
                          <a:solidFill>
                            <a:srgbClr val="0070C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scripts/west_commands/sdk.py</a:t>
                      </a: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200" b="0" dirty="0">
                          <a:solidFill>
                            <a:srgbClr val="A02B93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west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sdk</a:t>
                      </a:r>
                      <a:r>
                        <a:rPr sz="1200" b="0" dirty="0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install </a:t>
                      </a:r>
                      <a:r>
                        <a:rPr sz="1200" b="0" dirty="0" err="1">
                          <a:solidFill>
                            <a:srgbClr val="262236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未传版本时读取</a:t>
                      </a:r>
                      <a:endParaRPr sz="1200" b="0" dirty="0">
                        <a:solidFill>
                          <a:srgbClr val="262236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152400" marR="133350" marT="114300" marB="95250" anchor="ctr">
                    <a:solidFill>
                      <a:srgbClr val="F0E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275658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80EDC0A9-B913-5174-E2BE-CB3F1E29BB61}"/>
              </a:ext>
            </a:extLst>
          </p:cNvPr>
          <p:cNvSpPr>
            <a:spLocks noGrp="1"/>
          </p:cNvSpPr>
          <p:nvPr/>
        </p:nvSpPr>
        <p:spPr>
          <a:xfrm>
            <a:off x="7116416" y="2400300"/>
            <a:ext cx="4368335" cy="736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手工下载沿同一来源链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：</a:t>
            </a:r>
            <a:endParaRPr lang="en-US" sz="1950" b="0" dirty="0">
              <a:solidFill>
                <a:srgbClr val="6544B0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sz="195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    </a:t>
            </a:r>
            <a:r>
              <a:rPr sz="1950" b="0" dirty="0">
                <a:solidFill>
                  <a:srgbClr val="0070C0"/>
                </a:solidFill>
                <a:latin typeface="Noto Sans SC"/>
                <a:ea typeface="Noto Sans SC"/>
                <a:cs typeface="Noto Sans SC"/>
              </a:rPr>
              <a:t>SDK_VERSION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→ </a:t>
            </a: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对应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SDK Release</a:t>
            </a:r>
          </a:p>
        </p:txBody>
      </p:sp>
      <p:sp>
        <p:nvSpPr>
          <p:cNvPr id="1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ADA380B-1B25-4184-991A-534F268141B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Copyable source version command">
            <a:extLst>
              <a:ext uri="{FF2B5EF4-FFF2-40B4-BE49-F238E27FC236}">
                <a16:creationId xmlns:a16="http://schemas.microsoft.com/office/drawing/2014/main" id="{58D96005-9768-40B0-B5BF-0533F0B695F7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642937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</a:pPr>
            <a:r>
              <a:rPr sz="1725">
                <a:solidFill>
                  <a:srgbClr val="646173"/>
                </a:solidFill>
                <a:latin typeface="Consolas"/>
                <a:ea typeface="Microsoft YaHei"/>
              </a:rPr>
              <a:t># Windows UCRT64；进入已下载的源码根。</a:t>
            </a:r>
          </a:p>
          <a:p>
            <a:pPr>
              <a:lnSpc>
                <a:spcPct val="120000"/>
              </a:lnSpc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</a:rPr>
              <a:t>cd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</a:rPr>
              <a:t> </a:t>
            </a:r>
            <a:r>
              <a:rPr sz="1725">
                <a:solidFill>
                  <a:srgbClr val="0070C0"/>
                </a:solidFill>
                <a:latin typeface="Consolas"/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</a:rPr>
              <a:t>cat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</a:rPr>
              <a:t> </a:t>
            </a:r>
            <a:r>
              <a:rPr sz="1725">
                <a:solidFill>
                  <a:srgbClr val="0070C0"/>
                </a:solidFill>
                <a:latin typeface="Consolas"/>
                <a:ea typeface="Microsoft YaHei"/>
              </a:rPr>
              <a:t>VERSION</a:t>
            </a:r>
          </a:p>
          <a:p>
            <a:pPr>
              <a:lnSpc>
                <a:spcPct val="120000"/>
              </a:lnSpc>
            </a:pPr>
            <a:r>
              <a:rPr sz="1725">
                <a:solidFill>
                  <a:srgbClr val="A02B93"/>
                </a:solidFill>
                <a:latin typeface="Consolas"/>
                <a:ea typeface="Microsoft YaHei"/>
              </a:rPr>
              <a:t>cat</a:t>
            </a:r>
            <a:r>
              <a:rPr sz="1725">
                <a:solidFill>
                  <a:srgbClr val="29263B"/>
                </a:solidFill>
                <a:latin typeface="Consolas"/>
                <a:ea typeface="Microsoft YaHei"/>
              </a:rPr>
              <a:t> </a:t>
            </a:r>
            <a:r>
              <a:rPr sz="1725">
                <a:solidFill>
                  <a:srgbClr val="0070C0"/>
                </a:solidFill>
                <a:latin typeface="Consolas"/>
                <a:ea typeface="Microsoft YaHei"/>
              </a:rPr>
              <a:t>SDK_VERSION</a:t>
            </a:r>
          </a:p>
        </p:txBody>
      </p:sp>
      <p:sp>
        <p:nvSpPr>
          <p:cNvPr id="108" name="Expected versions">
            <a:extLst>
              <a:ext uri="{FF2B5EF4-FFF2-40B4-BE49-F238E27FC236}">
                <a16:creationId xmlns:a16="http://schemas.microsoft.com/office/drawing/2014/main" id="{58D96005-9768-40B0-B5BF-0533F0B695F7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6429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</a:pPr>
            <a:r>
              <a:rPr sz="1875">
                <a:solidFill>
                  <a:srgbClr val="29263B"/>
                </a:solidFill>
                <a:latin typeface="Consolas"/>
                <a:ea typeface="Microsoft YaHei"/>
              </a:rPr>
              <a:t>预期：Zephyr 4.5.0-rc1；SDK 1.0.1</a:t>
            </a:r>
          </a:p>
        </p:txBody>
      </p:sp>
    </p:spTree>
    <p:extLst>
      <p:ext uri="{BB962C8B-B14F-4D97-AF65-F5344CB8AC3E}">
        <p14:creationId xmlns:p14="http://schemas.microsoft.com/office/powerpoint/2010/main" val="172463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ED9B16F-7AF3-4B89-0520-554072CD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89915"/>
            <a:ext cx="4606255" cy="15609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Title">
            <a:extLst>
              <a:ext uri="{FF2B5EF4-FFF2-40B4-BE49-F238E27FC236}">
                <a16:creationId xmlns:a16="http://schemas.microsoft.com/office/drawing/2014/main" id="{4E71B982-84EE-4519-9AE8-0AC728C82FAF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电脑架构与开发板架构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103565-0A6B-4FB0-8FC3-68FED138B620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工具运行在哪里</a:t>
            </a:r>
            <a:endParaRPr sz="2550" b="1" dirty="0">
              <a:solidFill>
                <a:srgbClr val="6544B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4B017D-6452-4285-83D5-5A3C866E55D8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53340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Windows x64 </a:t>
            </a:r>
            <a:r>
              <a:rPr sz="2850" b="1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电脑</a:t>
            </a:r>
            <a:endParaRPr sz="2850" b="1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ACBBDB-E46C-44E7-8F0A-E43737658E94}"/>
              </a:ext>
            </a:extLst>
          </p:cNvPr>
          <p:cNvSpPr>
            <a:spLocks noGrp="1"/>
          </p:cNvSpPr>
          <p:nvPr/>
        </p:nvSpPr>
        <p:spPr>
          <a:xfrm>
            <a:off x="609600" y="3082811"/>
            <a:ext cx="5286375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SDK </a:t>
            </a:r>
            <a:r>
              <a:rPr sz="2250" b="0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主机包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windows-x86_64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1FDEE5-B4D1-4E06-900A-27830BE3B5BA}"/>
              </a:ext>
            </a:extLst>
          </p:cNvPr>
          <p:cNvSpPr>
            <a:spLocks noGrp="1"/>
          </p:cNvSpPr>
          <p:nvPr/>
        </p:nvSpPr>
        <p:spPr>
          <a:xfrm>
            <a:off x="6705600" y="1676400"/>
            <a:ext cx="4876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生成的程序在哪里运行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18D0B86-613A-453A-9542-662742E6F28F}"/>
              </a:ext>
            </a:extLst>
          </p:cNvPr>
          <p:cNvSpPr>
            <a:spLocks noGrp="1"/>
          </p:cNvSpPr>
          <p:nvPr/>
        </p:nvSpPr>
        <p:spPr>
          <a:xfrm>
            <a:off x="6705600" y="2438400"/>
            <a:ext cx="48768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MPS2 / AN386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12CED5-AA07-4419-B406-04636D2001A0}"/>
              </a:ext>
            </a:extLst>
          </p:cNvPr>
          <p:cNvSpPr>
            <a:spLocks noGrp="1"/>
          </p:cNvSpPr>
          <p:nvPr/>
        </p:nvSpPr>
        <p:spPr>
          <a:xfrm>
            <a:off x="6705600" y="3082811"/>
            <a:ext cx="48768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ARM </a:t>
            </a:r>
            <a:r>
              <a:rPr sz="2250" b="0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目标工具链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arm-zephyr-</a:t>
            </a:r>
            <a:r>
              <a:rPr sz="2250" b="0" dirty="0" err="1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eabi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7D4540-8502-4545-80F9-D94C9A78C6B9}"/>
              </a:ext>
            </a:extLst>
          </p:cNvPr>
          <p:cNvSpPr>
            <a:spLocks noGrp="1"/>
          </p:cNvSpPr>
          <p:nvPr/>
        </p:nvSpPr>
        <p:spPr>
          <a:xfrm>
            <a:off x="609600" y="5722868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6544B0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开发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ARM 单片机时，x64 </a:t>
            </a:r>
            <a:r>
              <a:rPr sz="1950" b="0" dirty="0" err="1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电脑仍选择</a:t>
            </a:r>
            <a:r>
              <a:rPr sz="1950" b="0" dirty="0">
                <a:solidFill>
                  <a:srgbClr val="6544B0"/>
                </a:solidFill>
                <a:latin typeface="Noto Sans SC"/>
                <a:ea typeface="Noto Sans SC"/>
                <a:cs typeface="Noto Sans SC"/>
              </a:rPr>
              <a:t> Windows x86-64 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F566837-1BB8-D14A-1A4E-9BF4D84ECE73}"/>
              </a:ext>
            </a:extLst>
          </p:cNvPr>
          <p:cNvSpPr>
            <a:spLocks noGrp="1"/>
          </p:cNvSpPr>
          <p:nvPr/>
        </p:nvSpPr>
        <p:spPr>
          <a:xfrm>
            <a:off x="6705600" y="4236968"/>
            <a:ext cx="4876800" cy="1066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2250" b="0">
                <a:solidFill>
                  <a:srgbClr val="262236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windows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系统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CPU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架构查看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:</a:t>
            </a:r>
            <a:b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</a:b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    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“设置”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-&gt;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“系统”</a:t>
            </a:r>
            <a:r>
              <a:rPr lang="en-US" altLang="zh-CN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-&gt;</a:t>
            </a:r>
            <a:r>
              <a:rPr lang="zh-CN" altLang="en-US" sz="2250" b="0" dirty="0">
                <a:solidFill>
                  <a:srgbClr val="262236"/>
                </a:solidFill>
                <a:latin typeface="Noto Sans SC"/>
                <a:ea typeface="Noto Sans SC"/>
                <a:cs typeface="Noto Sans SC"/>
              </a:rPr>
              <a:t>“关于”</a:t>
            </a:r>
            <a:endParaRPr sz="2250" b="0" dirty="0">
              <a:solidFill>
                <a:srgbClr val="262236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0C15D67-2315-3342-535D-1199796C15E1}"/>
              </a:ext>
            </a:extLst>
          </p:cNvPr>
          <p:cNvCxnSpPr>
            <a:stCxn id="14" idx="1"/>
            <a:endCxn id="12" idx="3"/>
          </p:cNvCxnSpPr>
          <p:nvPr/>
        </p:nvCxnSpPr>
        <p:spPr>
          <a:xfrm flipH="1">
            <a:off x="5215855" y="4770368"/>
            <a:ext cx="148974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F85D9F6-9C28-4CAC-A4A1-3FC586F2426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5460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17CB92E1-0AC4-4AEE-B778-99E50FC150F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在官方发行页选择下载项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223163E7-D6B3-43F0-BCBB-88D0B7B7052E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② </a:t>
            </a:r>
            <a:r>
              <a:rPr dirty="0" err="1"/>
              <a:t>下载并安装</a:t>
            </a:r>
            <a:endParaRPr dirty="0"/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E5166A96-22C8-40AC-8744-C4F6DAD758BE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GitHub → </a:t>
            </a:r>
            <a:r>
              <a:rPr dirty="0" err="1"/>
              <a:t>zephyrproject-rtos</a:t>
            </a:r>
            <a:r>
              <a:rPr dirty="0"/>
              <a:t> / </a:t>
            </a:r>
            <a:r>
              <a:rPr dirty="0" err="1"/>
              <a:t>sdk</a:t>
            </a:r>
            <a:r>
              <a:rPr dirty="0"/>
              <a:t>-ng → Releases → v1.0.1。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SDK Bundle </a:t>
            </a:r>
            <a:r>
              <a:rPr dirty="0" err="1"/>
              <a:t>表：Windows</a:t>
            </a:r>
            <a:r>
              <a:rPr dirty="0"/>
              <a:t> 行 → GNU 或 Minimal 列 → x86-64。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C2C6EAF-4E36-4D0E-B3B8-004B6B0AB4C5}"/>
              </a:ext>
            </a:extLst>
          </p:cNvPr>
          <p:cNvGraphicFramePr/>
          <p:nvPr/>
        </p:nvGraphicFramePr>
        <p:xfrm>
          <a:off x="609600" y="2714625"/>
          <a:ext cx="10972800" cy="220980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下载附件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GNU 路线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zephyr-sdk-1.0.1_windows-x86_64_gnu.7z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Minimal 路线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zephyr-sdk-1.0.1_windows-x86_64_minimal.7z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已有包离线补 ARM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00" b="0" dirty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toolchain_gnu_windows-x86_64_arm-zephyr-eabi.7z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sult and interpretation">
            <a:extLst>
              <a:ext uri="{FF2B5EF4-FFF2-40B4-BE49-F238E27FC236}">
                <a16:creationId xmlns:a16="http://schemas.microsoft.com/office/drawing/2014/main" id="{4A285B8C-11A2-47A3-B2D4-205E33844416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ARM </a:t>
            </a:r>
            <a:r>
              <a:rPr dirty="0" err="1"/>
              <a:t>附件：同页</a:t>
            </a:r>
            <a:r>
              <a:rPr dirty="0"/>
              <a:t> GNU Toolchains → arm-zephyr-</a:t>
            </a:r>
            <a:r>
              <a:rPr dirty="0" err="1"/>
              <a:t>eabi</a:t>
            </a:r>
            <a:r>
              <a:rPr dirty="0"/>
              <a:t> 行 → Windows / x86-64。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 err="1"/>
              <a:t>同时下载同发行的</a:t>
            </a:r>
            <a:r>
              <a:rPr dirty="0"/>
              <a:t> </a:t>
            </a:r>
            <a:r>
              <a:rPr dirty="0">
                <a:solidFill>
                  <a:srgbClr val="0070C0"/>
                </a:solidFill>
              </a:rPr>
              <a:t>sha256.sum</a:t>
            </a:r>
            <a:r>
              <a:rPr dirty="0"/>
              <a:t>；Source code </a:t>
            </a:r>
            <a:r>
              <a:rPr dirty="0" err="1"/>
              <a:t>不是可安装</a:t>
            </a:r>
            <a:r>
              <a:rPr dirty="0"/>
              <a:t> SDK。</a:t>
            </a:r>
          </a:p>
        </p:txBody>
      </p:sp>
      <p:sp>
        <p:nvSpPr>
          <p:cNvPr id="6" name="Source">
            <a:extLst>
              <a:ext uri="{FF2B5EF4-FFF2-40B4-BE49-F238E27FC236}">
                <a16:creationId xmlns:a16="http://schemas.microsoft.com/office/drawing/2014/main" id="{C824FA2B-038C-4DA3-96A3-DBC5361B035E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依据：Release 下载表与 Assets → </a:t>
            </a:r>
            <a:r>
              <a:rPr u="sng">
                <a:solidFill>
                  <a:srgbClr val="0070C0"/>
                </a:solidFill>
                <a:hlinkClick r:id="rId3"/>
              </a:rPr>
              <a:t>sha256.sum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49683973-7482-443C-AA03-A02A40ACDAD2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3BA0F32-12FA-47AD-AF6B-CC7D64D578F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FC6EBF04-6059-4B01-8FE2-4A0110B3349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下载目录、SDK 根与源码根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8455F3C9-7F2E-49F5-BF04-BAC5D8FBC930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② 下载并安装</a:t>
            </a:r>
          </a:p>
        </p:txBody>
      </p:sp>
      <p:sp>
        <p:nvSpPr>
          <p:cNvPr id="3" name="Directory or read-only source">
            <a:extLst>
              <a:ext uri="{FF2B5EF4-FFF2-40B4-BE49-F238E27FC236}">
                <a16:creationId xmlns:a16="http://schemas.microsoft.com/office/drawing/2014/main" id="{413AD044-9DA5-4A52-A84D-B0E0AA93E719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3162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70C0"/>
                </a:solidFill>
              </a:rPr>
              <a:t>G:/zephyr_practice/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zephyr-main/</a:t>
            </a:r>
            <a:r>
              <a:rPr/>
              <a:t>                     P001 下载的 Zephyr 源码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zephyr-sdk-1.0.1/</a:t>
            </a:r>
            <a:r>
              <a:rPr/>
              <a:t>                SDK 归档解压后产生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│  ├─ </a:t>
            </a:r>
            <a:r>
              <a:rPr>
                <a:solidFill>
                  <a:srgbClr val="0070C0"/>
                </a:solidFill>
              </a:rPr>
              <a:t>sdk_version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│  ├─ </a:t>
            </a:r>
            <a:r>
              <a:rPr>
                <a:solidFill>
                  <a:srgbClr val="0070C0"/>
                </a:solidFill>
              </a:rPr>
              <a:t>cmake/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│  └─ </a:t>
            </a:r>
            <a:r>
              <a:rPr>
                <a:solidFill>
                  <a:srgbClr val="0070C0"/>
                </a:solidFill>
              </a:rPr>
              <a:t>gnu/arm-zephyr-eabi/</a:t>
            </a:r>
            <a:r>
              <a:rPr/>
              <a:t>          ARM 工具链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arm-zephyr-eabi/</a:t>
            </a:r>
            <a:r>
              <a:rPr/>
              <a:t>                 仅独立工具链路线需要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├─ </a:t>
            </a:r>
            <a:r>
              <a:rPr>
                <a:solidFill>
                  <a:srgbClr val="0070C0"/>
                </a:solidFill>
              </a:rPr>
              <a:t>zephyr-sdk-1.0.1_windows-x86_64_gnu.7z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>└─ </a:t>
            </a:r>
            <a:r>
              <a:rPr>
                <a:solidFill>
                  <a:srgbClr val="0070C0"/>
                </a:solidFill>
              </a:rPr>
              <a:t>sha256.sum</a:t>
            </a:r>
            <a:r>
              <a:rPr/>
              <a:t>                      同版官方摘要清单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1B16F240-0A81-4EC3-97B0-6FA20C5BB80D}"/>
              </a:ext>
            </a:extLst>
          </p:cNvPr>
          <p:cNvSpPr>
            <a:spLocks noGrp="1"/>
          </p:cNvSpPr>
          <p:nvPr/>
        </p:nvSpPr>
        <p:spPr>
          <a:xfrm>
            <a:off x="609600" y="511492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UCRT64 用 </a:t>
            </a:r>
            <a:r>
              <a:rPr>
                <a:solidFill>
                  <a:srgbClr val="0070C0"/>
                </a:solidFill>
              </a:rPr>
              <a:t>/g/zephyr_practice</a:t>
            </a:r>
            <a:r>
              <a:rPr/>
              <a:t>；PowerShell / 资源管理器用 </a:t>
            </a:r>
            <a:r>
              <a:rPr>
                <a:solidFill>
                  <a:srgbClr val="0070C0"/>
                </a:solidFill>
              </a:rPr>
              <a:t>G:\zephyr_practice</a:t>
            </a:r>
            <a:r>
              <a:rPr/>
              <a:t>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传给 Windows CMake 的路径用 </a:t>
            </a:r>
            <a:r>
              <a:rPr>
                <a:solidFill>
                  <a:srgbClr val="0070C0"/>
                </a:solidFill>
              </a:rPr>
              <a:t>G:/…</a:t>
            </a:r>
            <a:r>
              <a:rPr/>
              <a:t>；SDK 根是直接含 </a:t>
            </a:r>
            <a:r>
              <a:rPr>
                <a:solidFill>
                  <a:srgbClr val="0070C0"/>
                </a:solidFill>
              </a:rPr>
              <a:t>sdk_version</a:t>
            </a:r>
            <a:r>
              <a:rPr/>
              <a:t> 的那层。</a:t>
            </a:r>
          </a:p>
        </p:txBody>
      </p:sp>
      <p:sp>
        <p:nvSpPr>
          <p:cNvPr id="5" name="MD link">
            <a:extLst>
              <a:ext uri="{FF2B5EF4-FFF2-40B4-BE49-F238E27FC236}">
                <a16:creationId xmlns:a16="http://schemas.microsoft.com/office/drawing/2014/main" id="{5E4E99FF-CDBD-43E4-B873-769A86A8B1E8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详细步骤与说明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2E448FB-BC47-4AFB-9CB5-65C0E8BE6E4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87950F18-FFB2-4566-9252-59B3D36C13C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GNU 路线：核验摘要并解压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819FDC2F-31B2-4C3A-8EDB-7416C9CB015E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② 下载并安装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05C7DCF0-62C5-469B-B74D-2C69D94DA364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19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UCRT64；下载目录；已取得 GNU 包与同版 </a:t>
            </a:r>
            <a:r>
              <a:rPr>
                <a:solidFill>
                  <a:srgbClr val="646173"/>
                </a:solidFill>
              </a:rPr>
              <a:t>sha256.sum</a:t>
            </a:r>
            <a:r>
              <a:rPr>
                <a:solidFill>
                  <a:srgbClr val="646173"/>
                </a:solidFill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/g/zephyr_practice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必须输出 OK；失败就停止，不解压。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-F</a:t>
            </a:r>
            <a:r>
              <a:rPr>
                <a:solidFill>
                  <a:srgbClr val="29263B"/>
                </a:solidFill>
              </a:rPr>
              <a:t> ' </a:t>
            </a:r>
            <a:r>
              <a:rPr>
                <a:solidFill>
                  <a:srgbClr val="0070C0"/>
                </a:solidFill>
              </a:rPr>
              <a:t>zephyr-sdk-1.0.1_windows-x86_64_gnu.7z</a:t>
            </a:r>
            <a:r>
              <a:rPr>
                <a:solidFill>
                  <a:srgbClr val="29263B"/>
                </a:solidFill>
              </a:rPr>
              <a:t>' </a:t>
            </a:r>
            <a:r>
              <a:rPr>
                <a:solidFill>
                  <a:srgbClr val="0070C0"/>
                </a:solidFill>
              </a:rPr>
              <a:t>sha256.sum</a:t>
            </a:r>
            <a:r>
              <a:rPr>
                <a:solidFill>
                  <a:srgbClr val="29263B"/>
                </a:solidFill>
              </a:rPr>
              <a:t> |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sha256sum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--check</a:t>
            </a:r>
            <a:r>
              <a:rPr>
                <a:solidFill>
                  <a:srgbClr val="29263B"/>
                </a:solidFill>
              </a:rP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7z</a:t>
            </a:r>
            <a:r>
              <a:rPr>
                <a:solidFill>
                  <a:srgbClr val="29263B"/>
                </a:solidFill>
              </a:rPr>
              <a:t> x </a:t>
            </a:r>
            <a:r>
              <a:rPr>
                <a:solidFill>
                  <a:srgbClr val="0070C0"/>
                </a:solidFill>
              </a:rPr>
              <a:t>zephyr-sdk-1.0.1_windows-x86_64_gnu.7z</a:t>
            </a:r>
            <a:r>
              <a:rPr>
                <a:solidFill>
                  <a:srgbClr val="29263B"/>
                </a:solidFill>
              </a:rPr>
              <a:t> "</a:t>
            </a:r>
            <a:r>
              <a:rPr>
                <a:solidFill>
                  <a:srgbClr val="B84E00"/>
                </a:solidFill>
              </a:rPr>
              <a:t>-o</a:t>
            </a:r>
            <a:r>
              <a:rPr>
                <a:solidFill>
                  <a:srgbClr val="29263B"/>
                </a:solidFill>
              </a:rPr>
              <a:t>$(</a:t>
            </a:r>
            <a:r>
              <a:rPr>
                <a:solidFill>
                  <a:srgbClr val="A02B93"/>
                </a:solidFill>
              </a:rPr>
              <a:t>cygpath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-m</a:t>
            </a:r>
            <a:r>
              <a:rPr>
                <a:solidFill>
                  <a:srgbClr val="29263B"/>
                </a:solidFill>
              </a:rPr>
              <a:t> "</a:t>
            </a:r>
            <a:r>
              <a:rPr>
                <a:solidFill>
                  <a:srgbClr val="B84E00"/>
                </a:solidFill>
              </a:rPr>
              <a:t>$PWD</a:t>
            </a:r>
            <a:r>
              <a:rPr>
                <a:solidFill>
                  <a:srgbClr val="29263B"/>
                </a:solidFill>
              </a:rPr>
              <a:t>")"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6AA26006-03C1-40E6-969B-6233CF93B885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目标目录已存在时先核对已有安装，不合并覆盖。输出摘要 OK 后才会解压。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GNU 包已带 ARM，解压后直接到第 13 页核验；无需再执行 /t。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DDD5D2ED-F337-455A-B32F-1CAAD47BE309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依据：同版 </a:t>
            </a:r>
            <a:r>
              <a:rPr u="sng">
                <a:solidFill>
                  <a:srgbClr val="0070C0"/>
                </a:solidFill>
                <a:hlinkClick r:id="rId3"/>
              </a:rPr>
              <a:t>sha256.sum</a:t>
            </a:r>
            <a:r>
              <a:rPr u="sng">
                <a:hlinkClick r:id="rId3"/>
              </a:rPr>
              <a:t> 与 GNU SDK 归档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99C54DA4-AEFB-4A1A-850B-CA0D4B7DF497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5003372B-B4DD-4E2B-A347-7249796ECB75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1E90421-C1B0-436D-8F6A-CE9F2E0A56C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69C727A6-D087-4E95-9CE8-62616E30AF3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Minimal 路线：先解压 SDK 框架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229E4BA5-788D-42B2-972A-87267FD6E210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② 下载并安装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7F7F9806-2EC3-45E2-9062-ED246772E440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19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UCRT64；下载目录；选择 Minimal 才执行。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/g/zephyr_practice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必须输出 OK；失败就停止，不解压。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-F</a:t>
            </a:r>
            <a:r>
              <a:rPr>
                <a:solidFill>
                  <a:srgbClr val="29263B"/>
                </a:solidFill>
              </a:rPr>
              <a:t> ' </a:t>
            </a:r>
            <a:r>
              <a:rPr>
                <a:solidFill>
                  <a:srgbClr val="0070C0"/>
                </a:solidFill>
              </a:rPr>
              <a:t>zephyr-sdk-1.0.1_windows-x86_64_minimal.7z</a:t>
            </a:r>
            <a:r>
              <a:rPr>
                <a:solidFill>
                  <a:srgbClr val="29263B"/>
                </a:solidFill>
              </a:rPr>
              <a:t>' </a:t>
            </a:r>
            <a:r>
              <a:rPr>
                <a:solidFill>
                  <a:srgbClr val="0070C0"/>
                </a:solidFill>
              </a:rPr>
              <a:t>sha256.sum</a:t>
            </a:r>
            <a:r>
              <a:rPr>
                <a:solidFill>
                  <a:srgbClr val="29263B"/>
                </a:solidFill>
              </a:rPr>
              <a:t> |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sha256sum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--check</a:t>
            </a:r>
            <a:r>
              <a:rPr>
                <a:solidFill>
                  <a:srgbClr val="29263B"/>
                </a:solidFill>
              </a:rP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7z</a:t>
            </a:r>
            <a:r>
              <a:rPr>
                <a:solidFill>
                  <a:srgbClr val="29263B"/>
                </a:solidFill>
              </a:rPr>
              <a:t> x </a:t>
            </a:r>
            <a:r>
              <a:rPr>
                <a:solidFill>
                  <a:srgbClr val="0070C0"/>
                </a:solidFill>
              </a:rPr>
              <a:t>zephyr-sdk-1.0.1_windows-x86_64_minimal.7z</a:t>
            </a:r>
            <a:r>
              <a:rPr>
                <a:solidFill>
                  <a:srgbClr val="29263B"/>
                </a:solidFill>
              </a:rPr>
              <a:t> "</a:t>
            </a:r>
            <a:r>
              <a:rPr>
                <a:solidFill>
                  <a:srgbClr val="B84E00"/>
                </a:solidFill>
              </a:rPr>
              <a:t>-o</a:t>
            </a:r>
            <a:r>
              <a:rPr>
                <a:solidFill>
                  <a:srgbClr val="29263B"/>
                </a:solidFill>
              </a:rPr>
              <a:t>$(</a:t>
            </a:r>
            <a:r>
              <a:rPr>
                <a:solidFill>
                  <a:srgbClr val="A02B93"/>
                </a:solidFill>
              </a:rPr>
              <a:t>cygpath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-m</a:t>
            </a:r>
            <a:r>
              <a:rPr>
                <a:solidFill>
                  <a:srgbClr val="29263B"/>
                </a:solidFill>
              </a:rPr>
              <a:t> "</a:t>
            </a:r>
            <a:r>
              <a:rPr>
                <a:solidFill>
                  <a:srgbClr val="B84E00"/>
                </a:solidFill>
              </a:rPr>
              <a:t>$PWD</a:t>
            </a:r>
            <a:r>
              <a:rPr>
                <a:solidFill>
                  <a:srgbClr val="29263B"/>
                </a:solidFill>
              </a:rPr>
              <a:t>")"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C3D62974-59EC-4FEC-9FAC-6BBEABBB8217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与上一页二选一；不要把 GNU 与 Minimal 同时解压到同一目录。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此时已有 </a:t>
            </a:r>
            <a:r>
              <a:rPr>
                <a:solidFill>
                  <a:srgbClr val="0070C0"/>
                </a:solidFill>
              </a:rPr>
              <a:t>cmake</a:t>
            </a:r>
            <a:r>
              <a:rPr/>
              <a:t> 与 </a:t>
            </a:r>
            <a:r>
              <a:rPr>
                <a:solidFill>
                  <a:srgbClr val="0070C0"/>
                </a:solidFill>
              </a:rPr>
              <a:t>setup.cmd</a:t>
            </a:r>
            <a:r>
              <a:rPr/>
              <a:t>，下一步只补所需的 ARM 工具链。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DC87D571-2857-4840-BD0A-E3795E71E71A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依据：Minimal SDK 归档；安装目录结构见第 4 页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E2D002B8-2544-4963-B2E4-C04A96C6BF38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C19A93A4-BBB2-435D-862D-621008D46755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DF7DEAC-6531-4C86-B841-15A5A7A205E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08DE11E6-6468-43AA-B6A6-F2D29540080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Minimal 在线补装 ARM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54F93EA5-6E4C-4703-8536-4FB3228F28E5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② 下载并安装 · 切换 PowerShell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A79356A6-78B9-4D35-8CEC-67B724A2DD8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PowerShell；Minimal 已解压，且尚未安装 ARM 工具链。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Set-Location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-LiteralPath</a:t>
            </a:r>
            <a:r>
              <a:rPr>
                <a:solidFill>
                  <a:srgbClr val="29263B"/>
                </a:solidFill>
              </a:rPr>
              <a:t> '</a:t>
            </a:r>
            <a:r>
              <a:rPr>
                <a:solidFill>
                  <a:srgbClr val="0070C0"/>
                </a:solidFill>
              </a:rPr>
              <a:t>G:\zephyr_practice\zephyr-sdk-1.0.1</a:t>
            </a:r>
            <a:r>
              <a:rPr>
                <a:solidFill>
                  <a:srgbClr val="29263B"/>
                </a:solidFill>
              </a:rPr>
              <a:t>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Get-Command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29263B"/>
                </a:solidFill>
              </a:rPr>
              <a:t>, </a:t>
            </a:r>
            <a:r>
              <a:rPr>
                <a:solidFill>
                  <a:srgbClr val="A02B93"/>
                </a:solidFill>
              </a:rPr>
              <a:t>7z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-ErrorAction</a:t>
            </a:r>
            <a:r>
              <a:rPr>
                <a:solidFill>
                  <a:srgbClr val="29263B"/>
                </a:solidFill>
              </a:rPr>
              <a:t> Stop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if</a:t>
            </a:r>
            <a:r>
              <a:rPr>
                <a:solidFill>
                  <a:srgbClr val="29263B"/>
                </a:solidFill>
              </a:rPr>
              <a:t> (</a:t>
            </a:r>
            <a:r>
              <a:rPr>
                <a:solidFill>
                  <a:srgbClr val="A02B93"/>
                </a:solidFill>
              </a:rPr>
              <a:t>Test-Path</a:t>
            </a:r>
            <a:r>
              <a:rPr>
                <a:solidFill>
                  <a:srgbClr val="29263B"/>
                </a:solidFill>
              </a:rPr>
              <a:t> '.\gnu\arm-zephyr-eabi') {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  </a:t>
            </a:r>
            <a:r>
              <a:rPr>
                <a:solidFill>
                  <a:srgbClr val="A02B93"/>
                </a:solidFill>
              </a:rPr>
              <a:t>throw</a:t>
            </a:r>
            <a:r>
              <a:rPr>
                <a:solidFill>
                  <a:srgbClr val="29263B"/>
                </a:solidFill>
              </a:rPr>
              <a:t> '已有 ARM 目录，请先核验，不重复安装'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}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.\</a:t>
            </a:r>
            <a:r>
              <a:rPr>
                <a:solidFill>
                  <a:srgbClr val="0070C0"/>
                </a:solidFill>
              </a:rPr>
              <a:t>setup.cmd</a:t>
            </a:r>
            <a:r>
              <a:rPr>
                <a:solidFill>
                  <a:srgbClr val="29263B"/>
                </a:solidFill>
              </a:rPr>
              <a:t> /t arm-zephyr-eabi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if</a:t>
            </a:r>
            <a:r>
              <a:rPr>
                <a:solidFill>
                  <a:srgbClr val="29263B"/>
                </a:solidFill>
              </a:rPr>
              <a:t> (</a:t>
            </a:r>
            <a:r>
              <a:rPr>
                <a:solidFill>
                  <a:srgbClr val="B84E00"/>
                </a:solidFill>
              </a:rPr>
              <a:t>$LASTEXITCODE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-ne</a:t>
            </a:r>
            <a:r>
              <a:rPr>
                <a:solidFill>
                  <a:srgbClr val="29263B"/>
                </a:solidFill>
              </a:rPr>
              <a:t> 0) { </a:t>
            </a:r>
            <a:r>
              <a:rPr>
                <a:solidFill>
                  <a:srgbClr val="A02B93"/>
                </a:solidFill>
              </a:rPr>
              <a:t>throw</a:t>
            </a:r>
            <a:r>
              <a:rPr>
                <a:solidFill>
                  <a:srgbClr val="29263B"/>
                </a:solidFill>
              </a:rPr>
              <a:t> '安装失败，检查下载输出' }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BAC99489-9CD7-4579-B3BE-8BE589874193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/t 根据 </a:t>
            </a:r>
            <a:r>
              <a:rPr>
                <a:solidFill>
                  <a:srgbClr val="0070C0"/>
                </a:solidFill>
              </a:rPr>
              <a:t>sdk_version</a:t>
            </a:r>
            <a:r>
              <a:rPr/>
              <a:t> 下载对应附件，再解压进 </a:t>
            </a:r>
            <a:r>
              <a:rPr>
                <a:solidFill>
                  <a:srgbClr val="0070C0"/>
                </a:solidFill>
              </a:rPr>
              <a:t>SDK/gnu</a:t>
            </a:r>
            <a:r>
              <a:rPr/>
              <a:t>。它不等于 /c 注册。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若提示找不到 </a:t>
            </a:r>
            <a:r>
              <a:rPr>
                <a:solidFill>
                  <a:srgbClr val="A02B93"/>
                </a:solidFill>
              </a:rPr>
              <a:t>7z</a:t>
            </a:r>
            <a:r>
              <a:rPr/>
              <a:t>，先重开 PowerShell 刷新 </a:t>
            </a:r>
            <a:r>
              <a:rPr>
                <a:solidFill>
                  <a:srgbClr val="B84E00"/>
                </a:solidFill>
              </a:rPr>
              <a:t>PATH</a:t>
            </a:r>
            <a:r>
              <a:rPr/>
              <a:t>；仍缺少才返回 P002。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38994D6B-4C16-4DA0-AA2B-BC7F64313F72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070C0"/>
                </a:solidFill>
                <a:hlinkClick r:id="rId3"/>
              </a:rPr>
              <a:t>SDK/setup.cmd</a:t>
            </a:r>
            <a:r>
              <a:rPr u="sng">
                <a:hlinkClick r:id="rId3"/>
              </a:rPr>
              <a:t>：/t 参数与 process 安装分支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01260582-0981-43E4-A672-A0223C1B4409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5005DDB0-BAFF-401F-A575-68D7DAAAEA2F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8E6C678-ED3E-4E6A-BEA4-3A326ABC4B2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518F97EC-5B85-433E-8CEB-E869D95496BD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 ARM 包：直接补到 SDK/gnu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3B202885-4503-4C7A-9509-9CCF461C95AC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② 下载并安装 · 离线替代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0569A67F-AE60-42C2-B8DF-B1C7B9F2FA7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990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UCRT64；Minimal 已解压；ARM 包来自同版 Release。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/g/zephyr_practice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摘要须输出 OK；归档从 </a:t>
            </a:r>
            <a:r>
              <a:rPr>
                <a:solidFill>
                  <a:srgbClr val="646173"/>
                </a:solidFill>
              </a:rPr>
              <a:t>arm-zephyr-eabi/</a:t>
            </a:r>
            <a:r>
              <a:rPr>
                <a:solidFill>
                  <a:srgbClr val="646173"/>
                </a:solidFill>
              </a:rPr>
              <a:t> 开始。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-F</a:t>
            </a:r>
            <a:r>
              <a:rPr>
                <a:solidFill>
                  <a:srgbClr val="29263B"/>
                </a:solidFill>
              </a:rPr>
              <a:t> ' </a:t>
            </a:r>
            <a:r>
              <a:rPr>
                <a:solidFill>
                  <a:srgbClr val="0070C0"/>
                </a:solidFill>
              </a:rPr>
              <a:t>toolchain_gnu_windows-x86_64_arm-zephyr-eabi.7z</a:t>
            </a:r>
            <a:r>
              <a:rPr>
                <a:solidFill>
                  <a:srgbClr val="29263B"/>
                </a:solidFill>
              </a:rPr>
              <a:t>' </a:t>
            </a:r>
            <a:r>
              <a:rPr>
                <a:solidFill>
                  <a:srgbClr val="0070C0"/>
                </a:solidFill>
              </a:rPr>
              <a:t>sha256.sum</a:t>
            </a:r>
            <a:r>
              <a:rPr>
                <a:solidFill>
                  <a:srgbClr val="29263B"/>
                </a:solidFill>
              </a:rPr>
              <a:t> |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sha256sum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--check</a:t>
            </a:r>
            <a:r>
              <a:rPr>
                <a:solidFill>
                  <a:srgbClr val="29263B"/>
                </a:solidFill>
              </a:rP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test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-f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zephyr-sdk-1.0.1/cmake/Zephyr-sdkConfig.cmake</a:t>
            </a:r>
            <a:r>
              <a:rPr>
                <a:solidFill>
                  <a:srgbClr val="29263B"/>
                </a:solidFill>
              </a:rP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test</a:t>
            </a:r>
            <a:r>
              <a:rPr>
                <a:solidFill>
                  <a:srgbClr val="29263B"/>
                </a:solidFill>
              </a:rPr>
              <a:t> ! </a:t>
            </a:r>
            <a:r>
              <a:rPr>
                <a:solidFill>
                  <a:srgbClr val="B84E00"/>
                </a:solidFill>
              </a:rPr>
              <a:t>-e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zephyr-sdk-1.0.1/gnu/arm-zephyr-eabi</a:t>
            </a:r>
            <a:r>
              <a:rPr>
                <a:solidFill>
                  <a:srgbClr val="29263B"/>
                </a:solidFill>
              </a:rPr>
              <a:t> &amp;&amp;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A02B93"/>
                </a:solidFill>
              </a:rPr>
              <a:t>7z</a:t>
            </a:r>
            <a:r>
              <a:rPr>
                <a:solidFill>
                  <a:srgbClr val="29263B"/>
                </a:solidFill>
              </a:rPr>
              <a:t> x </a:t>
            </a:r>
            <a:r>
              <a:rPr>
                <a:solidFill>
                  <a:srgbClr val="0070C0"/>
                </a:solidFill>
              </a:rPr>
              <a:t>toolchain_gnu_windows-x86_64_arm-zephyr-eabi.7z</a:t>
            </a:r>
            <a:r>
              <a:rPr>
                <a:solidFill>
                  <a:srgbClr val="29263B"/>
                </a:solidFill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  "</a:t>
            </a:r>
            <a:r>
              <a:rPr>
                <a:solidFill>
                  <a:srgbClr val="B84E00"/>
                </a:solidFill>
              </a:rPr>
              <a:t>-o</a:t>
            </a:r>
            <a:r>
              <a:rPr>
                <a:solidFill>
                  <a:srgbClr val="29263B"/>
                </a:solidFill>
              </a:rPr>
              <a:t>$(</a:t>
            </a:r>
            <a:r>
              <a:rPr>
                <a:solidFill>
                  <a:srgbClr val="A02B93"/>
                </a:solidFill>
              </a:rPr>
              <a:t>cygpath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-m</a:t>
            </a:r>
            <a:r>
              <a:rPr>
                <a:solidFill>
                  <a:srgbClr val="29263B"/>
                </a:solidFill>
              </a:rPr>
              <a:t> "</a:t>
            </a:r>
            <a:r>
              <a:rPr>
                <a:solidFill>
                  <a:srgbClr val="B84E00"/>
                </a:solidFill>
              </a:rPr>
              <a:t>$</a:t>
            </a:r>
            <a:r>
              <a:rPr>
                <a:solidFill>
                  <a:srgbClr val="B84E00"/>
                </a:solidFill>
              </a:rPr>
              <a:t>PWD</a:t>
            </a:r>
            <a:r>
              <a:rPr>
                <a:solidFill>
                  <a:srgbClr val="0070C0"/>
                </a:solidFill>
              </a:rPr>
              <a:t>/zephyr-sdk-1.0.1/gnu</a:t>
            </a:r>
            <a:r>
              <a:rPr>
                <a:solidFill>
                  <a:srgbClr val="29263B"/>
                </a:solidFill>
              </a:rPr>
              <a:t>")"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8F9EC959-1CC2-4482-961D-5E8A82D87D2E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完成后：</a:t>
            </a:r>
            <a:r>
              <a:rPr>
                <a:solidFill>
                  <a:srgbClr val="0070C0"/>
                </a:solidFill>
              </a:rPr>
              <a:t>SDK/gnu/arm-zephyr-eabi/bin/arm-zephyr-eabi-gcc.exe</a:t>
            </a:r>
            <a:r>
              <a:rPr/>
              <a:t>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任一检查失败就停止；已有 ARM 目录先核验。无需改 CMake，也无需为组装执行 /c。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E7F54C49-90CB-4929-8179-2BFE53F1A166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070C0"/>
                </a:solidFill>
                <a:hlinkClick r:id="rId3"/>
              </a:rPr>
              <a:t>SDK/setup.cmd</a:t>
            </a:r>
            <a:r>
              <a:rPr u="sng">
                <a:hlinkClick r:id="rId3"/>
              </a:rPr>
              <a:t>：pushd gnu 后解压 toolchain_gnu 附件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D1F187D2-08EE-481D-8C76-0C63D4169ABC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EACF9869-2C49-40B3-AB0B-8C22F464101C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62507FE-0CFD-4347-906E-476DCC805DB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8BFCB9B0-299E-4367-A545-58F04DCA3EA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安装完成：核验 SDK 与 ARM GCC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5E26B78D-4EDA-4545-81D5-284C0FCC9122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② 下载并安装 · 结果检查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58D96005-9768-40B0-B5BF-0533F0B695F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19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UCRT64；GNU 或 Minimal + ARM 均用相同目录核验。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/g/zephyr_practice/zephyr-sdk-1.0.1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cat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sdk_version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ls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cmake/Zephyr-sdkConfig.cmake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70C0"/>
                </a:solidFill>
              </a:rPr>
              <a:t>./gnu/arm-zephyr-eabi/bin/arm-zephyr-eabi-gcc.exe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--version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70C0"/>
                </a:solidFill>
              </a:rPr>
              <a:t>./gnu/arm-zephyr-eabi/bin/arm-zephyr-eabi-gcc.exe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-dumpmachine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B65B9E4B-5EAA-4C85-83C8-7165B70175DA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预期：SDK 1.0.1；CMake 包文件存在；GCC 14.3.0；目标 arm-zephyr-eabi。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这证明文件与程序可用，尚不证明某个 Zephyr 构建已选中它。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1DA1A724-2BAC-4064-89D0-8AF48E3C8F1E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依据：Release → Included Components；SDK 安装文件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2FEB11AE-4AFB-40C2-A2DB-EBE014555C52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E7BAA642-1C39-482D-AB5A-B7C616D74A57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B5CD67C-6067-4079-9794-E94E37653C5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181CFD75-AE66-4611-AE24-ED3B0E0F91AA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43950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E234468-65B6-4E92-B5D4-B1E3FBBA3F7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915025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61315AE-4D7E-4F4D-B48F-DBD3A6CD5CD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86100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sp>
        <p:nvSpPr>
          <p:cNvPr id="14" name="Title">
            <a:extLst>
              <a:ext uri="{FF2B5EF4-FFF2-40B4-BE49-F238E27FC236}">
                <a16:creationId xmlns:a16="http://schemas.microsoft.com/office/drawing/2014/main" id="{149DC9F4-C3AF-4FAF-8FAD-172EBC1E0C9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工程先找 SDK，再找目标编译器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525FED3A-5C91-402B-BE04-01BB4FDC5F98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③ 把 SDK 交给工程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BFDD98A8-5577-4958-A880-9105948E4D1A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应用的 </a:t>
            </a:r>
            <a:r>
              <a:rPr>
                <a:solidFill>
                  <a:srgbClr val="087B3D"/>
                </a:solidFill>
              </a:rPr>
              <a:t>find_package</a:t>
            </a:r>
            <a:r>
              <a:rPr>
                <a:solidFill>
                  <a:srgbClr val="087B3D"/>
                </a:solidFill>
              </a:rPr>
              <a:t>(Zephyr)</a:t>
            </a:r>
            <a:r>
              <a:rPr/>
              <a:t> 加载 Zephyr 构建逻辑。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Zephyr 请求 </a:t>
            </a:r>
            <a:r>
              <a:rPr>
                <a:solidFill>
                  <a:srgbClr val="087B3D"/>
                </a:solidFill>
              </a:rPr>
              <a:t>find_package</a:t>
            </a:r>
            <a:r>
              <a:rPr>
                <a:solidFill>
                  <a:srgbClr val="087B3D"/>
                </a:solidFill>
              </a:rPr>
              <a:t>(Zephyr-sdk 1.0)</a:t>
            </a:r>
            <a:r>
              <a:rPr/>
              <a:t>，定位 SDK 包，再加载工具链规则。</a:t>
            </a:r>
          </a:p>
        </p:txBody>
      </p:sp>
      <p:sp>
        <p:nvSpPr>
          <p:cNvPr id="4" name="Diagram 应用 CMakeLists.txt">
            <a:extLst>
              <a:ext uri="{FF2B5EF4-FFF2-40B4-BE49-F238E27FC236}">
                <a16:creationId xmlns:a16="http://schemas.microsoft.com/office/drawing/2014/main" id="{9BC57792-838B-4409-AE1B-1EF6A7E32CE5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应用 </a:t>
            </a:r>
            <a:r>
              <a:rPr>
                <a:solidFill>
                  <a:srgbClr val="0070C0"/>
                </a:solidFill>
              </a:rPr>
              <a:t>CMakeLists.txt</a:t>
            </a:r>
          </a:p>
        </p:txBody>
      </p:sp>
      <p:sp>
        <p:nvSpPr>
          <p:cNvPr id="5" name="Diagram Zephyr 的查找脚本">
            <a:extLst>
              <a:ext uri="{FF2B5EF4-FFF2-40B4-BE49-F238E27FC236}">
                <a16:creationId xmlns:a16="http://schemas.microsoft.com/office/drawing/2014/main" id="{556E9B68-B8D8-4D24-BF67-A175DFFBA961}"/>
              </a:ext>
            </a:extLst>
          </p:cNvPr>
          <p:cNvSpPr>
            <a:spLocks noGrp="1"/>
          </p:cNvSpPr>
          <p:nvPr/>
        </p:nvSpPr>
        <p:spPr>
          <a:xfrm>
            <a:off x="3438525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Zephyr 的查找脚本</a:t>
            </a:r>
          </a:p>
        </p:txBody>
      </p:sp>
      <p:sp>
        <p:nvSpPr>
          <p:cNvPr id="6" name="Diagram SDK 的 CMake 包">
            <a:extLst>
              <a:ext uri="{FF2B5EF4-FFF2-40B4-BE49-F238E27FC236}">
                <a16:creationId xmlns:a16="http://schemas.microsoft.com/office/drawing/2014/main" id="{5F89077E-4767-4653-81D9-CBA3F5C8EE0B}"/>
              </a:ext>
            </a:extLst>
          </p:cNvPr>
          <p:cNvSpPr>
            <a:spLocks noGrp="1"/>
          </p:cNvSpPr>
          <p:nvPr/>
        </p:nvSpPr>
        <p:spPr>
          <a:xfrm>
            <a:off x="6267450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SDK 的 CMake 包</a:t>
            </a:r>
          </a:p>
        </p:txBody>
      </p:sp>
      <p:sp>
        <p:nvSpPr>
          <p:cNvPr id="7" name="Diagram SDK 内的 ARM 工具">
            <a:extLst>
              <a:ext uri="{FF2B5EF4-FFF2-40B4-BE49-F238E27FC236}">
                <a16:creationId xmlns:a16="http://schemas.microsoft.com/office/drawing/2014/main" id="{11A08479-7819-4A3F-A592-0B4C614E20E4}"/>
              </a:ext>
            </a:extLst>
          </p:cNvPr>
          <p:cNvSpPr>
            <a:spLocks noGrp="1"/>
          </p:cNvSpPr>
          <p:nvPr/>
        </p:nvSpPr>
        <p:spPr>
          <a:xfrm>
            <a:off x="9096375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SDK 内的 ARM 工具</a:t>
            </a:r>
          </a:p>
        </p:txBody>
      </p:sp>
      <p:sp>
        <p:nvSpPr>
          <p:cNvPr id="11" name="Result and interpretation">
            <a:extLst>
              <a:ext uri="{FF2B5EF4-FFF2-40B4-BE49-F238E27FC236}">
                <a16:creationId xmlns:a16="http://schemas.microsoft.com/office/drawing/2014/main" id="{0B275FA8-F2C9-4B2E-BE8E-E8ADFFB993B2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两种 SDK 包共用此链路。SDK 不复制进 zephyr-main，也无需把所有编译器加入 </a:t>
            </a:r>
            <a:r>
              <a:rPr>
                <a:solidFill>
                  <a:srgbClr val="B84E00"/>
                </a:solidFill>
              </a:rPr>
              <a:t>PATH</a:t>
            </a:r>
            <a:r>
              <a:rPr/>
              <a:t>。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F40C6580-46CD-4F05-9721-DC5954D1F3E1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070C0"/>
                </a:solidFill>
                <a:hlinkClick r:id="rId3"/>
              </a:rPr>
              <a:t>FindHostTools.cmake</a:t>
            </a:r>
            <a:r>
              <a:rPr u="sng">
                <a:hlinkClick r:id="rId3"/>
              </a:rPr>
              <a:t> → </a:t>
            </a:r>
            <a:r>
              <a:rPr u="sng">
                <a:solidFill>
                  <a:srgbClr val="0070C0"/>
                </a:solidFill>
                <a:hlinkClick r:id="rId3"/>
              </a:rPr>
              <a:t>FindZephyr-sdk.cmake</a:t>
            </a:r>
            <a:r>
              <a:rPr u="sng">
                <a:hlinkClick r:id="rId3"/>
              </a:rPr>
              <a:t> → SDK </a:t>
            </a:r>
            <a:r>
              <a:rPr u="sng">
                <a:solidFill>
                  <a:srgbClr val="A02B93"/>
                </a:solidFill>
                <a:hlinkClick r:id="rId3"/>
              </a:rPr>
              <a:t>cmake</a:t>
            </a:r>
          </a:p>
        </p:txBody>
      </p:sp>
      <p:sp>
        <p:nvSpPr>
          <p:cNvPr id="13" name="MD link">
            <a:extLst>
              <a:ext uri="{FF2B5EF4-FFF2-40B4-BE49-F238E27FC236}">
                <a16:creationId xmlns:a16="http://schemas.microsoft.com/office/drawing/2014/main" id="{1CFF9C00-F398-4BD5-B249-4CF4FC8D9030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29A3AEC-CC3A-41EC-82C5-F4697F1DFA3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45B5960-6C84-409D-B734-606213F2DE0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Zephyr 源码包与 SDK 包分别定位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9CCF512F-0992-4FAB-9A19-018F7D747F2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③ 把 SDK 交给工程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53CA7E8-34E0-4B1B-81F9-2D82983F549C}"/>
              </a:ext>
            </a:extLst>
          </p:cNvPr>
          <p:cNvGraphicFramePr/>
          <p:nvPr/>
        </p:nvGraphicFramePr>
        <p:xfrm>
          <a:off x="609600" y="1819275"/>
          <a:ext cx="10972800" cy="2351309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要定位的对象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包配置文件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显式入口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源码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share/zephyr-package/cmake/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ZephyrConfig.cmake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Zephyr_DIR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安装目录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cmake/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Zephyr-sdkConfig.cmake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ZEPHYR_SDK_INSTALL_DIR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31672A07-A46F-4B5D-8AB8-0152E572986E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能加载 Zephyr，不代表已找到 SDK。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主机 </a:t>
            </a:r>
            <a:r>
              <a:rPr>
                <a:solidFill>
                  <a:srgbClr val="0070C0"/>
                </a:solidFill>
              </a:rPr>
              <a:t>cmake.exe</a:t>
            </a:r>
            <a:r>
              <a:rPr/>
              <a:t> 执行这些 .cmake 脚本；Minimal 自带接入脚本，不必自带 </a:t>
            </a:r>
            <a:r>
              <a:rPr>
                <a:solidFill>
                  <a:srgbClr val="0070C0"/>
                </a:solidFill>
              </a:rPr>
              <a:t>cmake.exe</a:t>
            </a:r>
            <a:r>
              <a:rPr/>
              <a:t>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F9C93D00-2C20-44B4-A520-77E519EEFF01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070C0"/>
                </a:solidFill>
                <a:hlinkClick r:id="rId3"/>
              </a:rPr>
              <a:t>ZephyrConfig.cmake</a:t>
            </a:r>
            <a:r>
              <a:rPr u="sng">
                <a:hlinkClick r:id="rId3"/>
              </a:rPr>
              <a:t>；</a:t>
            </a:r>
            <a:r>
              <a:rPr u="sng">
                <a:solidFill>
                  <a:srgbClr val="0070C0"/>
                </a:solidFill>
                <a:hlinkClick r:id="rId3"/>
              </a:rPr>
              <a:t>FindZephyr-sdk.cmake</a:t>
            </a:r>
          </a:p>
        </p:txBody>
      </p:sp>
      <p:sp>
        <p:nvSpPr>
          <p:cNvPr id="6" name="MD link">
            <a:extLst>
              <a:ext uri="{FF2B5EF4-FFF2-40B4-BE49-F238E27FC236}">
                <a16:creationId xmlns:a16="http://schemas.microsoft.com/office/drawing/2014/main" id="{D7F0F1DA-996F-4403-A915-90CB540D37A4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5E61DE3-ACE4-4A7E-A8D9-4AEC0F549D2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7CF41714-FB61-4F5B-8830-9B99F3F4D77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SDK 发现方式：选一种入口即可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B8FA1400-6C7E-4427-9C98-23B1CE2C120D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③ 把 SDK 交给工程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871E430-406F-4E7B-94ED-62966D3ACD96}"/>
              </a:ext>
            </a:extLst>
          </p:cNvPr>
          <p:cNvGraphicFramePr/>
          <p:nvPr/>
        </p:nvGraphicFramePr>
        <p:xfrm>
          <a:off x="609600" y="1819275"/>
          <a:ext cx="10972800" cy="3453717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方式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传入 / 查找的内容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保存范围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自动发现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用户包记录、CMake 搜索路径等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候选位置；构建再选兼容版本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环境变量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ZEPHYR_SDK_INSTALL_DIR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= SDK 根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当前终端及子进程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-D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同名变量 = SDK 根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-B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目录的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CMakeCache.txt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 原生提示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Zephyr-sdk_DIR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=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SDK/cmake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CMAKE_PREFIX_PATH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= SDK 根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所用终端 / 构建配置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60E77312-B72F-4BAB-A7EE-41641E675CB2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本例指定单套 SDK 根；也可传多版本父目录，选择兼容 SDK。默认发现成功时，无需另设。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3123BF94-2B94-46CF-8230-5D9000C8D2C5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87B3D"/>
                </a:solidFill>
                <a:hlinkClick r:id="rId3"/>
              </a:rPr>
              <a:t>zephyr_get</a:t>
            </a:r>
            <a:r>
              <a:rPr u="sng">
                <a:hlinkClick r:id="rId3"/>
              </a:rPr>
              <a:t>；带 NO_DEFAULT_PATH 的 </a:t>
            </a:r>
            <a:r>
              <a:rPr u="sng">
                <a:solidFill>
                  <a:srgbClr val="087B3D"/>
                </a:solidFill>
                <a:hlinkClick r:id="rId3"/>
              </a:rPr>
              <a:t>find_package</a:t>
            </a:r>
            <a:r>
              <a:rPr u="sng">
                <a:hlinkClick r:id="rId3"/>
              </a:rPr>
              <a:t> 分支</a:t>
            </a:r>
          </a:p>
        </p:txBody>
      </p:sp>
      <p:sp>
        <p:nvSpPr>
          <p:cNvPr id="6" name="MD link">
            <a:extLst>
              <a:ext uri="{FF2B5EF4-FFF2-40B4-BE49-F238E27FC236}">
                <a16:creationId xmlns:a16="http://schemas.microsoft.com/office/drawing/2014/main" id="{D7A13040-A5E0-433F-AA11-B111AB658BED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63A34F6-762C-4232-B83A-B6F1E33874C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0A40AA55-671B-4A5B-B205-462AABE240D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可选：让当前用户的工程自动发现 SDK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5952A35B-FB6E-45CC-B7A4-D21D3A361016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③ 把 SDK 交给工程 · PowerShell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3D7269BD-D055-4B77-B3E4-C896CA7F00A7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19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PowerShell；可选：准备当前用户的自动发现入口。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Set-Location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-LiteralPath</a:t>
            </a:r>
            <a:r>
              <a:rPr>
                <a:solidFill>
                  <a:srgbClr val="29263B"/>
                </a:solidFill>
              </a:rPr>
              <a:t> '</a:t>
            </a:r>
            <a:r>
              <a:rPr>
                <a:solidFill>
                  <a:srgbClr val="0070C0"/>
                </a:solidFill>
              </a:rPr>
              <a:t>G:\zephyr_practice\zephyr-sdk-1.0.1</a:t>
            </a:r>
            <a:r>
              <a:rPr>
                <a:solidFill>
                  <a:srgbClr val="29263B"/>
                </a:solidFill>
              </a:rPr>
              <a:t>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Get-Command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29263B"/>
                </a:solidFill>
              </a:rPr>
              <a:t>, </a:t>
            </a:r>
            <a:r>
              <a:rPr>
                <a:solidFill>
                  <a:srgbClr val="A02B93"/>
                </a:solidFill>
              </a:rPr>
              <a:t>7z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-ErrorAction</a:t>
            </a:r>
            <a:r>
              <a:rPr>
                <a:solidFill>
                  <a:srgbClr val="29263B"/>
                </a:solidFill>
              </a:rPr>
              <a:t> Stop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.\</a:t>
            </a:r>
            <a:r>
              <a:rPr>
                <a:solidFill>
                  <a:srgbClr val="0070C0"/>
                </a:solidFill>
              </a:rPr>
              <a:t>setup.cmd</a:t>
            </a:r>
            <a:r>
              <a:rPr>
                <a:solidFill>
                  <a:srgbClr val="29263B"/>
                </a:solidFill>
              </a:rPr>
              <a:t> /c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if</a:t>
            </a:r>
            <a:r>
              <a:rPr>
                <a:solidFill>
                  <a:srgbClr val="29263B"/>
                </a:solidFill>
              </a:rPr>
              <a:t> (</a:t>
            </a:r>
            <a:r>
              <a:rPr>
                <a:solidFill>
                  <a:srgbClr val="B84E00"/>
                </a:solidFill>
              </a:rPr>
              <a:t>$LASTEXITCODE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-ne</a:t>
            </a:r>
            <a:r>
              <a:rPr>
                <a:solidFill>
                  <a:srgbClr val="29263B"/>
                </a:solidFill>
              </a:rPr>
              <a:t> 0) { </a:t>
            </a:r>
            <a:r>
              <a:rPr>
                <a:solidFill>
                  <a:srgbClr val="A02B93"/>
                </a:solidFill>
              </a:rPr>
              <a:t>throw</a:t>
            </a:r>
            <a:r>
              <a:rPr>
                <a:solidFill>
                  <a:srgbClr val="29263B"/>
                </a:solidFill>
              </a:rPr>
              <a:t> '注册失败，查看前面的错误' }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070C0"/>
                </a:solidFill>
              </a:rPr>
              <a:t>reg.exe</a:t>
            </a:r>
            <a:r>
              <a:rPr>
                <a:solidFill>
                  <a:srgbClr val="29263B"/>
                </a:solidFill>
              </a:rPr>
              <a:t> query 'HKCU\Software\Kitware\CMake\Packages\Zephyr-sdk'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E843E91E-4424-481E-B839-4437800A0CB6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/c 保存 </a:t>
            </a:r>
            <a:r>
              <a:rPr>
                <a:solidFill>
                  <a:srgbClr val="0070C0"/>
                </a:solidFill>
              </a:rPr>
              <a:t>SDK/cmake</a:t>
            </a:r>
            <a:r>
              <a:rPr/>
              <a:t> 到当前 Windows 用户的 CMake 包记录，跨终端和重启保留。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它不下载编译器、不绑定某个工程；选择显式路径时可以完全不运行。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072D1912-7AAB-4EDF-8426-6949959ABA3F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070C0"/>
                </a:solidFill>
                <a:hlinkClick r:id="rId3"/>
              </a:rPr>
              <a:t>SDK/cmake/zephyr_sdk_export.cmake</a:t>
            </a:r>
            <a:r>
              <a:rPr u="sng">
                <a:hlinkClick r:id="rId3"/>
              </a:rPr>
              <a:t> → HKCU 的 CMake Packages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539087B8-F90C-4CA6-BB1D-B968C151674A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B58F1EBE-2708-4E4A-8584-35485C77D442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16441CD-1952-47F9-9F02-0A30A22DBA0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FE15B81B-4BED-4954-98E1-1BCD35DE612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不注册：从当前终端传入 SDK 根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C478B245-CF01-428C-96A3-69FCEB2868C0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③ 把 SDK 交给工程 · UCRT64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7349654C-117B-4B2E-933D-0ECF97B4718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37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UCRT64；源码根；可选：把 SDK 根交给本窗口启动的 CMake。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export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ZEPHYR_SDK_INSTALL_DIR</a:t>
            </a:r>
            <a:r>
              <a:rPr>
                <a:solidFill>
                  <a:srgbClr val="29263B"/>
                </a:solidFill>
              </a:rPr>
              <a:t>='</a:t>
            </a:r>
            <a:r>
              <a:rPr>
                <a:solidFill>
                  <a:srgbClr val="0070C0"/>
                </a:solidFill>
              </a:rPr>
              <a:t>G:/zephyr_practice/zephyr-sdk-1.0.1</a:t>
            </a:r>
            <a:r>
              <a:rPr>
                <a:solidFill>
                  <a:srgbClr val="29263B"/>
                </a:solidFill>
              </a:rPr>
              <a:t>'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printf</a:t>
            </a:r>
            <a:r>
              <a:rPr>
                <a:solidFill>
                  <a:srgbClr val="29263B"/>
                </a:solidFill>
              </a:rPr>
              <a:t> '%s\n' "</a:t>
            </a:r>
            <a:r>
              <a:rPr>
                <a:solidFill>
                  <a:srgbClr val="B84E00"/>
                </a:solidFill>
              </a:rPr>
              <a:t>$</a:t>
            </a:r>
            <a:r>
              <a:rPr>
                <a:solidFill>
                  <a:srgbClr val="B84E00"/>
                </a:solidFill>
              </a:rPr>
              <a:t>ZEPHYR_SDK_INSTALL_DIR</a:t>
            </a:r>
            <a:r>
              <a:rPr>
                <a:solidFill>
                  <a:srgbClr val="29263B"/>
                </a:solidFill>
              </a:rPr>
              <a:t>"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4882E8E9-5D69-4688-92E7-81CF122AD403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之后从本窗口启动的 CMake 继承此输入；不是修改 </a:t>
            </a:r>
            <a:r>
              <a:rPr>
                <a:solidFill>
                  <a:srgbClr val="0070C0"/>
                </a:solidFill>
              </a:rPr>
              <a:t>.venv</a:t>
            </a:r>
            <a:r>
              <a:rPr/>
              <a:t>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取消环境输入用 </a:t>
            </a:r>
            <a:r>
              <a:rPr>
                <a:solidFill>
                  <a:srgbClr val="A02B93"/>
                </a:solidFill>
              </a:rPr>
              <a:t>unset</a:t>
            </a:r>
            <a:r>
              <a:rPr/>
              <a:t> </a:t>
            </a:r>
            <a:r>
              <a:rPr>
                <a:solidFill>
                  <a:srgbClr val="B84E00"/>
                </a:solidFill>
              </a:rPr>
              <a:t>ZEPHYR_SDK_INSTALL_DIR</a:t>
            </a:r>
            <a:r>
              <a:rPr/>
              <a:t>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已有构建缓存会保留上次选择，换 SDK 时使用新构建目录或按 P011 更新缓存。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A4D7351D-D342-4174-9A38-56AD281424F3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87B3D"/>
                </a:solidFill>
                <a:hlinkClick r:id="rId3"/>
              </a:rPr>
              <a:t>zephyr_get</a:t>
            </a:r>
            <a:r>
              <a:rPr u="sng">
                <a:hlinkClick r:id="rId3"/>
              </a:rPr>
              <a:t>(</a:t>
            </a:r>
            <a:r>
              <a:rPr u="sng">
                <a:solidFill>
                  <a:srgbClr val="B84E00"/>
                </a:solidFill>
                <a:hlinkClick r:id="rId3"/>
              </a:rPr>
              <a:t>ZEPHYR_SDK_INSTALL_DIR</a:t>
            </a:r>
            <a:r>
              <a:rPr u="sng">
                <a:hlinkClick r:id="rId3"/>
              </a:rPr>
              <a:t>)；CMake CACHE </a:t>
            </a:r>
            <a:r>
              <a:rPr u="sng">
                <a:solidFill>
                  <a:srgbClr val="B84E00"/>
                </a:solidFill>
                <a:hlinkClick r:id="rId3"/>
              </a:rPr>
              <a:t>PATH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F188DEA8-2C86-4661-AC05-0F0DA11B4EF4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58BCAA56-0161-47F6-BD5D-5D7710051CF5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1FACB26-4C5F-4120-B95A-2405D2833C0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45B07592-FA23-49D3-BCCF-CED994B83BB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不注册：给应用配置命令传入 SDK 根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00E805D0-EF2D-404D-A137-949B8F18F77A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③ 把 SDK 交给工程 · 完整示例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5928863C-4493-4241-BB01-9F5245A25B6B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329611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646173"/>
                </a:solidFill>
              </a:rPr>
              <a:t># Windows UCRT64；完成 P002—P005 后执行；新构建目录。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cd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source</a:t>
            </a:r>
            <a:r>
              <a:rPr dirty="0">
                <a:solidFill>
                  <a:srgbClr val="29263B"/>
                </a:solidFill>
              </a:rPr>
              <a:t> .venv/Scripts/activate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cmake</a:t>
            </a:r>
            <a:r>
              <a:rPr dirty="0">
                <a:solidFill>
                  <a:srgbClr val="29263B"/>
                </a:solidFill>
              </a:rPr>
              <a:t> -S </a:t>
            </a:r>
            <a:r>
              <a:rPr dirty="0">
                <a:solidFill>
                  <a:srgbClr val="0070C0"/>
                </a:solidFill>
              </a:rPr>
              <a:t>samples/hello_world</a:t>
            </a:r>
            <a:r>
              <a:rPr dirty="0">
                <a:solidFill>
                  <a:srgbClr val="29263B"/>
                </a:solidFill>
              </a:rPr>
              <a:t> -B </a:t>
            </a:r>
            <a:r>
              <a:rPr dirty="0">
                <a:solidFill>
                  <a:srgbClr val="0070C0"/>
                </a:solidFill>
              </a:rPr>
              <a:t>build/learning-tools/p003/sdk-explicit</a:t>
            </a:r>
            <a:r>
              <a:rPr dirty="0">
                <a:solidFill>
                  <a:srgbClr val="29263B"/>
                </a:solidFill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-G Ninja -DBOARD=mps2/an386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"-DZephyr_DIR=$(cygpath -m "$PWD")/share/zephyr-package/</a:t>
            </a:r>
            <a:r>
              <a:rPr dirty="0">
                <a:solidFill>
                  <a:srgbClr val="A02B93"/>
                </a:solidFill>
              </a:rPr>
              <a:t>cmake</a:t>
            </a:r>
            <a:r>
              <a:rPr dirty="0">
                <a:solidFill>
                  <a:srgbClr val="29263B"/>
                </a:solidFill>
              </a:rPr>
              <a:t>"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"-DPython3_EXECUTABLE=$(cygpath -m "$(command -v </a:t>
            </a:r>
            <a:r>
              <a:rPr dirty="0">
                <a:solidFill>
                  <a:srgbClr val="A02B93"/>
                </a:solidFill>
              </a:rPr>
              <a:t>python</a:t>
            </a:r>
            <a:r>
              <a:rPr dirty="0">
                <a:solidFill>
                  <a:srgbClr val="29263B"/>
                </a:solidFill>
              </a:rPr>
              <a:t>)")"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-DZEPHYR_SDK_INSTALL_DIR=</a:t>
            </a:r>
            <a:r>
              <a:rPr dirty="0">
                <a:solidFill>
                  <a:srgbClr val="0070C0"/>
                </a:solidFill>
              </a:rPr>
              <a:t>G:/zephyr_practice/zephyr-sdk-1.0.1</a:t>
            </a:r>
            <a:r>
              <a:rPr dirty="0">
                <a:solidFill>
                  <a:srgbClr val="29263B"/>
                </a:solidFill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-DCMAKE_EXPORT_COMPILE_COMMANDS=ON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9629EF8A-205D-4D1D-9455-94DC946788CA}"/>
              </a:ext>
            </a:extLst>
          </p:cNvPr>
          <p:cNvSpPr>
            <a:spLocks noGrp="1"/>
          </p:cNvSpPr>
          <p:nvPr/>
        </p:nvSpPr>
        <p:spPr>
          <a:xfrm>
            <a:off x="628650" y="5124918"/>
            <a:ext cx="10972800" cy="76543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/>
              <a:t>官方示例：MPS2 / AN386，Cortex-M4，目标 mps2/an386，应用 </a:t>
            </a:r>
            <a:r>
              <a:rPr dirty="0" err="1"/>
              <a:t>hello_world</a:t>
            </a:r>
            <a:r>
              <a:rPr dirty="0"/>
              <a:t>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29263B"/>
                </a:solidFill>
              </a:rPr>
              <a:t>本页先认识 SDK 接入口；P004 取得 CMSIS，P005 核对 MPS2 工程输入后再配置。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EEFB3A3E-A0D7-4777-82E9-B231F544CF89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依据：官方 hello_world + mps2/an386；编译与运行见 P008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20C8760D-79E6-4EE3-906F-20372BA57E52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D8DEB78F-81F5-46F5-BA68-70A85FFCED7D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2D55DDB-4DA1-49E3-B7C3-2207DA454EC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0D802BD8-390D-4C66-9A2B-8AFC5C33B281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路径由 Zephyr 查找脚本读取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17C5F2E0-E327-47F0-ACEE-1DC6CAFCA481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③ 把 SDK 交给工程 · 读取依据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CA7CF73B-92B6-4193-A0DB-68A9D336BBB4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只读 </a:t>
            </a:r>
            <a:r>
              <a:rPr>
                <a:solidFill>
                  <a:srgbClr val="0070C0"/>
                </a:solidFill>
              </a:rPr>
              <a:t>zephyr-main/cmake/modules/FindZephyr-sdk.cmake</a:t>
            </a:r>
            <a:r>
              <a:rPr/>
              <a:t>；不新建或替换。</a:t>
            </a:r>
          </a:p>
        </p:txBody>
      </p:sp>
      <p:sp>
        <p:nvSpPr>
          <p:cNvPr id="4" name="Directory or read-only source">
            <a:extLst>
              <a:ext uri="{FF2B5EF4-FFF2-40B4-BE49-F238E27FC236}">
                <a16:creationId xmlns:a16="http://schemas.microsoft.com/office/drawing/2014/main" id="{838964CA-B3E3-45D9-BA5B-30433A81F89D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10972800" cy="2133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zephyr_get</a:t>
            </a:r>
            <a:r>
              <a:rPr/>
              <a:t>(</a:t>
            </a:r>
            <a:r>
              <a:rPr>
                <a:solidFill>
                  <a:srgbClr val="B84E00"/>
                </a:solidFill>
              </a:rPr>
              <a:t>ZEPHYR_SDK_INSTALL_DIR</a:t>
            </a:r>
            <a:r>
              <a:rPr/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在显式 SDK 路径分支内，官方调用的关键参数：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find_package</a:t>
            </a:r>
            <a:r>
              <a:rPr/>
              <a:t xml:space="preserve">(Zephyr-sdk </a:t>
            </a:r>
            <a:r>
              <a:rPr>
                <a:solidFill>
                  <a:srgbClr val="B84E00"/>
                </a:solidFill>
              </a:rPr>
              <a:t>${Zephyr-sdk_FIND_VERSION_COMPLETE}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 xml:space="preserve">  REQUIRED QUIET CONFIG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/>
              <a:t xml:space="preserve">  HINTS </a:t>
            </a:r>
            <a:r>
              <a:rPr>
                <a:solidFill>
                  <a:srgbClr val="B84E00"/>
                </a:solidFill>
              </a:rPr>
              <a:t>${ZEPHYR_SDK_INSTALL_DIR}</a:t>
            </a:r>
            <a:r>
              <a:rPr/>
              <a:t xml:space="preserve"> </a:t>
            </a:r>
            <a:r>
              <a:rPr>
                <a:solidFill>
                  <a:srgbClr val="B84E00"/>
                </a:solidFill>
              </a:rPr>
              <a:t>NO_DEFAULT_PATH</a:t>
            </a:r>
            <a:r>
              <a:rPr/>
              <a:t>)</a:t>
            </a:r>
          </a:p>
        </p:txBody>
      </p:sp>
      <p:sp>
        <p:nvSpPr>
          <p:cNvPr id="5" name="Result and interpretation">
            <a:extLst>
              <a:ext uri="{FF2B5EF4-FFF2-40B4-BE49-F238E27FC236}">
                <a16:creationId xmlns:a16="http://schemas.microsoft.com/office/drawing/2014/main" id="{5BE7C129-5611-4DA0-9EFB-46E79FDE5730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无显式路径：按包记录 / 搜索路径选择兼容 SDK。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新目录无旧包缓存时，显式路径限定搜索前缀。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 xml:space="preserve">已有 </a:t>
            </a:r>
            <a:r>
              <a:rPr>
                <a:solidFill>
                  <a:srgbClr val="B84E00"/>
                </a:solidFill>
              </a:rPr>
              <a:t>Zephyr-sdk_DIR</a:t>
            </a:r>
            <a:r>
              <a:rPr>
                <a:solidFill>
                  <a:srgbClr val="29263B"/>
                </a:solidFill>
              </a:rPr>
              <a:t xml:space="preserve"> 仍可影响选择；换 SDK 用新构建目录。</a:t>
            </a:r>
          </a:p>
        </p:txBody>
      </p:sp>
      <p:sp>
        <p:nvSpPr>
          <p:cNvPr id="6" name="Source">
            <a:extLst>
              <a:ext uri="{FF2B5EF4-FFF2-40B4-BE49-F238E27FC236}">
                <a16:creationId xmlns:a16="http://schemas.microsoft.com/office/drawing/2014/main" id="{39188675-A913-4B23-92FD-90A223AA2E03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依据：文件第 46、76—88 行及后续自动搜索分支（本期修订）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BC735FFC-CB5D-4BEC-9E66-E4EC25E2E289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AE461E4-CB21-41DC-A658-25EC360AE9B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DF51956-3862-4298-8BE3-ABE5541A6C5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43950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BBF2A9A-80D2-41B9-B693-EE0C3B56A6A5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915025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C4FED6E-C323-4EDB-BC2B-E6CC8E2DFC2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86100" y="3819525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sp>
        <p:nvSpPr>
          <p:cNvPr id="14" name="Title">
            <a:extLst>
              <a:ext uri="{FF2B5EF4-FFF2-40B4-BE49-F238E27FC236}">
                <a16:creationId xmlns:a16="http://schemas.microsoft.com/office/drawing/2014/main" id="{DB578A9D-C817-4DFF-AAA8-E2D42D6AA9B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BOARD 的架构如何对应 SDK 中的工具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290CD865-FFBA-46DD-A808-23DD33D6C1E1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④ 按目标找到编译器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43AE9C73-DBB4-4EDF-9FA1-ABD5C7C6C855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SDK 路径回答“用哪一套 SDK”；板与 SoC 配置回答“为哪种 CPU 生成程序”。</a:t>
            </a:r>
          </a:p>
        </p:txBody>
      </p:sp>
      <p:sp>
        <p:nvSpPr>
          <p:cNvPr id="4" name="Diagram BOARD / SoC&#10;AN386 或后续 HC32">
            <a:extLst>
              <a:ext uri="{FF2B5EF4-FFF2-40B4-BE49-F238E27FC236}">
                <a16:creationId xmlns:a16="http://schemas.microsoft.com/office/drawing/2014/main" id="{11ABCDB3-0B42-4231-8D00-0717E69F7F88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BOARD</a:t>
            </a:r>
            <a:r>
              <a:rPr/>
              <a:t> / SoC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AN386 或后续 HC32</a:t>
            </a:r>
          </a:p>
        </p:txBody>
      </p:sp>
      <p:sp>
        <p:nvSpPr>
          <p:cNvPr id="5" name="Diagram [[v:ARCH=arm]]&#10;32 位 Cortex-M4">
            <a:extLst>
              <a:ext uri="{FF2B5EF4-FFF2-40B4-BE49-F238E27FC236}">
                <a16:creationId xmlns:a16="http://schemas.microsoft.com/office/drawing/2014/main" id="{BA9F70CE-4679-4699-8ABA-ACB9DBFDBB05}"/>
              </a:ext>
            </a:extLst>
          </p:cNvPr>
          <p:cNvSpPr>
            <a:spLocks noGrp="1"/>
          </p:cNvSpPr>
          <p:nvPr/>
        </p:nvSpPr>
        <p:spPr>
          <a:xfrm>
            <a:off x="3438525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ARCH</a:t>
            </a:r>
            <a:r>
              <a:rPr>
                <a:solidFill>
                  <a:srgbClr val="B84E00"/>
                </a:solidFill>
              </a:rPr>
              <a:t>=arm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32 位 Cortex-M4</a:t>
            </a:r>
          </a:p>
        </p:txBody>
      </p:sp>
      <p:sp>
        <p:nvSpPr>
          <p:cNvPr id="6" name="Diagram SDK 的 GNU 规则&#10;arm-zephyr-eabi">
            <a:extLst>
              <a:ext uri="{FF2B5EF4-FFF2-40B4-BE49-F238E27FC236}">
                <a16:creationId xmlns:a16="http://schemas.microsoft.com/office/drawing/2014/main" id="{15DB5DED-BC08-4F7B-90B3-28A7F4169F73}"/>
              </a:ext>
            </a:extLst>
          </p:cNvPr>
          <p:cNvSpPr>
            <a:spLocks noGrp="1"/>
          </p:cNvSpPr>
          <p:nvPr/>
        </p:nvSpPr>
        <p:spPr>
          <a:xfrm>
            <a:off x="6267450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SDK 的 GNU 规则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arm-zephyr-eabi</a:t>
            </a:r>
          </a:p>
        </p:txBody>
      </p:sp>
      <p:sp>
        <p:nvSpPr>
          <p:cNvPr id="7" name="Diagram [[f:gnu/arm-zephyr-eabi]]&#10;[[f:bin/…-gcc.exe]]">
            <a:extLst>
              <a:ext uri="{FF2B5EF4-FFF2-40B4-BE49-F238E27FC236}">
                <a16:creationId xmlns:a16="http://schemas.microsoft.com/office/drawing/2014/main" id="{80D753AC-0D48-4AF6-A2D1-27FBD59F6B23}"/>
              </a:ext>
            </a:extLst>
          </p:cNvPr>
          <p:cNvSpPr>
            <a:spLocks noGrp="1"/>
          </p:cNvSpPr>
          <p:nvPr/>
        </p:nvSpPr>
        <p:spPr>
          <a:xfrm>
            <a:off x="9096375" y="3381375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gnu/arm-zephyr-eabi</a:t>
            </a:r>
          </a:p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bin/…-gcc.exe</a:t>
            </a:r>
          </a:p>
        </p:txBody>
      </p:sp>
      <p:sp>
        <p:nvSpPr>
          <p:cNvPr id="11" name="Result and interpretation">
            <a:extLst>
              <a:ext uri="{FF2B5EF4-FFF2-40B4-BE49-F238E27FC236}">
                <a16:creationId xmlns:a16="http://schemas.microsoft.com/office/drawing/2014/main" id="{7360BFF3-FC19-400D-AB73-9CB8CA2E792E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466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SDK：</a:t>
            </a:r>
            <a:r>
              <a:rPr>
                <a:solidFill>
                  <a:srgbClr val="0070C0"/>
                </a:solidFill>
              </a:rPr>
              <a:t>cmake/zephyr/gnu/target.cmake</a:t>
            </a:r>
            <a:r>
              <a:rPr/>
              <a:t> 按 </a:t>
            </a:r>
            <a:r>
              <a:rPr>
                <a:solidFill>
                  <a:srgbClr val="B84E00"/>
                </a:solidFill>
              </a:rPr>
              <a:t>ARCH</a:t>
            </a:r>
            <a:r>
              <a:rPr/>
              <a:t> 选择工具前缀。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Zephyr：</a:t>
            </a:r>
            <a:r>
              <a:rPr>
                <a:solidFill>
                  <a:srgbClr val="0070C0"/>
                </a:solidFill>
              </a:rPr>
              <a:t>cmake/compiler/gcc/target_arm.cmake</a:t>
            </a:r>
            <a:r>
              <a:rPr/>
              <a:t> 生成 CPU / FPU / ABI 参数。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HC32F4A0 为 Cortex-M4F，复用 ARM 工具链；板 / SoC 支持仍需 P012 新增。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E8A3223D-02EA-4F64-B3E3-6E6FFC2A603E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依据：SDK </a:t>
            </a:r>
            <a:r>
              <a:rPr u="sng">
                <a:solidFill>
                  <a:srgbClr val="0070C0"/>
                </a:solidFill>
                <a:hlinkClick r:id="rId3"/>
              </a:rPr>
              <a:t>target.cmake</a:t>
            </a:r>
            <a:r>
              <a:rPr u="sng">
                <a:hlinkClick r:id="rId3"/>
              </a:rPr>
              <a:t>：CROSS_COMPILE_TARGET_arm；Zephyr </a:t>
            </a:r>
            <a:r>
              <a:rPr u="sng">
                <a:solidFill>
                  <a:srgbClr val="0070C0"/>
                </a:solidFill>
                <a:hlinkClick r:id="rId3"/>
              </a:rPr>
              <a:t>target_arm.cmake</a:t>
            </a:r>
          </a:p>
        </p:txBody>
      </p:sp>
      <p:sp>
        <p:nvSpPr>
          <p:cNvPr id="13" name="MD link">
            <a:extLst>
              <a:ext uri="{FF2B5EF4-FFF2-40B4-BE49-F238E27FC236}">
                <a16:creationId xmlns:a16="http://schemas.microsoft.com/office/drawing/2014/main" id="{DF437C43-EE19-4055-92AD-82C2BC831287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1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9E4052E-0A9D-49D6-8FE3-53F90A8040F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2578D84F-74B4-4FEB-85B3-FD8A2D18388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可选：独立 ARM 工具链直接接入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9D91E501-0058-4992-A84F-0ECB85D740B6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④ 按目标找到编译器 · 替代路线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1DB0AF9E-591B-4222-B601-A17CE26EB2B4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保留 </a:t>
            </a:r>
            <a:r>
              <a:rPr>
                <a:solidFill>
                  <a:srgbClr val="0070C0"/>
                </a:solidFill>
              </a:rPr>
              <a:t>G:/zephyr_practice/arm-zephyr-eabi</a:t>
            </a:r>
            <a:r>
              <a:rPr/>
              <a:t>，不放入 SDK。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此目录缺 SDK 包配置，改用 Zephyr 自带的 </a:t>
            </a:r>
            <a:r>
              <a:rPr>
                <a:solidFill>
                  <a:srgbClr val="B84E00"/>
                </a:solidFill>
              </a:rPr>
              <a:t>cross-compile</a:t>
            </a:r>
            <a:r>
              <a:rPr/>
              <a:t> 接入规则。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85D480-E9AD-41C0-BEE6-383EE23511D2}"/>
              </a:ext>
            </a:extLst>
          </p:cNvPr>
          <p:cNvGraphicFramePr/>
          <p:nvPr/>
        </p:nvGraphicFramePr>
        <p:xfrm>
          <a:off x="609600" y="2714625"/>
          <a:ext cx="10972800" cy="2209800"/>
        </p:xfrm>
        <a:graphic>
          <a:graphicData uri="http://schemas.openxmlformats.org/drawingml/2006/table">
            <a:tbl>
              <a:tblPr/>
              <a:tblGrid>
                <a:gridCol w="447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填写的值 / 作用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ZEPHYR_TOOLCHAIN_VARIANT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cross-compile：选择另一套工具链规则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CROSS_COMPILE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工具链根/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bin/arm-zephyr-eabi-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：程序共同前缀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CROSS_COMPILE_TOOLCHAIN_PATH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独立工具链根：辅助识别配套 C 库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sult and interpretation">
            <a:extLst>
              <a:ext uri="{FF2B5EF4-FFF2-40B4-BE49-F238E27FC236}">
                <a16:creationId xmlns:a16="http://schemas.microsoft.com/office/drawing/2014/main" id="{10130906-05F6-4AC9-BF77-CD4E162022EB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读取者：</a:t>
            </a:r>
            <a:r>
              <a:rPr>
                <a:solidFill>
                  <a:srgbClr val="0070C0"/>
                </a:solidFill>
              </a:rPr>
              <a:t>zephyr-main/cmake/toolchain/cross-compile/generic.cmake</a:t>
            </a:r>
            <a:r>
              <a:rPr/>
              <a:t>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前缀末尾保留横线；它不是 bin 目录，也不是完整 </a:t>
            </a:r>
            <a:r>
              <a:rPr>
                <a:solidFill>
                  <a:srgbClr val="0070C0"/>
                </a:solidFill>
              </a:rPr>
              <a:t>gcc.exe</a:t>
            </a:r>
            <a:r>
              <a:rPr/>
              <a:t> 路径。</a:t>
            </a:r>
          </a:p>
        </p:txBody>
      </p:sp>
      <p:sp>
        <p:nvSpPr>
          <p:cNvPr id="6" name="Source">
            <a:extLst>
              <a:ext uri="{FF2B5EF4-FFF2-40B4-BE49-F238E27FC236}">
                <a16:creationId xmlns:a16="http://schemas.microsoft.com/office/drawing/2014/main" id="{BDD37939-D9B3-4A84-AA6D-F78611B68442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</a:t>
            </a:r>
            <a:r>
              <a:rPr u="sng">
                <a:solidFill>
                  <a:srgbClr val="087B3D"/>
                </a:solidFill>
                <a:hlinkClick r:id="rId3"/>
              </a:rPr>
              <a:t>zephyr_get</a:t>
            </a:r>
            <a:r>
              <a:rPr u="sng">
                <a:hlinkClick r:id="rId3"/>
              </a:rPr>
              <a:t>(</a:t>
            </a:r>
            <a:r>
              <a:rPr u="sng">
                <a:solidFill>
                  <a:srgbClr val="B84E00"/>
                </a:solidFill>
                <a:hlinkClick r:id="rId3"/>
              </a:rPr>
              <a:t>CROSS_COMPILE</a:t>
            </a:r>
            <a:r>
              <a:rPr u="sng">
                <a:hlinkClick r:id="rId3"/>
              </a:rPr>
              <a:t>)；</a:t>
            </a:r>
            <a:r>
              <a:rPr u="sng">
                <a:solidFill>
                  <a:srgbClr val="087B3D"/>
                </a:solidFill>
                <a:hlinkClick r:id="rId3"/>
              </a:rPr>
              <a:t>set</a:t>
            </a:r>
            <a:r>
              <a:rPr u="sng">
                <a:hlinkClick r:id="rId3"/>
              </a:rPr>
              <a:t>(COMPILER gcc)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DA179566-8B5C-4284-B5C1-39B857F86A0E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6BEAD32-01B8-4144-82F6-13E302F592C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5F528224-3FE8-493F-9F26-3671DB3E20D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独立工具链：完整配置示例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77125040-E481-4FA0-8C04-19AF55A335F9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④ 按目标找到编译器 · 替代路线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223C0D10-3B63-433E-9A8E-BE67E1262D11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10972800" cy="396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646173"/>
                </a:solidFill>
              </a:rPr>
              <a:t># Windows UCRT64；完成 P002—P005；已解压同版独立 ARM 包。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cd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/g/</a:t>
            </a:r>
            <a:r>
              <a:rPr dirty="0" err="1">
                <a:solidFill>
                  <a:srgbClr val="0070C0"/>
                </a:solidFill>
              </a:rPr>
              <a:t>zephyr_practice</a:t>
            </a:r>
            <a:r>
              <a:rPr dirty="0">
                <a:solidFill>
                  <a:srgbClr val="0070C0"/>
                </a:solidFill>
              </a:rPr>
              <a:t>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source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.</a:t>
            </a:r>
            <a:r>
              <a:rPr dirty="0" err="1">
                <a:solidFill>
                  <a:srgbClr val="0070C0"/>
                </a:solidFill>
              </a:rPr>
              <a:t>venv</a:t>
            </a:r>
            <a:r>
              <a:rPr dirty="0">
                <a:solidFill>
                  <a:srgbClr val="0070C0"/>
                </a:solidFill>
              </a:rPr>
              <a:t>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A02B93"/>
                </a:solidFill>
              </a:rPr>
              <a:t>unset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B84E00"/>
                </a:solidFill>
              </a:rPr>
              <a:t>ZEPHYR_SDK_INSTALL_DIR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 err="1">
                <a:solidFill>
                  <a:srgbClr val="A02B93"/>
                </a:solidFill>
              </a:rPr>
              <a:t>cmake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B84E00"/>
                </a:solidFill>
              </a:rPr>
              <a:t>-S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samples/</a:t>
            </a:r>
            <a:r>
              <a:rPr dirty="0" err="1">
                <a:solidFill>
                  <a:srgbClr val="0070C0"/>
                </a:solidFill>
              </a:rPr>
              <a:t>hello_world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B84E00"/>
                </a:solidFill>
              </a:rPr>
              <a:t>-B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0070C0"/>
                </a:solidFill>
              </a:rPr>
              <a:t>build/learning-tools/p003/arm-standalone</a:t>
            </a:r>
            <a:r>
              <a:rPr dirty="0">
                <a:solidFill>
                  <a:srgbClr val="29263B"/>
                </a:solidFill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</a:t>
            </a:r>
            <a:r>
              <a:rPr dirty="0">
                <a:solidFill>
                  <a:srgbClr val="B84E00"/>
                </a:solidFill>
              </a:rPr>
              <a:t>-G</a:t>
            </a:r>
            <a:r>
              <a:rPr dirty="0">
                <a:solidFill>
                  <a:srgbClr val="29263B"/>
                </a:solidFill>
              </a:rPr>
              <a:t> Ninja </a:t>
            </a:r>
            <a:r>
              <a:rPr dirty="0">
                <a:solidFill>
                  <a:srgbClr val="B84E00"/>
                </a:solidFill>
              </a:rPr>
              <a:t>-D</a:t>
            </a:r>
            <a:r>
              <a:rPr dirty="0">
                <a:solidFill>
                  <a:srgbClr val="B84E00"/>
                </a:solidFill>
              </a:rPr>
              <a:t>BOARD</a:t>
            </a:r>
            <a:r>
              <a:rPr dirty="0">
                <a:solidFill>
                  <a:srgbClr val="29263B"/>
                </a:solidFill>
              </a:rPr>
              <a:t>=</a:t>
            </a:r>
            <a:r>
              <a:rPr dirty="0">
                <a:solidFill>
                  <a:srgbClr val="29263B"/>
                </a:solidFill>
              </a:rPr>
              <a:t>mps2/an386</a:t>
            </a:r>
            <a:r>
              <a:rPr dirty="0">
                <a:solidFill>
                  <a:srgbClr val="29263B"/>
                </a:solidFill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"</a:t>
            </a:r>
            <a:r>
              <a:rPr dirty="0">
                <a:solidFill>
                  <a:srgbClr val="B84E00"/>
                </a:solidFill>
              </a:rPr>
              <a:t>-</a:t>
            </a:r>
            <a:r>
              <a:rPr dirty="0" err="1">
                <a:solidFill>
                  <a:srgbClr val="B84E00"/>
                </a:solidFill>
              </a:rPr>
              <a:t>D</a:t>
            </a:r>
            <a:r>
              <a:rPr dirty="0" err="1">
                <a:solidFill>
                  <a:srgbClr val="B84E00"/>
                </a:solidFill>
              </a:rPr>
              <a:t>Zephyr_DIR</a:t>
            </a:r>
            <a:r>
              <a:rPr dirty="0">
                <a:solidFill>
                  <a:srgbClr val="29263B"/>
                </a:solidFill>
              </a:rPr>
              <a:t>=$(</a:t>
            </a:r>
            <a:r>
              <a:rPr dirty="0" err="1">
                <a:solidFill>
                  <a:srgbClr val="A02B93"/>
                </a:solidFill>
              </a:rPr>
              <a:t>cygpath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B84E00"/>
                </a:solidFill>
              </a:rPr>
              <a:t>-m</a:t>
            </a:r>
            <a:r>
              <a:rPr dirty="0">
                <a:solidFill>
                  <a:srgbClr val="29263B"/>
                </a:solidFill>
              </a:rPr>
              <a:t> "</a:t>
            </a:r>
            <a:r>
              <a:rPr dirty="0">
                <a:solidFill>
                  <a:srgbClr val="B84E00"/>
                </a:solidFill>
              </a:rPr>
              <a:t>$PWD</a:t>
            </a:r>
            <a:r>
              <a:rPr dirty="0">
                <a:solidFill>
                  <a:srgbClr val="29263B"/>
                </a:solidFill>
              </a:rPr>
              <a:t>")</a:t>
            </a:r>
            <a:r>
              <a:rPr dirty="0">
                <a:solidFill>
                  <a:srgbClr val="29263B"/>
                </a:solidFill>
              </a:rPr>
              <a:t>/share/zephyr-package/</a:t>
            </a:r>
            <a:r>
              <a:rPr dirty="0" err="1">
                <a:solidFill>
                  <a:srgbClr val="29263B"/>
                </a:solidFill>
              </a:rPr>
              <a:t>cmake</a:t>
            </a:r>
            <a:r>
              <a:rPr dirty="0">
                <a:solidFill>
                  <a:srgbClr val="29263B"/>
                </a:solidFill>
              </a:rPr>
              <a:t>"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"</a:t>
            </a:r>
            <a:r>
              <a:rPr dirty="0">
                <a:solidFill>
                  <a:srgbClr val="B84E00"/>
                </a:solidFill>
              </a:rPr>
              <a:t>-D</a:t>
            </a:r>
            <a:r>
              <a:rPr dirty="0">
                <a:solidFill>
                  <a:srgbClr val="B84E00"/>
                </a:solidFill>
              </a:rPr>
              <a:t>Python3_EXECUTABLE</a:t>
            </a:r>
            <a:r>
              <a:rPr dirty="0">
                <a:solidFill>
                  <a:srgbClr val="29263B"/>
                </a:solidFill>
              </a:rPr>
              <a:t>=$(</a:t>
            </a:r>
            <a:r>
              <a:rPr dirty="0" err="1">
                <a:solidFill>
                  <a:srgbClr val="A02B93"/>
                </a:solidFill>
              </a:rPr>
              <a:t>cygpath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B84E00"/>
                </a:solidFill>
              </a:rPr>
              <a:t>-m</a:t>
            </a:r>
            <a:r>
              <a:rPr dirty="0">
                <a:solidFill>
                  <a:srgbClr val="29263B"/>
                </a:solidFill>
              </a:rPr>
              <a:t> "$(</a:t>
            </a:r>
            <a:r>
              <a:rPr dirty="0">
                <a:solidFill>
                  <a:srgbClr val="A02B93"/>
                </a:solidFill>
              </a:rPr>
              <a:t>command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B84E00"/>
                </a:solidFill>
              </a:rPr>
              <a:t>-v</a:t>
            </a:r>
            <a:r>
              <a:rPr dirty="0">
                <a:solidFill>
                  <a:srgbClr val="29263B"/>
                </a:solidFill>
              </a:rPr>
              <a:t> </a:t>
            </a:r>
            <a:r>
              <a:rPr dirty="0">
                <a:solidFill>
                  <a:srgbClr val="A02B93"/>
                </a:solidFill>
              </a:rPr>
              <a:t>python</a:t>
            </a:r>
            <a:r>
              <a:rPr dirty="0">
                <a:solidFill>
                  <a:srgbClr val="29263B"/>
                </a:solidFill>
              </a:rPr>
              <a:t>)")"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</a:t>
            </a:r>
            <a:r>
              <a:rPr dirty="0">
                <a:solidFill>
                  <a:srgbClr val="B84E00"/>
                </a:solidFill>
              </a:rPr>
              <a:t>-D</a:t>
            </a:r>
            <a:r>
              <a:rPr dirty="0">
                <a:solidFill>
                  <a:srgbClr val="B84E00"/>
                </a:solidFill>
              </a:rPr>
              <a:t>ZEPHYR_TOOLCHAIN_VARIANT</a:t>
            </a:r>
            <a:r>
              <a:rPr dirty="0">
                <a:solidFill>
                  <a:srgbClr val="29263B"/>
                </a:solidFill>
              </a:rPr>
              <a:t>=cross-compile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</a:t>
            </a:r>
            <a:r>
              <a:rPr dirty="0">
                <a:solidFill>
                  <a:srgbClr val="B84E00"/>
                </a:solidFill>
              </a:rPr>
              <a:t>-D</a:t>
            </a:r>
            <a:r>
              <a:rPr dirty="0">
                <a:solidFill>
                  <a:srgbClr val="B84E00"/>
                </a:solidFill>
              </a:rPr>
              <a:t>CROSS_COMPILE</a:t>
            </a:r>
            <a:r>
              <a:rPr dirty="0">
                <a:solidFill>
                  <a:srgbClr val="29263B"/>
                </a:solidFill>
              </a:rPr>
              <a:t>=</a:t>
            </a:r>
            <a:r>
              <a:rPr dirty="0">
                <a:solidFill>
                  <a:srgbClr val="0070C0"/>
                </a:solidFill>
              </a:rPr>
              <a:t>G:/zephyr_practice/arm-zephyr-eabi/bin/arm-zephyr-eabi-</a:t>
            </a:r>
            <a:r>
              <a:rPr dirty="0">
                <a:solidFill>
                  <a:srgbClr val="29263B"/>
                </a:solidFill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</a:t>
            </a:r>
            <a:r>
              <a:rPr dirty="0">
                <a:solidFill>
                  <a:srgbClr val="B84E00"/>
                </a:solidFill>
              </a:rPr>
              <a:t>-D</a:t>
            </a:r>
            <a:r>
              <a:rPr dirty="0">
                <a:solidFill>
                  <a:srgbClr val="B84E00"/>
                </a:solidFill>
              </a:rPr>
              <a:t>CROSS_COMPILE_TOOLCHAIN_PATH</a:t>
            </a:r>
            <a:r>
              <a:rPr dirty="0">
                <a:solidFill>
                  <a:srgbClr val="29263B"/>
                </a:solidFill>
              </a:rPr>
              <a:t>=</a:t>
            </a:r>
            <a:r>
              <a:rPr dirty="0">
                <a:solidFill>
                  <a:srgbClr val="0070C0"/>
                </a:solidFill>
              </a:rPr>
              <a:t>G:/zephyr_practice/arm-zephyr-eabi</a:t>
            </a:r>
            <a:r>
              <a:rPr dirty="0">
                <a:solidFill>
                  <a:srgbClr val="29263B"/>
                </a:solidFill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dirty="0">
                <a:solidFill>
                  <a:srgbClr val="29263B"/>
                </a:solidFill>
              </a:rPr>
              <a:t>  </a:t>
            </a:r>
            <a:r>
              <a:rPr dirty="0">
                <a:solidFill>
                  <a:srgbClr val="B84E00"/>
                </a:solidFill>
              </a:rPr>
              <a:t>-D</a:t>
            </a:r>
            <a:r>
              <a:rPr dirty="0">
                <a:solidFill>
                  <a:srgbClr val="B84E00"/>
                </a:solidFill>
              </a:rPr>
              <a:t>CMAKE_EXPORT_COMPILE_COMMANDS</a:t>
            </a:r>
            <a:r>
              <a:rPr dirty="0">
                <a:solidFill>
                  <a:srgbClr val="29263B"/>
                </a:solidFill>
              </a:rPr>
              <a:t>=ON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6254C33A-F134-4F12-B78B-DF767F813A4B}"/>
              </a:ext>
            </a:extLst>
          </p:cNvPr>
          <p:cNvSpPr>
            <a:spLocks noGrp="1"/>
          </p:cNvSpPr>
          <p:nvPr/>
        </p:nvSpPr>
        <p:spPr>
          <a:xfrm>
            <a:off x="609600" y="56007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替代 SDK 路线；工具链由你选定。换架构时也要换工具链前缀。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6B57D20C-F3A3-4CB2-A45C-796DE97CA0E4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29263B"/>
                </a:solidFill>
                <a:hlinkClick r:id="rId3"/>
              </a:rPr>
              <a:t>前提：主机工具 + 当前清单的 CMSIS；仍构建同一 MPS2，不追加 HC32 HAL。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BDA40E9E-D126-4E23-ACF5-B9253FF1325D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25178CA3-1F90-4C5C-8960-EA850025ABDC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52C96E1-C743-4B52-9600-10539B75187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067891F-AB2F-4CC5-9C20-721AB6A7CDC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配置后核对工程实际选中的工具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A1DD9BB4-5270-4ADB-92CF-C3D648A51828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④ 按目标找到编译器 · 结果检查</a:t>
            </a:r>
          </a:p>
        </p:txBody>
      </p:sp>
      <p:sp>
        <p:nvSpPr>
          <p:cNvPr id="3" name="Copyable command">
            <a:extLst>
              <a:ext uri="{FF2B5EF4-FFF2-40B4-BE49-F238E27FC236}">
                <a16:creationId xmlns:a16="http://schemas.microsoft.com/office/drawing/2014/main" id="{D040D002-4367-448C-948C-22407050109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695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UCRT64；依赖齐全且 3.3.4 配置成功后，才有这些产物。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/g/zephyr_practice/zephyr-main/build/learning-tools/p003/sdk-explicit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-E</a:t>
            </a:r>
            <a:r>
              <a:rPr>
                <a:solidFill>
                  <a:srgbClr val="29263B"/>
                </a:solidFill>
              </a:rPr>
              <a:t> '</a:t>
            </a:r>
            <a:r>
              <a:rPr>
                <a:solidFill>
                  <a:srgbClr val="B84E00"/>
                </a:solidFill>
              </a:rPr>
              <a:t>ZEPHYR_SDK_INSTALL_DIR</a:t>
            </a:r>
            <a:r>
              <a:rPr>
                <a:solidFill>
                  <a:srgbClr val="29263B"/>
                </a:solidFill>
              </a:rPr>
              <a:t>|</a:t>
            </a:r>
            <a:r>
              <a:rPr>
                <a:solidFill>
                  <a:srgbClr val="B84E00"/>
                </a:solidFill>
              </a:rPr>
              <a:t>CMAKE_C_COMPILER</a:t>
            </a:r>
            <a:r>
              <a:rPr>
                <a:solidFill>
                  <a:srgbClr val="29263B"/>
                </a:solidFill>
              </a:rPr>
              <a:t>' </a:t>
            </a:r>
            <a:r>
              <a:rPr>
                <a:solidFill>
                  <a:srgbClr val="0070C0"/>
                </a:solidFill>
              </a:rPr>
              <a:t>CMakeCache.txt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-m1</a:t>
            </a:r>
            <a:r>
              <a:rPr>
                <a:solidFill>
                  <a:srgbClr val="29263B"/>
                </a:solidFill>
              </a:rPr>
              <a:t> 'arm-zephyr-eabi-gcc' </a:t>
            </a:r>
            <a:r>
              <a:rPr>
                <a:solidFill>
                  <a:srgbClr val="0070C0"/>
                </a:solidFill>
              </a:rPr>
              <a:t>compile_commands.json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-E</a:t>
            </a:r>
            <a:r>
              <a:rPr>
                <a:solidFill>
                  <a:srgbClr val="29263B"/>
                </a:solidFill>
              </a:rPr>
              <a:t> '^CONFIG_(</a:t>
            </a:r>
            <a:r>
              <a:rPr>
                <a:solidFill>
                  <a:srgbClr val="B84E00"/>
                </a:solidFill>
              </a:rPr>
              <a:t>ARCH</a:t>
            </a:r>
            <a:r>
              <a:rPr>
                <a:solidFill>
                  <a:srgbClr val="29263B"/>
                </a:solidFill>
              </a:rPr>
              <a:t>|CPU_CORTEX_M4|FPU|ARM)' </a:t>
            </a:r>
            <a:r>
              <a:rPr>
                <a:solidFill>
                  <a:srgbClr val="0070C0"/>
                </a:solidFill>
              </a:rPr>
              <a:t>zephyr/.config</a:t>
            </a:r>
          </a:p>
        </p:txBody>
      </p:sp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FCA622E2-3C0D-40CF-93B6-0D83BD4B9755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缓存：选中的 SDK / GCC。compile_commands：计划使用的编译命令与 CPU 参数。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.config：板与 SoC 的配置。生成这些文件不等于固件已编译或在板上运行。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BCB0F6C6-4F35-43C1-8513-2ECBDF3E2C27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依据：配置输出与 </a:t>
            </a:r>
            <a:r>
              <a:rPr u="sng">
                <a:solidFill>
                  <a:srgbClr val="B84E00"/>
                </a:solidFill>
                <a:hlinkClick r:id="rId3"/>
              </a:rPr>
              <a:t>-B</a:t>
            </a:r>
            <a:r>
              <a:rPr u="sng">
                <a:hlinkClick r:id="rId3"/>
              </a:rPr>
              <a:t> 目录产物；编译日志和产物在 P008 继续核验</a:t>
            </a:r>
          </a:p>
        </p:txBody>
      </p:sp>
      <p:sp>
        <p:nvSpPr>
          <p:cNvPr id="6" name="Command link">
            <a:extLst>
              <a:ext uri="{FF2B5EF4-FFF2-40B4-BE49-F238E27FC236}">
                <a16:creationId xmlns:a16="http://schemas.microsoft.com/office/drawing/2014/main" id="{1D84F1B1-8E2E-40DF-9D25-B0C1E4155722}"/>
              </a:ext>
            </a:extLst>
          </p:cNvPr>
          <p:cNvSpPr>
            <a:spLocks noGrp="1"/>
          </p:cNvSpPr>
          <p:nvPr/>
        </p:nvSpPr>
        <p:spPr>
          <a:xfrm>
            <a:off x="609600" y="6210300"/>
            <a:ext cx="33337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完整可复制命令</a:t>
            </a:r>
          </a:p>
        </p:txBody>
      </p:sp>
      <p:sp>
        <p:nvSpPr>
          <p:cNvPr id="7" name="MD link">
            <a:extLst>
              <a:ext uri="{FF2B5EF4-FFF2-40B4-BE49-F238E27FC236}">
                <a16:creationId xmlns:a16="http://schemas.microsoft.com/office/drawing/2014/main" id="{DB31173B-E48A-4148-87D1-9E6E42268095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详细步骤与说明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09E6B3E-E1DB-446A-8B3C-8542B55C394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A5F09C3-7271-4495-8F42-473CE2A0B7A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按失败阶段返回检查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711F711D-66B4-4A9B-9D79-3A3E0AF1A169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结果检查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591FF5-DE63-4935-9D0A-A00C2A29747C}"/>
              </a:ext>
            </a:extLst>
          </p:cNvPr>
          <p:cNvGraphicFramePr/>
          <p:nvPr/>
        </p:nvGraphicFramePr>
        <p:xfrm>
          <a:off x="609600" y="1819275"/>
          <a:ext cx="10972800" cy="3807951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先查什么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</a:t>
                      </a:r>
                    </a:p>
                  </a:txBody>
                  <a:tcPr marL="110000" marR="110000" marT="65000" marB="65000" anchor="ctr">
                    <a:solidFill>
                      <a:srgbClr val="EE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7z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setup 执行不了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重开 PowerShell；确认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875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7z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；不要在 Bash 写 .\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setup.cmd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 / 本册第 11 页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Zephyr-sdk 包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 根有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cmake/Zephyr-sdkConfig.cmake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？路径或用户记录有效？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16—20 页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找到 SDK，缺 ARM 编译器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gnu/arm-zephyr-eabi/bin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是否完整？</a:t>
                      </a:r>
                    </a:p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Minimal 是否已补 ARM？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11—13 页</a:t>
                      </a:r>
                    </a:p>
                  </a:txBody>
                  <a:tcPr marL="110000" marR="110000" marT="65000" marB="65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仍选中旧 SDK / 编译器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当前环境与 CMakeCache；切换路线用新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-B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目录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buNone/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P011</a:t>
                      </a:r>
                    </a:p>
                  </a:txBody>
                  <a:tcPr marL="110000" marR="110000" marT="65000" marB="65000" anchor="ctr">
                    <a:solidFill>
                      <a:srgbClr val="F8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sult and interpretation">
            <a:extLst>
              <a:ext uri="{FF2B5EF4-FFF2-40B4-BE49-F238E27FC236}">
                <a16:creationId xmlns:a16="http://schemas.microsoft.com/office/drawing/2014/main" id="{B6A82BF6-CAE8-4C36-BE3F-1051AFF1E8F2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不为排错删除 </a:t>
            </a:r>
            <a:r>
              <a:rPr>
                <a:solidFill>
                  <a:srgbClr val="0070C0"/>
                </a:solidFill>
              </a:rPr>
              <a:t>.west</a:t>
            </a:r>
            <a:r>
              <a:rPr/>
              <a:t>、替换 </a:t>
            </a:r>
            <a:r>
              <a:rPr>
                <a:solidFill>
                  <a:srgbClr val="0070C0"/>
                </a:solidFill>
              </a:rPr>
              <a:t>west.yml</a:t>
            </a:r>
            <a:r>
              <a:rPr/>
              <a:t>，或把独立 ARM 目录冒充 SDK 根。</a:t>
            </a:r>
          </a:p>
        </p:txBody>
      </p:sp>
      <p:sp>
        <p:nvSpPr>
          <p:cNvPr id="5" name="MD link">
            <a:extLst>
              <a:ext uri="{FF2B5EF4-FFF2-40B4-BE49-F238E27FC236}">
                <a16:creationId xmlns:a16="http://schemas.microsoft.com/office/drawing/2014/main" id="{C1146C6C-F06C-4292-A623-5C548338F9A2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详细步骤与说明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BFCA21-95D0-4B68-BA46-3D5C7AB077F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985608A-13FD-4F67-AD3E-C4E8BD2D545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8743950" y="3981450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F56623BB-7A87-4F19-B7DA-4648CFB46021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915025" y="3981450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D9F196A-ADCC-4183-AAF9-D689B0647B8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086100" y="3981450"/>
            <a:ext cx="352425" cy="0"/>
          </a:xfrm>
          <a:prstGeom prst="straightConnector1">
            <a:avLst/>
          </a:prstGeom>
          <a:ln w="14288">
            <a:solidFill>
              <a:srgbClr val="7756AD"/>
            </a:solidFill>
            <a:tailEnd type="triangle" w="med" len="med"/>
          </a:ln>
        </p:spPr>
      </p:cxnSp>
      <p:sp>
        <p:nvSpPr>
          <p:cNvPr id="13" name="Title">
            <a:extLst>
              <a:ext uri="{FF2B5EF4-FFF2-40B4-BE49-F238E27FC236}">
                <a16:creationId xmlns:a16="http://schemas.microsoft.com/office/drawing/2014/main" id="{E8B75EB4-74E4-4588-AA84-94BA844B91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准备完成后的工程入口</a:t>
            </a:r>
          </a:p>
        </p:txBody>
      </p:sp>
      <p:sp>
        <p:nvSpPr>
          <p:cNvPr id="2" name="Stage">
            <a:extLst>
              <a:ext uri="{FF2B5EF4-FFF2-40B4-BE49-F238E27FC236}">
                <a16:creationId xmlns:a16="http://schemas.microsoft.com/office/drawing/2014/main" id="{F53831D1-E1A9-4D02-AC67-F5980C9E45E5}"/>
              </a:ext>
            </a:extLst>
          </p:cNvPr>
          <p:cNvSpPr>
            <a:spLocks noGrp="1"/>
          </p:cNvSpPr>
          <p:nvPr/>
        </p:nvSpPr>
        <p:spPr>
          <a:xfrm>
            <a:off x="628650" y="1200150"/>
            <a:ext cx="10953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本期交接</a:t>
            </a:r>
          </a:p>
        </p:txBody>
      </p:sp>
      <p:sp>
        <p:nvSpPr>
          <p:cNvPr id="3" name="Explanation">
            <a:extLst>
              <a:ext uri="{FF2B5EF4-FFF2-40B4-BE49-F238E27FC236}">
                <a16:creationId xmlns:a16="http://schemas.microsoft.com/office/drawing/2014/main" id="{21D07F27-5F0D-4A4A-8B91-E1A2F33DDAFE}"/>
              </a:ext>
            </a:extLst>
          </p:cNvPr>
          <p:cNvSpPr>
            <a:spLocks noGrp="1"/>
          </p:cNvSpPr>
          <p:nvPr/>
        </p:nvSpPr>
        <p:spPr>
          <a:xfrm>
            <a:off x="609600" y="1819275"/>
            <a:ext cx="10972800" cy="1304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GNU SDK 或 Minimal + ARM：交付含 </a:t>
            </a:r>
            <a:r>
              <a:rPr>
                <a:solidFill>
                  <a:srgbClr val="0070C0"/>
                </a:solidFill>
              </a:rPr>
              <a:t>cmake</a:t>
            </a:r>
            <a:r>
              <a:rPr/>
              <a:t> 与 gnu 的 SDK 根。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可自动发现，也可通过环境变量 / </a:t>
            </a:r>
            <a:r>
              <a:rPr>
                <a:solidFill>
                  <a:srgbClr val="B84E00"/>
                </a:solidFill>
              </a:rPr>
              <a:t>-D</a:t>
            </a:r>
            <a:r>
              <a:rPr/>
              <a:t> 指定；注册并非必需。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独立 ARM：交付程序前缀，由 cross-compile 规则接入。</a:t>
            </a:r>
          </a:p>
        </p:txBody>
      </p:sp>
      <p:sp>
        <p:nvSpPr>
          <p:cNvPr id="4" name="Diagram SDK / ARM 已安装">
            <a:extLst>
              <a:ext uri="{FF2B5EF4-FFF2-40B4-BE49-F238E27FC236}">
                <a16:creationId xmlns:a16="http://schemas.microsoft.com/office/drawing/2014/main" id="{C95DDA2C-7BC8-4A8F-A60C-D7202625DB4C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SDK / ARM 已安装</a:t>
            </a:r>
          </a:p>
        </p:txBody>
      </p:sp>
      <p:sp>
        <p:nvSpPr>
          <p:cNvPr id="5" name="Diagram P004 下载 CMSIS / HAL">
            <a:extLst>
              <a:ext uri="{FF2B5EF4-FFF2-40B4-BE49-F238E27FC236}">
                <a16:creationId xmlns:a16="http://schemas.microsoft.com/office/drawing/2014/main" id="{9CA20F88-964F-43AF-945D-EE5055E873EF}"/>
              </a:ext>
            </a:extLst>
          </p:cNvPr>
          <p:cNvSpPr>
            <a:spLocks noGrp="1"/>
          </p:cNvSpPr>
          <p:nvPr/>
        </p:nvSpPr>
        <p:spPr>
          <a:xfrm>
            <a:off x="3438525" y="3543300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P004 按芯片查 CMSIS 并下载</a:t>
            </a:r>
          </a:p>
        </p:txBody>
      </p:sp>
      <p:sp>
        <p:nvSpPr>
          <p:cNvPr id="6" name="Diagram P005 源码模块接入">
            <a:extLst>
              <a:ext uri="{FF2B5EF4-FFF2-40B4-BE49-F238E27FC236}">
                <a16:creationId xmlns:a16="http://schemas.microsoft.com/office/drawing/2014/main" id="{67037F03-44E4-441D-91CC-92B754897027}"/>
              </a:ext>
            </a:extLst>
          </p:cNvPr>
          <p:cNvSpPr>
            <a:spLocks noGrp="1"/>
          </p:cNvSpPr>
          <p:nvPr/>
        </p:nvSpPr>
        <p:spPr>
          <a:xfrm>
            <a:off x="6267450" y="3543300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P005 驱动模型（HC32 见 P006）</a:t>
            </a:r>
          </a:p>
        </p:txBody>
      </p:sp>
      <p:sp>
        <p:nvSpPr>
          <p:cNvPr id="7" name="Diagram P007 配置与编译">
            <a:extLst>
              <a:ext uri="{FF2B5EF4-FFF2-40B4-BE49-F238E27FC236}">
                <a16:creationId xmlns:a16="http://schemas.microsoft.com/office/drawing/2014/main" id="{B9F15A8D-B495-47CE-B192-BBB3B071C185}"/>
              </a:ext>
            </a:extLst>
          </p:cNvPr>
          <p:cNvSpPr>
            <a:spLocks noGrp="1"/>
          </p:cNvSpPr>
          <p:nvPr/>
        </p:nvSpPr>
        <p:spPr>
          <a:xfrm>
            <a:off x="9096375" y="3543300"/>
            <a:ext cx="2476500" cy="876300"/>
          </a:xfrm>
          <a:prstGeom prst="rect">
            <a:avLst/>
          </a:prstGeom>
          <a:solidFill>
            <a:srgbClr val="F1EDF7"/>
          </a:solidFill>
          <a:ln w="14288">
            <a:solidFill>
              <a:srgbClr val="7756AD"/>
            </a:solidFill>
          </a:ln>
        </p:spPr>
        <p:txBody>
          <a:bodyPr lIns="0" tIns="0" rIns="0" bIns="0"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spcAft>
                <a:spcPts val="0"/>
              </a:spcAft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P008 配置与编译</a:t>
            </a:r>
          </a:p>
        </p:txBody>
      </p:sp>
      <p:sp>
        <p:nvSpPr>
          <p:cNvPr id="11" name="Result and interpretation">
            <a:extLst>
              <a:ext uri="{FF2B5EF4-FFF2-40B4-BE49-F238E27FC236}">
                <a16:creationId xmlns:a16="http://schemas.microsoft.com/office/drawing/2014/main" id="{D59B6FE1-81AC-4BDB-A639-5B8E80B72468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29263B"/>
                </a:solidFill>
              </a:rPr>
              <a:t>MPS2 的板/SoC/驱动随主仓取得；HC32 迁移时再追加厂商库与适配。</a:t>
            </a:r>
          </a:p>
          <a:p>
            <a:pPr>
              <a:lnSpc>
                <a:spcPct val="120000"/>
              </a:lnSpc>
              <a:spcAft>
                <a:spcPts val="40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本期不用学习 SDK 自行发行、</a:t>
            </a:r>
            <a:r>
              <a:rPr>
                <a:solidFill>
                  <a:srgbClr val="A02B93"/>
                </a:solidFill>
              </a:rPr>
              <a:t>west</a:t>
            </a:r>
            <a:r>
              <a:rPr/>
              <a:t> 清单编写或新增芯片适配。</a:t>
            </a:r>
          </a:p>
        </p:txBody>
      </p:sp>
      <p:sp>
        <p:nvSpPr>
          <p:cNvPr id="12" name="MD link">
            <a:extLst>
              <a:ext uri="{FF2B5EF4-FFF2-40B4-BE49-F238E27FC236}">
                <a16:creationId xmlns:a16="http://schemas.microsoft.com/office/drawing/2014/main" id="{E58A32EB-4DC8-46E7-9010-E51305A591B4}"/>
              </a:ext>
            </a:extLst>
          </p:cNvPr>
          <p:cNvSpPr>
            <a:spLocks noGrp="1"/>
          </p:cNvSpPr>
          <p:nvPr/>
        </p:nvSpPr>
        <p:spPr>
          <a:xfrm>
            <a:off x="9258300" y="6210300"/>
            <a:ext cx="23241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详细步骤与说明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3FBEB46-50C7-4E8A-B4C8-9CA4D2AEE53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westGit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进入 CMSIS 下载前，核对 Python 使用的 Git</a:t>
            </a:r>
          </a:p>
        </p:txBody>
      </p:sp>
      <p:sp>
        <p:nvSpPr>
          <p:cNvPr id="3" name="Stage"/>
          <p:cNvSpPr>
            <a:spLocks noGrp="1"/>
          </p:cNvSpPr>
          <p:nvPr/>
        </p:nvSpPr>
        <p:spPr>
          <a:xfrm>
            <a:off x="609600" y="11906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3.5.2 · SDK 准备完成后的交接检查</a:t>
            </a:r>
          </a:p>
        </p:txBody>
      </p:sp>
      <p:sp>
        <p:nvSpPr>
          <p:cNvPr id="4" name="Explanation"/>
          <p:cNvSpPr>
            <a:spLocks noGrp="1"/>
          </p:cNvSpPr>
          <p:nvPr/>
        </p:nvSpPr>
        <p:spPr>
          <a:xfrm>
            <a:off x="609600" y="1809750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若 </a:t>
            </a:r>
            <a:r>
              <a:rPr>
                <a:solidFill>
                  <a:srgbClr val="A02B93"/>
                </a:solidFill>
                <a:ea typeface="Microsoft YaHei"/>
              </a:rPr>
              <a:t>west update</a:t>
            </a:r>
            <a:r>
              <a:t> 报 </a:t>
            </a:r>
            <a:r>
              <a:rPr>
                <a:solidFill>
                  <a:srgbClr val="B84E00"/>
                </a:solidFill>
                <a:ea typeface="Microsoft YaHei"/>
              </a:rPr>
              <a:t>^commit</a:t>
            </a:r>
            <a:r>
              <a:t>，应先对照正确的 </a:t>
            </a:r>
            <a:r>
              <a:rPr>
                <a:solidFill>
                  <a:srgbClr val="B84E00"/>
                </a:solidFill>
                <a:ea typeface="Microsoft YaHei"/>
              </a:rPr>
              <a:t>^{commit}</a:t>
            </a:r>
            <a:r>
              <a:t>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本例更换 Git 后恢复，SDK、清单和 CMSIS 提交均保持不变。</a:t>
            </a:r>
          </a:p>
        </p:txBody>
      </p:sp>
      <p:sp>
        <p:nvSpPr>
          <p:cNvPr id="5" name="Copyable command"/>
          <p:cNvSpPr>
            <a:spLocks noGrp="1"/>
          </p:cNvSpPr>
          <p:nvPr/>
        </p:nvSpPr>
        <p:spPr>
          <a:xfrm>
            <a:off x="609600" y="2952750"/>
            <a:ext cx="10972800" cy="1962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646173"/>
                </a:solidFill>
                <a:ea typeface="Microsoft YaHei"/>
              </a:rPr>
              <a:t># Windows UCRT64；实验源码根；先激活 P002 创建的 Windows Python 环境。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cd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/g/zephyr_practice/zephyr-main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source</a:t>
            </a:r>
            <a:r>
              <a:t> </a:t>
            </a:r>
            <a:r>
              <a:rPr>
                <a:solidFill>
                  <a:srgbClr val="0070C0"/>
                </a:solidFill>
                <a:ea typeface="Microsoft YaHei"/>
              </a:rPr>
              <a:t>.venv/Scripts/activate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type</a:t>
            </a:r>
            <a:r>
              <a:t> -a 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python</a:t>
            </a:r>
            <a:r>
              <a:t> -c "import sys, shutil; print(sys.executable); print(shutil.which('</a:t>
            </a:r>
            <a:r>
              <a:rPr>
                <a:solidFill>
                  <a:srgbClr val="A02B93"/>
                </a:solidFill>
                <a:ea typeface="Microsoft YaHei"/>
              </a:rPr>
              <a:t>git</a:t>
            </a:r>
            <a:r>
              <a:t>'))"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Microsoft YaHei"/>
                <a:cs typeface="Consolas"/>
              </a:defRPr>
            </a:pPr>
            <a:r>
              <a:rPr>
                <a:solidFill>
                  <a:srgbClr val="A02B93"/>
                </a:solidFill>
                <a:ea typeface="Microsoft YaHei"/>
              </a:rPr>
              <a:t>git --version</a:t>
            </a:r>
          </a:p>
        </p:txBody>
      </p:sp>
      <p:sp>
        <p:nvSpPr>
          <p:cNvPr id="6" name="Result and interpretation"/>
          <p:cNvSpPr>
            <a:spLocks noGrp="1"/>
          </p:cNvSpPr>
          <p:nvPr/>
        </p:nvSpPr>
        <p:spPr>
          <a:xfrm>
            <a:off x="609600" y="5162550"/>
            <a:ext cx="10972800" cy="790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 </a:t>
            </a:r>
            <a:r>
              <a:rPr>
                <a:solidFill>
                  <a:srgbClr val="0070C0"/>
                </a:solidFill>
                <a:ea typeface="Microsoft YaHei"/>
              </a:rPr>
              <a:t>/ucrt64/bin/git</a:t>
            </a:r>
            <a:r>
              <a:t>，已有 Git for Windows 也可用。</a:t>
            </a:r>
          </a:p>
          <a:p>
            <a:pPr>
              <a:lnSpc>
                <a:spcPct val="120000"/>
              </a:lnSpc>
              <a:spcAft>
                <a:spcPts val="1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Python 输出仍落在 </a:t>
            </a:r>
            <a:r>
              <a:rPr>
                <a:solidFill>
                  <a:srgbClr val="0070C0"/>
                </a:solidFill>
                <a:ea typeface="Microsoft YaHei"/>
              </a:rPr>
              <a:t>/usr/bin</a:t>
            </a:r>
            <a:r>
              <a:t> 时停止，按 P004 4.2 / 4.4 修正。</a:t>
            </a:r>
          </a:p>
        </p:txBody>
      </p:sp>
      <p:sp>
        <p:nvSpPr>
          <p:cNvPr id="7" name="PageNumber"/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F99F974-C46D-45F4-BD0B-3C48FDD4DB7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Source"/>
          <p:cNvSpPr>
            <a:spLocks noGrp="1"/>
          </p:cNvSpPr>
          <p:nvPr/>
        </p:nvSpPr>
        <p:spPr>
          <a:xfrm>
            <a:off x="609600" y="6105525"/>
            <a:ext cx="109728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400"/>
              </a:spcAft>
              <a:defRPr sz="1163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完整检查命令：P003_Windows/west-git-check.txt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5639</Words>
  <Application>Microsoft Office PowerPoint</Application>
  <DocSecurity>0</DocSecurity>
  <PresentationFormat>宽屏</PresentationFormat>
  <Paragraphs>701</Paragraphs>
  <Slides>29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129</cp:revision>
  <dcterms:created xsi:type="dcterms:W3CDTF">2026-10-06T03:23:18Z</dcterms:created>
  <dcterms:modified xsi:type="dcterms:W3CDTF">2026-10-07T12:08:04Z</dcterms:modified>
</cp:coreProperties>
</file>